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all three team members and their assigned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preview the three sub-topics and hand off to Member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why proving existence alone is unsatisfying — set up the need for an answer predicate.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recipe slowly; this is the technique the next three examples all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tree bottom-up: point out where x/john gets bound and why the derivation stops at [A(john)].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the previous slide — same KB shape but a disjunctive fact yields two possible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Skolem-function terms can appear inside the extracted answer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motivation for Member 2's topic: CNF conversion breaks down on existentials.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clearly between a Skolem constant and a Skolem function with the simple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formal definition — read it slowly and connect back to the previous slide's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conceptual point in this section — equisatisfiable, not equivalent.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cases side by side; stress why the converse direction correctly fails to unify.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why we can't just bolt '=' on as a regular predicate — the a=b,b=c,a≠c example is the classic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tree bottom-up, calling out exactly where the substitution and reflexivity axioms fire.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cost — this motivates why real theorem provers use paramodulation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all three members' sections together into a single CNF-to-Resolution pipeline before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7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71C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 &amp; REASONING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First-Order Logic: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Reasoning Techniques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88636" y="3611880"/>
            <a:ext cx="20116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490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 ·  Skolemization  ·  Equality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6676" y="489204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1B2352"/>
          </a:solidFill>
          <a:ln w="9525">
            <a:solidFill>
              <a:srgbClr val="FFC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Answer Extraction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8556" y="489204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1B2352"/>
          </a:solidFill>
          <a:ln w="9525">
            <a:solidFill>
              <a:srgbClr val="FFC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8556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Skolemization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0436" y="489204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1B2352"/>
          </a:solidFill>
          <a:ln w="9525">
            <a:solidFill>
              <a:srgbClr val="FFC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0436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Equality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· Instructor · Date  (replace with your details)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10222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concrete individual out of an existential proof, using the answer-predicate technique.  ·  Presenter: Member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090672"/>
            <a:ext cx="10222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existential quantifiers so a formula can be converted into CNF for Resolution.  ·  Presenter: Member 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416052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462272"/>
            <a:ext cx="10222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"=" predicate behave correctly inside Resolution, using the axioms of equality.  ·  Presenter: Member 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Knowledge Representation and Reasoning — Chapter 4, Sections 4.2.2 – 4.2.4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591556" y="1033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6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Extraction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88720" y="361188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concrete individual out of an ∃-proof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31436" y="452628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B2352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1436" y="4526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Member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Isn't Proving ∃x.P(x) Enough?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≠ 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6263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refutation shows a KB entails ∃x.P(x) — but that only proves something satisfies P, not what it 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83464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6263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three-block problem, the KB entails "some block is green and sits on a nongreen block" — but not which block.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416052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462272"/>
            <a:ext cx="6263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read the witnessing individual straight off the derivation itself.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828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⊨ ∃x. P(x)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75520" y="2560320"/>
            <a:ext cx="9144" cy="50292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3108960"/>
            <a:ext cx="1645920" cy="731520"/>
          </a:xfrm>
          <a:prstGeom prst="roundRect">
            <a:avLst>
              <a:gd name="adj" fmla="val 8750"/>
            </a:avLst>
          </a:prstGeom>
          <a:solidFill>
            <a:srgbClr val="FFC85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98280" y="3108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4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— but who satisfies it?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Answer-Predicate Technique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the query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∃x.P(x) as ∃x. P(x) ∧ ¬A(x), where A is a brand-new predicate used nowhere else.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as normal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16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Resolution on the augmented clause set exactly as before.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657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959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appears nowhere else, the empty clause normally cannot be derived directly.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read off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02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as soon as a clause contains only the answer predicate, e.g. [A(t)] → “An answer is t.”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A Definite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91840" cy="1207008"/>
          </a:xfrm>
          <a:prstGeom prst="roundRect">
            <a:avLst>
              <a:gd name="adj" fmla="val 6061"/>
            </a:avLst>
          </a:prstGeom>
          <a:solidFill>
            <a:srgbClr val="ED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721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09928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Student(john)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Student(jane)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Happy(john)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 ∃x. Student(x) ∧ Happy(x)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1945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383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[Student(jane)]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338328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3383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[Happy(john)]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338328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[¬Happy(x),¬Student(x),A(x)]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3886200"/>
            <a:ext cx="2057400" cy="45720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913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x/john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4434840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80360" y="4434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[¬Student(john), A(john)]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54480" y="3886200"/>
            <a:ext cx="2651760" cy="5486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3886200"/>
            <a:ext cx="9144" cy="5486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521208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FFC85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5212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[A(john)]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54480" y="4023360"/>
            <a:ext cx="2651760" cy="118872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4937760"/>
            <a:ext cx="9144" cy="27432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5212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answer is John.”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— An Indefinite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ED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72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(disjunctive fact)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09928"/>
            <a:ext cx="37490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Student(john)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Student(jane)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Happy(john) ∨ Happy(jane)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query:  ∃x. Student(x) ∧ Happy(x)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[Student(jane)]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342900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[Student(john)]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3429000"/>
            <a:ext cx="30175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[¬Happy,¬Student,A(x)]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[A(jane),¬Happy(jane)]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4251960"/>
            <a:ext cx="26517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4251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[¬Happy(john),A(john)]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0" y="3931920"/>
            <a:ext cx="182880" cy="3200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4663440" y="3931920"/>
            <a:ext cx="2560320" cy="3200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3931920"/>
            <a:ext cx="457200" cy="3200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4937760" y="3931920"/>
            <a:ext cx="2286000" cy="3200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5074920"/>
            <a:ext cx="5029200" cy="502920"/>
          </a:xfrm>
          <a:prstGeom prst="roundRect">
            <a:avLst>
              <a:gd name="adj" fmla="val 12727"/>
            </a:avLst>
          </a:prstGeom>
          <a:solidFill>
            <a:srgbClr val="FFC85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40280" y="5074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[A(jane), A(john)]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0" y="4754880"/>
            <a:ext cx="1828800" cy="3200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754880"/>
            <a:ext cx="822960" cy="32004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5029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answer is Jane or John” — as specific as the KB allows.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 — When the Answer Has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ED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93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(universally quantified facts)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∀w. Student(f(a,w))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∀x∀z. Happy(f(x,g(z)))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derived clause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364992"/>
            <a:ext cx="102229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A( f(a, g(z)) ) 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325880" y="41148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416552"/>
            <a:ext cx="102229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answer is any instance of the term f(a, g(z)).”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949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answer-extraction process can hand back a whole family of answers, not just one ground term.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predicate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new answer predicate A(x) to the existential query — it appears nowhere else.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early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16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derivation the moment a clause contains only the answer predicate.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657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cases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959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definite answers, indefinite (disjunctive) answers, and answers containing variables.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02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“provably true” and “here is the value that makes it true.”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591556" y="1033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6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Skolemization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88720" y="361188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“there exists” into a name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31436" y="452628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B2352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1436" y="4526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Member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CNF Has No Room for 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in CNF conversion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6355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usual CNF-conversion steps never explained how to handle existential quantifiers.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971800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clausify directly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273552"/>
            <a:ext cx="6355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 like ∃x∀y∃z. P(x,y,z) has no direct clause-set form — ∃ simply doesn't fit Skolem-free CNF.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16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4343400"/>
            <a:ext cx="6355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645152"/>
            <a:ext cx="6355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 way to remove every ∃ before Resolution can run at 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291840" cy="914400"/>
          </a:xfrm>
          <a:prstGeom prst="roundRect">
            <a:avLst>
              <a:gd name="adj" fmla="val 7000"/>
            </a:avLst>
          </a:prstGeom>
          <a:solidFill>
            <a:srgbClr val="FBE1E1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1920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∃x∀y∃z. P(x,y,z)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in CNF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 ·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Witness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 constant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10222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existential value doesn't depend on any surrounding universal, give it a fixed name, e.g. 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 function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953512"/>
            <a:ext cx="10222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depends on enclosing universals y₁...yₙ, name it with a function of them, e.g. f(y₁,...,yₙ).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8862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187952"/>
            <a:ext cx="102229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name (constant or function symbol) must appear nowhere else in the knowledge base.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D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9496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∃x∀y∃z. P(x,y,z)   ⟶   ∀y. P(a, y, f(y))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 · FORMAL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Skolemization Rule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EDF1FA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2880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∀x₁(…∀x₂(…∀x₃(…∃y[… y …]…)…)…)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∃y is in the scope of exactly ∀x₁, ∀x₂, ∀x₃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 replace y with f(x₁, x₂, x₃)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52044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∀x₁(…∀x₂(…∀x₃(…[… f(x₁,x₂,x₃) …]…)…)…)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a brand-new function symbol appearing nowhere else — its arity equals the number of dominating universals (zero → a Skolem constant).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 · KEY PROPERTY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Satisfiable — Not Logically Equivalent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EDF1FA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20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 =  ∃x. P(x)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192024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EDF1FA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03720" y="1920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α′  =  P(a)   (Skolemized)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965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0" y="2788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equivalent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3474720"/>
            <a:ext cx="996696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56616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Resolution actually needs:  α is satisfiable  ⇔  α′ is satisfiable.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Skolemized formula and the original always agree on satisfiability — that's the property soundness of Resolution relies 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Quantifiers Changes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AF7E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∃x∀y.R(x,y)  ⊨  ∀y∃x.R(x,y)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029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240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{[R(a,y)], [¬R(x,b)]}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are Skolem constants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has no dominating ∀)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3246120"/>
            <a:ext cx="9144" cy="32004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3566160"/>
            <a:ext cx="2834640" cy="502920"/>
          </a:xfrm>
          <a:prstGeom prst="roundRect">
            <a:avLst>
              <a:gd name="adj" fmla="val 12727"/>
            </a:avLst>
          </a:prstGeom>
          <a:solidFill>
            <a:srgbClr val="2E7D32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 in one step → [ 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2519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Refutation succeeds — the entailment holds, as expected.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5669280" cy="4297680"/>
          </a:xfrm>
          <a:prstGeom prst="roundRect">
            <a:avLst>
              <a:gd name="adj" fmla="val 2128"/>
            </a:avLst>
          </a:prstGeom>
          <a:solidFill>
            <a:srgbClr val="FDEDE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459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— ∀y∃x.R(x,y)  ⊭  ∃x∀y.R(x,y)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4028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2240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{[¬R(x,g(x))], [R(f(y),y)]}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f, g are Skolem functions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now depends on the ∀)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680" y="3246120"/>
            <a:ext cx="9144" cy="3200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3566160"/>
            <a:ext cx="4023360" cy="502920"/>
          </a:xfrm>
          <a:prstGeom prst="roundRect">
            <a:avLst>
              <a:gd name="adj" fmla="val 12727"/>
            </a:avLst>
          </a:prstGeom>
          <a:solidFill>
            <a:srgbClr val="C0392B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R(x,g(x)) and R(f(y),y) don't unify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42519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4251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refutation exists — correctly, since the converse does not hold.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witness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∃ is eliminated by introducing a new name for the individual it claims exists.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or function?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16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dominating ∀ → Skolem constant. One or more dominating ∀'s → Skolem function of exactly those variables.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657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satisfiability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959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and its Skolemized form α′ are equisatisfiable, though not logically equivalent — enough for Resolution.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matter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02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∀-dependence of each Skolem term right is essential for soundness.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51560"/>
            <a:ext cx="1005840" cy="10058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591556" y="1033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6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Equality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88720" y="361188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“=” behave like equality, not just another predicate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31436" y="452628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B2352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1436" y="4526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Member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Equality Isn't “Just Another Predicate”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predicate treatment fails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6263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“=” is treated as an ordinary predicate, Resolution misses inferences that clearly should follow.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83464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miss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6263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a=b, b=c, a≠c } is unsatisfiable — but nothing here lets Resolution derive the empty clause.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416052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462272"/>
            <a:ext cx="6263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clauses capturing exactly what “=” means: reflexive, symmetric, transitive, and substitutable.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828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4688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468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310896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FBE1E1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6760" y="3108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≠ 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contradiction not detected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· AXIOMS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Properties of Equality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93392"/>
            <a:ext cx="10222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∀x. x = 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364992"/>
            <a:ext cx="10222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∀x∀y. x=y ⊃ y=x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07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443484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736592"/>
            <a:ext cx="1022299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∀x∀y∀z. x=y ∧ y=z ⊃ x=z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clausal axioms give “=” the structure of a genuine equivalence relation.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· AXIOMS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 Axioms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for functions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102229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function symbol f of arity n: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x₁=y₁ ∧ ... ∧ xₙ=yₙ  ⊃  f(x₁,...,xₙ) = f(y₁,...,yₙ)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333756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for predicates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639312"/>
            <a:ext cx="102229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predicate symbol P of arity n: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x₁=y₁ ∧ ... ∧ xₙ=yₙ  ⊃  ( P(x₁,...,xₙ) ≡ P(y₁,...,yₙ) 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five axioms added, “=” can be treated as an ordinary binary predicate while Resolution stays sound and complete.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Married(bill, mother(john))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663440" cy="932688"/>
          </a:xfrm>
          <a:prstGeom prst="roundRect">
            <a:avLst>
              <a:gd name="adj" fmla="val 7843"/>
            </a:avLst>
          </a:prstGeom>
          <a:solidFill>
            <a:srgbClr val="ED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721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709928"/>
            <a:ext cx="43891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∀x. Married(father(x), mother(x))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father(john) = bill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94960" y="16002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 Married(bill, mother(john))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[¬Married(bill,mother(john))]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288036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[Married(y₁,y₂),¬Married(x₁,x₂),x₁≠y₁,x₂≠y₂]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0" y="3364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axiom (substitution)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2880360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092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[father(john)=bill]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509760" y="2880360"/>
            <a:ext cx="2194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55548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[Married(father(x),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mother(x))]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3977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[x₂≠mother(john), x₁≠bill, ¬Married(x₁,x₂)]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0" y="3337560"/>
            <a:ext cx="914400" cy="64008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4114800" y="3337560"/>
            <a:ext cx="1005840" cy="64008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709160"/>
            <a:ext cx="49377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25880" y="4709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[x₂≠mother(john), ¬Married(father(john),x₂)]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66160" y="4434840"/>
            <a:ext cx="182880" cy="27432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3337560"/>
            <a:ext cx="2331720" cy="137160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5440680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40280" y="5440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[mother(john) ≠ mother(john)]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49040" y="5166360"/>
            <a:ext cx="91440" cy="27432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840480" y="3337560"/>
            <a:ext cx="6766560" cy="2103120"/>
          </a:xfrm>
          <a:prstGeom prst="line">
            <a:avLst/>
          </a:prstGeom>
          <a:noFill/>
          <a:ln w="15875">
            <a:solidFill>
              <a:srgbClr val="6B7699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3152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reflexivity: x=x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6080760"/>
            <a:ext cx="2103120" cy="411480"/>
          </a:xfrm>
          <a:prstGeom prst="roundRect">
            <a:avLst>
              <a:gd name="adj" fmla="val 15556"/>
            </a:avLst>
          </a:prstGeom>
          <a:solidFill>
            <a:srgbClr val="FFC85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1E276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6080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0" y="5897880"/>
            <a:ext cx="2240280" cy="182880"/>
          </a:xfrm>
          <a:prstGeom prst="line">
            <a:avLst/>
          </a:prstGeom>
          <a:noFill/>
          <a:ln w="15875">
            <a:solidFill>
              <a:srgbClr val="6B76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·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Completeness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axioms of equality are enough for Resolution to remain sound and complete.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16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and predicate symbol needs its own substitution axiom.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657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dominate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959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axioms often generate a very large number of resolvents, slowing derivations down.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02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 equality-handling methods (e.g. paramodulation) are used in real systems — see Section 4.3.7.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plain predicate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“=” as an ordinary predicate misses valid inferences like {a=b,b=c} ⊨ a=c.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axioms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16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Reflexivity, symmetry, transitivity, plus substitution for functions and for predicates.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657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under Resolution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959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these axioms, “=” behaves correctly while Resolution stays sound and complete.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is the cost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102352"/>
            <a:ext cx="102229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axioms can dominate derivations — specialized methods trade generality for speed.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" y="24688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formula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0664" y="3035808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∃, ∀, and =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33472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9504" y="23774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2962656" y="24688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62656" y="3035808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every ∃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55464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11496" y="23774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24688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axioms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84648" y="3035808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“=” sound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77456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33488" y="23774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4688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 + Resolution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3035808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empty clause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99448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55480" y="237744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C857"/>
          </a:solidFill>
          <a:ln/>
        </p:spPr>
      </p:sp>
      <p:sp>
        <p:nvSpPr>
          <p:cNvPr id="21" name="Text 19"/>
          <p:cNvSpPr/>
          <p:nvPr/>
        </p:nvSpPr>
        <p:spPr>
          <a:xfrm>
            <a:off x="9628632" y="246888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28632" y="3035808"/>
            <a:ext cx="18196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0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 the answer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1325880" y="397764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Skolemization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279392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existentially-quantified facts expressible as clauses at all.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828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30" dirty="0"/>
          </a:p>
        </p:txBody>
      </p:sp>
      <p:sp>
        <p:nvSpPr>
          <p:cNvPr id="29" name="Text 27"/>
          <p:cNvSpPr/>
          <p:nvPr/>
        </p:nvSpPr>
        <p:spPr>
          <a:xfrm>
            <a:off x="1325880" y="475488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5056632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Resolution draws every inference that “=” licenses.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5623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605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1325880" y="5532120"/>
            <a:ext cx="10222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5880" y="5833872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bare proof of existence into a usable, concrete answer.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7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71C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88636" y="3246120"/>
            <a:ext cx="20116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8328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(Member 1)  ·  Skolemization (Member 2)  ·  Equality (Member 3)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2026-09-25T04:29:36Z</dcterms:created>
  <dcterms:modified xsi:type="dcterms:W3CDTF">2026-09-25T04:29:36Z</dcterms:modified>
</cp:coreProperties>
</file>