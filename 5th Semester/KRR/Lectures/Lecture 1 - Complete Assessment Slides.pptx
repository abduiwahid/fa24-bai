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d876b6fdc87423d" /><Relationship Type="http://schemas.openxmlformats.org/officeDocument/2006/relationships/extended-properties" Target="/docProps/app.xml" Id="R0fc0129af0c042ab" /><Relationship Type="http://schemas.openxmlformats.org/officeDocument/2006/relationships/officeDocument" Target="/ppt/presentation.xml" Id="R25b9cf0adfa64fad" /></Relationships>
</file>

<file path=ppt/presentation.xml><?xml version="1.0" encoding="utf-8"?>
<p:presentation xmlns:p="http://schemas.openxmlformats.org/presentationml/2006/main">
  <p:sldMasterIdLst>
    <p:sldMasterId xmlns:r="http://schemas.openxmlformats.org/officeDocument/2006/relationships" id="2147483648" r:id="Rfca2ea60d54b4f62"/>
  </p:sldMasterIdLst>
  <p:notesMasterIdLst>
    <p:notesMasterId xmlns:r="http://schemas.openxmlformats.org/officeDocument/2006/relationships" r:id="R3687f56d9f264cb0"/>
  </p:notesMasterIdLst>
  <p:sldIdLst>
    <p:sldId xmlns:r="http://schemas.openxmlformats.org/officeDocument/2006/relationships" id="256" r:id="Rb2c81dd54870496b"/>
    <p:sldId xmlns:r="http://schemas.openxmlformats.org/officeDocument/2006/relationships" id="257" r:id="Re081cd8bc31846d2"/>
    <p:sldId xmlns:r="http://schemas.openxmlformats.org/officeDocument/2006/relationships" id="258" r:id="Rd21507de19864b30"/>
    <p:sldId xmlns:r="http://schemas.openxmlformats.org/officeDocument/2006/relationships" id="259" r:id="R500a4d5a2b8b4988"/>
    <p:sldId xmlns:r="http://schemas.openxmlformats.org/officeDocument/2006/relationships" id="260" r:id="R08a32fa3d1c0466d"/>
    <p:sldId xmlns:r="http://schemas.openxmlformats.org/officeDocument/2006/relationships" id="261" r:id="R96463bd4d2384bf9"/>
    <p:sldId xmlns:r="http://schemas.openxmlformats.org/officeDocument/2006/relationships" id="262" r:id="Ra96cc12b053144e4"/>
    <p:sldId xmlns:r="http://schemas.openxmlformats.org/officeDocument/2006/relationships" id="263" r:id="R25c67bd2a21e42ab"/>
    <p:sldId xmlns:r="http://schemas.openxmlformats.org/officeDocument/2006/relationships" id="264" r:id="R39a8d7b185f54e59"/>
    <p:sldId xmlns:r="http://schemas.openxmlformats.org/officeDocument/2006/relationships" id="265" r:id="Rf7c3219c48ba426a"/>
    <p:sldId xmlns:r="http://schemas.openxmlformats.org/officeDocument/2006/relationships" id="266" r:id="R96564acddf04484a"/>
    <p:sldId xmlns:r="http://schemas.openxmlformats.org/officeDocument/2006/relationships" id="267" r:id="R80af2cafa4cd488f"/>
    <p:sldId xmlns:r="http://schemas.openxmlformats.org/officeDocument/2006/relationships" id="268" r:id="Rf97d8c01888d4121"/>
    <p:sldId xmlns:r="http://schemas.openxmlformats.org/officeDocument/2006/relationships" id="269" r:id="Rd28429c3f9d94c27"/>
    <p:sldId xmlns:r="http://schemas.openxmlformats.org/officeDocument/2006/relationships" id="270" r:id="R765ed3504ace4bc1"/>
    <p:sldId xmlns:r="http://schemas.openxmlformats.org/officeDocument/2006/relationships" id="271" r:id="Rc4a9eee60a0b4d30"/>
    <p:sldId xmlns:r="http://schemas.openxmlformats.org/officeDocument/2006/relationships" id="272" r:id="R0971760651614228"/>
    <p:sldId xmlns:r="http://schemas.openxmlformats.org/officeDocument/2006/relationships" id="273" r:id="R812090565b064355"/>
    <p:sldId xmlns:r="http://schemas.openxmlformats.org/officeDocument/2006/relationships" id="274" r:id="R481b6f2e218c4f01"/>
    <p:sldId xmlns:r="http://schemas.openxmlformats.org/officeDocument/2006/relationships" id="275" r:id="Rd3bf89856df44193"/>
    <p:sldId xmlns:r="http://schemas.openxmlformats.org/officeDocument/2006/relationships" id="276" r:id="Re83dc1d08204499a"/>
    <p:sldId xmlns:r="http://schemas.openxmlformats.org/officeDocument/2006/relationships" id="277" r:id="R461aada8c05d4611"/>
    <p:sldId xmlns:r="http://schemas.openxmlformats.org/officeDocument/2006/relationships" id="278" r:id="R60a761e4da8244a9"/>
    <p:sldId xmlns:r="http://schemas.openxmlformats.org/officeDocument/2006/relationships" id="279" r:id="Rceb6e89c43b543e3"/>
    <p:sldId xmlns:r="http://schemas.openxmlformats.org/officeDocument/2006/relationships" id="280" r:id="Re31b211362a54bdd"/>
    <p:sldId xmlns:r="http://schemas.openxmlformats.org/officeDocument/2006/relationships" id="281" r:id="Rcc4b62bdd7a546e3"/>
    <p:sldId xmlns:r="http://schemas.openxmlformats.org/officeDocument/2006/relationships" id="282" r:id="R7fd0e4705b6a4fd9"/>
    <p:sldId xmlns:r="http://schemas.openxmlformats.org/officeDocument/2006/relationships" id="283" r:id="R9bb0fb0309e34ba6"/>
    <p:sldId xmlns:r="http://schemas.openxmlformats.org/officeDocument/2006/relationships" id="284" r:id="R3d660b95a28f4104"/>
    <p:sldId xmlns:r="http://schemas.openxmlformats.org/officeDocument/2006/relationships" id="285" r:id="R5a5f583dcdcd46cc"/>
    <p:sldId xmlns:r="http://schemas.openxmlformats.org/officeDocument/2006/relationships" id="286" r:id="Rfca2fe7e9e3544d8"/>
    <p:sldId xmlns:r="http://schemas.openxmlformats.org/officeDocument/2006/relationships" id="287" r:id="R6b3ac87dcb7b45ca"/>
    <p:sldId xmlns:r="http://schemas.openxmlformats.org/officeDocument/2006/relationships" id="288" r:id="R4a1c0200ec3d47fb"/>
    <p:sldId xmlns:r="http://schemas.openxmlformats.org/officeDocument/2006/relationships" id="289" r:id="Rbfd81bd4cce24d40"/>
    <p:sldId xmlns:r="http://schemas.openxmlformats.org/officeDocument/2006/relationships" id="290" r:id="R6cd70d2cd21f466d"/>
    <p:sldId xmlns:r="http://schemas.openxmlformats.org/officeDocument/2006/relationships" id="291" r:id="R1bfe3c32e66a4160"/>
    <p:sldId xmlns:r="http://schemas.openxmlformats.org/officeDocument/2006/relationships" id="292" r:id="Rd4bbd40f88424fbf"/>
    <p:sldId xmlns:r="http://schemas.openxmlformats.org/officeDocument/2006/relationships" id="293" r:id="Rec7112a0fffe41ce"/>
    <p:sldId xmlns:r="http://schemas.openxmlformats.org/officeDocument/2006/relationships" id="294" r:id="Re4a5fc0905174085"/>
    <p:sldId xmlns:r="http://schemas.openxmlformats.org/officeDocument/2006/relationships" id="295" r:id="R2023e6069c0648a8"/>
    <p:sldId xmlns:r="http://schemas.openxmlformats.org/officeDocument/2006/relationships" id="296" r:id="R1e2c7149757d40fd"/>
    <p:sldId xmlns:r="http://schemas.openxmlformats.org/officeDocument/2006/relationships" id="297" r:id="R1175a8749e924980"/>
    <p:sldId xmlns:r="http://schemas.openxmlformats.org/officeDocument/2006/relationships" id="298" r:id="R2ab8015b59b54bcf"/>
    <p:sldId xmlns:r="http://schemas.openxmlformats.org/officeDocument/2006/relationships" id="299" r:id="Rb6bcd15f68534926"/>
    <p:sldId xmlns:r="http://schemas.openxmlformats.org/officeDocument/2006/relationships" id="300" r:id="Rdf7cd5f747da49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31167c3e0c4c8e" /><Relationship Type="http://schemas.openxmlformats.org/officeDocument/2006/relationships/slideMaster" Target="/ppt/slideMasters/slideMaster1.xml" Id="Rfca2ea60d54b4f62" /><Relationship Type="http://schemas.openxmlformats.org/officeDocument/2006/relationships/notesMaster" Target="/ppt/notesMasters/notesMaster1.xml" Id="R3687f56d9f264cb0" /><Relationship Type="http://schemas.openxmlformats.org/officeDocument/2006/relationships/presProps" Target="/ppt/presProps.xml" Id="R7b51948c047e4bc8" /><Relationship Type="http://schemas.openxmlformats.org/officeDocument/2006/relationships/tableStyles" Target="/ppt/tableStyles.xml" Id="R952a1092b42a4608" /><Relationship Type="http://schemas.openxmlformats.org/officeDocument/2006/relationships/slide" Target="/ppt/slides/slide1.xml" Id="Rb2c81dd54870496b" /><Relationship Type="http://schemas.openxmlformats.org/officeDocument/2006/relationships/slide" Target="/ppt/slides/slide2.xml" Id="Re081cd8bc31846d2" /><Relationship Type="http://schemas.openxmlformats.org/officeDocument/2006/relationships/slide" Target="/ppt/slides/slide3.xml" Id="Rd21507de19864b30" /><Relationship Type="http://schemas.openxmlformats.org/officeDocument/2006/relationships/slide" Target="/ppt/slides/slide4.xml" Id="R500a4d5a2b8b4988" /><Relationship Type="http://schemas.openxmlformats.org/officeDocument/2006/relationships/slide" Target="/ppt/slides/slide5.xml" Id="R08a32fa3d1c0466d" /><Relationship Type="http://schemas.openxmlformats.org/officeDocument/2006/relationships/slide" Target="/ppt/slides/slide6.xml" Id="R96463bd4d2384bf9" /><Relationship Type="http://schemas.openxmlformats.org/officeDocument/2006/relationships/slide" Target="/ppt/slides/slide7.xml" Id="Ra96cc12b053144e4" /><Relationship Type="http://schemas.openxmlformats.org/officeDocument/2006/relationships/slide" Target="/ppt/slides/slide8.xml" Id="R25c67bd2a21e42ab" /><Relationship Type="http://schemas.openxmlformats.org/officeDocument/2006/relationships/slide" Target="/ppt/slides/slide9.xml" Id="R39a8d7b185f54e59" /><Relationship Type="http://schemas.openxmlformats.org/officeDocument/2006/relationships/slide" Target="/ppt/slides/slide10.xml" Id="Rf7c3219c48ba426a" /><Relationship Type="http://schemas.openxmlformats.org/officeDocument/2006/relationships/slide" Target="/ppt/slides/slide11.xml" Id="R96564acddf04484a" /><Relationship Type="http://schemas.openxmlformats.org/officeDocument/2006/relationships/slide" Target="/ppt/slides/slide12.xml" Id="R80af2cafa4cd488f" /><Relationship Type="http://schemas.openxmlformats.org/officeDocument/2006/relationships/slide" Target="/ppt/slides/slide13.xml" Id="Rf97d8c01888d4121" /><Relationship Type="http://schemas.openxmlformats.org/officeDocument/2006/relationships/slide" Target="/ppt/slides/slide14.xml" Id="Rd28429c3f9d94c27" /><Relationship Type="http://schemas.openxmlformats.org/officeDocument/2006/relationships/slide" Target="/ppt/slides/slide15.xml" Id="R765ed3504ace4bc1" /><Relationship Type="http://schemas.openxmlformats.org/officeDocument/2006/relationships/slide" Target="/ppt/slides/slide16.xml" Id="Rc4a9eee60a0b4d30" /><Relationship Type="http://schemas.openxmlformats.org/officeDocument/2006/relationships/slide" Target="/ppt/slides/slide17.xml" Id="R0971760651614228" /><Relationship Type="http://schemas.openxmlformats.org/officeDocument/2006/relationships/slide" Target="/ppt/slides/slide18.xml" Id="R812090565b064355" /><Relationship Type="http://schemas.openxmlformats.org/officeDocument/2006/relationships/slide" Target="/ppt/slides/slide19.xml" Id="R481b6f2e218c4f01" /><Relationship Type="http://schemas.openxmlformats.org/officeDocument/2006/relationships/slide" Target="/ppt/slides/slide20.xml" Id="Rd3bf89856df44193" /><Relationship Type="http://schemas.openxmlformats.org/officeDocument/2006/relationships/slide" Target="/ppt/slides/slide21.xml" Id="Re83dc1d08204499a" /><Relationship Type="http://schemas.openxmlformats.org/officeDocument/2006/relationships/slide" Target="/ppt/slides/slide22.xml" Id="R461aada8c05d4611" /><Relationship Type="http://schemas.openxmlformats.org/officeDocument/2006/relationships/slide" Target="/ppt/slides/slide23.xml" Id="R60a761e4da8244a9" /><Relationship Type="http://schemas.openxmlformats.org/officeDocument/2006/relationships/slide" Target="/ppt/slides/slide24.xml" Id="Rceb6e89c43b543e3" /><Relationship Type="http://schemas.openxmlformats.org/officeDocument/2006/relationships/slide" Target="/ppt/slides/slide25.xml" Id="Re31b211362a54bdd" /><Relationship Type="http://schemas.openxmlformats.org/officeDocument/2006/relationships/slide" Target="/ppt/slides/slide26.xml" Id="Rcc4b62bdd7a546e3" /><Relationship Type="http://schemas.openxmlformats.org/officeDocument/2006/relationships/slide" Target="/ppt/slides/slide27.xml" Id="R7fd0e4705b6a4fd9" /><Relationship Type="http://schemas.openxmlformats.org/officeDocument/2006/relationships/slide" Target="/ppt/slides/slide28.xml" Id="R9bb0fb0309e34ba6" /><Relationship Type="http://schemas.openxmlformats.org/officeDocument/2006/relationships/slide" Target="/ppt/slides/slide29.xml" Id="R3d660b95a28f4104" /><Relationship Type="http://schemas.openxmlformats.org/officeDocument/2006/relationships/slide" Target="/ppt/slides/slide30.xml" Id="R5a5f583dcdcd46cc" /><Relationship Type="http://schemas.openxmlformats.org/officeDocument/2006/relationships/slide" Target="/ppt/slides/slide31.xml" Id="Rfca2fe7e9e3544d8" /><Relationship Type="http://schemas.openxmlformats.org/officeDocument/2006/relationships/slide" Target="/ppt/slides/slide32.xml" Id="R6b3ac87dcb7b45ca" /><Relationship Type="http://schemas.openxmlformats.org/officeDocument/2006/relationships/slide" Target="/ppt/slides/slide33.xml" Id="R4a1c0200ec3d47fb" /><Relationship Type="http://schemas.openxmlformats.org/officeDocument/2006/relationships/slide" Target="/ppt/slides/slide34.xml" Id="Rbfd81bd4cce24d40" /><Relationship Type="http://schemas.openxmlformats.org/officeDocument/2006/relationships/slide" Target="/ppt/slides/slide35.xml" Id="R6cd70d2cd21f466d" /><Relationship Type="http://schemas.openxmlformats.org/officeDocument/2006/relationships/slide" Target="/ppt/slides/slide36.xml" Id="R1bfe3c32e66a4160" /><Relationship Type="http://schemas.openxmlformats.org/officeDocument/2006/relationships/slide" Target="/ppt/slides/slide37.xml" Id="Rd4bbd40f88424fbf" /><Relationship Type="http://schemas.openxmlformats.org/officeDocument/2006/relationships/slide" Target="/ppt/slides/slide38.xml" Id="Rec7112a0fffe41ce" /><Relationship Type="http://schemas.openxmlformats.org/officeDocument/2006/relationships/slide" Target="/ppt/slides/slide39.xml" Id="Re4a5fc0905174085" /><Relationship Type="http://schemas.openxmlformats.org/officeDocument/2006/relationships/slide" Target="/ppt/slides/slide40.xml" Id="R2023e6069c0648a8" /><Relationship Type="http://schemas.openxmlformats.org/officeDocument/2006/relationships/slide" Target="/ppt/slides/slide41.xml" Id="R1e2c7149757d40fd" /><Relationship Type="http://schemas.openxmlformats.org/officeDocument/2006/relationships/slide" Target="/ppt/slides/slide42.xml" Id="R1175a8749e924980" /><Relationship Type="http://schemas.openxmlformats.org/officeDocument/2006/relationships/slide" Target="/ppt/slides/slide43.xml" Id="R2ab8015b59b54bcf" /><Relationship Type="http://schemas.openxmlformats.org/officeDocument/2006/relationships/slide" Target="/ppt/slides/slide44.xml" Id="Rb6bcd15f68534926" /><Relationship Type="http://schemas.openxmlformats.org/officeDocument/2006/relationships/slide" Target="/ppt/slides/slide45.xml" Id="Rdf7cd5f747da49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23dcf19b5f4d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fc8656979d4e1b" /><Relationship Type="http://schemas.openxmlformats.org/officeDocument/2006/relationships/notesMaster" Target="/ppt/notesMasters/notesMaster1.xml" Id="Ra2516e68d2614a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6fd54e63684427" /><Relationship Type="http://schemas.openxmlformats.org/officeDocument/2006/relationships/notesMaster" Target="/ppt/notesMasters/notesMaster1.xml" Id="R99710f5cc8a74d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094a40ab364acb" /><Relationship Type="http://schemas.openxmlformats.org/officeDocument/2006/relationships/notesMaster" Target="/ppt/notesMasters/notesMaster1.xml" Id="R6184ee6b194046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43ac71ea5a4da9" /><Relationship Type="http://schemas.openxmlformats.org/officeDocument/2006/relationships/notesMaster" Target="/ppt/notesMasters/notesMaster1.xml" Id="R983ab93df38e42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60ac3e804b4c2a" /><Relationship Type="http://schemas.openxmlformats.org/officeDocument/2006/relationships/notesMaster" Target="/ppt/notesMasters/notesMaster1.xml" Id="Rf4b62d49b7ea4e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17c961ea474755" /><Relationship Type="http://schemas.openxmlformats.org/officeDocument/2006/relationships/notesMaster" Target="/ppt/notesMasters/notesMaster1.xml" Id="Rfef8f8c12a7d415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9a32260c7b460b" /><Relationship Type="http://schemas.openxmlformats.org/officeDocument/2006/relationships/notesMaster" Target="/ppt/notesMasters/notesMaster1.xml" Id="R3289efba8d8e4b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439565b629486a" /><Relationship Type="http://schemas.openxmlformats.org/officeDocument/2006/relationships/notesMaster" Target="/ppt/notesMasters/notesMaster1.xml" Id="R39569e470b22477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b9525a295b416b" /><Relationship Type="http://schemas.openxmlformats.org/officeDocument/2006/relationships/notesMaster" Target="/ppt/notesMasters/notesMaster1.xml" Id="R865d927dc3ab46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779ee3f36864b03" /><Relationship Type="http://schemas.openxmlformats.org/officeDocument/2006/relationships/notesMaster" Target="/ppt/notesMasters/notesMaster1.xml" Id="R7ad1483534854f9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4c9bdbb2784e68" /><Relationship Type="http://schemas.openxmlformats.org/officeDocument/2006/relationships/notesMaster" Target="/ppt/notesMasters/notesMaster1.xml" Id="Ra522d4c4160d42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8f568895e9493c" /><Relationship Type="http://schemas.openxmlformats.org/officeDocument/2006/relationships/notesMaster" Target="/ppt/notesMasters/notesMaster1.xml" Id="Rffd80123313145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e4ecf6e31414c1f" /><Relationship Type="http://schemas.openxmlformats.org/officeDocument/2006/relationships/notesMaster" Target="/ppt/notesMasters/notesMaster1.xml" Id="R7338bf08f96e464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ca44451e2864596" /><Relationship Type="http://schemas.openxmlformats.org/officeDocument/2006/relationships/notesMaster" Target="/ppt/notesMasters/notesMaster1.xml" Id="R6be129f4009e4de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4fe54b3ac614dcd" /><Relationship Type="http://schemas.openxmlformats.org/officeDocument/2006/relationships/notesMaster" Target="/ppt/notesMasters/notesMaster1.xml" Id="R9a7919f4eaca4ef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2e780283eda4c1d" /><Relationship Type="http://schemas.openxmlformats.org/officeDocument/2006/relationships/notesMaster" Target="/ppt/notesMasters/notesMaster1.xml" Id="R5aa7dc823b5544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696732e14ab4a1d" /><Relationship Type="http://schemas.openxmlformats.org/officeDocument/2006/relationships/notesMaster" Target="/ppt/notesMasters/notesMaster1.xml" Id="Rc098ee61b4984a5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5dc86f55a644940" /><Relationship Type="http://schemas.openxmlformats.org/officeDocument/2006/relationships/notesMaster" Target="/ppt/notesMasters/notesMaster1.xml" Id="Ra247418bea9e4e8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dd68f1fe0314cc9" /><Relationship Type="http://schemas.openxmlformats.org/officeDocument/2006/relationships/notesMaster" Target="/ppt/notesMasters/notesMaster1.xml" Id="R073959d8ec16474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c8b697567484b09" /><Relationship Type="http://schemas.openxmlformats.org/officeDocument/2006/relationships/notesMaster" Target="/ppt/notesMasters/notesMaster1.xml" Id="Rfa4acffcb7f546f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3acb2267f494f03" /><Relationship Type="http://schemas.openxmlformats.org/officeDocument/2006/relationships/notesMaster" Target="/ppt/notesMasters/notesMaster1.xml" Id="Rab7117120e9342f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28eacc21e6240c3" /><Relationship Type="http://schemas.openxmlformats.org/officeDocument/2006/relationships/notesMaster" Target="/ppt/notesMasters/notesMaster1.xml" Id="R58155ab247c14f6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e15efd806e54022" /><Relationship Type="http://schemas.openxmlformats.org/officeDocument/2006/relationships/notesMaster" Target="/ppt/notesMasters/notesMaster1.xml" Id="Rd775bb88717b46d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9ac501d9b2f4815" /><Relationship Type="http://schemas.openxmlformats.org/officeDocument/2006/relationships/notesMaster" Target="/ppt/notesMasters/notesMaster1.xml" Id="Reae196910bd9444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df34552457e4948" /><Relationship Type="http://schemas.openxmlformats.org/officeDocument/2006/relationships/notesMaster" Target="/ppt/notesMasters/notesMaster1.xml" Id="Rdc6f3b786ab24c2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a3ced2ae14f4294" /><Relationship Type="http://schemas.openxmlformats.org/officeDocument/2006/relationships/notesMaster" Target="/ppt/notesMasters/notesMaster1.xml" Id="Rfed20c6cb6024a7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0eaa875bda941a9" /><Relationship Type="http://schemas.openxmlformats.org/officeDocument/2006/relationships/notesMaster" Target="/ppt/notesMasters/notesMaster1.xml" Id="R893fb0a58a97415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3a097a824ee4bb8" /><Relationship Type="http://schemas.openxmlformats.org/officeDocument/2006/relationships/notesMaster" Target="/ppt/notesMasters/notesMaster1.xml" Id="Rd3100c2248a749b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f52816b4c6147f4" /><Relationship Type="http://schemas.openxmlformats.org/officeDocument/2006/relationships/notesMaster" Target="/ppt/notesMasters/notesMaster1.xml" Id="Re547a7125593498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35157847ecb4a03" /><Relationship Type="http://schemas.openxmlformats.org/officeDocument/2006/relationships/notesMaster" Target="/ppt/notesMasters/notesMaster1.xml" Id="Rb50fe85d26bf4ec4"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f6f273cc2d8c473c" /><Relationship Type="http://schemas.openxmlformats.org/officeDocument/2006/relationships/notesMaster" Target="/ppt/notesMasters/notesMaster1.xml" Id="Rc48788826b05496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ddb661003954553" /><Relationship Type="http://schemas.openxmlformats.org/officeDocument/2006/relationships/notesMaster" Target="/ppt/notesMasters/notesMaster1.xml" Id="R8475ba7a3f404cc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4a441bdd78d4687" /><Relationship Type="http://schemas.openxmlformats.org/officeDocument/2006/relationships/notesMaster" Target="/ppt/notesMasters/notesMaster1.xml" Id="Rfd9b0db0a6de43e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e0722f467a04d2a" /><Relationship Type="http://schemas.openxmlformats.org/officeDocument/2006/relationships/notesMaster" Target="/ppt/notesMasters/notesMaster1.xml" Id="Rf4bd0975cf6a48f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b45f8eaff374630" /><Relationship Type="http://schemas.openxmlformats.org/officeDocument/2006/relationships/notesMaster" Target="/ppt/notesMasters/notesMaster1.xml" Id="Rb43961dd1e854cb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7a36819d18849da" /><Relationship Type="http://schemas.openxmlformats.org/officeDocument/2006/relationships/notesMaster" Target="/ppt/notesMasters/notesMaster1.xml" Id="R31dcc01564344fe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dc8de9464814534" /><Relationship Type="http://schemas.openxmlformats.org/officeDocument/2006/relationships/notesMaster" Target="/ppt/notesMasters/notesMaster1.xml" Id="Re6a8792dfdea4cf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a76014417da46d9" /><Relationship Type="http://schemas.openxmlformats.org/officeDocument/2006/relationships/notesMaster" Target="/ppt/notesMasters/notesMaster1.xml" Id="R7b96b8b68bd34f3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b3887ef3b734e1d" /><Relationship Type="http://schemas.openxmlformats.org/officeDocument/2006/relationships/notesMaster" Target="/ppt/notesMasters/notesMaster1.xml" Id="R3686c16d490e489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31a7063c2e69461a" /><Relationship Type="http://schemas.openxmlformats.org/officeDocument/2006/relationships/notesMaster" Target="/ppt/notesMasters/notesMaster1.xml" Id="Rb34cc1c3e477482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024f28f28b554141" /><Relationship Type="http://schemas.openxmlformats.org/officeDocument/2006/relationships/notesMaster" Target="/ppt/notesMasters/notesMaster1.xml" Id="Rf6681d1d8dd8431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a3d4f8ce01fe4b34" /><Relationship Type="http://schemas.openxmlformats.org/officeDocument/2006/relationships/notesMaster" Target="/ppt/notesMasters/notesMaster1.xml" Id="R42c7350e51c340c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3e02a6324374e78" /><Relationship Type="http://schemas.openxmlformats.org/officeDocument/2006/relationships/notesMaster" Target="/ppt/notesMasters/notesMaster1.xml" Id="Re7002839d2f94a5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789ff89c22f41e0" /><Relationship Type="http://schemas.openxmlformats.org/officeDocument/2006/relationships/notesMaster" Target="/ppt/notesMasters/notesMaster1.xml" Id="R9c3b1a643bc44cb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7316ea6df9c4ea3" /><Relationship Type="http://schemas.openxmlformats.org/officeDocument/2006/relationships/notesMaster" Target="/ppt/notesMasters/notesMaster1.xml" Id="R82340358af504c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1–3, 38–39.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CLO-1: Explain types of knowledge and their relation to intelligence. Official Bloom level: Understanding; student outcome: SO1. Practice also addresses Apply and Analyze.</a:t>
            </a:r>
          </a:p>
          <a:p xmlns:a="http://schemas.openxmlformats.org/drawingml/2006/main">
            <a:r>
              <a:t>The title slide retains the lecture number, contents, and all six objectives.</a:t>
            </a:r>
          </a:p>
          <a:p xmlns:a="http://schemas.openxmlformats.org/drawingml/2006/main">
            <a:r>
              <a:t>The handout’s opening questions, worked-example prompts, classroom discussion, Bloom questions, formative questions, CLO task, homework, and exit ticket appear as student-facing prompts. Expected responses accompany the assessment slides in these notes. Use questions throughout instruction and allow an attempt before showing worked solutions.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4–5.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1. Examples include problem solving, planning, learning, prediction, and answering questions. Students should explain the useful behavior.</a:t>
            </a:r>
          </a:p>
          <a:p xmlns:a="http://schemas.openxmlformats.org/drawingml/2006/main">
            <a:r>
              <a:t>2. No. Storing information alone does not ensure that the system can represent or use it effectively.</a:t>
            </a:r>
          </a:p>
          <a:p xmlns:a="http://schemas.openxmlformats.org/drawingml/2006/main">
            <a:r>
              <a:t>3. In AI, knowledge concerns domain facts, concepts, relationships, rules, and principles that support answers, solutions, and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4–5, 23–24. Supplied lecture notes for AIC372. Reference given by the source: Levesque, Chapter 1.</a:t>
            </a:r>
          </a:p>
          <a:p xmlns:a="http://schemas.openxmlformats.org/drawingml/2006/main">
            <a:r>
              <a:t/>
            </a:r>
          </a:p>
          <a:p xmlns:a="http://schemas.openxmlformats.org/drawingml/2006/main">
            <a:r>
              <a:t>Opening discussion: What makes a computer system intelligent? Invite examples such as learning, planning, prediction, question answering, and problem solving. Ask whether a large store of facts alone is sufficient. Emphasize that this lecture studies the contribution of represented knowledge and reasoning to intelligence, rather than a complete definition of intelligence.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5–7. Supplied lecture notes for AIC372. Reference given by the source: Levesque, Chapter 1.</a:t>
            </a:r>
          </a:p>
          <a:p xmlns:a="http://schemas.openxmlformats.org/drawingml/2006/main">
            <a:r>
              <a:t/>
            </a:r>
          </a:p>
          <a:p xmlns:a="http://schemas.openxmlformats.org/drawingml/2006/main">
            <a:r>
              <a:t>Knowledge includes facts, concepts, properties, relationships, rules, constraints, general principles, and assumptions. A fact describes a particular situation; a rule connects a condition to a conclusion. Present Student(x) → HasID(x) as a simplified universal rule in this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7–8. Supplied lecture notes for AIC372. Reference given by the source: Levesque, Chapter 1.</a:t>
            </a:r>
          </a:p>
          <a:p xmlns:a="http://schemas.openxmlformats.org/drawingml/2006/main">
            <a:r>
              <a:t/>
            </a:r>
          </a:p>
          <a:p xmlns:a="http://schemas.openxmlformats.org/drawingml/2006/main">
            <a:r>
              <a:t>CLO-1 focus. Ask students to classify examples and explain the reason for their choice. These introductory categories can overlap. Factual: Islamabad is the capital of Pakistan. Conceptual: a car is a vehicle. Relational: LocatedIn(Lahore, Pakistan). Rule-based: a student who passes all required courses can graduate, under the simplified rule given in the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9–10. Supplied lecture notes for AIC372. Reference given by the source: Levesque, Chapter 1.</a:t>
            </a:r>
          </a:p>
          <a:p xmlns:a="http://schemas.openxmlformats.org/drawingml/2006/main">
            <a:r>
              <a:t/>
            </a:r>
          </a:p>
          <a:p xmlns:a="http://schemas.openxmlformats.org/drawingml/2006/main">
            <a:r>
              <a:t>The source uses 25 without context, Ali is 25 years old, and an age rule to distinguish the concepts. Treat the adulthood example only as the stated classroom rule, not as legal advice or a universal legal definition. Alternative information example: the temperature is 25°C. Ask students to supply another example at each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10–11, 17. Supplied lecture notes for AIC372. Reference given by the source: Levesque, Chapter 1.</a:t>
            </a:r>
          </a:p>
          <a:p xmlns:a="http://schemas.openxmlformats.org/drawingml/2006/main">
            <a:r>
              <a:t/>
            </a:r>
          </a:p>
          <a:p xmlns:a="http://schemas.openxmlformats.org/drawingml/2006/main">
            <a:r>
              <a:t>This is an illustrative scenario. A count of 95 vehicles alone does not establish congestion without road capacity, time window, speed, or another contextual rule. Similarly, a faster alternate route needs supporting information. Preserve the source’s tentative conclusion: Road B may be faster. Ask where domain knowledge enters the process and which observations would support the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10–11.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The knowledge stage supplies the rule linking heavy traffic and travel time; reasoning uses it with the information to compare routes. A strong response distinguishes holding the rule from applying it. The road count and heavy-traffic interpretation are the handout’s classroom example, not a real traffic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11–13. Supplied lecture notes for AIC372. Reference given by the source: Levesque, Chapter 1.</a:t>
            </a:r>
          </a:p>
          <a:p xmlns:a="http://schemas.openxmlformats.org/drawingml/2006/main">
            <a:r>
              <a:t/>
            </a:r>
          </a:p>
          <a:p xmlns:a="http://schemas.openxmlformats.org/drawingml/2006/main">
            <a:r>
              <a:t>Explain that a formal or structured representation gives a system something it can process. In these introductory rules, x stands for any relevant object; → means “if ... then ...”. Full first-order logic syntax and quantifiers will come later. Connect Passes(Ali) with the rule to preview ReceivesCertificate(Ali).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12–14. Supplied lecture notes for AIC372. Reference given by the source: Levesque, Chapter 1.</a:t>
            </a:r>
          </a:p>
          <a:p xmlns:a="http://schemas.openxmlformats.org/drawingml/2006/main">
            <a:r>
              <a:t/>
            </a:r>
          </a:p>
          <a:p xmlns:a="http://schemas.openxmlformats.org/drawingml/2006/main">
            <a:r>
              <a:t>Translate “Ahmed is a student and studies Computer Science” into Student(Ahmed) and Studies(Ahmed, ComputerScience). To infer that Ahmed is a person, the system also needs a category rule such as Student(x) → Person(x). Distinguish individual entities such as Ali and Car1 from categories such as Student and Vehicle.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14–15. Supplied lecture notes for AIC372. Reference given by the source: Levesque, Chapter 1.</a:t>
            </a:r>
          </a:p>
          <a:p xmlns:a="http://schemas.openxmlformats.org/drawingml/2006/main">
            <a:r>
              <a:t/>
            </a:r>
          </a:p>
          <a:p xmlns:a="http://schemas.openxmlformats.org/drawingml/2006/main">
            <a:r>
              <a:t>Introduce these approaches without a detailed syntax lesson. Logic states facts and implications. Production rules connect conditions to actions. The cooling rule is the classroom example from the source, with the temperature threshold shown as 30°C for clarity.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15. Supplied lecture notes for AIC372. Reference given by the source: Levesque, Chapter 1.</a:t>
            </a:r>
          </a:p>
          <a:p xmlns:a="http://schemas.openxmlformats.org/drawingml/2006/main">
            <a:r>
              <a:t/>
            </a:r>
          </a:p>
          <a:p xmlns:a="http://schemas.openxmlformats.org/drawingml/2006/main">
            <a:r>
              <a:t>These are a preview of approaches developed later in the course. A Student frame has attributes Name, Age, Department, Courses, RegistrationNo. Inheritance organizes categories: Dog is a Mammal, Mammal is an Animal. An ontology describes domain concepts and their relationships. Avoid suggesting that every property always inherits without exceptions.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16–17.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1. Raw data alone does not explicitly organize entities, relationships, and rules for reasoning. A structured representation supports organization, inference, question answering, problem solving, and decisions.</a:t>
            </a:r>
          </a:p>
          <a:p xmlns:a="http://schemas.openxmlformats.org/drawingml/2006/main">
            <a:r>
              <a:t>2. Ali studies Computer Science; Studies(Ali, ComputerScience) directly represents that relationship.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16–17. Supplied lecture notes for AIC372. Reference given by the source: Levesque, Chapter 1.</a:t>
            </a:r>
          </a:p>
          <a:p xmlns:a="http://schemas.openxmlformats.org/drawingml/2006/main">
            <a:r>
              <a:t/>
            </a:r>
          </a:p>
          <a:p xmlns:a="http://schemas.openxmlformats.org/drawingml/2006/main">
            <a:r>
              <a:t>Cover all five source purposes: organization, reasoning, question answering, problem solving, and decision making. Example query: from Studies(Ali, ComputerScience), answer “What does Ali study?” Diagnostic systems may use symptoms and relationships to reason about possible conditions; no clinical conclusion is required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18–19, 38–39. Supplied lecture notes for AIC372. Reference given by the source: Levesque, Chapter 1.</a:t>
            </a:r>
          </a:p>
          <a:p xmlns:a="http://schemas.openxmlformats.org/drawingml/2006/main">
            <a:r>
              <a:t/>
            </a:r>
          </a:p>
          <a:p xmlns:a="http://schemas.openxmlformats.org/drawingml/2006/main">
            <a:r>
              <a:t>Reasoning uses available knowledge to determine what follows. Introduce the rule-application pattern often called modus ponens. Emphasize that the fact must match the condition. The conclusion follows within the represented model when the premises hold and the inference is valid.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18, 28.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Case 1: Human(Socrates) matches Human(x), with x = Socrates; derive Mortal(Socrates).</a:t>
            </a:r>
          </a:p>
          <a:p xmlns:a="http://schemas.openxmlformats.org/drawingml/2006/main">
            <a:r>
              <a:t>Case 2: CSStudent(Ahmed) matches CSStudent(x), with x = Ahmed; derive StudiesProgramming(Ahmed). Ask for the matching fact, rule, substitution, and conclusion. The following worked examples can support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18–21. Supplied lecture notes for AIC372. Reference given by the source: Levesque, Chapter 1.</a:t>
            </a:r>
          </a:p>
          <a:p xmlns:a="http://schemas.openxmlformats.org/drawingml/2006/main">
            <a:r>
              <a:t/>
            </a:r>
          </a:p>
          <a:p xmlns:a="http://schemas.openxmlformats.org/drawingml/2006/main">
            <a:r>
              <a:t>Ask for the conclusion before revealing or discussing the lower-right result. Deductive inference guarantees the conclusion only if its premises are true and the inference is valid. Both Human(Socrates) and the rule are explicit knowledge. Mortal(Socrates) is derived knowledge, even if the system later stores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28–29. Supplied lecture notes for AIC372. Reference given by the source: Levesque, Chapter 1.</a:t>
            </a:r>
          </a:p>
          <a:p xmlns:a="http://schemas.openxmlformats.org/drawingml/2006/main">
            <a:r>
              <a:t/>
            </a:r>
          </a:p>
          <a:p xmlns:a="http://schemas.openxmlformats.org/drawingml/2006/main">
            <a:r>
              <a:t>Bloom level: Apply. Read the two knowledge statements: Every CS student studies programming; Ahmed is a CS student. Ask students to identify the variable substitution and justify why the rule matches. This is a new instance of the same inference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22.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Yes. Dog(x) implies Animal(x), Animal(x) implies LivingThing(x), and LivingThing(x) implies RequiresEnergy(x). Chain the rules to derive Dog(x) → RequiresEnergy(x). These predicates formalize the handout’s category arrows.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22. Supplied lecture notes for AIC372. Reference given by the source: Levesque, Chapter 1.</a:t>
            </a:r>
          </a:p>
          <a:p xmlns:a="http://schemas.openxmlformats.org/drawingml/2006/main">
            <a:r>
              <a:t/>
            </a:r>
          </a:p>
          <a:p xmlns:a="http://schemas.openxmlformats.org/drawingml/2006/main">
            <a:r>
              <a:t>The source uses conceptual category arrows. Here the same relations appear as predicates to keep the rule syntax consistent. The conclusion that every dog requires energy follows by applying the three rules in sequence. A system that merely stores them may not have derived this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20–21. Supplied lecture notes for AIC372. Reference given by the source: Levesque, Chapter 1.</a:t>
            </a:r>
          </a:p>
          <a:p xmlns:a="http://schemas.openxmlformats.org/drawingml/2006/main">
            <a:r>
              <a:t/>
            </a:r>
          </a:p>
          <a:p xmlns:a="http://schemas.openxmlformats.org/drawingml/2006/main">
            <a:r>
              <a:t>Induction generalizes from observations. The crow example supports a generalization but cannot prove that every crow is black. Additional observations can strengthen, weaken, or challenge the generalization. This lecture introduces the idea rather than statistical estimation.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21. Supplied lecture notes for AIC372. Reference given by the source: Levesque, Chapter 1.</a:t>
            </a:r>
          </a:p>
          <a:p xmlns:a="http://schemas.openxmlformats.org/drawingml/2006/main">
            <a:r>
              <a:t/>
            </a:r>
          </a:p>
          <a:p xmlns:a="http://schemas.openxmlformats.org/drawingml/2006/main">
            <a:r>
              <a:t>Abduction proposes explanations for observations. It does not establish that an explanation must be true. Ask which evidence would distinguish rainfall, washing, and a leak. Weather information indicating rain can make rainfall a stronger explanation.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20–22. Supplied lecture notes for AIC372. Reference given by the source: Levesque, Chapter 1.</a:t>
            </a:r>
          </a:p>
          <a:p xmlns:a="http://schemas.openxmlformats.org/drawingml/2006/main">
            <a:r>
              <a:t/>
            </a:r>
          </a:p>
          <a:p xmlns:a="http://schemas.openxmlformats.org/drawingml/2006/main">
            <a:r>
              <a:t>Use the table to distinguish purpose and certainty. Formal logical reasoning is particularly important in the course. Later topics named in the source include first-order logic, resolution, Horn clauses, SLD resolution, default reasoning, probability, Bayesian reasoning, and planning. These are previews rather than extra topics for this introductory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23.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No, not from a reasoning mechanism alone. The system also needs domain knowledge such as symptoms, conditions, treatments, relationships, and rules. This is a conceptual AI question about missing domain knowledge, not a medical-advice exercise.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22–24. Supplied lecture notes for AIC372. Reference given by the source: Levesque, Chapter 1.</a:t>
            </a:r>
          </a:p>
          <a:p xmlns:a="http://schemas.openxmlformats.org/drawingml/2006/main">
            <a:r>
              <a:t/>
            </a:r>
          </a:p>
          <a:p xmlns:a="http://schemas.openxmlformats.org/drawingml/2006/main">
            <a:r>
              <a:t>Explain both limitations in the source. Knowledge alone does not ensure that a system derives useful consequences. A reasoning mechanism still needs domain facts and rules. The combination contributes to intelligent behavior, with representation providing the usable form. A diagnostic mechanism without domain knowledge is the source example, but no medical advice is being taught.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24–25.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Yes under the example’s stated assumptions: Ali is a student and has completed Programming Fundamentals, the only prerequisite for Data Structures here. The all-prerequisites rule permits registration if no other restrictions apply. In an actual system, completion of one prerequisite alone would not establish full eligibility.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24–26. Supplied lecture notes for AIC372. Reference given by the source: Levesque, Chapter 1.</a:t>
            </a:r>
          </a:p>
          <a:p xmlns:a="http://schemas.openxmlformats.org/drawingml/2006/main">
            <a:r>
              <a:t/>
            </a:r>
          </a:p>
          <a:p xmlns:a="http://schemas.openxmlformats.org/drawingml/2006/main">
            <a:r>
              <a:t>Use a simplified advising model. Assume Programming Fundamentals is the only prerequisite for Data Structures in this example and no other registration restriction applies. The source rule concerns completion of ALL prerequisites. In a real system, satisfying one prerequisite alone would not prove full eligibility. Ask students to identify knowledge, representation, reasoning, and resulting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24–26. Supplied lecture notes for AIC372. Reference given by the source: Levesque, Chapter 1.</a:t>
            </a:r>
          </a:p>
          <a:p xmlns:a="http://schemas.openxmlformats.org/drawingml/2006/main">
            <a:r>
              <a:t/>
            </a:r>
          </a:p>
          <a:p xmlns:a="http://schemas.openxmlformats.org/drawingml/2006/main">
            <a:r>
              <a:t>A knowledge-based system combines a knowledge base and an inference mechanism to answer questions or solve problems. Walk through user question, interface, inference engine, and knowledge base. The engine works with represented facts, rules, relationships, concepts, and constraints. The simplified architecture follows the source figure.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26. Supplied lecture notes for AIC372. Reference given by the source: Levesque, Chapter 1.</a:t>
            </a:r>
          </a:p>
          <a:p xmlns:a="http://schemas.openxmlformats.org/drawingml/2006/main">
            <a:r>
              <a:t/>
            </a:r>
          </a:p>
          <a:p xmlns:a="http://schemas.openxmlformats.org/drawingml/2006/main">
            <a:r>
              <a:t>The source’s simplified car troubleshooting example chains two rules. The predicate EngineMayNotStart expresses a possibility, not a certain mechanical diagnosis. Ask why the second rule recommends a check rather than asserting a confirmed fault.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26–27. Supplied lecture notes for AIC372. Reference given by the source: Levesque, Chapter 1.</a:t>
            </a:r>
          </a:p>
          <a:p xmlns:a="http://schemas.openxmlformats.org/drawingml/2006/main">
            <a:r>
              <a:t/>
            </a:r>
          </a:p>
          <a:p xmlns:a="http://schemas.openxmlformats.org/drawingml/2006/main">
            <a:r>
              <a:t>Real domains contain objects, properties, relationships, events, categories, exceptions, incomplete information, and uncertainty. The tradeoff is conceptual: greater expressiveness can make reasoning harder, but the difficulty depends on the chosen language and inference task. Do not claim a strict universal complexity 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29–30. Supplied lecture notes for AIC372. Reference given by the source: Levesque, Chapter 1.</a:t>
            </a:r>
          </a:p>
          <a:p xmlns:a="http://schemas.openxmlformats.org/drawingml/2006/main">
            <a:r>
              <a:t/>
            </a:r>
          </a:p>
          <a:p xmlns:a="http://schemas.openxmlformats.org/drawingml/2006/main">
            <a:r>
              <a:t>Allow about six minutes across this activity and the solution. Students first work individually or in pairs. Ask for given statements, derived statements, rules used, and the effect of an unmet validity condition. Bloom levels: Identify/Remember, Explain/Understand, Apply rules/Apply, and inspect missing conditions/Analyze. Do not show the next slide until students have attempted the chain.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29–30.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1. The two facts Registered(Sara) and ValidID(Sara), together with both rules, were given directly.</a:t>
            </a:r>
          </a:p>
          <a:p xmlns:a="http://schemas.openxmlformats.org/drawingml/2006/main">
            <a:r>
              <a:t>2. Infer HasUniversityID(Sara), then CanEnterExamHall(Sara).</a:t>
            </a:r>
          </a:p>
          <a:p xmlns:a="http://schemas.openxmlformats.org/drawingml/2006/main">
            <a:r>
              <a:t>3. First use Registered(x) → HasUniversityID(x), then the rule requiring both HasUniversityID(x) and ValidID(x).</a:t>
            </a:r>
          </a:p>
          <a:p xmlns:a="http://schemas.openxmlformats.org/drawingml/2006/main">
            <a:r>
              <a:t>4. If validity is not established or the ID is invalid, the entry rule cannot establish permission. Missing information alone is not proof of negation; a separate denial rule is needed to derive a formal denial.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29–30. Supplied lecture notes for AIC372. Reference given by the source: Levesque, Chapter 1.</a:t>
            </a:r>
          </a:p>
          <a:p xmlns:a="http://schemas.openxmlformats.org/drawingml/2006/main">
            <a:r>
              <a:t/>
            </a:r>
          </a:p>
          <a:p xmlns:a="http://schemas.openxmlformats.org/drawingml/2006/main">
            <a:r>
              <a:t>Expected answer: Registered(Sara) with the first rule gives HasUniversityID(Sara). Combine it with ValidID(Sara) to use the second rule and derive CanEnterExamHall(Sara). If ValidID(Sara) is absent or fails, the entry rule cannot establish permission. Absence of a fact is not automatically proof of its negation. A separate denial rule would be needed to derive a formal “cannot enter”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31–32. Supplied lecture notes for AIC372. Reference given by the source: Levesque, Chapter 1.</a:t>
            </a:r>
          </a:p>
          <a:p xmlns:a="http://schemas.openxmlformats.org/drawingml/2006/main">
            <a:r>
              <a:t/>
            </a:r>
          </a:p>
          <a:p xmlns:a="http://schemas.openxmlformats.org/drawingml/2006/main">
            <a:r>
              <a:t>Use selected rows as a quick check, inviting students to explain the correction. The distinctions are: structured knowledge versus raw storage; inference versus arithmetic alone; AI broader than machine learning; entailment versus uncertain conclusions; explicit versus derived knowledge.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31.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Remember: Knowledge representation expresses knowledge in a structured or formal form that supports computer reasoning.</a:t>
            </a:r>
          </a:p>
          <a:p xmlns:a="http://schemas.openxmlformats.org/drawingml/2006/main">
            <a:r>
              <a:t>Understand: It organizes usable knowledge and enables conclusions, answers, problem solving, and decisions.</a:t>
            </a:r>
          </a:p>
          <a:p xmlns:a="http://schemas.openxmlformats.org/drawingml/2006/main">
            <a:r>
              <a:t>Apply: Student(Ali) and Student(x) → HasID(x) give HasID(Ali). The rule matches x = Ali.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27, 31.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Analyze: In the traffic example, the count is data; the traffic/travel-time relationship is knowledge; comparing the alternative uses reasoning; recommending Road B is the decision. Context turns the count into information.</a:t>
            </a:r>
          </a:p>
          <a:p xmlns:a="http://schemas.openxmlformats.org/drawingml/2006/main">
            <a:r>
              <a:t>Evaluate: More stored data is insufficient without relevant knowledge, usable representation, and a reasoning mechanism. Students should justify their answer, not only say no.</a:t>
            </a:r>
          </a:p>
          <a:p xmlns:a="http://schemas.openxmlformats.org/drawingml/2006/main">
            <a:r>
              <a:t>Design question: Choose a structured representation that expresses the needed facts, relationships, and rules while supporting the intended reasoning. Discuss expressiveness and difficulty without asserting a universal numeric tradeoff.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34.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CLO-1: Explain types of knowledge and their relation to intelligence.</a:t>
            </a:r>
          </a:p>
          <a:p xmlns:a="http://schemas.openxmlformats.org/drawingml/2006/main">
            <a:r>
              <a:t>1. Factual knowledge: Ahmed is a BSCS student and completed Programming Fundamentals. Relational knowledge: Data Structures requires Programming Fundamentals. Rule-based knowledge: completion of all prerequisites supports registration.</a:t>
            </a:r>
          </a:p>
          <a:p xmlns:a="http://schemas.openxmlformats.org/drawingml/2006/main">
            <a:r>
              <a:t>2. BSCSStudent(Ahmed), Completed(Ahmed, ProgrammingFundamentals), Requires(DataStructures, ProgrammingFundamentals), and an all-prerequisites rule.</a:t>
            </a:r>
          </a:p>
          <a:p xmlns:a="http://schemas.openxmlformats.org/drawingml/2006/main">
            <a:r>
              <a:t>3. The system checks the completed course against the required prerequisite.</a:t>
            </a:r>
          </a:p>
          <a:p xmlns:a="http://schemas.openxmlformats.org/drawingml/2006/main">
            <a:r>
              <a:t>4. The conclusion supports an appropriate course-registration recommendation under the simplifying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33.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Q1. Knowledge in AI is domain information about facts, concepts, relationships, rules, and principles that a system can use to answer questions, solve problems, or decide.</a:t>
            </a:r>
          </a:p>
          <a:p xmlns:a="http://schemas.openxmlformats.org/drawingml/2006/main">
            <a:r>
              <a:t>Q2. Data: raw observations; information: data in context; knowledge: usable facts or rules supporting interpretation and inference. Accept appropriate examples.</a:t>
            </a:r>
          </a:p>
          <a:p xmlns:a="http://schemas.openxmlformats.org/drawingml/2006/main">
            <a:r>
              <a:t>Q3. A structured or formal representation enables a computer to use knowledge for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33.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Q4. Derive Mortal(Ali) by substituting Ali for x in the rule.</a:t>
            </a:r>
          </a:p>
          <a:p xmlns:a="http://schemas.openxmlformats.org/drawingml/2006/main">
            <a:r>
              <a:t>Q5. Deduction derives a conclusion entailed by rules and facts. Induction supports a generalization from observations. Abduction proposes a plausible explanation for an observation. Inductive and abductive conclusions are not guaranteed.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34.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Q6. Knowledge includes the relationship between heavy traffic and travel time. Reasoning combines the current traffic information and route knowledge to consider whether Road B is faster. The final route recommendation is a decision. The count is data and the interpreted traffic situation is information. Do not infer a universal heavy-traffic threshold from 95 vehicles.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37–39. Supplied lecture notes for AIC372. Reference given by the source: Levesque, Chapter 1.</a:t>
            </a:r>
          </a:p>
          <a:p xmlns:a="http://schemas.openxmlformats.org/drawingml/2006/main">
            <a:r>
              <a:t/>
            </a:r>
          </a:p>
          <a:p xmlns:a="http://schemas.openxmlformats.org/drawingml/2006/main">
            <a:r>
              <a:t>Closing recap. Ask students to explain the relation between knowledge types and intelligence, the core CLO-1 focus. Mention that later lectures examine knowledge-based systems and formal representations in greater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35. Supplied lecture notes for AIC372. Reference given by the source: Levesque, Chapter 1.</a:t>
            </a:r>
          </a:p>
          <a:p xmlns:a="http://schemas.openxmlformats.org/drawingml/2006/main">
            <a:r>
              <a:t/>
            </a:r>
          </a:p>
          <a:p xmlns:a="http://schemas.openxmlformats.org/drawingml/2006/main">
            <a:r>
              <a:t>Homework Parts A and B from the source. Ask for students’ own wording and examples. No due date or marks were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35.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Part C: Bird(Tweety) and Bird(x) → Animal(x) imply Animal(Tweety). Apply Animal(x) → LivingThing(x) to infer LivingThing(Tweety). Students must show both steps and identify the rule used at each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35–36. Supplied AIC372 handout. Reference named in the handout: Levesque, Chapter 1.</a:t>
            </a:r>
          </a:p>
          <a:p xmlns:a="http://schemas.openxmlformats.org/drawingml/2006/main">
            <a:r>
              <a:t/>
            </a:r>
          </a:p>
          <a:p xmlns:a="http://schemas.openxmlformats.org/drawingml/2006/main">
            <a:r>
              <a:t>Instructor answer guide</a:t>
            </a:r>
          </a:p>
          <a:p xmlns:a="http://schemas.openxmlformats.org/drawingml/2006/main">
            <a:r>
              <a:t>Part D: Accept medical diagnosis, an autonomous vehicle, university advising, smart traffic management, or robotics. Look for relevant domain facts/rules, an explicit representation, a coherent inference, and an action supported by it. Assess conceptual understanding; do not require real-world clinical or operational instructions.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Lecture 1 — Knowledge, Representation and Reasoning.pdf, pages 36–39. Supplied lecture notes for AIC372. Reference given by the source: Levesque, Chapter 1.</a:t>
            </a:r>
          </a:p>
          <a:p xmlns:a="http://schemas.openxmlformats.org/drawingml/2006/main">
            <a:r>
              <a:t/>
            </a:r>
          </a:p>
          <a:p xmlns:a="http://schemas.openxmlformats.org/drawingml/2006/main">
            <a:r>
              <a:t>Answers: 1. Reasoning. 2. HasID(Ali). 3. Knowledge representation expresses knowledge in a structured or formal form so an AI system can use it for reasoning. Use the responses to check understanding and identify where the next lecture should begin.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aeea2cf5c240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5906dbb08b4438" /><Relationship Type="http://schemas.openxmlformats.org/officeDocument/2006/relationships/slideLayout" Target="/ppt/slideLayouts/slideLayout1.xml" Id="R58322dd9d0c642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322dd9d0c642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5d071861ad149f2" /><Relationship Type="http://schemas.openxmlformats.org/officeDocument/2006/relationships/notesSlide" Target="/ppt/notesSlides/notesSlide1.xml" Id="R757fc1a0d0344dd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bf8864af6544b7" /><Relationship Type="http://schemas.openxmlformats.org/officeDocument/2006/relationships/notesSlide" Target="/ppt/notesSlides/notesSlide2.xml" Id="R8c43986c98cc4d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eccbdfe31449c7" /><Relationship Type="http://schemas.openxmlformats.org/officeDocument/2006/relationships/image" Target="/ppt/media/image.png" Id="R64d2069f904c4305" /><Relationship Type="http://schemas.openxmlformats.org/officeDocument/2006/relationships/notesSlide" Target="/ppt/notesSlides/notesSlide3.xml" Id="Rbdbda26457fd46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d857445ef04460b" /><Relationship Type="http://schemas.openxmlformats.org/officeDocument/2006/relationships/notesSlide" Target="/ppt/notesSlides/notesSlide4.xml" Id="R7b11fa4ba72c4b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5ca896dd7d34986" /><Relationship Type="http://schemas.openxmlformats.org/officeDocument/2006/relationships/notesSlide" Target="/ppt/notesSlides/notesSlide5.xml" Id="R3bb9d518e6204d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826d88ee7ad4bfa" /><Relationship Type="http://schemas.openxmlformats.org/officeDocument/2006/relationships/notesSlide" Target="/ppt/notesSlides/notesSlide6.xml" Id="R06f02945a84b43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db092af57004d0e" /><Relationship Type="http://schemas.openxmlformats.org/officeDocument/2006/relationships/image" Target="/ppt/media/image2.png" Id="R3abcbe2eba5f44de" /><Relationship Type="http://schemas.openxmlformats.org/officeDocument/2006/relationships/notesSlide" Target="/ppt/notesSlides/notesSlide7.xml" Id="R26bff3c663b840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ae28ebe9a2a4dd0" /><Relationship Type="http://schemas.openxmlformats.org/officeDocument/2006/relationships/notesSlide" Target="/ppt/notesSlides/notesSlide8.xml" Id="R556018ac64f541f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e5205c8578c4074" /><Relationship Type="http://schemas.openxmlformats.org/officeDocument/2006/relationships/notesSlide" Target="/ppt/notesSlides/notesSlide9.xml" Id="R06b0c45f28aa4b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8696d9e9c914d3f" /><Relationship Type="http://schemas.openxmlformats.org/officeDocument/2006/relationships/notesSlide" Target="/ppt/notesSlides/notesSlide10.xml" Id="R4baa9b96cf09429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d58317c77034d10" /><Relationship Type="http://schemas.openxmlformats.org/officeDocument/2006/relationships/notesSlide" Target="/ppt/notesSlides/notesSlide11.xml" Id="R49e397737c2640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4df8cd6603a4b33" /><Relationship Type="http://schemas.openxmlformats.org/officeDocument/2006/relationships/image" Target="/ppt/media/image3.png" Id="R1a83209dd37944d0" /><Relationship Type="http://schemas.openxmlformats.org/officeDocument/2006/relationships/notesSlide" Target="/ppt/notesSlides/notesSlide12.xml" Id="R4a7c28ad97644db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ae4b7487b094468" /><Relationship Type="http://schemas.openxmlformats.org/officeDocument/2006/relationships/notesSlide" Target="/ppt/notesSlides/notesSlide13.xml" Id="R66924535abcb45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f1f1f17b9b64548" /><Relationship Type="http://schemas.openxmlformats.org/officeDocument/2006/relationships/notesSlide" Target="/ppt/notesSlides/notesSlide14.xml" Id="R1edb49b59f8a494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bee7d26c26c4f19" /><Relationship Type="http://schemas.openxmlformats.org/officeDocument/2006/relationships/image" Target="/ppt/media/image4.png" Id="R1517923ae3a543fc" /><Relationship Type="http://schemas.openxmlformats.org/officeDocument/2006/relationships/notesSlide" Target="/ppt/notesSlides/notesSlide15.xml" Id="Raba8b6e4d53d4d8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6a53ba094104774" /><Relationship Type="http://schemas.openxmlformats.org/officeDocument/2006/relationships/notesSlide" Target="/ppt/notesSlides/notesSlide16.xml" Id="Reef3acde316f407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e32d0293ea24bbd" /><Relationship Type="http://schemas.openxmlformats.org/officeDocument/2006/relationships/notesSlide" Target="/ppt/notesSlides/notesSlide17.xml" Id="R139c46d892f34d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b12dff461a94b6b" /><Relationship Type="http://schemas.openxmlformats.org/officeDocument/2006/relationships/notesSlide" Target="/ppt/notesSlides/notesSlide18.xml" Id="Ra496ca4418a74cc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b4dcb48f0e74bfb" /><Relationship Type="http://schemas.openxmlformats.org/officeDocument/2006/relationships/notesSlide" Target="/ppt/notesSlides/notesSlide19.xml" Id="Rfd3d8c5c9d7e413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43dd842614f499d" /><Relationship Type="http://schemas.openxmlformats.org/officeDocument/2006/relationships/image" Target="/ppt/media/image5.png" Id="R198b41d2d649419a" /><Relationship Type="http://schemas.openxmlformats.org/officeDocument/2006/relationships/notesSlide" Target="/ppt/notesSlides/notesSlide20.xml" Id="R2648cfbab6e44d3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f4aa85289884d00" /><Relationship Type="http://schemas.openxmlformats.org/officeDocument/2006/relationships/chart" Target="/ppt/slides/charts/chart1.xml" Id="R4415f7cb459249ee" /><Relationship Type="http://schemas.openxmlformats.org/officeDocument/2006/relationships/notesSlide" Target="/ppt/notesSlides/notesSlide21.xml" Id="Rdde25700d24d4b3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f70fbf6ef484ffd" /><Relationship Type="http://schemas.openxmlformats.org/officeDocument/2006/relationships/image" Target="/ppt/media/image6.png" Id="Re935e2f03b70454a" /><Relationship Type="http://schemas.openxmlformats.org/officeDocument/2006/relationships/notesSlide" Target="/ppt/notesSlides/notesSlide22.xml" Id="R2813798e688e4df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c14eaf844b34e96" /><Relationship Type="http://schemas.openxmlformats.org/officeDocument/2006/relationships/notesSlide" Target="/ppt/notesSlides/notesSlide23.xml" Id="Rc39b6ace81da49a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a26214b98a84a9c" /><Relationship Type="http://schemas.openxmlformats.org/officeDocument/2006/relationships/notesSlide" Target="/ppt/notesSlides/notesSlide24.xml" Id="Rd992d7c13cf248a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fcf637215c74f10" /><Relationship Type="http://schemas.openxmlformats.org/officeDocument/2006/relationships/notesSlide" Target="/ppt/notesSlides/notesSlide25.xml" Id="R7706fa8abea74f0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1debdd236504af3" /><Relationship Type="http://schemas.openxmlformats.org/officeDocument/2006/relationships/notesSlide" Target="/ppt/notesSlides/notesSlide26.xml" Id="R2893d1da6889416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42545d1b8244309" /><Relationship Type="http://schemas.openxmlformats.org/officeDocument/2006/relationships/image" Target="/ppt/media/image7.png" Id="R3a19814e6f2b4478" /><Relationship Type="http://schemas.openxmlformats.org/officeDocument/2006/relationships/notesSlide" Target="/ppt/notesSlides/notesSlide27.xml" Id="R3d9792ea70544e3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c2f683b245f424c" /><Relationship Type="http://schemas.openxmlformats.org/officeDocument/2006/relationships/image" Target="/ppt/media/image8.png" Id="R492ce62bb23a4eed" /><Relationship Type="http://schemas.openxmlformats.org/officeDocument/2006/relationships/notesSlide" Target="/ppt/notesSlides/notesSlide28.xml" Id="Radb77a4f032447e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8e91af1108740d7" /><Relationship Type="http://schemas.openxmlformats.org/officeDocument/2006/relationships/notesSlide" Target="/ppt/notesSlides/notesSlide29.xml" Id="R92cb6dfd67e9482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ad614f7129e49b2" /><Relationship Type="http://schemas.openxmlformats.org/officeDocument/2006/relationships/image" Target="/ppt/media/image9.png" Id="Ra92fb0fe03484e80" /><Relationship Type="http://schemas.openxmlformats.org/officeDocument/2006/relationships/notesSlide" Target="/ppt/notesSlides/notesSlide30.xml" Id="Rd8bd73b28bfe408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573284b698049e2" /><Relationship Type="http://schemas.openxmlformats.org/officeDocument/2006/relationships/notesSlide" Target="/ppt/notesSlides/notesSlide31.xml" Id="R423c9cc204a441d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3cbda814eb524638" /><Relationship Type="http://schemas.openxmlformats.org/officeDocument/2006/relationships/notesSlide" Target="/ppt/notesSlides/notesSlide32.xml" Id="R121fadcfe2154d5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eb225150c1ce45db" /><Relationship Type="http://schemas.openxmlformats.org/officeDocument/2006/relationships/image" Target="/ppt/media/image10.png" Id="Reb4011fb25034929" /><Relationship Type="http://schemas.openxmlformats.org/officeDocument/2006/relationships/notesSlide" Target="/ppt/notesSlides/notesSlide33.xml" Id="R3981c1800e194bf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5b820958c954443" /><Relationship Type="http://schemas.openxmlformats.org/officeDocument/2006/relationships/notesSlide" Target="/ppt/notesSlides/notesSlide34.xml" Id="R007368d3292041c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ce202cbfb1a4300" /><Relationship Type="http://schemas.openxmlformats.org/officeDocument/2006/relationships/notesSlide" Target="/ppt/notesSlides/notesSlide35.xml" Id="R308d814577eb43d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94c6820b5374281" /><Relationship Type="http://schemas.openxmlformats.org/officeDocument/2006/relationships/notesSlide" Target="/ppt/notesSlides/notesSlide36.xml" Id="R25664f6cdb444a0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99b71e047388478f" /><Relationship Type="http://schemas.openxmlformats.org/officeDocument/2006/relationships/notesSlide" Target="/ppt/notesSlides/notesSlide37.xml" Id="R17974006ac4c441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f6615448e884b7f" /><Relationship Type="http://schemas.openxmlformats.org/officeDocument/2006/relationships/notesSlide" Target="/ppt/notesSlides/notesSlide38.xml" Id="R5db3d08f346b413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9969ddef85245dc" /><Relationship Type="http://schemas.openxmlformats.org/officeDocument/2006/relationships/notesSlide" Target="/ppt/notesSlides/notesSlide39.xml" Id="R4cc2bbde03f6444a"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b3b9037e4bf4863" /><Relationship Type="http://schemas.openxmlformats.org/officeDocument/2006/relationships/notesSlide" Target="/ppt/notesSlides/notesSlide40.xml" Id="Rf5d4baca552c462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264daf542d44282" /><Relationship Type="http://schemas.openxmlformats.org/officeDocument/2006/relationships/notesSlide" Target="/ppt/notesSlides/notesSlide41.xml" Id="R0e35adf6a6b74cb2"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de2d6d97fa745a9" /><Relationship Type="http://schemas.openxmlformats.org/officeDocument/2006/relationships/notesSlide" Target="/ppt/notesSlides/notesSlide42.xml" Id="Re0b19b5853164a0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e8e1b0f762bf4018" /><Relationship Type="http://schemas.openxmlformats.org/officeDocument/2006/relationships/notesSlide" Target="/ppt/notesSlides/notesSlide43.xml" Id="R9b03f78ac6e7474e"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e9f9174f6ef5436d" /><Relationship Type="http://schemas.openxmlformats.org/officeDocument/2006/relationships/notesSlide" Target="/ppt/notesSlides/notesSlide44.xml" Id="Rf7134888a607487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af136cb46fc4867" /><Relationship Type="http://schemas.openxmlformats.org/officeDocument/2006/relationships/notesSlide" Target="/ppt/notesSlides/notesSlide45.xml" Id="Rb5623ea524b4470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3449"/>
                </a:solidFill>
                <a:latin typeface="Arial"/>
                <a:ea typeface="Arial"/>
                <a:cs typeface="Arial"/>
              </a:rPr>
              <a:t>Observed crows (classroom example)</a:t>
            </a:r>
          </a:p>
        </c:rich>
      </c:tx>
      <c:overlay val="0"/>
      <c:txPr>
        <a:bodyPr xmlns:a="http://schemas.openxmlformats.org/drawingml/2006/main" anchorCtr="1"/>
        <a:lstStyle xmlns:a="http://schemas.openxmlformats.org/drawingml/2006/main"/>
        <a:p xmlns:a="http://schemas.openxmlformats.org/drawingml/2006/main">
          <a:pPr>
            <a:defRPr sz="1875" b="1">
              <a:solidFill>
                <a:srgbClr val="173449"/>
              </a:solidFill>
              <a:latin typeface="Arial"/>
              <a:ea typeface="Arial"/>
              <a:cs typeface="Arial"/>
            </a:defRPr>
          </a:pPr>
        </a:p>
      </c:txPr>
    </c:title>
    <c:plotArea>
      <c:barChart>
        <c:barDir val="col"/>
        <c:grouping val="clustered"/>
        <c:varyColors val="0"/>
        <c:ser>
          <c:idx val="0"/>
          <c:order val="0"/>
          <c:tx>
            <c:v>Number observed</c:v>
          </c:tx>
          <c:spPr>
            <a:solidFill xmlns:a="http://schemas.openxmlformats.org/drawingml/2006/main">
              <a:srgbClr val="087F8C"/>
            </a:solidFill>
          </c:spPr>
          <c:cat>
            <c:strRef>
              <c:f>'Chart Data'!$A$2:$A$3</c:f>
              <c:strCache>
                <c:ptCount val="2"/>
                <c:pt idx="0">
                  <c:v>Black</c:v>
                </c:pt>
                <c:pt idx="1">
                  <c:v>Other colors</c:v>
                </c:pt>
              </c:strCache>
            </c:strRef>
          </c:cat>
          <c:val>
            <c:numRef>
              <c:f>'Chart Data'!$B$2:$B$3</c:f>
              <c:numCache>
                <c:formatCode>0</c:formatCode>
                <c:ptCount val="2"/>
                <c:pt idx="0">
                  <c:v>4</c:v>
                </c:pt>
                <c:pt idx="1">
                  <c:v>0</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73449"/>
                  </a:solidFill>
                  <a:latin typeface="Arial"/>
                  <a:ea typeface="Arial"/>
                  <a:cs typeface="Arial"/>
                </a:defRPr>
              </a:pPr>
            </a:p>
          </c:txPr>
          <c:dLblPos val="outEnd"/>
          <c:showLegendKey val="0"/>
          <c:showVal val="1"/>
          <c:showCatName val="0"/>
          <c:showSerName val="0"/>
          <c:showPercent val="0"/>
          <c:showBubbleSize val="0"/>
          <c:showLeaderLines val="0"/>
        </c:dLbls>
        <c:gapWidth val="13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6E1E5"/>
            </a:solidFill>
          </a:ln>
        </c:spPr>
        <c:txPr>
          <a:bodyPr xmlns:a="http://schemas.openxmlformats.org/drawingml/2006/main" anchorCtr="1"/>
          <a:lstStyle xmlns:a="http://schemas.openxmlformats.org/drawingml/2006/main"/>
          <a:p xmlns:a="http://schemas.openxmlformats.org/drawingml/2006/main">
            <a:pPr>
              <a:defRPr sz="1800">
                <a:solidFill>
                  <a:srgbClr val="263746"/>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9525">
              <a:solidFill>
                <a:srgbClr val="D6E1E5"/>
              </a:solidFill>
            </a:ln>
          </c:spPr>
        </c:majorGridlines>
        <c:title>
          <c:tx>
            <c:rich>
              <a:bodyPr xmlns:a="http://schemas.openxmlformats.org/drawingml/2006/main"/>
              <a:lstStyle xmlns:a="http://schemas.openxmlformats.org/drawingml/2006/main"/>
              <a:p xmlns:a="http://schemas.openxmlformats.org/drawingml/2006/main">
                <a:r>
                  <a:rPr sz="1650">
                    <a:solidFill>
                      <a:srgbClr val="566570"/>
                    </a:solidFill>
                    <a:latin typeface="Arial"/>
                    <a:ea typeface="Arial"/>
                    <a:cs typeface="Arial"/>
                  </a:rPr>
                  <a:t>Number observed</a:t>
                </a:r>
              </a:p>
            </c:rich>
          </c:tx>
          <c:overlay val="0"/>
          <c:txPr>
            <a:bodyPr xmlns:a="http://schemas.openxmlformats.org/drawingml/2006/main" anchorCtr="1"/>
            <a:lstStyle xmlns:a="http://schemas.openxmlformats.org/drawingml/2006/main"/>
            <a:p xmlns:a="http://schemas.openxmlformats.org/drawingml/2006/main">
              <a:pPr>
                <a:defRPr sz="1650">
                  <a:solidFill>
                    <a:srgbClr val="566570"/>
                  </a:solidFill>
                  <a:latin typeface="Arial"/>
                  <a:ea typeface="Arial"/>
                  <a:cs typeface="Arial"/>
                </a:defRPr>
              </a:pPr>
            </a:p>
          </c:txPr>
        </c:title>
        <c:numFmt formatCode="0"/>
        <c:majorTickMark val="none"/>
        <c:minorTickMark val="none"/>
        <c:spPr>
          <a:ln xmlns:a="http://schemas.openxmlformats.org/drawingml/2006/main" w="9525">
            <a:solidFill>
              <a:srgbClr val="D6E1E5"/>
            </a:solidFill>
          </a:ln>
        </c:spPr>
        <c:txPr>
          <a:bodyPr xmlns:a="http://schemas.openxmlformats.org/drawingml/2006/main" anchorCtr="1"/>
          <a:lstStyle xmlns:a="http://schemas.openxmlformats.org/drawingml/2006/main"/>
          <a:p xmlns:a="http://schemas.openxmlformats.org/drawingml/2006/main">
            <a:pPr>
              <a:defRPr sz="1650">
                <a:solidFill>
                  <a:srgbClr val="566570"/>
                </a:solidFill>
                <a:latin typeface="Arial"/>
                <a:ea typeface="Arial"/>
                <a:cs typeface="Arial"/>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number">
            <a:extLst xmlns:a="http://schemas.openxmlformats.org/drawingml/2006/main">
              <a:ext uri="{FF2B5EF4-FFF2-40B4-BE49-F238E27FC236}">
                <a16:creationId xmlns:a16="http://schemas.microsoft.com/office/drawing/2014/main" id="{8740369D-DE63-4D89-8492-26F1BFF9BD9A}"/>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01</a:t>
            </a:r>
          </a:p>
        </p:txBody>
      </p:sp>
      <p:sp>
        <p:nvSpPr>
          <p:cNvPr id="2" name="text">
            <a:extLst xmlns:a="http://schemas.openxmlformats.org/drawingml/2006/main">
              <a:ext uri="{FF2B5EF4-FFF2-40B4-BE49-F238E27FC236}">
                <a16:creationId xmlns:a16="http://schemas.microsoft.com/office/drawing/2014/main" id="{E025A462-77D2-4457-B8D9-3D8A8032AE9D}"/>
              </a:ext>
            </a:extLst>
          </p:cNvPr>
          <p:cNvSpPr>
            <a:spLocks xmlns:a="http://schemas.openxmlformats.org/drawingml/2006/main" noGrp="1"/>
          </p:cNvSpPr>
          <p:nvPr/>
        </p:nvSpPr>
        <p:spPr>
          <a:xfrm xmlns:a="http://schemas.openxmlformats.org/drawingml/2006/main">
            <a:off x="609600" y="40005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LECTURE 1</a:t>
            </a:r>
          </a:p>
        </p:txBody>
      </p:sp>
      <p:sp>
        <p:nvSpPr>
          <p:cNvPr id="3" name="deck-title">
            <a:extLst xmlns:a="http://schemas.openxmlformats.org/drawingml/2006/main">
              <a:ext uri="{FF2B5EF4-FFF2-40B4-BE49-F238E27FC236}">
                <a16:creationId xmlns:a16="http://schemas.microsoft.com/office/drawing/2014/main" id="{7E9386F8-B004-4C45-A008-70241987E161}"/>
              </a:ext>
            </a:extLst>
          </p:cNvPr>
          <p:cNvSpPr>
            <a:spLocks xmlns:a="http://schemas.openxmlformats.org/drawingml/2006/main" noGrp="1"/>
          </p:cNvSpPr>
          <p:nvPr/>
        </p:nvSpPr>
        <p:spPr>
          <a:xfrm xmlns:a="http://schemas.openxmlformats.org/drawingml/2006/main">
            <a:off x="609600" y="876300"/>
            <a:ext cx="109728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350" b="1">
                <a:solidFill>
                  <a:srgbClr val="173449"/>
                </a:solidFill>
                <a:latin typeface="Arial"/>
                <a:ea typeface="Arial"/>
                <a:cs typeface="Arial"/>
              </a:defRPr>
            </a:pPr>
            <a:r>
              <a:rPr sz="4350" b="1">
                <a:solidFill>
                  <a:srgbClr val="173449"/>
                </a:solidFill>
                <a:latin typeface="Arial"/>
                <a:ea typeface="Arial"/>
                <a:cs typeface="Arial"/>
              </a:rPr>
              <a:t>Knowledge, Representation</a:t>
            </a:r>
          </a:p>
          <a:p xmlns:a="http://schemas.openxmlformats.org/drawingml/2006/main">
            <a:pPr>
              <a:buNone/>
              <a:defRPr sz="4350" b="1">
                <a:solidFill>
                  <a:srgbClr val="173449"/>
                </a:solidFill>
                <a:latin typeface="Arial"/>
                <a:ea typeface="Arial"/>
                <a:cs typeface="Arial"/>
              </a:defRPr>
            </a:pPr>
            <a:r>
              <a:rPr sz="4350" b="1">
                <a:solidFill>
                  <a:srgbClr val="173449"/>
                </a:solidFill>
                <a:latin typeface="Arial"/>
                <a:ea typeface="Arial"/>
                <a:cs typeface="Arial"/>
              </a:rPr>
              <a:t>and Reasoning</a:t>
            </a:r>
          </a:p>
        </p:txBody>
      </p:sp>
      <p:sp>
        <p:nvSpPr>
          <p:cNvPr id="4" name="text">
            <a:extLst xmlns:a="http://schemas.openxmlformats.org/drawingml/2006/main">
              <a:ext uri="{FF2B5EF4-FFF2-40B4-BE49-F238E27FC236}">
                <a16:creationId xmlns:a16="http://schemas.microsoft.com/office/drawing/2014/main" id="{C0A965BF-0428-4270-9FF6-D8A76240531F}"/>
              </a:ext>
            </a:extLst>
          </p:cNvPr>
          <p:cNvSpPr>
            <a:spLocks xmlns:a="http://schemas.openxmlformats.org/drawingml/2006/main" noGrp="1"/>
          </p:cNvSpPr>
          <p:nvPr/>
        </p:nvSpPr>
        <p:spPr>
          <a:xfrm xmlns:a="http://schemas.openxmlformats.org/drawingml/2006/main">
            <a:off x="609600" y="27146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87F8C"/>
                </a:solidFill>
                <a:latin typeface="Arial"/>
                <a:ea typeface="Arial"/>
                <a:cs typeface="Arial"/>
              </a:defRPr>
            </a:pPr>
            <a:r>
              <a:rPr sz="2250" b="1">
                <a:solidFill>
                  <a:srgbClr val="087F8C"/>
                </a:solidFill>
                <a:latin typeface="Arial"/>
                <a:ea typeface="Arial"/>
                <a:cs typeface="Arial"/>
              </a:rPr>
              <a:t>Contents</a:t>
            </a:r>
          </a:p>
        </p:txBody>
      </p:sp>
      <p:sp>
        <p:nvSpPr>
          <p:cNvPr id="5" name="text">
            <a:extLst xmlns:a="http://schemas.openxmlformats.org/drawingml/2006/main">
              <a:ext uri="{FF2B5EF4-FFF2-40B4-BE49-F238E27FC236}">
                <a16:creationId xmlns:a16="http://schemas.microsoft.com/office/drawing/2014/main" id="{D53B28E0-769D-4824-8616-3115531340B2}"/>
              </a:ext>
            </a:extLst>
          </p:cNvPr>
          <p:cNvSpPr>
            <a:spLocks xmlns:a="http://schemas.openxmlformats.org/drawingml/2006/main" noGrp="1"/>
          </p:cNvSpPr>
          <p:nvPr/>
        </p:nvSpPr>
        <p:spPr>
          <a:xfrm xmlns:a="http://schemas.openxmlformats.org/drawingml/2006/main">
            <a:off x="5000625" y="2714625"/>
            <a:ext cx="65817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87F8C"/>
                </a:solidFill>
                <a:latin typeface="Arial"/>
                <a:ea typeface="Arial"/>
                <a:cs typeface="Arial"/>
              </a:defRPr>
            </a:pPr>
            <a:r>
              <a:rPr sz="2250" b="1">
                <a:solidFill>
                  <a:srgbClr val="087F8C"/>
                </a:solidFill>
                <a:latin typeface="Arial"/>
                <a:ea typeface="Arial"/>
                <a:cs typeface="Arial"/>
              </a:rPr>
              <a:t>Objectives</a:t>
            </a:r>
          </a:p>
        </p:txBody>
      </p:sp>
      <p:sp>
        <p:nvSpPr>
          <p:cNvPr id="6" name="text">
            <a:extLst xmlns:a="http://schemas.openxmlformats.org/drawingml/2006/main">
              <a:ext uri="{FF2B5EF4-FFF2-40B4-BE49-F238E27FC236}">
                <a16:creationId xmlns:a16="http://schemas.microsoft.com/office/drawing/2014/main" id="{9E8E683C-C674-4A37-B71A-C69880B4150C}"/>
              </a:ext>
            </a:extLst>
          </p:cNvPr>
          <p:cNvSpPr>
            <a:spLocks xmlns:a="http://schemas.openxmlformats.org/drawingml/2006/main" noGrp="1"/>
          </p:cNvSpPr>
          <p:nvPr/>
        </p:nvSpPr>
        <p:spPr>
          <a:xfrm xmlns:a="http://schemas.openxmlformats.org/drawingml/2006/main">
            <a:off x="609600" y="3228975"/>
            <a:ext cx="3857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263746"/>
                </a:solidFill>
                <a:latin typeface="Arial"/>
                <a:ea typeface="Arial"/>
                <a:cs typeface="Arial"/>
              </a:defRPr>
            </a:pPr>
            <a:r>
              <a:rPr sz="1950" b="0">
                <a:solidFill>
                  <a:srgbClr val="263746"/>
                </a:solidFill>
                <a:latin typeface="Arial"/>
                <a:ea typeface="Arial"/>
                <a:cs typeface="Arial"/>
              </a:rPr>
              <a:t>Knowledge and its types</a:t>
            </a:r>
          </a:p>
        </p:txBody>
      </p:sp>
      <p:sp>
        <p:nvSpPr>
          <p:cNvPr id="7" name="text">
            <a:extLst xmlns:a="http://schemas.openxmlformats.org/drawingml/2006/main">
              <a:ext uri="{FF2B5EF4-FFF2-40B4-BE49-F238E27FC236}">
                <a16:creationId xmlns:a16="http://schemas.microsoft.com/office/drawing/2014/main" id="{2CF3FA15-F27A-4DF9-8061-EC19B521E987}"/>
              </a:ext>
            </a:extLst>
          </p:cNvPr>
          <p:cNvSpPr>
            <a:spLocks xmlns:a="http://schemas.openxmlformats.org/drawingml/2006/main" noGrp="1"/>
          </p:cNvSpPr>
          <p:nvPr/>
        </p:nvSpPr>
        <p:spPr>
          <a:xfrm xmlns:a="http://schemas.openxmlformats.org/drawingml/2006/main">
            <a:off x="609600" y="3771900"/>
            <a:ext cx="3857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263746"/>
                </a:solidFill>
                <a:latin typeface="Arial"/>
                <a:ea typeface="Arial"/>
                <a:cs typeface="Arial"/>
              </a:defRPr>
            </a:pPr>
            <a:r>
              <a:rPr sz="1950" b="0">
                <a:solidFill>
                  <a:srgbClr val="263746"/>
                </a:solidFill>
                <a:latin typeface="Arial"/>
                <a:ea typeface="Arial"/>
                <a:cs typeface="Arial"/>
              </a:rPr>
              <a:t>Data, information and knowledge</a:t>
            </a:r>
          </a:p>
        </p:txBody>
      </p:sp>
      <p:sp>
        <p:nvSpPr>
          <p:cNvPr id="8" name="text">
            <a:extLst xmlns:a="http://schemas.openxmlformats.org/drawingml/2006/main">
              <a:ext uri="{FF2B5EF4-FFF2-40B4-BE49-F238E27FC236}">
                <a16:creationId xmlns:a16="http://schemas.microsoft.com/office/drawing/2014/main" id="{5D9060DE-1B68-47B4-A4A1-A59744D2BC86}"/>
              </a:ext>
            </a:extLst>
          </p:cNvPr>
          <p:cNvSpPr>
            <a:spLocks xmlns:a="http://schemas.openxmlformats.org/drawingml/2006/main" noGrp="1"/>
          </p:cNvSpPr>
          <p:nvPr/>
        </p:nvSpPr>
        <p:spPr>
          <a:xfrm xmlns:a="http://schemas.openxmlformats.org/drawingml/2006/main">
            <a:off x="609600" y="4314825"/>
            <a:ext cx="3857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263746"/>
                </a:solidFill>
                <a:latin typeface="Arial"/>
                <a:ea typeface="Arial"/>
                <a:cs typeface="Arial"/>
              </a:defRPr>
            </a:pPr>
            <a:r>
              <a:rPr sz="1950" b="0">
                <a:solidFill>
                  <a:srgbClr val="263746"/>
                </a:solidFill>
                <a:latin typeface="Arial"/>
                <a:ea typeface="Arial"/>
                <a:cs typeface="Arial"/>
              </a:rPr>
              <a:t>Knowledge representation</a:t>
            </a:r>
          </a:p>
        </p:txBody>
      </p:sp>
      <p:sp>
        <p:nvSpPr>
          <p:cNvPr id="9" name="text">
            <a:extLst xmlns:a="http://schemas.openxmlformats.org/drawingml/2006/main">
              <a:ext uri="{FF2B5EF4-FFF2-40B4-BE49-F238E27FC236}">
                <a16:creationId xmlns:a16="http://schemas.microsoft.com/office/drawing/2014/main" id="{1B01278C-EED8-4FB4-86C7-8BFCC733BCF2}"/>
              </a:ext>
            </a:extLst>
          </p:cNvPr>
          <p:cNvSpPr>
            <a:spLocks xmlns:a="http://schemas.openxmlformats.org/drawingml/2006/main" noGrp="1"/>
          </p:cNvSpPr>
          <p:nvPr/>
        </p:nvSpPr>
        <p:spPr>
          <a:xfrm xmlns:a="http://schemas.openxmlformats.org/drawingml/2006/main">
            <a:off x="609600" y="4857750"/>
            <a:ext cx="3857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263746"/>
                </a:solidFill>
                <a:latin typeface="Arial"/>
                <a:ea typeface="Arial"/>
                <a:cs typeface="Arial"/>
              </a:defRPr>
            </a:pPr>
            <a:r>
              <a:rPr sz="1950" b="0">
                <a:solidFill>
                  <a:srgbClr val="263746"/>
                </a:solidFill>
                <a:latin typeface="Arial"/>
                <a:ea typeface="Arial"/>
                <a:cs typeface="Arial"/>
              </a:rPr>
              <a:t>Reasoning and its types</a:t>
            </a:r>
          </a:p>
        </p:txBody>
      </p:sp>
      <p:sp>
        <p:nvSpPr>
          <p:cNvPr id="10" name="text">
            <a:extLst xmlns:a="http://schemas.openxmlformats.org/drawingml/2006/main">
              <a:ext uri="{FF2B5EF4-FFF2-40B4-BE49-F238E27FC236}">
                <a16:creationId xmlns:a16="http://schemas.microsoft.com/office/drawing/2014/main" id="{2309754E-8EDA-4C3B-A1EF-BA9B3FE09351}"/>
              </a:ext>
            </a:extLst>
          </p:cNvPr>
          <p:cNvSpPr>
            <a:spLocks xmlns:a="http://schemas.openxmlformats.org/drawingml/2006/main" noGrp="1"/>
          </p:cNvSpPr>
          <p:nvPr/>
        </p:nvSpPr>
        <p:spPr>
          <a:xfrm xmlns:a="http://schemas.openxmlformats.org/drawingml/2006/main">
            <a:off x="609600" y="5400675"/>
            <a:ext cx="3857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263746"/>
                </a:solidFill>
                <a:latin typeface="Arial"/>
                <a:ea typeface="Arial"/>
                <a:cs typeface="Arial"/>
              </a:defRPr>
            </a:pPr>
            <a:r>
              <a:rPr sz="1950" b="0">
                <a:solidFill>
                  <a:srgbClr val="263746"/>
                </a:solidFill>
                <a:latin typeface="Arial"/>
                <a:ea typeface="Arial"/>
                <a:cs typeface="Arial"/>
              </a:rPr>
              <a:t>Knowledge-based systems and practice</a:t>
            </a:r>
          </a:p>
        </p:txBody>
      </p:sp>
      <p:sp>
        <p:nvSpPr>
          <p:cNvPr id="11" name="text">
            <a:extLst xmlns:a="http://schemas.openxmlformats.org/drawingml/2006/main">
              <a:ext uri="{FF2B5EF4-FFF2-40B4-BE49-F238E27FC236}">
                <a16:creationId xmlns:a16="http://schemas.microsoft.com/office/drawing/2014/main" id="{67158A76-474E-425F-99F9-39D1AB30E6CF}"/>
              </a:ext>
            </a:extLst>
          </p:cNvPr>
          <p:cNvSpPr>
            <a:spLocks xmlns:a="http://schemas.openxmlformats.org/drawingml/2006/main" noGrp="1"/>
          </p:cNvSpPr>
          <p:nvPr/>
        </p:nvSpPr>
        <p:spPr>
          <a:xfrm xmlns:a="http://schemas.openxmlformats.org/drawingml/2006/main">
            <a:off x="5000625" y="3228975"/>
            <a:ext cx="65817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263746"/>
                </a:solidFill>
                <a:latin typeface="Arial"/>
                <a:ea typeface="Arial"/>
                <a:cs typeface="Arial"/>
              </a:defRPr>
            </a:pPr>
            <a:r>
              <a:rPr sz="1875" b="0">
                <a:solidFill>
                  <a:srgbClr val="263746"/>
                </a:solidFill>
                <a:latin typeface="Arial"/>
                <a:ea typeface="Arial"/>
                <a:cs typeface="Arial"/>
              </a:rPr>
              <a:t>Define knowledge, representation and reasoning.</a:t>
            </a:r>
          </a:p>
        </p:txBody>
      </p:sp>
      <p:sp>
        <p:nvSpPr>
          <p:cNvPr id="12" name="text">
            <a:extLst xmlns:a="http://schemas.openxmlformats.org/drawingml/2006/main">
              <a:ext uri="{FF2B5EF4-FFF2-40B4-BE49-F238E27FC236}">
                <a16:creationId xmlns:a16="http://schemas.microsoft.com/office/drawing/2014/main" id="{91B3ADFB-9299-4807-9F2C-3FA48AB2B593}"/>
              </a:ext>
            </a:extLst>
          </p:cNvPr>
          <p:cNvSpPr>
            <a:spLocks xmlns:a="http://schemas.openxmlformats.org/drawingml/2006/main" noGrp="1"/>
          </p:cNvSpPr>
          <p:nvPr/>
        </p:nvSpPr>
        <p:spPr>
          <a:xfrm xmlns:a="http://schemas.openxmlformats.org/drawingml/2006/main">
            <a:off x="5000625" y="3686175"/>
            <a:ext cx="65817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263746"/>
                </a:solidFill>
                <a:latin typeface="Arial"/>
                <a:ea typeface="Arial"/>
                <a:cs typeface="Arial"/>
              </a:defRPr>
            </a:pPr>
            <a:r>
              <a:rPr sz="1875" b="0">
                <a:solidFill>
                  <a:srgbClr val="263746"/>
                </a:solidFill>
                <a:latin typeface="Arial"/>
                <a:ea typeface="Arial"/>
                <a:cs typeface="Arial"/>
              </a:rPr>
              <a:t>Explain knowledge types and their link to intelligence.</a:t>
            </a:r>
          </a:p>
        </p:txBody>
      </p:sp>
      <p:sp>
        <p:nvSpPr>
          <p:cNvPr id="13" name="text">
            <a:extLst xmlns:a="http://schemas.openxmlformats.org/drawingml/2006/main">
              <a:ext uri="{FF2B5EF4-FFF2-40B4-BE49-F238E27FC236}">
                <a16:creationId xmlns:a16="http://schemas.microsoft.com/office/drawing/2014/main" id="{E15F5E10-46C5-4377-A8B6-F2A56A7401AF}"/>
              </a:ext>
            </a:extLst>
          </p:cNvPr>
          <p:cNvSpPr>
            <a:spLocks xmlns:a="http://schemas.openxmlformats.org/drawingml/2006/main" noGrp="1"/>
          </p:cNvSpPr>
          <p:nvPr/>
        </p:nvSpPr>
        <p:spPr>
          <a:xfrm xmlns:a="http://schemas.openxmlformats.org/drawingml/2006/main">
            <a:off x="5000625" y="4143375"/>
            <a:ext cx="65817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263746"/>
                </a:solidFill>
                <a:latin typeface="Arial"/>
                <a:ea typeface="Arial"/>
                <a:cs typeface="Arial"/>
              </a:defRPr>
            </a:pPr>
            <a:r>
              <a:rPr sz="1875" b="0">
                <a:solidFill>
                  <a:srgbClr val="263746"/>
                </a:solidFill>
                <a:latin typeface="Arial"/>
                <a:ea typeface="Arial"/>
                <a:cs typeface="Arial"/>
              </a:rPr>
              <a:t>Distinguish data, information and knowledge.</a:t>
            </a:r>
          </a:p>
        </p:txBody>
      </p:sp>
      <p:sp>
        <p:nvSpPr>
          <p:cNvPr id="14" name="text">
            <a:extLst xmlns:a="http://schemas.openxmlformats.org/drawingml/2006/main">
              <a:ext uri="{FF2B5EF4-FFF2-40B4-BE49-F238E27FC236}">
                <a16:creationId xmlns:a16="http://schemas.microsoft.com/office/drawing/2014/main" id="{BD547AD1-3984-4F37-BF64-3A0CE0178438}"/>
              </a:ext>
            </a:extLst>
          </p:cNvPr>
          <p:cNvSpPr>
            <a:spLocks xmlns:a="http://schemas.openxmlformats.org/drawingml/2006/main" noGrp="1"/>
          </p:cNvSpPr>
          <p:nvPr/>
        </p:nvSpPr>
        <p:spPr>
          <a:xfrm xmlns:a="http://schemas.openxmlformats.org/drawingml/2006/main">
            <a:off x="5000625" y="4600575"/>
            <a:ext cx="65817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263746"/>
                </a:solidFill>
                <a:latin typeface="Arial"/>
                <a:ea typeface="Arial"/>
                <a:cs typeface="Arial"/>
              </a:defRPr>
            </a:pPr>
            <a:r>
              <a:rPr sz="1875" b="0">
                <a:solidFill>
                  <a:srgbClr val="263746"/>
                </a:solidFill>
                <a:latin typeface="Arial"/>
                <a:ea typeface="Arial"/>
                <a:cs typeface="Arial"/>
              </a:rPr>
              <a:t>Explain why AI systems need representation.</a:t>
            </a:r>
          </a:p>
        </p:txBody>
      </p:sp>
      <p:sp>
        <p:nvSpPr>
          <p:cNvPr id="15" name="text">
            <a:extLst xmlns:a="http://schemas.openxmlformats.org/drawingml/2006/main">
              <a:ext uri="{FF2B5EF4-FFF2-40B4-BE49-F238E27FC236}">
                <a16:creationId xmlns:a16="http://schemas.microsoft.com/office/drawing/2014/main" id="{5BF4F4F1-FA8C-4DD5-BBDA-2BC976D0F72C}"/>
              </a:ext>
            </a:extLst>
          </p:cNvPr>
          <p:cNvSpPr>
            <a:spLocks xmlns:a="http://schemas.openxmlformats.org/drawingml/2006/main" noGrp="1"/>
          </p:cNvSpPr>
          <p:nvPr/>
        </p:nvSpPr>
        <p:spPr>
          <a:xfrm xmlns:a="http://schemas.openxmlformats.org/drawingml/2006/main">
            <a:off x="5000625" y="5057775"/>
            <a:ext cx="65817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263746"/>
                </a:solidFill>
                <a:latin typeface="Arial"/>
                <a:ea typeface="Arial"/>
                <a:cs typeface="Arial"/>
              </a:defRPr>
            </a:pPr>
            <a:r>
              <a:rPr sz="1875" b="0">
                <a:solidFill>
                  <a:srgbClr val="263746"/>
                </a:solidFill>
                <a:latin typeface="Arial"/>
                <a:ea typeface="Arial"/>
                <a:cs typeface="Arial"/>
              </a:rPr>
              <a:t>Apply a rule to derive a conclusion.</a:t>
            </a:r>
          </a:p>
        </p:txBody>
      </p:sp>
      <p:sp>
        <p:nvSpPr>
          <p:cNvPr id="16" name="text">
            <a:extLst xmlns:a="http://schemas.openxmlformats.org/drawingml/2006/main">
              <a:ext uri="{FF2B5EF4-FFF2-40B4-BE49-F238E27FC236}">
                <a16:creationId xmlns:a16="http://schemas.microsoft.com/office/drawing/2014/main" id="{31408599-7995-439C-80CF-3DC1E576ECD4}"/>
              </a:ext>
            </a:extLst>
          </p:cNvPr>
          <p:cNvSpPr>
            <a:spLocks xmlns:a="http://schemas.openxmlformats.org/drawingml/2006/main" noGrp="1"/>
          </p:cNvSpPr>
          <p:nvPr/>
        </p:nvSpPr>
        <p:spPr>
          <a:xfrm xmlns:a="http://schemas.openxmlformats.org/drawingml/2006/main">
            <a:off x="5000625" y="5514975"/>
            <a:ext cx="65817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263746"/>
                </a:solidFill>
                <a:latin typeface="Arial"/>
                <a:ea typeface="Arial"/>
                <a:cs typeface="Arial"/>
              </a:defRPr>
            </a:pPr>
            <a:r>
              <a:rPr sz="1875" b="0">
                <a:solidFill>
                  <a:srgbClr val="263746"/>
                </a:solidFill>
                <a:latin typeface="Arial"/>
                <a:ea typeface="Arial"/>
                <a:cs typeface="Arial"/>
              </a:rPr>
              <a:t>Identify these components in an AI scenario.</a:t>
            </a:r>
          </a:p>
        </p:txBody>
      </p:sp>
      <p:sp>
        <p:nvSpPr>
          <p:cNvPr id="17" name="text">
            <a:extLst xmlns:a="http://schemas.openxmlformats.org/drawingml/2006/main">
              <a:ext uri="{FF2B5EF4-FFF2-40B4-BE49-F238E27FC236}">
                <a16:creationId xmlns:a16="http://schemas.microsoft.com/office/drawing/2014/main" id="{18856760-0DDC-4EEC-B9E1-A846E0288748}"/>
              </a:ext>
            </a:extLst>
          </p:cNvPr>
          <p:cNvSpPr>
            <a:spLocks xmlns:a="http://schemas.openxmlformats.org/drawingml/2006/main" noGrp="1"/>
          </p:cNvSpPr>
          <p:nvPr/>
        </p:nvSpPr>
        <p:spPr>
          <a:xfrm xmlns:a="http://schemas.openxmlformats.org/drawingml/2006/main">
            <a:off x="609600" y="6419850"/>
            <a:ext cx="952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350" b="0">
                <a:solidFill>
                  <a:srgbClr val="566570"/>
                </a:solidFill>
                <a:latin typeface="Arial"/>
                <a:ea typeface="Arial"/>
                <a:cs typeface="Arial"/>
              </a:defRPr>
            </a:pPr>
            <a:r>
              <a:rPr sz="1350" b="0">
                <a:solidFill>
                  <a:srgbClr val="566570"/>
                </a:solidFill>
                <a:latin typeface="Arial"/>
                <a:ea typeface="Arial"/>
                <a:cs typeface="Arial"/>
              </a:rPr>
              <a:t>AIC372   /   BS Computer Science   /   75 minutes</a:t>
            </a:r>
          </a:p>
        </p:txBody>
      </p:sp>
    </p:spTree>
    <p:extLst>
      <p:ext uri="{BB962C8B-B14F-4D97-AF65-F5344CB8AC3E}">
        <p14:creationId xmlns:p14="http://schemas.microsoft.com/office/powerpoint/2010/main" val="203505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2A7C95B7-12C7-42C1-B78C-73BE4F9AA888}"/>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Opening Questions: Knowledge and Intelligence</a:t>
            </a:r>
          </a:p>
        </p:txBody>
      </p:sp>
      <p:sp>
        <p:nvSpPr>
          <p:cNvPr id="2" name="slide-number">
            <a:extLst xmlns:a="http://schemas.openxmlformats.org/drawingml/2006/main">
              <a:ext uri="{FF2B5EF4-FFF2-40B4-BE49-F238E27FC236}">
                <a16:creationId xmlns:a16="http://schemas.microsoft.com/office/drawing/2014/main" id="{920FDA46-BB83-4A98-9F79-1A23567341F2}"/>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a:solidFill>
                  <a:srgbClr val="566570"/>
                </a:solidFill>
                <a:latin typeface="Arial"/>
                <a:ea typeface="Arial"/>
                <a:cs typeface="Arial"/>
              </a:defRPr>
            </a:pPr>
            <a:r>
              <a:rPr sz="1350">
                <a:solidFill>
                  <a:srgbClr val="566570"/>
                </a:solidFill>
                <a:latin typeface="Arial"/>
                <a:ea typeface="Arial"/>
                <a:cs typeface="Arial"/>
              </a:rPr>
              <a:t>02</a:t>
            </a:r>
          </a:p>
        </p:txBody>
      </p:sp>
      <p:sp>
        <p:nvSpPr>
          <p:cNvPr id="3" name="assessment-text">
            <a:extLst xmlns:a="http://schemas.openxmlformats.org/drawingml/2006/main">
              <a:ext uri="{FF2B5EF4-FFF2-40B4-BE49-F238E27FC236}">
                <a16:creationId xmlns:a16="http://schemas.microsoft.com/office/drawing/2014/main" id="{F63DB71D-7786-4A32-A75F-BFAE459BE787}"/>
              </a:ext>
            </a:extLst>
          </p:cNvPr>
          <p:cNvSpPr>
            <a:spLocks xmlns:a="http://schemas.openxmlformats.org/drawingml/2006/main" noGrp="1"/>
          </p:cNvSpPr>
          <p:nvPr/>
        </p:nvSpPr>
        <p:spPr>
          <a:xfrm xmlns:a="http://schemas.openxmlformats.org/drawingml/2006/main">
            <a:off x="609600" y="15811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1</a:t>
            </a:r>
          </a:p>
        </p:txBody>
      </p:sp>
      <p:sp>
        <p:nvSpPr>
          <p:cNvPr id="4" name="assessment-text">
            <a:extLst xmlns:a="http://schemas.openxmlformats.org/drawingml/2006/main">
              <a:ext uri="{FF2B5EF4-FFF2-40B4-BE49-F238E27FC236}">
                <a16:creationId xmlns:a16="http://schemas.microsoft.com/office/drawing/2014/main" id="{695B9B9E-01B2-48A8-B722-DACE4FEABCA2}"/>
              </a:ext>
            </a:extLst>
          </p:cNvPr>
          <p:cNvSpPr>
            <a:spLocks xmlns:a="http://schemas.openxmlformats.org/drawingml/2006/main" noGrp="1"/>
          </p:cNvSpPr>
          <p:nvPr/>
        </p:nvSpPr>
        <p:spPr>
          <a:xfrm xmlns:a="http://schemas.openxmlformats.org/drawingml/2006/main">
            <a:off x="609600" y="20097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263746"/>
                </a:solidFill>
                <a:latin typeface="Arial"/>
                <a:ea typeface="Arial"/>
                <a:cs typeface="Arial"/>
              </a:defRPr>
            </a:pPr>
            <a:r>
              <a:rPr sz="2400">
                <a:solidFill>
                  <a:srgbClr val="263746"/>
                </a:solidFill>
                <a:latin typeface="Arial"/>
                <a:ea typeface="Arial"/>
                <a:cs typeface="Arial"/>
              </a:rPr>
              <a:t>What makes a computer system intelligent?</a:t>
            </a:r>
          </a:p>
        </p:txBody>
      </p:sp>
      <p:sp>
        <p:nvSpPr>
          <p:cNvPr id="5" name="assessment-text">
            <a:extLst xmlns:a="http://schemas.openxmlformats.org/drawingml/2006/main">
              <a:ext uri="{FF2B5EF4-FFF2-40B4-BE49-F238E27FC236}">
                <a16:creationId xmlns:a16="http://schemas.microsoft.com/office/drawing/2014/main" id="{31E240E6-DBCF-4575-BD39-81993291EA1C}"/>
              </a:ext>
            </a:extLst>
          </p:cNvPr>
          <p:cNvSpPr>
            <a:spLocks xmlns:a="http://schemas.openxmlformats.org/drawingml/2006/main" noGrp="1"/>
          </p:cNvSpPr>
          <p:nvPr/>
        </p:nvSpPr>
        <p:spPr>
          <a:xfrm xmlns:a="http://schemas.openxmlformats.org/drawingml/2006/main">
            <a:off x="609600" y="29622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2</a:t>
            </a:r>
          </a:p>
        </p:txBody>
      </p:sp>
      <p:sp>
        <p:nvSpPr>
          <p:cNvPr id="6" name="assessment-text">
            <a:extLst xmlns:a="http://schemas.openxmlformats.org/drawingml/2006/main">
              <a:ext uri="{FF2B5EF4-FFF2-40B4-BE49-F238E27FC236}">
                <a16:creationId xmlns:a16="http://schemas.microsoft.com/office/drawing/2014/main" id="{3A2D0972-8594-4FCA-9307-7E2CD35AC64B}"/>
              </a:ext>
            </a:extLst>
          </p:cNvPr>
          <p:cNvSpPr>
            <a:spLocks xmlns:a="http://schemas.openxmlformats.org/drawingml/2006/main" noGrp="1"/>
          </p:cNvSpPr>
          <p:nvPr/>
        </p:nvSpPr>
        <p:spPr>
          <a:xfrm xmlns:a="http://schemas.openxmlformats.org/drawingml/2006/main">
            <a:off x="609600" y="33909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263746"/>
                </a:solidFill>
                <a:latin typeface="Arial"/>
                <a:ea typeface="Arial"/>
                <a:cs typeface="Arial"/>
              </a:defRPr>
            </a:pPr>
            <a:r>
              <a:rPr sz="2400">
                <a:solidFill>
                  <a:srgbClr val="263746"/>
                </a:solidFill>
                <a:latin typeface="Arial"/>
                <a:ea typeface="Arial"/>
                <a:cs typeface="Arial"/>
              </a:rPr>
              <a:t>Does storing a large amount of information automatically make a computer intelligent?</a:t>
            </a:r>
          </a:p>
        </p:txBody>
      </p:sp>
      <p:sp>
        <p:nvSpPr>
          <p:cNvPr id="7" name="assessment-text">
            <a:extLst xmlns:a="http://schemas.openxmlformats.org/drawingml/2006/main">
              <a:ext uri="{FF2B5EF4-FFF2-40B4-BE49-F238E27FC236}">
                <a16:creationId xmlns:a16="http://schemas.microsoft.com/office/drawing/2014/main" id="{8333AC08-FB97-44B4-A860-4E4EA4A09C2E}"/>
              </a:ext>
            </a:extLst>
          </p:cNvPr>
          <p:cNvSpPr>
            <a:spLocks xmlns:a="http://schemas.openxmlformats.org/drawingml/2006/main" noGrp="1"/>
          </p:cNvSpPr>
          <p:nvPr/>
        </p:nvSpPr>
        <p:spPr>
          <a:xfrm xmlns:a="http://schemas.openxmlformats.org/drawingml/2006/main">
            <a:off x="609600" y="48768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3</a:t>
            </a:r>
          </a:p>
        </p:txBody>
      </p:sp>
      <p:sp>
        <p:nvSpPr>
          <p:cNvPr id="8" name="assessment-text">
            <a:extLst xmlns:a="http://schemas.openxmlformats.org/drawingml/2006/main">
              <a:ext uri="{FF2B5EF4-FFF2-40B4-BE49-F238E27FC236}">
                <a16:creationId xmlns:a16="http://schemas.microsoft.com/office/drawing/2014/main" id="{CDA610E9-C9C5-4F71-B626-6229C5639BF2}"/>
              </a:ext>
            </a:extLst>
          </p:cNvPr>
          <p:cNvSpPr>
            <a:spLocks xmlns:a="http://schemas.openxmlformats.org/drawingml/2006/main" noGrp="1"/>
          </p:cNvSpPr>
          <p:nvPr/>
        </p:nvSpPr>
        <p:spPr>
          <a:xfrm xmlns:a="http://schemas.openxmlformats.org/drawingml/2006/main">
            <a:off x="609600" y="53054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263746"/>
                </a:solidFill>
                <a:latin typeface="Arial"/>
                <a:ea typeface="Arial"/>
                <a:cs typeface="Arial"/>
              </a:defRPr>
            </a:pPr>
            <a:r>
              <a:rPr sz="2400">
                <a:solidFill>
                  <a:srgbClr val="263746"/>
                </a:solidFill>
                <a:latin typeface="Arial"/>
                <a:ea typeface="Arial"/>
                <a:cs typeface="Arial"/>
              </a:rPr>
              <a:t>What do we mean by knowledge?</a:t>
            </a:r>
          </a:p>
        </p:txBody>
      </p:sp>
    </p:spTree>
    <p:extLst>
      <p:ext uri="{BB962C8B-B14F-4D97-AF65-F5344CB8AC3E}">
        <p14:creationId xmlns:p14="http://schemas.microsoft.com/office/powerpoint/2010/main" val="130621921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562DF72-3FE6-4570-B013-377668187387}"/>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Intelligent Behavior in AI</a:t>
            </a:r>
          </a:p>
        </p:txBody>
      </p:sp>
      <p:sp>
        <p:nvSpPr>
          <p:cNvPr id="2" name="slide-number">
            <a:extLst xmlns:a="http://schemas.openxmlformats.org/drawingml/2006/main">
              <a:ext uri="{FF2B5EF4-FFF2-40B4-BE49-F238E27FC236}">
                <a16:creationId xmlns:a16="http://schemas.microsoft.com/office/drawing/2014/main" id="{E3A0F900-4F4F-45AB-90CC-863537FB35B7}"/>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03</a:t>
            </a:r>
          </a:p>
        </p:txBody>
      </p:sp>
      <p:sp>
        <p:nvSpPr>
          <p:cNvPr id="12" name="visual-caption">
            <a:extLst xmlns:a="http://schemas.openxmlformats.org/drawingml/2006/main">
              <a:ext uri="{FF2B5EF4-FFF2-40B4-BE49-F238E27FC236}">
                <a16:creationId xmlns:a16="http://schemas.microsoft.com/office/drawing/2014/main" id="{27DE2108-0E24-49E3-BF04-5B788042B333}"/>
              </a:ext>
            </a:extLst>
          </p:cNvPr>
          <p:cNvSpPr>
            <a:spLocks xmlns:a="http://schemas.openxmlformats.org/drawingml/2006/main" noGrp="1"/>
          </p:cNvSpPr>
          <p:nvPr/>
        </p:nvSpPr>
        <p:spPr>
          <a:xfrm xmlns:a="http://schemas.openxmlformats.org/drawingml/2006/main">
            <a:off x="609600" y="14287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63746"/>
                </a:solidFill>
                <a:latin typeface="Arial"/>
                <a:ea typeface="Arial"/>
                <a:cs typeface="Arial"/>
              </a:defRPr>
            </a:pPr>
            <a:r>
              <a:rPr sz="2400" b="0">
                <a:solidFill>
                  <a:srgbClr val="263746"/>
                </a:solidFill>
                <a:latin typeface="Arial"/>
                <a:ea typeface="Arial"/>
                <a:cs typeface="Arial"/>
              </a:rPr>
              <a:t>An AI system uses what it knows to answer questions, solve problems, or choose actions.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4d2069f904c4305"/>
          <a:stretch xmlns:a="http://schemas.openxmlformats.org/drawingml/2006/main"/>
        </p:blipFill>
        <p:spPr>
          <a:xfrm xmlns:a="http://schemas.openxmlformats.org/drawingml/2006/main">
            <a:off x="1866900" y="2495550"/>
            <a:ext cx="8458200" cy="2819400"/>
          </a:xfrm>
          <a:prstGeom xmlns:a="http://schemas.openxmlformats.org/drawingml/2006/main" prst="rect">
            <a:avLst/>
          </a:prstGeom>
        </p:spPr>
      </p:pic>
      <p:sp>
        <p:nvSpPr>
          <p:cNvPr id="14" name="visual-caption">
            <a:extLst xmlns:a="http://schemas.openxmlformats.org/drawingml/2006/main">
              <a:ext uri="{FF2B5EF4-FFF2-40B4-BE49-F238E27FC236}">
                <a16:creationId xmlns:a16="http://schemas.microsoft.com/office/drawing/2014/main" id="{C6267F84-4461-4277-83E6-12A55CBB24CE}"/>
              </a:ext>
            </a:extLst>
          </p:cNvPr>
          <p:cNvSpPr>
            <a:spLocks xmlns:a="http://schemas.openxmlformats.org/drawingml/2006/main" noGrp="1"/>
          </p:cNvSpPr>
          <p:nvPr/>
        </p:nvSpPr>
        <p:spPr>
          <a:xfrm xmlns:a="http://schemas.openxmlformats.org/drawingml/2006/main">
            <a:off x="609600" y="5219700"/>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00" b="0">
                <a:solidFill>
                  <a:srgbClr val="173449"/>
                </a:solidFill>
                <a:latin typeface="Arial"/>
                <a:ea typeface="Arial"/>
                <a:cs typeface="Arial"/>
              </a:defRPr>
            </a:pPr>
            <a:r>
              <a:rPr sz="2100" b="0">
                <a:solidFill>
                  <a:srgbClr val="173449"/>
                </a:solidFill>
                <a:latin typeface="Arial"/>
                <a:ea typeface="Arial"/>
                <a:cs typeface="Arial"/>
              </a:rPr>
              <a:t>What does it know?</a:t>
            </a:r>
          </a:p>
          <a:p xmlns:a="http://schemas.openxmlformats.org/drawingml/2006/main">
            <a:pPr algn="ctr">
              <a:buNone/>
              <a:defRPr sz="2100" b="0">
                <a:solidFill>
                  <a:srgbClr val="173449"/>
                </a:solidFill>
                <a:latin typeface="Arial"/>
                <a:ea typeface="Arial"/>
                <a:cs typeface="Arial"/>
              </a:defRPr>
            </a:pPr>
            <a:r>
              <a:rPr sz="2100" b="0">
                <a:solidFill>
                  <a:srgbClr val="173449"/>
                </a:solidFill>
                <a:latin typeface="Arial"/>
                <a:ea typeface="Arial"/>
                <a:cs typeface="Arial"/>
              </a:rPr>
              <a:t>How is that knowledge expressed?</a:t>
            </a:r>
          </a:p>
          <a:p xmlns:a="http://schemas.openxmlformats.org/drawingml/2006/main">
            <a:pPr algn="ctr">
              <a:buNone/>
              <a:defRPr sz="2100" b="0">
                <a:solidFill>
                  <a:srgbClr val="173449"/>
                </a:solidFill>
                <a:latin typeface="Arial"/>
                <a:ea typeface="Arial"/>
                <a:cs typeface="Arial"/>
              </a:defRPr>
            </a:pPr>
            <a:r>
              <a:rPr sz="2100" b="0">
                <a:solidFill>
                  <a:srgbClr val="173449"/>
                </a:solidFill>
                <a:latin typeface="Arial"/>
                <a:ea typeface="Arial"/>
                <a:cs typeface="Arial"/>
              </a:rPr>
              <a:t>What follows from it?</a:t>
            </a:r>
          </a:p>
        </p:txBody>
      </p:sp>
    </p:spTree>
    <p:extLst>
      <p:ext uri="{BB962C8B-B14F-4D97-AF65-F5344CB8AC3E}">
        <p14:creationId xmlns:p14="http://schemas.microsoft.com/office/powerpoint/2010/main" val="2295987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466C54FF-EAC7-47E9-B8AD-7462B1C1D0B3}"/>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Knowledge in AI</a:t>
            </a:r>
          </a:p>
        </p:txBody>
      </p:sp>
      <p:sp>
        <p:nvSpPr>
          <p:cNvPr id="2" name="slide-number">
            <a:extLst xmlns:a="http://schemas.openxmlformats.org/drawingml/2006/main">
              <a:ext uri="{FF2B5EF4-FFF2-40B4-BE49-F238E27FC236}">
                <a16:creationId xmlns:a16="http://schemas.microsoft.com/office/drawing/2014/main" id="{1C60B31A-0665-4874-ABCC-0F0C20A788AD}"/>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04</a:t>
            </a:r>
          </a:p>
        </p:txBody>
      </p:sp>
      <p:sp>
        <p:nvSpPr>
          <p:cNvPr id="3" name="text">
            <a:extLst xmlns:a="http://schemas.openxmlformats.org/drawingml/2006/main">
              <a:ext uri="{FF2B5EF4-FFF2-40B4-BE49-F238E27FC236}">
                <a16:creationId xmlns:a16="http://schemas.microsoft.com/office/drawing/2014/main" id="{378A629C-EB3C-4B65-977C-EE80BAF1F37D}"/>
              </a:ext>
            </a:extLst>
          </p:cNvPr>
          <p:cNvSpPr>
            <a:spLocks xmlns:a="http://schemas.openxmlformats.org/drawingml/2006/main" noGrp="1"/>
          </p:cNvSpPr>
          <p:nvPr/>
        </p:nvSpPr>
        <p:spPr>
          <a:xfrm xmlns:a="http://schemas.openxmlformats.org/drawingml/2006/main">
            <a:off x="609600" y="146685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63746"/>
                </a:solidFill>
                <a:latin typeface="Arial"/>
                <a:ea typeface="Arial"/>
                <a:cs typeface="Arial"/>
              </a:defRPr>
            </a:pPr>
            <a:r>
              <a:rPr sz="2400" b="0">
                <a:solidFill>
                  <a:srgbClr val="263746"/>
                </a:solidFill>
                <a:latin typeface="Arial"/>
                <a:ea typeface="Arial"/>
                <a:cs typeface="Arial"/>
              </a:rPr>
              <a:t>Knowledge is information about a domain that a system can use to answer questions, solve problems, or make decisions.</a:t>
            </a:r>
          </a:p>
        </p:txBody>
      </p:sp>
      <p:sp>
        <p:nvSpPr>
          <p:cNvPr id="4" name="text">
            <a:extLst xmlns:a="http://schemas.openxmlformats.org/drawingml/2006/main">
              <a:ext uri="{FF2B5EF4-FFF2-40B4-BE49-F238E27FC236}">
                <a16:creationId xmlns:a16="http://schemas.microsoft.com/office/drawing/2014/main" id="{077A8DAC-70EE-45B5-B2B3-3E74123AFE68}"/>
              </a:ext>
            </a:extLst>
          </p:cNvPr>
          <p:cNvSpPr>
            <a:spLocks xmlns:a="http://schemas.openxmlformats.org/drawingml/2006/main" noGrp="1"/>
          </p:cNvSpPr>
          <p:nvPr/>
        </p:nvSpPr>
        <p:spPr>
          <a:xfrm xmlns:a="http://schemas.openxmlformats.org/drawingml/2006/main">
            <a:off x="609600" y="2924175"/>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Fact</a:t>
            </a:r>
          </a:p>
        </p:txBody>
      </p:sp>
      <p:sp>
        <p:nvSpPr>
          <p:cNvPr id="5" name="text">
            <a:extLst xmlns:a="http://schemas.openxmlformats.org/drawingml/2006/main">
              <a:ext uri="{FF2B5EF4-FFF2-40B4-BE49-F238E27FC236}">
                <a16:creationId xmlns:a16="http://schemas.microsoft.com/office/drawing/2014/main" id="{351F8869-A15A-492F-9658-E4390975BD16}"/>
              </a:ext>
            </a:extLst>
          </p:cNvPr>
          <p:cNvSpPr>
            <a:spLocks xmlns:a="http://schemas.openxmlformats.org/drawingml/2006/main" noGrp="1"/>
          </p:cNvSpPr>
          <p:nvPr/>
        </p:nvSpPr>
        <p:spPr>
          <a:xfrm xmlns:a="http://schemas.openxmlformats.org/drawingml/2006/main">
            <a:off x="609600" y="3333750"/>
            <a:ext cx="4762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63746"/>
                </a:solidFill>
                <a:latin typeface="Arial"/>
                <a:ea typeface="Arial"/>
                <a:cs typeface="Arial"/>
              </a:defRPr>
            </a:pPr>
            <a:r>
              <a:rPr sz="2100" b="0">
                <a:solidFill>
                  <a:srgbClr val="263746"/>
                </a:solidFill>
                <a:latin typeface="Arial"/>
                <a:ea typeface="Arial"/>
                <a:cs typeface="Arial"/>
              </a:rPr>
              <a:t>Ali is a student.</a:t>
            </a:r>
          </a:p>
        </p:txBody>
      </p:sp>
      <p:sp>
        <p:nvSpPr>
          <p:cNvPr id="6" name="text">
            <a:extLst xmlns:a="http://schemas.openxmlformats.org/drawingml/2006/main">
              <a:ext uri="{FF2B5EF4-FFF2-40B4-BE49-F238E27FC236}">
                <a16:creationId xmlns:a16="http://schemas.microsoft.com/office/drawing/2014/main" id="{9BB359B5-729D-42E1-868C-6DB4FF768B73}"/>
              </a:ext>
            </a:extLst>
          </p:cNvPr>
          <p:cNvSpPr>
            <a:spLocks xmlns:a="http://schemas.openxmlformats.org/drawingml/2006/main" noGrp="1"/>
          </p:cNvSpPr>
          <p:nvPr/>
        </p:nvSpPr>
        <p:spPr>
          <a:xfrm xmlns:a="http://schemas.openxmlformats.org/drawingml/2006/main">
            <a:off x="609600" y="4067175"/>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173449"/>
                </a:solidFill>
                <a:latin typeface="Arial"/>
                <a:ea typeface="Arial"/>
                <a:cs typeface="Arial"/>
              </a:defRPr>
            </a:pPr>
            <a:r>
              <a:rPr sz="2550" b="1">
                <a:solidFill>
                  <a:srgbClr val="173449"/>
                </a:solidFill>
                <a:latin typeface="Arial"/>
                <a:ea typeface="Arial"/>
                <a:cs typeface="Arial"/>
              </a:rPr>
              <a:t>Student(Ali)</a:t>
            </a:r>
          </a:p>
        </p:txBody>
      </p:sp>
      <p:sp>
        <p:nvSpPr>
          <p:cNvPr id="7" name="text">
            <a:extLst xmlns:a="http://schemas.openxmlformats.org/drawingml/2006/main">
              <a:ext uri="{FF2B5EF4-FFF2-40B4-BE49-F238E27FC236}">
                <a16:creationId xmlns:a16="http://schemas.microsoft.com/office/drawing/2014/main" id="{803B7632-D9CB-44B6-A286-8080332E9050}"/>
              </a:ext>
            </a:extLst>
          </p:cNvPr>
          <p:cNvSpPr>
            <a:spLocks xmlns:a="http://schemas.openxmlformats.org/drawingml/2006/main" noGrp="1"/>
          </p:cNvSpPr>
          <p:nvPr/>
        </p:nvSpPr>
        <p:spPr>
          <a:xfrm xmlns:a="http://schemas.openxmlformats.org/drawingml/2006/main">
            <a:off x="6305550" y="2924175"/>
            <a:ext cx="5276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Rule</a:t>
            </a:r>
          </a:p>
        </p:txBody>
      </p:sp>
      <p:sp>
        <p:nvSpPr>
          <p:cNvPr id="8" name="text">
            <a:extLst xmlns:a="http://schemas.openxmlformats.org/drawingml/2006/main">
              <a:ext uri="{FF2B5EF4-FFF2-40B4-BE49-F238E27FC236}">
                <a16:creationId xmlns:a16="http://schemas.microsoft.com/office/drawing/2014/main" id="{D349B146-E138-4BDD-BB6A-6BAEE762B0EA}"/>
              </a:ext>
            </a:extLst>
          </p:cNvPr>
          <p:cNvSpPr>
            <a:spLocks xmlns:a="http://schemas.openxmlformats.org/drawingml/2006/main" noGrp="1"/>
          </p:cNvSpPr>
          <p:nvPr/>
        </p:nvSpPr>
        <p:spPr>
          <a:xfrm xmlns:a="http://schemas.openxmlformats.org/drawingml/2006/main">
            <a:off x="6305550" y="3333750"/>
            <a:ext cx="5276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63746"/>
                </a:solidFill>
                <a:latin typeface="Arial"/>
                <a:ea typeface="Arial"/>
                <a:cs typeface="Arial"/>
              </a:defRPr>
            </a:pPr>
            <a:r>
              <a:rPr sz="2100" b="0">
                <a:solidFill>
                  <a:srgbClr val="263746"/>
                </a:solidFill>
                <a:latin typeface="Arial"/>
                <a:ea typeface="Arial"/>
                <a:cs typeface="Arial"/>
              </a:rPr>
              <a:t>Every student has an ID.</a:t>
            </a:r>
          </a:p>
        </p:txBody>
      </p:sp>
      <p:sp>
        <p:nvSpPr>
          <p:cNvPr id="9" name="text">
            <a:extLst xmlns:a="http://schemas.openxmlformats.org/drawingml/2006/main">
              <a:ext uri="{FF2B5EF4-FFF2-40B4-BE49-F238E27FC236}">
                <a16:creationId xmlns:a16="http://schemas.microsoft.com/office/drawing/2014/main" id="{DA0AFC8A-5511-4EB7-B658-D5856365E141}"/>
              </a:ext>
            </a:extLst>
          </p:cNvPr>
          <p:cNvSpPr>
            <a:spLocks xmlns:a="http://schemas.openxmlformats.org/drawingml/2006/main" noGrp="1"/>
          </p:cNvSpPr>
          <p:nvPr/>
        </p:nvSpPr>
        <p:spPr>
          <a:xfrm xmlns:a="http://schemas.openxmlformats.org/drawingml/2006/main">
            <a:off x="6305550" y="4067175"/>
            <a:ext cx="5276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173449"/>
                </a:solidFill>
                <a:latin typeface="Arial"/>
                <a:ea typeface="Arial"/>
                <a:cs typeface="Arial"/>
              </a:defRPr>
            </a:pPr>
            <a:r>
              <a:rPr sz="2325" b="1">
                <a:solidFill>
                  <a:srgbClr val="173449"/>
                </a:solidFill>
                <a:latin typeface="Arial"/>
                <a:ea typeface="Arial"/>
                <a:cs typeface="Arial"/>
              </a:rPr>
              <a:t>Student(x) → HasID(x)</a:t>
            </a:r>
          </a:p>
        </p:txBody>
      </p:sp>
      <p:sp>
        <p:nvSpPr>
          <p:cNvPr id="10" name="text">
            <a:extLst xmlns:a="http://schemas.openxmlformats.org/drawingml/2006/main">
              <a:ext uri="{FF2B5EF4-FFF2-40B4-BE49-F238E27FC236}">
                <a16:creationId xmlns:a16="http://schemas.microsoft.com/office/drawing/2014/main" id="{9D141501-02FC-4BFD-9153-BBE5E80BF552}"/>
              </a:ext>
            </a:extLst>
          </p:cNvPr>
          <p:cNvSpPr>
            <a:spLocks xmlns:a="http://schemas.openxmlformats.org/drawingml/2006/main" noGrp="1"/>
          </p:cNvSpPr>
          <p:nvPr/>
        </p:nvSpPr>
        <p:spPr>
          <a:xfrm xmlns:a="http://schemas.openxmlformats.org/drawingml/2006/main">
            <a:off x="609600" y="54673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66570"/>
                </a:solidFill>
                <a:latin typeface="Arial"/>
                <a:ea typeface="Arial"/>
                <a:cs typeface="Arial"/>
              </a:defRPr>
            </a:pPr>
            <a:r>
              <a:rPr sz="1800" b="0">
                <a:solidFill>
                  <a:srgbClr val="566570"/>
                </a:solidFill>
                <a:latin typeface="Arial"/>
                <a:ea typeface="Arial"/>
                <a:cs typeface="Arial"/>
              </a:rPr>
              <a:t>Knowledge can also describe relationships, categories, properties, and constraints.</a:t>
            </a:r>
          </a:p>
        </p:txBody>
      </p:sp>
    </p:spTree>
    <p:extLst>
      <p:ext uri="{BB962C8B-B14F-4D97-AF65-F5344CB8AC3E}">
        <p14:creationId xmlns:p14="http://schemas.microsoft.com/office/powerpoint/2010/main" val="102075401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6EEB877-D29B-4718-8224-F7D808AE331B}"/>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Types of Knowledge</a:t>
            </a:r>
          </a:p>
        </p:txBody>
      </p:sp>
      <p:sp>
        <p:nvSpPr>
          <p:cNvPr id="2" name="slide-number">
            <a:extLst xmlns:a="http://schemas.openxmlformats.org/drawingml/2006/main">
              <a:ext uri="{FF2B5EF4-FFF2-40B4-BE49-F238E27FC236}">
                <a16:creationId xmlns:a16="http://schemas.microsoft.com/office/drawing/2014/main" id="{7A475521-497A-4F94-ADF4-E794DCFD5835}"/>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05</a:t>
            </a:r>
          </a:p>
        </p:txBody>
      </p:sp>
      <p:graphicFrame>
        <p:nvGraphicFramePr>
          <p:cNvPr id="9" name=""/>
          <p:cNvGraphicFramePr/>
          <p:nvPr/>
        </p:nvGraphicFramePr>
        <p:xfrm>
          <a:off xmlns:a="http://schemas.openxmlformats.org/drawingml/2006/main" x="609600" y="1600200"/>
          <a:ext xmlns:a="http://schemas.openxmlformats.org/drawingml/2006/main" cx="10972800" cy="4038600"/>
        </p:xfrm>
        <a:graphic xmlns:a="http://schemas.openxmlformats.org/drawingml/2006/main">
          <a:graphicData uri="http://schemas.openxmlformats.org/drawingml/2006/table">
            <a:tbl>
              <a:tblPr firstRow="0" bandRow="0"/>
              <a:tblGrid>
                <a:gridCol w="2143125"/>
                <a:gridCol w="3714750"/>
                <a:gridCol w="5114925"/>
              </a:tblGrid>
              <a:tr h="807720">
                <a:tc>
                  <a:txBody>
                    <a:bodyPr>
                      <a:noAutofit/>
                    </a:bodyPr>
                    <a:lstStyle/>
                    <a:p>
                      <a:r>
                        <a:rPr sz="1800" b="1">
                          <a:solidFill>
                            <a:srgbClr val="FFFFFF"/>
                          </a:solidFill>
                          <a:latin typeface="Arial"/>
                          <a:ea typeface="Arial"/>
                          <a:cs typeface="Arial"/>
                        </a:rPr>
                        <a:t>Type</a:t>
                      </a:r>
                    </a:p>
                  </a:txBody>
                  <a:tcPr marL="152400" marR="152400" marT="95250" marB="95250" anchor="ctr">
                    <a:solidFill>
                      <a:srgbClr val="173449"/>
                    </a:solidFill>
                  </a:tcPr>
                </a:tc>
                <a:tc>
                  <a:txBody>
                    <a:bodyPr>
                      <a:noAutofit/>
                    </a:bodyPr>
                    <a:lstStyle/>
                    <a:p>
                      <a:r>
                        <a:rPr sz="1800" b="1">
                          <a:solidFill>
                            <a:srgbClr val="FFFFFF"/>
                          </a:solidFill>
                          <a:latin typeface="Arial"/>
                          <a:ea typeface="Arial"/>
                          <a:cs typeface="Arial"/>
                        </a:rPr>
                        <a:t>Meaning</a:t>
                      </a:r>
                    </a:p>
                  </a:txBody>
                  <a:tcPr marL="152400" marR="152400" marT="95250" marB="95250" anchor="ctr">
                    <a:solidFill>
                      <a:srgbClr val="173449"/>
                    </a:solidFill>
                  </a:tcPr>
                </a:tc>
                <a:tc>
                  <a:txBody>
                    <a:bodyPr>
                      <a:noAutofit/>
                    </a:bodyPr>
                    <a:lstStyle/>
                    <a:p>
                      <a:r>
                        <a:rPr sz="1800" b="1">
                          <a:solidFill>
                            <a:srgbClr val="FFFFFF"/>
                          </a:solidFill>
                          <a:latin typeface="Arial"/>
                          <a:ea typeface="Arial"/>
                          <a:cs typeface="Arial"/>
                        </a:rPr>
                        <a:t>Example</a:t>
                      </a:r>
                    </a:p>
                  </a:txBody>
                  <a:tcPr marL="152400" marR="152400" marT="95250" marB="95250" anchor="ctr">
                    <a:solidFill>
                      <a:srgbClr val="173449"/>
                    </a:solidFill>
                  </a:tcPr>
                </a:tc>
              </a:tr>
              <a:tr h="807720">
                <a:tc>
                  <a:txBody>
                    <a:bodyPr>
                      <a:noAutofit/>
                    </a:bodyPr>
                    <a:lstStyle/>
                    <a:p>
                      <a:r>
                        <a:rPr sz="1950" b="0">
                          <a:solidFill>
                            <a:srgbClr val="263746"/>
                          </a:solidFill>
                          <a:latin typeface="Arial"/>
                          <a:ea typeface="Arial"/>
                          <a:cs typeface="Arial"/>
                        </a:rPr>
                        <a:t>Factual</a:t>
                      </a:r>
                    </a:p>
                  </a:txBody>
                  <a:tcPr marL="152400" marR="152400" marT="95250" marB="95250" anchor="ctr">
                    <a:solidFill>
                      <a:srgbClr val="FFFFFF"/>
                    </a:solidFill>
                  </a:tcPr>
                </a:tc>
                <a:tc>
                  <a:txBody>
                    <a:bodyPr>
                      <a:noAutofit/>
                    </a:bodyPr>
                    <a:lstStyle/>
                    <a:p>
                      <a:r>
                        <a:rPr sz="1950" b="0">
                          <a:solidFill>
                            <a:srgbClr val="263746"/>
                          </a:solidFill>
                          <a:latin typeface="Arial"/>
                          <a:ea typeface="Arial"/>
                          <a:cs typeface="Arial"/>
                        </a:rPr>
                        <a:t>Facts or situations</a:t>
                      </a:r>
                    </a:p>
                  </a:txBody>
                  <a:tcPr marL="152400" marR="152400" marT="95250" marB="95250" anchor="ctr">
                    <a:solidFill>
                      <a:srgbClr val="FFFFFF"/>
                    </a:solidFill>
                  </a:tcPr>
                </a:tc>
                <a:tc>
                  <a:txBody>
                    <a:bodyPr>
                      <a:noAutofit/>
                    </a:bodyPr>
                    <a:lstStyle/>
                    <a:p>
                      <a:r>
                        <a:rPr sz="1950" b="0">
                          <a:solidFill>
                            <a:srgbClr val="263746"/>
                          </a:solidFill>
                          <a:latin typeface="Arial"/>
                          <a:ea typeface="Arial"/>
                          <a:cs typeface="Arial"/>
                        </a:rPr>
                        <a:t>Ali is a student.</a:t>
                      </a:r>
                    </a:p>
                  </a:txBody>
                  <a:tcPr marL="152400" marR="152400" marT="95250" marB="95250" anchor="ctr">
                    <a:solidFill>
                      <a:srgbClr val="FFFFFF"/>
                    </a:solidFill>
                  </a:tcPr>
                </a:tc>
              </a:tr>
              <a:tr h="807720">
                <a:tc>
                  <a:txBody>
                    <a:bodyPr>
                      <a:noAutofit/>
                    </a:bodyPr>
                    <a:lstStyle/>
                    <a:p>
                      <a:r>
                        <a:rPr sz="1950" b="0">
                          <a:solidFill>
                            <a:srgbClr val="263746"/>
                          </a:solidFill>
                          <a:latin typeface="Arial"/>
                          <a:ea typeface="Arial"/>
                          <a:cs typeface="Arial"/>
                        </a:rPr>
                        <a:t>Conceptual</a:t>
                      </a:r>
                    </a:p>
                  </a:txBody>
                  <a:tcPr marL="152400" marR="152400" marT="95250" marB="95250" anchor="ctr">
                    <a:solidFill>
                      <a:srgbClr val="EFF6F7"/>
                    </a:solidFill>
                  </a:tcPr>
                </a:tc>
                <a:tc>
                  <a:txBody>
                    <a:bodyPr>
                      <a:noAutofit/>
                    </a:bodyPr>
                    <a:lstStyle/>
                    <a:p>
                      <a:r>
                        <a:rPr sz="1950" b="0">
                          <a:solidFill>
                            <a:srgbClr val="263746"/>
                          </a:solidFill>
                          <a:latin typeface="Arial"/>
                          <a:ea typeface="Arial"/>
                          <a:cs typeface="Arial"/>
                        </a:rPr>
                        <a:t>Concepts and categories</a:t>
                      </a:r>
                    </a:p>
                  </a:txBody>
                  <a:tcPr marL="152400" marR="152400" marT="95250" marB="95250" anchor="ctr">
                    <a:solidFill>
                      <a:srgbClr val="EFF6F7"/>
                    </a:solidFill>
                  </a:tcPr>
                </a:tc>
                <a:tc>
                  <a:txBody>
                    <a:bodyPr>
                      <a:noAutofit/>
                    </a:bodyPr>
                    <a:lstStyle/>
                    <a:p>
                      <a:r>
                        <a:rPr sz="1950" b="0">
                          <a:solidFill>
                            <a:srgbClr val="263746"/>
                          </a:solidFill>
                          <a:latin typeface="Arial"/>
                          <a:ea typeface="Arial"/>
                          <a:cs typeface="Arial"/>
                        </a:rPr>
                        <a:t>A student is a type of person.</a:t>
                      </a:r>
                    </a:p>
                  </a:txBody>
                  <a:tcPr marL="152400" marR="152400" marT="95250" marB="95250" anchor="ctr">
                    <a:solidFill>
                      <a:srgbClr val="EFF6F7"/>
                    </a:solidFill>
                  </a:tcPr>
                </a:tc>
              </a:tr>
              <a:tr h="807720">
                <a:tc>
                  <a:txBody>
                    <a:bodyPr>
                      <a:noAutofit/>
                    </a:bodyPr>
                    <a:lstStyle/>
                    <a:p>
                      <a:r>
                        <a:rPr sz="1950" b="0">
                          <a:solidFill>
                            <a:srgbClr val="263746"/>
                          </a:solidFill>
                          <a:latin typeface="Arial"/>
                          <a:ea typeface="Arial"/>
                          <a:cs typeface="Arial"/>
                        </a:rPr>
                        <a:t>Relational</a:t>
                      </a:r>
                    </a:p>
                  </a:txBody>
                  <a:tcPr marL="152400" marR="152400" marT="95250" marB="95250" anchor="ctr">
                    <a:solidFill>
                      <a:srgbClr val="FFFFFF"/>
                    </a:solidFill>
                  </a:tcPr>
                </a:tc>
                <a:tc>
                  <a:txBody>
                    <a:bodyPr>
                      <a:noAutofit/>
                    </a:bodyPr>
                    <a:lstStyle/>
                    <a:p>
                      <a:r>
                        <a:rPr sz="1950" b="0">
                          <a:solidFill>
                            <a:srgbClr val="263746"/>
                          </a:solidFill>
                          <a:latin typeface="Arial"/>
                          <a:ea typeface="Arial"/>
                          <a:cs typeface="Arial"/>
                        </a:rPr>
                        <a:t>Connections between entities</a:t>
                      </a:r>
                    </a:p>
                  </a:txBody>
                  <a:tcPr marL="152400" marR="152400" marT="95250" marB="95250" anchor="ctr">
                    <a:solidFill>
                      <a:srgbClr val="FFFFFF"/>
                    </a:solidFill>
                  </a:tcPr>
                </a:tc>
                <a:tc>
                  <a:txBody>
                    <a:bodyPr>
                      <a:noAutofit/>
                    </a:bodyPr>
                    <a:lstStyle/>
                    <a:p>
                      <a:r>
                        <a:rPr sz="1950" b="0">
                          <a:solidFill>
                            <a:srgbClr val="263746"/>
                          </a:solidFill>
                          <a:latin typeface="Arial"/>
                          <a:ea typeface="Arial"/>
                          <a:cs typeface="Arial"/>
                        </a:rPr>
                        <a:t>Studies(Ali, ComputerScience)</a:t>
                      </a:r>
                    </a:p>
                  </a:txBody>
                  <a:tcPr marL="152400" marR="152400" marT="95250" marB="95250" anchor="ctr">
                    <a:solidFill>
                      <a:srgbClr val="FFFFFF"/>
                    </a:solidFill>
                  </a:tcPr>
                </a:tc>
              </a:tr>
              <a:tr h="807720">
                <a:tc>
                  <a:txBody>
                    <a:bodyPr>
                      <a:noAutofit/>
                    </a:bodyPr>
                    <a:lstStyle/>
                    <a:p>
                      <a:r>
                        <a:rPr sz="1950" b="0">
                          <a:solidFill>
                            <a:srgbClr val="263746"/>
                          </a:solidFill>
                          <a:latin typeface="Arial"/>
                          <a:ea typeface="Arial"/>
                          <a:cs typeface="Arial"/>
                        </a:rPr>
                        <a:t>Rule-based</a:t>
                      </a:r>
                    </a:p>
                  </a:txBody>
                  <a:tcPr marL="152400" marR="152400" marT="95250" marB="95250" anchor="ctr">
                    <a:solidFill>
                      <a:srgbClr val="EFF6F7"/>
                    </a:solidFill>
                  </a:tcPr>
                </a:tc>
                <a:tc>
                  <a:txBody>
                    <a:bodyPr>
                      <a:noAutofit/>
                    </a:bodyPr>
                    <a:lstStyle/>
                    <a:p>
                      <a:r>
                        <a:rPr sz="1950" b="0">
                          <a:solidFill>
                            <a:srgbClr val="263746"/>
                          </a:solidFill>
                          <a:latin typeface="Arial"/>
                          <a:ea typeface="Arial"/>
                          <a:cs typeface="Arial"/>
                        </a:rPr>
                        <a:t>Conditions and conclusions</a:t>
                      </a:r>
                    </a:p>
                  </a:txBody>
                  <a:tcPr marL="152400" marR="152400" marT="95250" marB="95250" anchor="ctr">
                    <a:solidFill>
                      <a:srgbClr val="EFF6F7"/>
                    </a:solidFill>
                  </a:tcPr>
                </a:tc>
                <a:tc>
                  <a:txBody>
                    <a:bodyPr>
                      <a:noAutofit/>
                    </a:bodyPr>
                    <a:lstStyle/>
                    <a:p>
                      <a:r>
                        <a:rPr sz="1950" b="0">
                          <a:solidFill>
                            <a:srgbClr val="263746"/>
                          </a:solidFill>
                          <a:latin typeface="Arial"/>
                          <a:ea typeface="Arial"/>
                          <a:cs typeface="Arial"/>
                        </a:rPr>
                        <a:t>Passing all required courses permits graduation.</a:t>
                      </a:r>
                    </a:p>
                  </a:txBody>
                  <a:tcPr marL="152400" marR="152400" marT="95250" marB="95250" anchor="ctr">
                    <a:solidFill>
                      <a:srgbClr val="EFF6F7"/>
                    </a:solidFill>
                  </a:tcPr>
                </a:tc>
              </a:tr>
            </a:tbl>
          </a:graphicData>
        </a:graphic>
      </p:graphicFrame>
      <p:sp>
        <p:nvSpPr>
          <p:cNvPr id="4" name="text">
            <a:extLst xmlns:a="http://schemas.openxmlformats.org/drawingml/2006/main">
              <a:ext uri="{FF2B5EF4-FFF2-40B4-BE49-F238E27FC236}">
                <a16:creationId xmlns:a16="http://schemas.microsoft.com/office/drawing/2014/main" id="{50E740A7-1765-43AE-9582-94E5BF6BD074}"/>
              </a:ext>
            </a:extLst>
          </p:cNvPr>
          <p:cNvSpPr>
            <a:spLocks xmlns:a="http://schemas.openxmlformats.org/drawingml/2006/main" noGrp="1"/>
          </p:cNvSpPr>
          <p:nvPr/>
        </p:nvSpPr>
        <p:spPr>
          <a:xfrm xmlns:a="http://schemas.openxmlformats.org/drawingml/2006/main">
            <a:off x="609600" y="5857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66570"/>
                </a:solidFill>
                <a:latin typeface="Arial"/>
                <a:ea typeface="Arial"/>
                <a:cs typeface="Arial"/>
              </a:defRPr>
            </a:pPr>
            <a:r>
              <a:rPr sz="1800" b="0">
                <a:solidFill>
                  <a:srgbClr val="566570"/>
                </a:solidFill>
                <a:latin typeface="Arial"/>
                <a:ea typeface="Arial"/>
                <a:cs typeface="Arial"/>
              </a:rPr>
              <a:t>Each type helps the system describe or reason about its domain.</a:t>
            </a:r>
          </a:p>
        </p:txBody>
      </p:sp>
    </p:spTree>
    <p:extLst>
      <p:ext uri="{BB962C8B-B14F-4D97-AF65-F5344CB8AC3E}">
        <p14:creationId xmlns:p14="http://schemas.microsoft.com/office/powerpoint/2010/main" val="98071938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2623F43-5795-42EC-B8BE-AEF0D1DD958C}"/>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Data, Information and Knowledge</a:t>
            </a:r>
          </a:p>
        </p:txBody>
      </p:sp>
      <p:sp>
        <p:nvSpPr>
          <p:cNvPr id="2" name="slide-number">
            <a:extLst xmlns:a="http://schemas.openxmlformats.org/drawingml/2006/main">
              <a:ext uri="{FF2B5EF4-FFF2-40B4-BE49-F238E27FC236}">
                <a16:creationId xmlns:a16="http://schemas.microsoft.com/office/drawing/2014/main" id="{755FBD92-88EF-45B8-A348-77A1ED352836}"/>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06</a:t>
            </a:r>
          </a:p>
        </p:txBody>
      </p:sp>
      <p:graphicFrame>
        <p:nvGraphicFramePr>
          <p:cNvPr id="9" name=""/>
          <p:cNvGraphicFramePr/>
          <p:nvPr/>
        </p:nvGraphicFramePr>
        <p:xfrm>
          <a:off xmlns:a="http://schemas.openxmlformats.org/drawingml/2006/main" x="609600" y="1600200"/>
          <a:ext xmlns:a="http://schemas.openxmlformats.org/drawingml/2006/main" cx="10972800" cy="4000500"/>
        </p:xfrm>
        <a:graphic xmlns:a="http://schemas.openxmlformats.org/drawingml/2006/main">
          <a:graphicData uri="http://schemas.openxmlformats.org/drawingml/2006/table">
            <a:tbl>
              <a:tblPr firstRow="0" bandRow="0"/>
              <a:tblGrid>
                <a:gridCol w="2143125"/>
                <a:gridCol w="3810000"/>
                <a:gridCol w="5019675"/>
              </a:tblGrid>
              <a:tr h="1000125">
                <a:tc>
                  <a:txBody>
                    <a:bodyPr>
                      <a:noAutofit/>
                    </a:bodyPr>
                    <a:lstStyle/>
                    <a:p>
                      <a:r>
                        <a:rPr sz="1800" b="1">
                          <a:solidFill>
                            <a:srgbClr val="FFFFFF"/>
                          </a:solidFill>
                          <a:latin typeface="Arial"/>
                          <a:ea typeface="Arial"/>
                          <a:cs typeface="Arial"/>
                        </a:rPr>
                        <a:t>Concept</a:t>
                      </a:r>
                    </a:p>
                  </a:txBody>
                  <a:tcPr marL="152400" marR="152400" marT="95250" marB="95250" anchor="ctr">
                    <a:solidFill>
                      <a:srgbClr val="173449"/>
                    </a:solidFill>
                  </a:tcPr>
                </a:tc>
                <a:tc>
                  <a:txBody>
                    <a:bodyPr>
                      <a:noAutofit/>
                    </a:bodyPr>
                    <a:lstStyle/>
                    <a:p>
                      <a:r>
                        <a:rPr sz="1800" b="1">
                          <a:solidFill>
                            <a:srgbClr val="FFFFFF"/>
                          </a:solidFill>
                          <a:latin typeface="Arial"/>
                          <a:ea typeface="Arial"/>
                          <a:cs typeface="Arial"/>
                        </a:rPr>
                        <a:t>Meaning</a:t>
                      </a:r>
                    </a:p>
                  </a:txBody>
                  <a:tcPr marL="152400" marR="152400" marT="95250" marB="95250" anchor="ctr">
                    <a:solidFill>
                      <a:srgbClr val="173449"/>
                    </a:solidFill>
                  </a:tcPr>
                </a:tc>
                <a:tc>
                  <a:txBody>
                    <a:bodyPr>
                      <a:noAutofit/>
                    </a:bodyPr>
                    <a:lstStyle/>
                    <a:p>
                      <a:r>
                        <a:rPr sz="1800" b="1">
                          <a:solidFill>
                            <a:srgbClr val="FFFFFF"/>
                          </a:solidFill>
                          <a:latin typeface="Arial"/>
                          <a:ea typeface="Arial"/>
                          <a:cs typeface="Arial"/>
                        </a:rPr>
                        <a:t>Example</a:t>
                      </a:r>
                    </a:p>
                  </a:txBody>
                  <a:tcPr marL="152400" marR="152400" marT="95250" marB="95250" anchor="ctr">
                    <a:solidFill>
                      <a:srgbClr val="173449"/>
                    </a:solidFill>
                  </a:tcPr>
                </a:tc>
              </a:tr>
              <a:tr h="1000125">
                <a:tc>
                  <a:txBody>
                    <a:bodyPr>
                      <a:noAutofit/>
                    </a:bodyPr>
                    <a:lstStyle/>
                    <a:p>
                      <a:r>
                        <a:rPr sz="1950" b="0">
                          <a:solidFill>
                            <a:srgbClr val="263746"/>
                          </a:solidFill>
                          <a:latin typeface="Arial"/>
                          <a:ea typeface="Arial"/>
                          <a:cs typeface="Arial"/>
                        </a:rPr>
                        <a:t>Data</a:t>
                      </a:r>
                    </a:p>
                  </a:txBody>
                  <a:tcPr marL="152400" marR="152400" marT="95250" marB="95250" anchor="ctr">
                    <a:solidFill>
                      <a:srgbClr val="FFFFFF"/>
                    </a:solidFill>
                  </a:tcPr>
                </a:tc>
                <a:tc>
                  <a:txBody>
                    <a:bodyPr>
                      <a:noAutofit/>
                    </a:bodyPr>
                    <a:lstStyle/>
                    <a:p>
                      <a:r>
                        <a:rPr sz="1950" b="0">
                          <a:solidFill>
                            <a:srgbClr val="263746"/>
                          </a:solidFill>
                          <a:latin typeface="Arial"/>
                          <a:ea typeface="Arial"/>
                          <a:cs typeface="Arial"/>
                        </a:rPr>
                        <a:t>Raw values or observations</a:t>
                      </a:r>
                    </a:p>
                  </a:txBody>
                  <a:tcPr marL="152400" marR="152400" marT="95250" marB="95250" anchor="ctr">
                    <a:solidFill>
                      <a:srgbClr val="FFFFFF"/>
                    </a:solidFill>
                  </a:tcPr>
                </a:tc>
                <a:tc>
                  <a:txBody>
                    <a:bodyPr>
                      <a:noAutofit/>
                    </a:bodyPr>
                    <a:lstStyle/>
                    <a:p>
                      <a:r>
                        <a:rPr sz="1950" b="0">
                          <a:solidFill>
                            <a:srgbClr val="263746"/>
                          </a:solidFill>
                          <a:latin typeface="Arial"/>
                          <a:ea typeface="Arial"/>
                          <a:cs typeface="Arial"/>
                        </a:rPr>
                        <a:t>25</a:t>
                      </a:r>
                    </a:p>
                  </a:txBody>
                  <a:tcPr marL="152400" marR="152400" marT="95250" marB="95250" anchor="ctr">
                    <a:solidFill>
                      <a:srgbClr val="FFFFFF"/>
                    </a:solidFill>
                  </a:tcPr>
                </a:tc>
              </a:tr>
              <a:tr h="1000125">
                <a:tc>
                  <a:txBody>
                    <a:bodyPr>
                      <a:noAutofit/>
                    </a:bodyPr>
                    <a:lstStyle/>
                    <a:p>
                      <a:r>
                        <a:rPr sz="1950" b="0">
                          <a:solidFill>
                            <a:srgbClr val="263746"/>
                          </a:solidFill>
                          <a:latin typeface="Arial"/>
                          <a:ea typeface="Arial"/>
                          <a:cs typeface="Arial"/>
                        </a:rPr>
                        <a:t>Information</a:t>
                      </a:r>
                    </a:p>
                  </a:txBody>
                  <a:tcPr marL="152400" marR="152400" marT="95250" marB="95250" anchor="ctr">
                    <a:solidFill>
                      <a:srgbClr val="EFF6F7"/>
                    </a:solidFill>
                  </a:tcPr>
                </a:tc>
                <a:tc>
                  <a:txBody>
                    <a:bodyPr>
                      <a:noAutofit/>
                    </a:bodyPr>
                    <a:lstStyle/>
                    <a:p>
                      <a:r>
                        <a:rPr sz="1950" b="0">
                          <a:solidFill>
                            <a:srgbClr val="263746"/>
                          </a:solidFill>
                          <a:latin typeface="Arial"/>
                          <a:ea typeface="Arial"/>
                          <a:cs typeface="Arial"/>
                        </a:rPr>
                        <a:t>Data with meaningful context</a:t>
                      </a:r>
                    </a:p>
                  </a:txBody>
                  <a:tcPr marL="152400" marR="152400" marT="95250" marB="95250" anchor="ctr">
                    <a:solidFill>
                      <a:srgbClr val="EFF6F7"/>
                    </a:solidFill>
                  </a:tcPr>
                </a:tc>
                <a:tc>
                  <a:txBody>
                    <a:bodyPr>
                      <a:noAutofit/>
                    </a:bodyPr>
                    <a:lstStyle/>
                    <a:p>
                      <a:r>
                        <a:rPr sz="1950" b="0">
                          <a:solidFill>
                            <a:srgbClr val="263746"/>
                          </a:solidFill>
                          <a:latin typeface="Arial"/>
                          <a:ea typeface="Arial"/>
                          <a:cs typeface="Arial"/>
                        </a:rPr>
                        <a:t>Ali is 25 years old.</a:t>
                      </a:r>
                    </a:p>
                  </a:txBody>
                  <a:tcPr marL="152400" marR="152400" marT="95250" marB="95250" anchor="ctr">
                    <a:solidFill>
                      <a:srgbClr val="EFF6F7"/>
                    </a:solidFill>
                  </a:tcPr>
                </a:tc>
              </a:tr>
              <a:tr h="1000125">
                <a:tc>
                  <a:txBody>
                    <a:bodyPr>
                      <a:noAutofit/>
                    </a:bodyPr>
                    <a:lstStyle/>
                    <a:p>
                      <a:r>
                        <a:rPr sz="1950" b="0">
                          <a:solidFill>
                            <a:srgbClr val="263746"/>
                          </a:solidFill>
                          <a:latin typeface="Arial"/>
                          <a:ea typeface="Arial"/>
                          <a:cs typeface="Arial"/>
                        </a:rPr>
                        <a:t>Knowledge</a:t>
                      </a:r>
                    </a:p>
                  </a:txBody>
                  <a:tcPr marL="152400" marR="152400" marT="95250" marB="95250" anchor="ctr">
                    <a:solidFill>
                      <a:srgbClr val="FFFFFF"/>
                    </a:solidFill>
                  </a:tcPr>
                </a:tc>
                <a:tc>
                  <a:txBody>
                    <a:bodyPr>
                      <a:noAutofit/>
                    </a:bodyPr>
                    <a:lstStyle/>
                    <a:p>
                      <a:r>
                        <a:rPr sz="1950" b="0">
                          <a:solidFill>
                            <a:srgbClr val="263746"/>
                          </a:solidFill>
                          <a:latin typeface="Arial"/>
                          <a:ea typeface="Arial"/>
                          <a:cs typeface="Arial"/>
                        </a:rPr>
                        <a:t>Facts and rules used to understand or infer</a:t>
                      </a:r>
                    </a:p>
                  </a:txBody>
                  <a:tcPr marL="152400" marR="152400" marT="95250" marB="95250" anchor="ctr">
                    <a:solidFill>
                      <a:srgbClr val="FFFFFF"/>
                    </a:solidFill>
                  </a:tcPr>
                </a:tc>
                <a:tc>
                  <a:txBody>
                    <a:bodyPr>
                      <a:noAutofit/>
                    </a:bodyPr>
                    <a:lstStyle/>
                    <a:p>
                      <a:r>
                        <a:rPr sz="1950" b="0">
                          <a:solidFill>
                            <a:srgbClr val="263746"/>
                          </a:solidFill>
                          <a:latin typeface="Arial"/>
                          <a:ea typeface="Arial"/>
                          <a:cs typeface="Arial"/>
                        </a:rPr>
                        <a:t>Given the rule “age &gt; 18 means adult,” infer that Ali is an adult.</a:t>
                      </a:r>
                    </a:p>
                  </a:txBody>
                  <a:tcPr marL="152400" marR="152400" marT="95250" marB="95250" anchor="ctr">
                    <a:solidFill>
                      <a:srgbClr val="FFFFFF"/>
                    </a:solidFill>
                  </a:tcPr>
                </a:tc>
              </a:tr>
            </a:tbl>
          </a:graphicData>
        </a:graphic>
      </p:graphicFrame>
      <p:sp>
        <p:nvSpPr>
          <p:cNvPr id="4" name="text">
            <a:extLst xmlns:a="http://schemas.openxmlformats.org/drawingml/2006/main">
              <a:ext uri="{FF2B5EF4-FFF2-40B4-BE49-F238E27FC236}">
                <a16:creationId xmlns:a16="http://schemas.microsoft.com/office/drawing/2014/main" id="{C401530C-8063-4F0D-A1DB-47293D67AC45}"/>
              </a:ext>
            </a:extLst>
          </p:cNvPr>
          <p:cNvSpPr>
            <a:spLocks xmlns:a="http://schemas.openxmlformats.org/drawingml/2006/main" noGrp="1"/>
          </p:cNvSpPr>
          <p:nvPr/>
        </p:nvSpPr>
        <p:spPr>
          <a:xfrm xmlns:a="http://schemas.openxmlformats.org/drawingml/2006/main">
            <a:off x="609600" y="5857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66570"/>
                </a:solidFill>
                <a:latin typeface="Arial"/>
                <a:ea typeface="Arial"/>
                <a:cs typeface="Arial"/>
              </a:defRPr>
            </a:pPr>
            <a:r>
              <a:rPr sz="1800" b="0">
                <a:solidFill>
                  <a:srgbClr val="566570"/>
                </a:solidFill>
                <a:latin typeface="Arial"/>
                <a:ea typeface="Arial"/>
                <a:cs typeface="Arial"/>
              </a:rPr>
              <a:t>Context gives data meaning. Applying a rule supports a conclusion.</a:t>
            </a:r>
          </a:p>
        </p:txBody>
      </p:sp>
    </p:spTree>
    <p:extLst>
      <p:ext uri="{BB962C8B-B14F-4D97-AF65-F5344CB8AC3E}">
        <p14:creationId xmlns:p14="http://schemas.microsoft.com/office/powerpoint/2010/main" val="4358049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36A1C03A-8130-41F9-BC17-2AE27CD289AE}"/>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Traffic Data and Route Decisions</a:t>
            </a:r>
          </a:p>
        </p:txBody>
      </p:sp>
      <p:sp>
        <p:nvSpPr>
          <p:cNvPr id="2" name="slide-number">
            <a:extLst xmlns:a="http://schemas.openxmlformats.org/drawingml/2006/main">
              <a:ext uri="{FF2B5EF4-FFF2-40B4-BE49-F238E27FC236}">
                <a16:creationId xmlns:a16="http://schemas.microsoft.com/office/drawing/2014/main" id="{47D98E5B-6CBE-4CDD-B043-517E8E7124E3}"/>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07</a:t>
            </a:r>
          </a:p>
        </p:txBody>
      </p:sp>
      <p:sp>
        <p:nvSpPr>
          <p:cNvPr id="14" name="visual-caption">
            <a:extLst xmlns:a="http://schemas.openxmlformats.org/drawingml/2006/main">
              <a:ext uri="{FF2B5EF4-FFF2-40B4-BE49-F238E27FC236}">
                <a16:creationId xmlns:a16="http://schemas.microsoft.com/office/drawing/2014/main" id="{E42A863B-4FF9-4FCD-8B21-0FE32A4F343C}"/>
              </a:ext>
            </a:extLst>
          </p:cNvPr>
          <p:cNvSpPr>
            <a:spLocks xmlns:a="http://schemas.openxmlformats.org/drawingml/2006/main" noGrp="1"/>
          </p:cNvSpPr>
          <p:nvPr/>
        </p:nvSpPr>
        <p:spPr>
          <a:xfrm xmlns:a="http://schemas.openxmlformats.org/drawingml/2006/main">
            <a:off x="609600" y="1485900"/>
            <a:ext cx="432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Data</a:t>
            </a:r>
          </a:p>
        </p:txBody>
      </p:sp>
      <p:sp>
        <p:nvSpPr>
          <p:cNvPr id="15" name="visual-caption">
            <a:extLst xmlns:a="http://schemas.openxmlformats.org/drawingml/2006/main">
              <a:ext uri="{FF2B5EF4-FFF2-40B4-BE49-F238E27FC236}">
                <a16:creationId xmlns:a16="http://schemas.microsoft.com/office/drawing/2014/main" id="{76E55E9E-74E0-448F-B246-091232B9688E}"/>
              </a:ext>
            </a:extLst>
          </p:cNvPr>
          <p:cNvSpPr>
            <a:spLocks xmlns:a="http://schemas.openxmlformats.org/drawingml/2006/main" noGrp="1"/>
          </p:cNvSpPr>
          <p:nvPr/>
        </p:nvSpPr>
        <p:spPr>
          <a:xfrm xmlns:a="http://schemas.openxmlformats.org/drawingml/2006/main">
            <a:off x="609600" y="1895475"/>
            <a:ext cx="4324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263746"/>
                </a:solidFill>
                <a:latin typeface="Arial"/>
                <a:ea typeface="Arial"/>
                <a:cs typeface="Arial"/>
              </a:defRPr>
            </a:pPr>
            <a:r>
              <a:rPr sz="1950" b="0">
                <a:solidFill>
                  <a:srgbClr val="263746"/>
                </a:solidFill>
                <a:latin typeface="Arial"/>
                <a:ea typeface="Arial"/>
                <a:cs typeface="Arial"/>
              </a:rPr>
              <a:t>A sensor counts 95 vehicles.</a:t>
            </a:r>
          </a:p>
        </p:txBody>
      </p:sp>
      <p:sp>
        <p:nvSpPr>
          <p:cNvPr id="16" name="visual-caption">
            <a:extLst xmlns:a="http://schemas.openxmlformats.org/drawingml/2006/main">
              <a:ext uri="{FF2B5EF4-FFF2-40B4-BE49-F238E27FC236}">
                <a16:creationId xmlns:a16="http://schemas.microsoft.com/office/drawing/2014/main" id="{A9676FA6-DB6A-41E4-B65B-22F6B6C79867}"/>
              </a:ext>
            </a:extLst>
          </p:cNvPr>
          <p:cNvSpPr>
            <a:spLocks xmlns:a="http://schemas.openxmlformats.org/drawingml/2006/main" noGrp="1"/>
          </p:cNvSpPr>
          <p:nvPr/>
        </p:nvSpPr>
        <p:spPr>
          <a:xfrm xmlns:a="http://schemas.openxmlformats.org/drawingml/2006/main">
            <a:off x="609600" y="2381250"/>
            <a:ext cx="432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Information</a:t>
            </a:r>
          </a:p>
        </p:txBody>
      </p:sp>
      <p:sp>
        <p:nvSpPr>
          <p:cNvPr id="17" name="visual-caption">
            <a:extLst xmlns:a="http://schemas.openxmlformats.org/drawingml/2006/main">
              <a:ext uri="{FF2B5EF4-FFF2-40B4-BE49-F238E27FC236}">
                <a16:creationId xmlns:a16="http://schemas.microsoft.com/office/drawing/2014/main" id="{20226CE0-64D3-4F7E-92FD-A74B573B630D}"/>
              </a:ext>
            </a:extLst>
          </p:cNvPr>
          <p:cNvSpPr>
            <a:spLocks xmlns:a="http://schemas.openxmlformats.org/drawingml/2006/main" noGrp="1"/>
          </p:cNvSpPr>
          <p:nvPr/>
        </p:nvSpPr>
        <p:spPr>
          <a:xfrm xmlns:a="http://schemas.openxmlformats.org/drawingml/2006/main">
            <a:off x="609600" y="2790825"/>
            <a:ext cx="4324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263746"/>
                </a:solidFill>
                <a:latin typeface="Arial"/>
                <a:ea typeface="Arial"/>
                <a:cs typeface="Arial"/>
              </a:defRPr>
            </a:pPr>
            <a:r>
              <a:rPr sz="1950" b="0">
                <a:solidFill>
                  <a:srgbClr val="263746"/>
                </a:solidFill>
                <a:latin typeface="Arial"/>
                <a:ea typeface="Arial"/>
                <a:cs typeface="Arial"/>
              </a:rPr>
              <a:t>Road A has heavy traffic.</a:t>
            </a:r>
          </a:p>
        </p:txBody>
      </p:sp>
      <p:sp>
        <p:nvSpPr>
          <p:cNvPr id="18" name="visual-caption">
            <a:extLst xmlns:a="http://schemas.openxmlformats.org/drawingml/2006/main">
              <a:ext uri="{FF2B5EF4-FFF2-40B4-BE49-F238E27FC236}">
                <a16:creationId xmlns:a16="http://schemas.microsoft.com/office/drawing/2014/main" id="{770C31F2-40A5-49AB-B79F-36ACAE85D479}"/>
              </a:ext>
            </a:extLst>
          </p:cNvPr>
          <p:cNvSpPr>
            <a:spLocks xmlns:a="http://schemas.openxmlformats.org/drawingml/2006/main" noGrp="1"/>
          </p:cNvSpPr>
          <p:nvPr/>
        </p:nvSpPr>
        <p:spPr>
          <a:xfrm xmlns:a="http://schemas.openxmlformats.org/drawingml/2006/main">
            <a:off x="609600" y="3276600"/>
            <a:ext cx="432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Knowledge</a:t>
            </a:r>
          </a:p>
        </p:txBody>
      </p:sp>
      <p:sp>
        <p:nvSpPr>
          <p:cNvPr id="19" name="visual-caption">
            <a:extLst xmlns:a="http://schemas.openxmlformats.org/drawingml/2006/main">
              <a:ext uri="{FF2B5EF4-FFF2-40B4-BE49-F238E27FC236}">
                <a16:creationId xmlns:a16="http://schemas.microsoft.com/office/drawing/2014/main" id="{1ABC4425-194F-462D-BBED-2CBD81BA5B8E}"/>
              </a:ext>
            </a:extLst>
          </p:cNvPr>
          <p:cNvSpPr>
            <a:spLocks xmlns:a="http://schemas.openxmlformats.org/drawingml/2006/main" noGrp="1"/>
          </p:cNvSpPr>
          <p:nvPr/>
        </p:nvSpPr>
        <p:spPr>
          <a:xfrm xmlns:a="http://schemas.openxmlformats.org/drawingml/2006/main">
            <a:off x="609600" y="3686175"/>
            <a:ext cx="4324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263746"/>
                </a:solidFill>
                <a:latin typeface="Arial"/>
                <a:ea typeface="Arial"/>
                <a:cs typeface="Arial"/>
              </a:defRPr>
            </a:pPr>
            <a:r>
              <a:rPr sz="1950" b="0">
                <a:solidFill>
                  <a:srgbClr val="263746"/>
                </a:solidFill>
                <a:latin typeface="Arial"/>
                <a:ea typeface="Arial"/>
                <a:cs typeface="Arial"/>
              </a:rPr>
              <a:t>Heavy traffic increases travel time.</a:t>
            </a:r>
          </a:p>
        </p:txBody>
      </p:sp>
      <p:sp>
        <p:nvSpPr>
          <p:cNvPr id="20" name="visual-caption">
            <a:extLst xmlns:a="http://schemas.openxmlformats.org/drawingml/2006/main">
              <a:ext uri="{FF2B5EF4-FFF2-40B4-BE49-F238E27FC236}">
                <a16:creationId xmlns:a16="http://schemas.microsoft.com/office/drawing/2014/main" id="{F9195D65-37CF-4633-9244-9C8E392FAF4A}"/>
              </a:ext>
            </a:extLst>
          </p:cNvPr>
          <p:cNvSpPr>
            <a:spLocks xmlns:a="http://schemas.openxmlformats.org/drawingml/2006/main" noGrp="1"/>
          </p:cNvSpPr>
          <p:nvPr/>
        </p:nvSpPr>
        <p:spPr>
          <a:xfrm xmlns:a="http://schemas.openxmlformats.org/drawingml/2006/main">
            <a:off x="609600" y="4171950"/>
            <a:ext cx="432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Reasoning</a:t>
            </a:r>
          </a:p>
        </p:txBody>
      </p:sp>
      <p:sp>
        <p:nvSpPr>
          <p:cNvPr id="21" name="visual-caption">
            <a:extLst xmlns:a="http://schemas.openxmlformats.org/drawingml/2006/main">
              <a:ext uri="{FF2B5EF4-FFF2-40B4-BE49-F238E27FC236}">
                <a16:creationId xmlns:a16="http://schemas.microsoft.com/office/drawing/2014/main" id="{64D4237B-F052-410F-9683-974C613A92B3}"/>
              </a:ext>
            </a:extLst>
          </p:cNvPr>
          <p:cNvSpPr>
            <a:spLocks xmlns:a="http://schemas.openxmlformats.org/drawingml/2006/main" noGrp="1"/>
          </p:cNvSpPr>
          <p:nvPr/>
        </p:nvSpPr>
        <p:spPr>
          <a:xfrm xmlns:a="http://schemas.openxmlformats.org/drawingml/2006/main">
            <a:off x="609600" y="4581525"/>
            <a:ext cx="4324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263746"/>
                </a:solidFill>
                <a:latin typeface="Arial"/>
                <a:ea typeface="Arial"/>
                <a:cs typeface="Arial"/>
              </a:defRPr>
            </a:pPr>
            <a:r>
              <a:rPr sz="1950" b="0">
                <a:solidFill>
                  <a:srgbClr val="263746"/>
                </a:solidFill>
                <a:latin typeface="Arial"/>
                <a:ea typeface="Arial"/>
                <a:cs typeface="Arial"/>
              </a:rPr>
              <a:t>Road B may offer a faster route.</a:t>
            </a:r>
          </a:p>
        </p:txBody>
      </p:sp>
      <p:sp>
        <p:nvSpPr>
          <p:cNvPr id="22" name="visual-caption">
            <a:extLst xmlns:a="http://schemas.openxmlformats.org/drawingml/2006/main">
              <a:ext uri="{FF2B5EF4-FFF2-40B4-BE49-F238E27FC236}">
                <a16:creationId xmlns:a16="http://schemas.microsoft.com/office/drawing/2014/main" id="{CAA939CC-2E51-44F4-B044-91F58C0B1FAD}"/>
              </a:ext>
            </a:extLst>
          </p:cNvPr>
          <p:cNvSpPr>
            <a:spLocks xmlns:a="http://schemas.openxmlformats.org/drawingml/2006/main" noGrp="1"/>
          </p:cNvSpPr>
          <p:nvPr/>
        </p:nvSpPr>
        <p:spPr>
          <a:xfrm xmlns:a="http://schemas.openxmlformats.org/drawingml/2006/main">
            <a:off x="609600" y="5067300"/>
            <a:ext cx="4324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Decision</a:t>
            </a:r>
          </a:p>
        </p:txBody>
      </p:sp>
      <p:sp>
        <p:nvSpPr>
          <p:cNvPr id="23" name="visual-caption">
            <a:extLst xmlns:a="http://schemas.openxmlformats.org/drawingml/2006/main">
              <a:ext uri="{FF2B5EF4-FFF2-40B4-BE49-F238E27FC236}">
                <a16:creationId xmlns:a16="http://schemas.microsoft.com/office/drawing/2014/main" id="{02C4BF2F-2EE8-46B6-AE3F-8D131D086FF2}"/>
              </a:ext>
            </a:extLst>
          </p:cNvPr>
          <p:cNvSpPr>
            <a:spLocks xmlns:a="http://schemas.openxmlformats.org/drawingml/2006/main" noGrp="1"/>
          </p:cNvSpPr>
          <p:nvPr/>
        </p:nvSpPr>
        <p:spPr>
          <a:xfrm xmlns:a="http://schemas.openxmlformats.org/drawingml/2006/main">
            <a:off x="609600" y="5476875"/>
            <a:ext cx="43243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263746"/>
                </a:solidFill>
                <a:latin typeface="Arial"/>
                <a:ea typeface="Arial"/>
                <a:cs typeface="Arial"/>
              </a:defRPr>
            </a:pPr>
            <a:r>
              <a:rPr sz="1950" b="0">
                <a:solidFill>
                  <a:srgbClr val="263746"/>
                </a:solidFill>
                <a:latin typeface="Arial"/>
                <a:ea typeface="Arial"/>
                <a:cs typeface="Arial"/>
              </a:rPr>
              <a:t>Recommend Road B if evidence supports it.</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3abcbe2eba5f44de"/>
          <a:stretch xmlns:a="http://schemas.openxmlformats.org/drawingml/2006/main"/>
        </p:blipFill>
        <p:spPr>
          <a:xfrm xmlns:a="http://schemas.openxmlformats.org/drawingml/2006/main">
            <a:off x="5567363" y="1952625"/>
            <a:ext cx="5629275" cy="3752850"/>
          </a:xfrm>
          <a:prstGeom xmlns:a="http://schemas.openxmlformats.org/drawingml/2006/main" prst="rect">
            <a:avLst/>
          </a:prstGeom>
        </p:spPr>
      </p:pic>
      <p:sp>
        <p:nvSpPr>
          <p:cNvPr id="25" name="visual-caption">
            <a:extLst xmlns:a="http://schemas.openxmlformats.org/drawingml/2006/main">
              <a:ext uri="{FF2B5EF4-FFF2-40B4-BE49-F238E27FC236}">
                <a16:creationId xmlns:a16="http://schemas.microsoft.com/office/drawing/2014/main" id="{D9910CB9-27DE-467D-BC35-EAD855F80B9D}"/>
              </a:ext>
            </a:extLst>
          </p:cNvPr>
          <p:cNvSpPr>
            <a:spLocks xmlns:a="http://schemas.openxmlformats.org/drawingml/2006/main" noGrp="1"/>
          </p:cNvSpPr>
          <p:nvPr/>
        </p:nvSpPr>
        <p:spPr>
          <a:xfrm xmlns:a="http://schemas.openxmlformats.org/drawingml/2006/main">
            <a:off x="5219700" y="5867400"/>
            <a:ext cx="6210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566570"/>
                </a:solidFill>
                <a:latin typeface="Arial"/>
                <a:ea typeface="Arial"/>
                <a:cs typeface="Arial"/>
              </a:defRPr>
            </a:pPr>
            <a:r>
              <a:rPr sz="1650" b="0">
                <a:solidFill>
                  <a:srgbClr val="566570"/>
                </a:solidFill>
                <a:latin typeface="Arial"/>
                <a:ea typeface="Arial"/>
                <a:cs typeface="Arial"/>
              </a:rPr>
              <a:t>Classroom example. Vehicle icons are symbolic.</a:t>
            </a:r>
          </a:p>
        </p:txBody>
      </p:sp>
    </p:spTree>
    <p:extLst>
      <p:ext uri="{BB962C8B-B14F-4D97-AF65-F5344CB8AC3E}">
        <p14:creationId xmlns:p14="http://schemas.microsoft.com/office/powerpoint/2010/main" val="6030115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4B71D4AB-CB29-482E-BD11-CC9BDB462736}"/>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Traffic System: Knowledge in Use</a:t>
            </a:r>
          </a:p>
        </p:txBody>
      </p:sp>
      <p:sp>
        <p:nvSpPr>
          <p:cNvPr id="2" name="slide-number">
            <a:extLst xmlns:a="http://schemas.openxmlformats.org/drawingml/2006/main">
              <a:ext uri="{FF2B5EF4-FFF2-40B4-BE49-F238E27FC236}">
                <a16:creationId xmlns:a16="http://schemas.microsoft.com/office/drawing/2014/main" id="{A35B86FB-A02A-42B6-9FDA-BC6B84FCBD2B}"/>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a:solidFill>
                  <a:srgbClr val="566570"/>
                </a:solidFill>
                <a:latin typeface="Arial"/>
                <a:ea typeface="Arial"/>
                <a:cs typeface="Arial"/>
              </a:defRPr>
            </a:pPr>
            <a:r>
              <a:rPr sz="1350">
                <a:solidFill>
                  <a:srgbClr val="566570"/>
                </a:solidFill>
                <a:latin typeface="Arial"/>
                <a:ea typeface="Arial"/>
                <a:cs typeface="Arial"/>
              </a:rPr>
              <a:t>08</a:t>
            </a:r>
          </a:p>
        </p:txBody>
      </p:sp>
      <p:sp>
        <p:nvSpPr>
          <p:cNvPr id="3" name="assessment-text">
            <a:extLst xmlns:a="http://schemas.openxmlformats.org/drawingml/2006/main">
              <a:ext uri="{FF2B5EF4-FFF2-40B4-BE49-F238E27FC236}">
                <a16:creationId xmlns:a16="http://schemas.microsoft.com/office/drawing/2014/main" id="{0FC2F68D-F643-41A2-93B8-7B27561A820C}"/>
              </a:ext>
            </a:extLst>
          </p:cNvPr>
          <p:cNvSpPr>
            <a:spLocks xmlns:a="http://schemas.openxmlformats.org/drawingml/2006/main" noGrp="1"/>
          </p:cNvSpPr>
          <p:nvPr/>
        </p:nvSpPr>
        <p:spPr>
          <a:xfrm xmlns:a="http://schemas.openxmlformats.org/drawingml/2006/main">
            <a:off x="609600" y="1552575"/>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263746"/>
                </a:solidFill>
                <a:latin typeface="Arial"/>
                <a:ea typeface="Arial"/>
                <a:cs typeface="Arial"/>
              </a:defRPr>
            </a:pPr>
            <a:r>
              <a:rPr sz="2400">
                <a:solidFill>
                  <a:srgbClr val="263746"/>
                </a:solidFill>
                <a:latin typeface="Arial"/>
                <a:ea typeface="Arial"/>
                <a:cs typeface="Arial"/>
              </a:rPr>
              <a:t>A sensor reports 95 vehicles on Road A. The system interprets heavy traffic, uses a travel-time rule, and recommends an alternative route.</a:t>
            </a:r>
          </a:p>
        </p:txBody>
      </p:sp>
      <p:sp>
        <p:nvSpPr>
          <p:cNvPr id="4" name="assessment-text">
            <a:extLst xmlns:a="http://schemas.openxmlformats.org/drawingml/2006/main">
              <a:ext uri="{FF2B5EF4-FFF2-40B4-BE49-F238E27FC236}">
                <a16:creationId xmlns:a16="http://schemas.microsoft.com/office/drawing/2014/main" id="{8B470BE5-8104-4B09-AB6B-0A9F23C49A99}"/>
              </a:ext>
            </a:extLst>
          </p:cNvPr>
          <p:cNvSpPr>
            <a:spLocks xmlns:a="http://schemas.openxmlformats.org/drawingml/2006/main" noGrp="1"/>
          </p:cNvSpPr>
          <p:nvPr/>
        </p:nvSpPr>
        <p:spPr>
          <a:xfrm xmlns:a="http://schemas.openxmlformats.org/drawingml/2006/main">
            <a:off x="609600" y="35242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Discussion</a:t>
            </a:r>
          </a:p>
        </p:txBody>
      </p:sp>
      <p:sp>
        <p:nvSpPr>
          <p:cNvPr id="5" name="assessment-text">
            <a:extLst xmlns:a="http://schemas.openxmlformats.org/drawingml/2006/main">
              <a:ext uri="{FF2B5EF4-FFF2-40B4-BE49-F238E27FC236}">
                <a16:creationId xmlns:a16="http://schemas.microsoft.com/office/drawing/2014/main" id="{5F0A2A0E-BE95-49F4-8DD3-72FC208E4DB0}"/>
              </a:ext>
            </a:extLst>
          </p:cNvPr>
          <p:cNvSpPr>
            <a:spLocks xmlns:a="http://schemas.openxmlformats.org/drawingml/2006/main" noGrp="1"/>
          </p:cNvSpPr>
          <p:nvPr/>
        </p:nvSpPr>
        <p:spPr>
          <a:xfrm xmlns:a="http://schemas.openxmlformats.org/drawingml/2006/main">
            <a:off x="609600" y="3952875"/>
            <a:ext cx="10972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a:solidFill>
                  <a:srgbClr val="263746"/>
                </a:solidFill>
                <a:latin typeface="Arial"/>
                <a:ea typeface="Arial"/>
                <a:cs typeface="Arial"/>
              </a:defRPr>
            </a:pPr>
            <a:r>
              <a:rPr sz="2700">
                <a:solidFill>
                  <a:srgbClr val="263746"/>
                </a:solidFill>
                <a:latin typeface="Arial"/>
                <a:ea typeface="Arial"/>
                <a:cs typeface="Arial"/>
              </a:rPr>
              <a:t>At which stage does the system begin to use knowledge?</a:t>
            </a:r>
          </a:p>
        </p:txBody>
      </p:sp>
      <p:sp>
        <p:nvSpPr>
          <p:cNvPr id="6" name="assessment-text">
            <a:extLst xmlns:a="http://schemas.openxmlformats.org/drawingml/2006/main">
              <a:ext uri="{FF2B5EF4-FFF2-40B4-BE49-F238E27FC236}">
                <a16:creationId xmlns:a16="http://schemas.microsoft.com/office/drawing/2014/main" id="{6CCE63A8-1E06-4F36-8692-CC5DCE3C065D}"/>
              </a:ext>
            </a:extLst>
          </p:cNvPr>
          <p:cNvSpPr>
            <a:spLocks xmlns:a="http://schemas.openxmlformats.org/drawingml/2006/main" noGrp="1"/>
          </p:cNvSpPr>
          <p:nvPr/>
        </p:nvSpPr>
        <p:spPr>
          <a:xfrm xmlns:a="http://schemas.openxmlformats.org/drawingml/2006/main">
            <a:off x="609600" y="53625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Explain your choice using the traffic example.</a:t>
            </a:r>
          </a:p>
        </p:txBody>
      </p:sp>
    </p:spTree>
    <p:extLst>
      <p:ext uri="{BB962C8B-B14F-4D97-AF65-F5344CB8AC3E}">
        <p14:creationId xmlns:p14="http://schemas.microsoft.com/office/powerpoint/2010/main" val="37810287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30B1642C-86C3-455A-832F-EE39A65A045F}"/>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Knowledge Representation</a:t>
            </a:r>
          </a:p>
        </p:txBody>
      </p:sp>
      <p:sp>
        <p:nvSpPr>
          <p:cNvPr id="2" name="slide-number">
            <a:extLst xmlns:a="http://schemas.openxmlformats.org/drawingml/2006/main">
              <a:ext uri="{FF2B5EF4-FFF2-40B4-BE49-F238E27FC236}">
                <a16:creationId xmlns:a16="http://schemas.microsoft.com/office/drawing/2014/main" id="{EE0DC13D-8E83-4F7B-B637-CC7399754BF6}"/>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09</a:t>
            </a:r>
          </a:p>
        </p:txBody>
      </p:sp>
      <p:sp>
        <p:nvSpPr>
          <p:cNvPr id="3" name="text">
            <a:extLst xmlns:a="http://schemas.openxmlformats.org/drawingml/2006/main">
              <a:ext uri="{FF2B5EF4-FFF2-40B4-BE49-F238E27FC236}">
                <a16:creationId xmlns:a16="http://schemas.microsoft.com/office/drawing/2014/main" id="{629BB909-4616-48CF-8BDC-0EDB7D50BBEA}"/>
              </a:ext>
            </a:extLst>
          </p:cNvPr>
          <p:cNvSpPr>
            <a:spLocks xmlns:a="http://schemas.openxmlformats.org/drawingml/2006/main" noGrp="1"/>
          </p:cNvSpPr>
          <p:nvPr/>
        </p:nvSpPr>
        <p:spPr>
          <a:xfrm xmlns:a="http://schemas.openxmlformats.org/drawingml/2006/main">
            <a:off x="609600" y="14668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63746"/>
                </a:solidFill>
                <a:latin typeface="Arial"/>
                <a:ea typeface="Arial"/>
                <a:cs typeface="Arial"/>
              </a:defRPr>
            </a:pPr>
            <a:r>
              <a:rPr sz="2400" b="0">
                <a:solidFill>
                  <a:srgbClr val="263746"/>
                </a:solidFill>
                <a:latin typeface="Arial"/>
                <a:ea typeface="Arial"/>
                <a:cs typeface="Arial"/>
              </a:rPr>
              <a:t>Knowledge representation expresses knowledge in a structured or formal form that a computer can use for reasoning.</a:t>
            </a:r>
          </a:p>
        </p:txBody>
      </p:sp>
      <p:sp>
        <p:nvSpPr>
          <p:cNvPr id="4" name="text">
            <a:extLst xmlns:a="http://schemas.openxmlformats.org/drawingml/2006/main">
              <a:ext uri="{FF2B5EF4-FFF2-40B4-BE49-F238E27FC236}">
                <a16:creationId xmlns:a16="http://schemas.microsoft.com/office/drawing/2014/main" id="{FA5B19B5-3ED1-40B5-8CBC-1D8447797C13}"/>
              </a:ext>
            </a:extLst>
          </p:cNvPr>
          <p:cNvSpPr>
            <a:spLocks xmlns:a="http://schemas.openxmlformats.org/drawingml/2006/main" noGrp="1"/>
          </p:cNvSpPr>
          <p:nvPr/>
        </p:nvSpPr>
        <p:spPr>
          <a:xfrm xmlns:a="http://schemas.openxmlformats.org/drawingml/2006/main">
            <a:off x="609600" y="28670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Natural language</a:t>
            </a:r>
          </a:p>
        </p:txBody>
      </p:sp>
      <p:sp>
        <p:nvSpPr>
          <p:cNvPr id="5" name="text">
            <a:extLst xmlns:a="http://schemas.openxmlformats.org/drawingml/2006/main">
              <a:ext uri="{FF2B5EF4-FFF2-40B4-BE49-F238E27FC236}">
                <a16:creationId xmlns:a16="http://schemas.microsoft.com/office/drawing/2014/main" id="{609150E6-9C77-445C-B150-AFCAF4B3287B}"/>
              </a:ext>
            </a:extLst>
          </p:cNvPr>
          <p:cNvSpPr>
            <a:spLocks xmlns:a="http://schemas.openxmlformats.org/drawingml/2006/main" noGrp="1"/>
          </p:cNvSpPr>
          <p:nvPr/>
        </p:nvSpPr>
        <p:spPr>
          <a:xfrm xmlns:a="http://schemas.openxmlformats.org/drawingml/2006/main">
            <a:off x="609600" y="327660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All students who pass the examination receive a certificate.</a:t>
            </a:r>
          </a:p>
        </p:txBody>
      </p:sp>
      <p:sp>
        <p:nvSpPr>
          <p:cNvPr id="6" name="text">
            <a:extLst xmlns:a="http://schemas.openxmlformats.org/drawingml/2006/main">
              <a:ext uri="{FF2B5EF4-FFF2-40B4-BE49-F238E27FC236}">
                <a16:creationId xmlns:a16="http://schemas.microsoft.com/office/drawing/2014/main" id="{08F78D5A-4830-45A9-A5D6-9C3653093599}"/>
              </a:ext>
            </a:extLst>
          </p:cNvPr>
          <p:cNvSpPr>
            <a:spLocks xmlns:a="http://schemas.openxmlformats.org/drawingml/2006/main" noGrp="1"/>
          </p:cNvSpPr>
          <p:nvPr/>
        </p:nvSpPr>
        <p:spPr>
          <a:xfrm xmlns:a="http://schemas.openxmlformats.org/drawingml/2006/main">
            <a:off x="609600" y="3829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Formal rule</a:t>
            </a:r>
          </a:p>
        </p:txBody>
      </p:sp>
      <p:sp>
        <p:nvSpPr>
          <p:cNvPr id="7" name="text">
            <a:extLst xmlns:a="http://schemas.openxmlformats.org/drawingml/2006/main">
              <a:ext uri="{FF2B5EF4-FFF2-40B4-BE49-F238E27FC236}">
                <a16:creationId xmlns:a16="http://schemas.microsoft.com/office/drawing/2014/main" id="{F2F3C428-CCC1-4309-AC5E-7CCC2497475F}"/>
              </a:ext>
            </a:extLst>
          </p:cNvPr>
          <p:cNvSpPr>
            <a:spLocks xmlns:a="http://schemas.openxmlformats.org/drawingml/2006/main" noGrp="1"/>
          </p:cNvSpPr>
          <p:nvPr/>
        </p:nvSpPr>
        <p:spPr>
          <a:xfrm xmlns:a="http://schemas.openxmlformats.org/drawingml/2006/main">
            <a:off x="609600" y="42386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Passes(x) → ReceivesCertificate(x)</a:t>
            </a:r>
          </a:p>
        </p:txBody>
      </p:sp>
      <p:sp>
        <p:nvSpPr>
          <p:cNvPr id="8" name="text">
            <a:extLst xmlns:a="http://schemas.openxmlformats.org/drawingml/2006/main">
              <a:ext uri="{FF2B5EF4-FFF2-40B4-BE49-F238E27FC236}">
                <a16:creationId xmlns:a16="http://schemas.microsoft.com/office/drawing/2014/main" id="{31746F07-05CD-4336-BF61-FFA46242B63A}"/>
              </a:ext>
            </a:extLst>
          </p:cNvPr>
          <p:cNvSpPr>
            <a:spLocks xmlns:a="http://schemas.openxmlformats.org/drawingml/2006/main" noGrp="1"/>
          </p:cNvSpPr>
          <p:nvPr/>
        </p:nvSpPr>
        <p:spPr>
          <a:xfrm xmlns:a="http://schemas.openxmlformats.org/drawingml/2006/main">
            <a:off x="609600" y="47910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Specific fact</a:t>
            </a:r>
          </a:p>
        </p:txBody>
      </p:sp>
      <p:sp>
        <p:nvSpPr>
          <p:cNvPr id="9" name="text">
            <a:extLst xmlns:a="http://schemas.openxmlformats.org/drawingml/2006/main">
              <a:ext uri="{FF2B5EF4-FFF2-40B4-BE49-F238E27FC236}">
                <a16:creationId xmlns:a16="http://schemas.microsoft.com/office/drawing/2014/main" id="{C570EF36-B27B-4E03-ADB3-89B16DBE4FD7}"/>
              </a:ext>
            </a:extLst>
          </p:cNvPr>
          <p:cNvSpPr>
            <a:spLocks xmlns:a="http://schemas.openxmlformats.org/drawingml/2006/main" noGrp="1"/>
          </p:cNvSpPr>
          <p:nvPr/>
        </p:nvSpPr>
        <p:spPr>
          <a:xfrm xmlns:a="http://schemas.openxmlformats.org/drawingml/2006/main">
            <a:off x="609600" y="52006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Passes(Ali)</a:t>
            </a:r>
          </a:p>
        </p:txBody>
      </p:sp>
      <p:sp>
        <p:nvSpPr>
          <p:cNvPr id="10" name="text">
            <a:extLst xmlns:a="http://schemas.openxmlformats.org/drawingml/2006/main">
              <a:ext uri="{FF2B5EF4-FFF2-40B4-BE49-F238E27FC236}">
                <a16:creationId xmlns:a16="http://schemas.microsoft.com/office/drawing/2014/main" id="{DE7A5169-A5FF-44A3-807D-63918E7144B7}"/>
              </a:ext>
            </a:extLst>
          </p:cNvPr>
          <p:cNvSpPr>
            <a:spLocks xmlns:a="http://schemas.openxmlformats.org/drawingml/2006/main" noGrp="1"/>
          </p:cNvSpPr>
          <p:nvPr/>
        </p:nvSpPr>
        <p:spPr>
          <a:xfrm xmlns:a="http://schemas.openxmlformats.org/drawingml/2006/main">
            <a:off x="609600" y="59531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66570"/>
                </a:solidFill>
                <a:latin typeface="Arial"/>
                <a:ea typeface="Arial"/>
                <a:cs typeface="Arial"/>
              </a:defRPr>
            </a:pPr>
            <a:r>
              <a:rPr sz="1800" b="0">
                <a:solidFill>
                  <a:srgbClr val="566570"/>
                </a:solidFill>
                <a:latin typeface="Arial"/>
                <a:ea typeface="Arial"/>
                <a:cs typeface="Arial"/>
              </a:rPr>
              <a:t>x stands for an object. The arrow means “if ... then ...”.</a:t>
            </a:r>
          </a:p>
        </p:txBody>
      </p:sp>
    </p:spTree>
    <p:extLst>
      <p:ext uri="{BB962C8B-B14F-4D97-AF65-F5344CB8AC3E}">
        <p14:creationId xmlns:p14="http://schemas.microsoft.com/office/powerpoint/2010/main" val="62612460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A908BA71-1C51-469A-B80E-1F2722521485}"/>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Components of a Representation</a:t>
            </a:r>
          </a:p>
        </p:txBody>
      </p:sp>
      <p:sp>
        <p:nvSpPr>
          <p:cNvPr id="2" name="slide-number">
            <a:extLst xmlns:a="http://schemas.openxmlformats.org/drawingml/2006/main">
              <a:ext uri="{FF2B5EF4-FFF2-40B4-BE49-F238E27FC236}">
                <a16:creationId xmlns:a16="http://schemas.microsoft.com/office/drawing/2014/main" id="{88141289-3732-480D-829C-D69E318FA939}"/>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10</a:t>
            </a:r>
          </a:p>
        </p:txBody>
      </p:sp>
      <p:graphicFrame>
        <p:nvGraphicFramePr>
          <p:cNvPr id="8" name=""/>
          <p:cNvGraphicFramePr/>
          <p:nvPr/>
        </p:nvGraphicFramePr>
        <p:xfrm>
          <a:off xmlns:a="http://schemas.openxmlformats.org/drawingml/2006/main" x="609600" y="1600200"/>
          <a:ext xmlns:a="http://schemas.openxmlformats.org/drawingml/2006/main" cx="10972800" cy="4419600"/>
        </p:xfrm>
        <a:graphic xmlns:a="http://schemas.openxmlformats.org/drawingml/2006/main">
          <a:graphicData uri="http://schemas.openxmlformats.org/drawingml/2006/table">
            <a:tbl>
              <a:tblPr firstRow="0" bandRow="0"/>
              <a:tblGrid>
                <a:gridCol w="2047875"/>
                <a:gridCol w="4000500"/>
                <a:gridCol w="4924425"/>
              </a:tblGrid>
              <a:tr h="736600">
                <a:tc>
                  <a:txBody>
                    <a:bodyPr>
                      <a:noAutofit/>
                    </a:bodyPr>
                    <a:lstStyle/>
                    <a:p>
                      <a:r>
                        <a:rPr sz="1800" b="1">
                          <a:solidFill>
                            <a:srgbClr val="FFFFFF"/>
                          </a:solidFill>
                          <a:latin typeface="Arial"/>
                          <a:ea typeface="Arial"/>
                          <a:cs typeface="Arial"/>
                        </a:rPr>
                        <a:t>Component</a:t>
                      </a:r>
                    </a:p>
                  </a:txBody>
                  <a:tcPr marL="152400" marR="152400" marT="95250" marB="95250" anchor="ctr">
                    <a:solidFill>
                      <a:srgbClr val="173449"/>
                    </a:solidFill>
                  </a:tcPr>
                </a:tc>
                <a:tc>
                  <a:txBody>
                    <a:bodyPr>
                      <a:noAutofit/>
                    </a:bodyPr>
                    <a:lstStyle/>
                    <a:p>
                      <a:r>
                        <a:rPr sz="1800" b="1">
                          <a:solidFill>
                            <a:srgbClr val="FFFFFF"/>
                          </a:solidFill>
                          <a:latin typeface="Arial"/>
                          <a:ea typeface="Arial"/>
                          <a:cs typeface="Arial"/>
                        </a:rPr>
                        <a:t>Role</a:t>
                      </a:r>
                    </a:p>
                  </a:txBody>
                  <a:tcPr marL="152400" marR="152400" marT="95250" marB="95250" anchor="ctr">
                    <a:solidFill>
                      <a:srgbClr val="173449"/>
                    </a:solidFill>
                  </a:tcPr>
                </a:tc>
                <a:tc>
                  <a:txBody>
                    <a:bodyPr>
                      <a:noAutofit/>
                    </a:bodyPr>
                    <a:lstStyle/>
                    <a:p>
                      <a:r>
                        <a:rPr sz="1800" b="1">
                          <a:solidFill>
                            <a:srgbClr val="FFFFFF"/>
                          </a:solidFill>
                          <a:latin typeface="Arial"/>
                          <a:ea typeface="Arial"/>
                          <a:cs typeface="Arial"/>
                        </a:rPr>
                        <a:t>Example</a:t>
                      </a:r>
                    </a:p>
                  </a:txBody>
                  <a:tcPr marL="152400" marR="152400" marT="95250" marB="95250" anchor="ctr">
                    <a:solidFill>
                      <a:srgbClr val="173449"/>
                    </a:solidFill>
                  </a:tcPr>
                </a:tc>
              </a:tr>
              <a:tr h="736600">
                <a:tc>
                  <a:txBody>
                    <a:bodyPr>
                      <a:noAutofit/>
                    </a:bodyPr>
                    <a:lstStyle/>
                    <a:p>
                      <a:r>
                        <a:rPr sz="1875" b="0">
                          <a:solidFill>
                            <a:srgbClr val="263746"/>
                          </a:solidFill>
                          <a:latin typeface="Arial"/>
                          <a:ea typeface="Arial"/>
                          <a:cs typeface="Arial"/>
                        </a:rPr>
                        <a:t>Entities</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Things in the domain</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Ali, Sara, Car1</a:t>
                      </a:r>
                    </a:p>
                  </a:txBody>
                  <a:tcPr marL="152400" marR="152400" marT="95250" marB="95250" anchor="ctr">
                    <a:solidFill>
                      <a:srgbClr val="FFFFFF"/>
                    </a:solidFill>
                  </a:tcPr>
                </a:tc>
              </a:tr>
              <a:tr h="736600">
                <a:tc>
                  <a:txBody>
                    <a:bodyPr>
                      <a:noAutofit/>
                    </a:bodyPr>
                    <a:lstStyle/>
                    <a:p>
                      <a:r>
                        <a:rPr sz="1875" b="0">
                          <a:solidFill>
                            <a:srgbClr val="263746"/>
                          </a:solidFill>
                          <a:latin typeface="Arial"/>
                          <a:ea typeface="Arial"/>
                          <a:cs typeface="Arial"/>
                        </a:rPr>
                        <a:t>Properties</a:t>
                      </a:r>
                    </a:p>
                  </a:txBody>
                  <a:tcPr marL="152400" marR="152400" marT="95250" marB="95250" anchor="ctr">
                    <a:solidFill>
                      <a:srgbClr val="EFF6F7"/>
                    </a:solidFill>
                  </a:tcPr>
                </a:tc>
                <a:tc>
                  <a:txBody>
                    <a:bodyPr>
                      <a:noAutofit/>
                    </a:bodyPr>
                    <a:lstStyle/>
                    <a:p>
                      <a:r>
                        <a:rPr sz="1875" b="0">
                          <a:solidFill>
                            <a:srgbClr val="263746"/>
                          </a:solidFill>
                          <a:latin typeface="Arial"/>
                          <a:ea typeface="Arial"/>
                          <a:cs typeface="Arial"/>
                        </a:rPr>
                        <a:t>Characteristics of entities</a:t>
                      </a:r>
                    </a:p>
                  </a:txBody>
                  <a:tcPr marL="152400" marR="152400" marT="95250" marB="95250" anchor="ctr">
                    <a:solidFill>
                      <a:srgbClr val="EFF6F7"/>
                    </a:solidFill>
                  </a:tcPr>
                </a:tc>
                <a:tc>
                  <a:txBody>
                    <a:bodyPr>
                      <a:noAutofit/>
                    </a:bodyPr>
                    <a:lstStyle/>
                    <a:p>
                      <a:r>
                        <a:rPr sz="1875" b="0">
                          <a:solidFill>
                            <a:srgbClr val="263746"/>
                          </a:solidFill>
                          <a:latin typeface="Arial"/>
                          <a:ea typeface="Arial"/>
                          <a:cs typeface="Arial"/>
                        </a:rPr>
                        <a:t>Red(Car1)</a:t>
                      </a:r>
                    </a:p>
                  </a:txBody>
                  <a:tcPr marL="152400" marR="152400" marT="95250" marB="95250" anchor="ctr">
                    <a:solidFill>
                      <a:srgbClr val="EFF6F7"/>
                    </a:solidFill>
                  </a:tcPr>
                </a:tc>
              </a:tr>
              <a:tr h="736600">
                <a:tc>
                  <a:txBody>
                    <a:bodyPr>
                      <a:noAutofit/>
                    </a:bodyPr>
                    <a:lstStyle/>
                    <a:p>
                      <a:r>
                        <a:rPr sz="1875" b="0">
                          <a:solidFill>
                            <a:srgbClr val="263746"/>
                          </a:solidFill>
                          <a:latin typeface="Arial"/>
                          <a:ea typeface="Arial"/>
                          <a:cs typeface="Arial"/>
                        </a:rPr>
                        <a:t>Relations</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Connections between entities</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Studies(Ali, ComputerScience)</a:t>
                      </a:r>
                    </a:p>
                  </a:txBody>
                  <a:tcPr marL="152400" marR="152400" marT="95250" marB="95250" anchor="ctr">
                    <a:solidFill>
                      <a:srgbClr val="FFFFFF"/>
                    </a:solidFill>
                  </a:tcPr>
                </a:tc>
              </a:tr>
              <a:tr h="736600">
                <a:tc>
                  <a:txBody>
                    <a:bodyPr>
                      <a:noAutofit/>
                    </a:bodyPr>
                    <a:lstStyle/>
                    <a:p>
                      <a:r>
                        <a:rPr sz="1875" b="0">
                          <a:solidFill>
                            <a:srgbClr val="263746"/>
                          </a:solidFill>
                          <a:latin typeface="Arial"/>
                          <a:ea typeface="Arial"/>
                          <a:cs typeface="Arial"/>
                        </a:rPr>
                        <a:t>Rules</a:t>
                      </a:r>
                    </a:p>
                  </a:txBody>
                  <a:tcPr marL="152400" marR="152400" marT="95250" marB="95250" anchor="ctr">
                    <a:solidFill>
                      <a:srgbClr val="EFF6F7"/>
                    </a:solidFill>
                  </a:tcPr>
                </a:tc>
                <a:tc>
                  <a:txBody>
                    <a:bodyPr>
                      <a:noAutofit/>
                    </a:bodyPr>
                    <a:lstStyle/>
                    <a:p>
                      <a:r>
                        <a:rPr sz="1875" b="0">
                          <a:solidFill>
                            <a:srgbClr val="263746"/>
                          </a:solidFill>
                          <a:latin typeface="Arial"/>
                          <a:ea typeface="Arial"/>
                          <a:cs typeface="Arial"/>
                        </a:rPr>
                        <a:t>Conditions for conclusions</a:t>
                      </a:r>
                    </a:p>
                  </a:txBody>
                  <a:tcPr marL="152400" marR="152400" marT="95250" marB="95250" anchor="ctr">
                    <a:solidFill>
                      <a:srgbClr val="EFF6F7"/>
                    </a:solidFill>
                  </a:tcPr>
                </a:tc>
                <a:tc>
                  <a:txBody>
                    <a:bodyPr>
                      <a:noAutofit/>
                    </a:bodyPr>
                    <a:lstStyle/>
                    <a:p>
                      <a:r>
                        <a:rPr sz="1875" b="0">
                          <a:solidFill>
                            <a:srgbClr val="263746"/>
                          </a:solidFill>
                          <a:latin typeface="Arial"/>
                          <a:ea typeface="Arial"/>
                          <a:cs typeface="Arial"/>
                        </a:rPr>
                        <a:t>Student(x) → HasID(x)</a:t>
                      </a:r>
                    </a:p>
                  </a:txBody>
                  <a:tcPr marL="152400" marR="152400" marT="95250" marB="95250" anchor="ctr">
                    <a:solidFill>
                      <a:srgbClr val="EFF6F7"/>
                    </a:solidFill>
                  </a:tcPr>
                </a:tc>
              </a:tr>
              <a:tr h="736600">
                <a:tc>
                  <a:txBody>
                    <a:bodyPr>
                      <a:noAutofit/>
                    </a:bodyPr>
                    <a:lstStyle/>
                    <a:p>
                      <a:r>
                        <a:rPr sz="1875" b="0">
                          <a:solidFill>
                            <a:srgbClr val="263746"/>
                          </a:solidFill>
                          <a:latin typeface="Arial"/>
                          <a:ea typeface="Arial"/>
                          <a:cs typeface="Arial"/>
                        </a:rPr>
                        <a:t>Categories</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Membership and generalization</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Student(x) → Person(x)</a:t>
                      </a:r>
                    </a:p>
                  </a:txBody>
                  <a:tcPr marL="152400" marR="152400" marT="95250" marB="95250" anchor="ctr">
                    <a:solidFill>
                      <a:srgbClr val="FFFFFF"/>
                    </a:solidFill>
                  </a:tcPr>
                </a:tc>
              </a:tr>
            </a:tbl>
          </a:graphicData>
        </a:graphic>
      </p:graphicFrame>
    </p:spTree>
    <p:extLst>
      <p:ext uri="{BB962C8B-B14F-4D97-AF65-F5344CB8AC3E}">
        <p14:creationId xmlns:p14="http://schemas.microsoft.com/office/powerpoint/2010/main" val="15221165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5820DB4A-C506-4F4B-B832-9A79599B3C9A}"/>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Logic and Production Rules</a:t>
            </a:r>
          </a:p>
        </p:txBody>
      </p:sp>
      <p:sp>
        <p:nvSpPr>
          <p:cNvPr id="2" name="slide-number">
            <a:extLst xmlns:a="http://schemas.openxmlformats.org/drawingml/2006/main">
              <a:ext uri="{FF2B5EF4-FFF2-40B4-BE49-F238E27FC236}">
                <a16:creationId xmlns:a16="http://schemas.microsoft.com/office/drawing/2014/main" id="{C6EE44BE-D5E0-4ED2-B3B4-06444C9ED431}"/>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11</a:t>
            </a:r>
          </a:p>
        </p:txBody>
      </p:sp>
      <p:sp>
        <p:nvSpPr>
          <p:cNvPr id="3" name="text">
            <a:extLst xmlns:a="http://schemas.openxmlformats.org/drawingml/2006/main">
              <a:ext uri="{FF2B5EF4-FFF2-40B4-BE49-F238E27FC236}">
                <a16:creationId xmlns:a16="http://schemas.microsoft.com/office/drawing/2014/main" id="{2AF59C42-E852-4143-A5C7-1D71DAE5EF66}"/>
              </a:ext>
            </a:extLst>
          </p:cNvPr>
          <p:cNvSpPr>
            <a:spLocks xmlns:a="http://schemas.openxmlformats.org/drawingml/2006/main" noGrp="1"/>
          </p:cNvSpPr>
          <p:nvPr/>
        </p:nvSpPr>
        <p:spPr>
          <a:xfrm xmlns:a="http://schemas.openxmlformats.org/drawingml/2006/main">
            <a:off x="609600" y="164782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Logic</a:t>
            </a:r>
          </a:p>
        </p:txBody>
      </p:sp>
      <p:sp>
        <p:nvSpPr>
          <p:cNvPr id="4" name="text">
            <a:extLst xmlns:a="http://schemas.openxmlformats.org/drawingml/2006/main">
              <a:ext uri="{FF2B5EF4-FFF2-40B4-BE49-F238E27FC236}">
                <a16:creationId xmlns:a16="http://schemas.microsoft.com/office/drawing/2014/main" id="{A2ABA071-D2F4-4396-96C4-0AE5B316A132}"/>
              </a:ext>
            </a:extLst>
          </p:cNvPr>
          <p:cNvSpPr>
            <a:spLocks xmlns:a="http://schemas.openxmlformats.org/drawingml/2006/main" noGrp="1"/>
          </p:cNvSpPr>
          <p:nvPr/>
        </p:nvSpPr>
        <p:spPr>
          <a:xfrm xmlns:a="http://schemas.openxmlformats.org/drawingml/2006/main">
            <a:off x="609600" y="2057400"/>
            <a:ext cx="5048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263746"/>
                </a:solidFill>
                <a:latin typeface="Arial"/>
                <a:ea typeface="Arial"/>
                <a:cs typeface="Arial"/>
              </a:defRPr>
            </a:pPr>
            <a:r>
              <a:rPr sz="2175" b="0">
                <a:solidFill>
                  <a:srgbClr val="263746"/>
                </a:solidFill>
                <a:latin typeface="Arial"/>
                <a:ea typeface="Arial"/>
                <a:cs typeface="Arial"/>
              </a:rPr>
              <a:t>Represents facts and relationships using logical statements.</a:t>
            </a:r>
          </a:p>
        </p:txBody>
      </p:sp>
      <p:sp>
        <p:nvSpPr>
          <p:cNvPr id="5" name="text">
            <a:extLst xmlns:a="http://schemas.openxmlformats.org/drawingml/2006/main">
              <a:ext uri="{FF2B5EF4-FFF2-40B4-BE49-F238E27FC236}">
                <a16:creationId xmlns:a16="http://schemas.microsoft.com/office/drawing/2014/main" id="{8C630B3C-B5F0-4FFC-8185-E3EFF85BDC03}"/>
              </a:ext>
            </a:extLst>
          </p:cNvPr>
          <p:cNvSpPr>
            <a:spLocks xmlns:a="http://schemas.openxmlformats.org/drawingml/2006/main" noGrp="1"/>
          </p:cNvSpPr>
          <p:nvPr/>
        </p:nvSpPr>
        <p:spPr>
          <a:xfrm xmlns:a="http://schemas.openxmlformats.org/drawingml/2006/main">
            <a:off x="609600" y="3324225"/>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173449"/>
                </a:solidFill>
                <a:latin typeface="Arial"/>
                <a:ea typeface="Arial"/>
                <a:cs typeface="Arial"/>
              </a:defRPr>
            </a:pPr>
            <a:r>
              <a:rPr sz="2400" b="1">
                <a:solidFill>
                  <a:srgbClr val="173449"/>
                </a:solidFill>
                <a:latin typeface="Arial"/>
                <a:ea typeface="Arial"/>
                <a:cs typeface="Arial"/>
              </a:rPr>
              <a:t>Human(x) → Mortal(x)</a:t>
            </a:r>
          </a:p>
        </p:txBody>
      </p:sp>
      <p:sp>
        <p:nvSpPr>
          <p:cNvPr id="6" name="text">
            <a:extLst xmlns:a="http://schemas.openxmlformats.org/drawingml/2006/main">
              <a:ext uri="{FF2B5EF4-FFF2-40B4-BE49-F238E27FC236}">
                <a16:creationId xmlns:a16="http://schemas.microsoft.com/office/drawing/2014/main" id="{908937DE-79E7-4904-ABE7-CE7FFCAE0400}"/>
              </a:ext>
            </a:extLst>
          </p:cNvPr>
          <p:cNvSpPr>
            <a:spLocks xmlns:a="http://schemas.openxmlformats.org/drawingml/2006/main" noGrp="1"/>
          </p:cNvSpPr>
          <p:nvPr/>
        </p:nvSpPr>
        <p:spPr>
          <a:xfrm xmlns:a="http://schemas.openxmlformats.org/drawingml/2006/main">
            <a:off x="609600" y="40862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263746"/>
                </a:solidFill>
                <a:latin typeface="Arial"/>
                <a:ea typeface="Arial"/>
                <a:cs typeface="Arial"/>
              </a:defRPr>
            </a:pPr>
            <a:r>
              <a:rPr sz="2175" b="0">
                <a:solidFill>
                  <a:srgbClr val="263746"/>
                </a:solidFill>
                <a:latin typeface="Arial"/>
                <a:ea typeface="Arial"/>
                <a:cs typeface="Arial"/>
              </a:rPr>
              <a:t>If something is human, it is mortal.</a:t>
            </a:r>
          </a:p>
        </p:txBody>
      </p:sp>
      <p:sp>
        <p:nvSpPr>
          <p:cNvPr id="7" name="text">
            <a:extLst xmlns:a="http://schemas.openxmlformats.org/drawingml/2006/main">
              <a:ext uri="{FF2B5EF4-FFF2-40B4-BE49-F238E27FC236}">
                <a16:creationId xmlns:a16="http://schemas.microsoft.com/office/drawing/2014/main" id="{A45E9257-11AD-44D4-A3C2-D96031DF4E7E}"/>
              </a:ext>
            </a:extLst>
          </p:cNvPr>
          <p:cNvSpPr>
            <a:spLocks xmlns:a="http://schemas.openxmlformats.org/drawingml/2006/main" noGrp="1"/>
          </p:cNvSpPr>
          <p:nvPr/>
        </p:nvSpPr>
        <p:spPr>
          <a:xfrm xmlns:a="http://schemas.openxmlformats.org/drawingml/2006/main">
            <a:off x="6400800" y="1647825"/>
            <a:ext cx="5181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Production rules</a:t>
            </a:r>
          </a:p>
        </p:txBody>
      </p:sp>
      <p:sp>
        <p:nvSpPr>
          <p:cNvPr id="8" name="text">
            <a:extLst xmlns:a="http://schemas.openxmlformats.org/drawingml/2006/main">
              <a:ext uri="{FF2B5EF4-FFF2-40B4-BE49-F238E27FC236}">
                <a16:creationId xmlns:a16="http://schemas.microsoft.com/office/drawing/2014/main" id="{627B20F3-356D-44A1-AE5E-166749A8BA76}"/>
              </a:ext>
            </a:extLst>
          </p:cNvPr>
          <p:cNvSpPr>
            <a:spLocks xmlns:a="http://schemas.openxmlformats.org/drawingml/2006/main" noGrp="1"/>
          </p:cNvSpPr>
          <p:nvPr/>
        </p:nvSpPr>
        <p:spPr>
          <a:xfrm xmlns:a="http://schemas.openxmlformats.org/drawingml/2006/main">
            <a:off x="6400800" y="2057400"/>
            <a:ext cx="5181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263746"/>
                </a:solidFill>
                <a:latin typeface="Arial"/>
                <a:ea typeface="Arial"/>
                <a:cs typeface="Arial"/>
              </a:defRPr>
            </a:pPr>
            <a:r>
              <a:rPr sz="2175" b="0">
                <a:solidFill>
                  <a:srgbClr val="263746"/>
                </a:solidFill>
                <a:latin typeface="Arial"/>
                <a:ea typeface="Arial"/>
                <a:cs typeface="Arial"/>
              </a:rPr>
              <a:t>Expresses what to do when a condition holds.</a:t>
            </a:r>
          </a:p>
        </p:txBody>
      </p:sp>
      <p:sp>
        <p:nvSpPr>
          <p:cNvPr id="9" name="text">
            <a:extLst xmlns:a="http://schemas.openxmlformats.org/drawingml/2006/main">
              <a:ext uri="{FF2B5EF4-FFF2-40B4-BE49-F238E27FC236}">
                <a16:creationId xmlns:a16="http://schemas.microsoft.com/office/drawing/2014/main" id="{3FECEF39-D931-4EB8-9370-FB8EA4C16F8D}"/>
              </a:ext>
            </a:extLst>
          </p:cNvPr>
          <p:cNvSpPr>
            <a:spLocks xmlns:a="http://schemas.openxmlformats.org/drawingml/2006/main" noGrp="1"/>
          </p:cNvSpPr>
          <p:nvPr/>
        </p:nvSpPr>
        <p:spPr>
          <a:xfrm xmlns:a="http://schemas.openxmlformats.org/drawingml/2006/main">
            <a:off x="6400800" y="3324225"/>
            <a:ext cx="5181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173449"/>
                </a:solidFill>
                <a:latin typeface="Arial"/>
                <a:ea typeface="Arial"/>
                <a:cs typeface="Arial"/>
              </a:defRPr>
            </a:pPr>
            <a:r>
              <a:rPr sz="2400" b="1">
                <a:solidFill>
                  <a:srgbClr val="173449"/>
                </a:solidFill>
                <a:latin typeface="Arial"/>
                <a:ea typeface="Arial"/>
                <a:cs typeface="Arial"/>
              </a:rPr>
              <a:t>IF temperature &gt; 30°C</a:t>
            </a:r>
          </a:p>
          <a:p xmlns:a="http://schemas.openxmlformats.org/drawingml/2006/main">
            <a:pPr>
              <a:buNone/>
              <a:defRPr sz="2400" b="1">
                <a:solidFill>
                  <a:srgbClr val="173449"/>
                </a:solidFill>
                <a:latin typeface="Arial"/>
                <a:ea typeface="Arial"/>
                <a:cs typeface="Arial"/>
              </a:defRPr>
            </a:pPr>
            <a:r>
              <a:rPr sz="2400" b="1">
                <a:solidFill>
                  <a:srgbClr val="173449"/>
                </a:solidFill>
                <a:latin typeface="Arial"/>
                <a:ea typeface="Arial"/>
                <a:cs typeface="Arial"/>
              </a:rPr>
              <a:t>THEN turn on cooling</a:t>
            </a:r>
          </a:p>
        </p:txBody>
      </p:sp>
      <p:sp>
        <p:nvSpPr>
          <p:cNvPr id="10" name="text">
            <a:extLst xmlns:a="http://schemas.openxmlformats.org/drawingml/2006/main">
              <a:ext uri="{FF2B5EF4-FFF2-40B4-BE49-F238E27FC236}">
                <a16:creationId xmlns:a16="http://schemas.microsoft.com/office/drawing/2014/main" id="{F7C696EE-3EE7-439C-BA45-CB9A925B81D0}"/>
              </a:ext>
            </a:extLst>
          </p:cNvPr>
          <p:cNvSpPr>
            <a:spLocks xmlns:a="http://schemas.openxmlformats.org/drawingml/2006/main" noGrp="1"/>
          </p:cNvSpPr>
          <p:nvPr/>
        </p:nvSpPr>
        <p:spPr>
          <a:xfrm xmlns:a="http://schemas.openxmlformats.org/drawingml/2006/main">
            <a:off x="609600" y="5857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66570"/>
                </a:solidFill>
                <a:latin typeface="Arial"/>
                <a:ea typeface="Arial"/>
                <a:cs typeface="Arial"/>
              </a:defRPr>
            </a:pPr>
            <a:r>
              <a:rPr sz="1800" b="0">
                <a:solidFill>
                  <a:srgbClr val="566570"/>
                </a:solidFill>
                <a:latin typeface="Arial"/>
                <a:ea typeface="Arial"/>
                <a:cs typeface="Arial"/>
              </a:rPr>
              <a:t>Both approaches make a condition and its consequence explicit.</a:t>
            </a:r>
          </a:p>
        </p:txBody>
      </p:sp>
    </p:spTree>
    <p:extLst>
      <p:ext uri="{BB962C8B-B14F-4D97-AF65-F5344CB8AC3E}">
        <p14:creationId xmlns:p14="http://schemas.microsoft.com/office/powerpoint/2010/main" val="15749489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6B983FD8-263B-4416-8773-18D41372D795}"/>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Frames, Inheritance and Ontologies</a:t>
            </a:r>
          </a:p>
        </p:txBody>
      </p:sp>
      <p:sp>
        <p:nvSpPr>
          <p:cNvPr id="2" name="slide-number">
            <a:extLst xmlns:a="http://schemas.openxmlformats.org/drawingml/2006/main">
              <a:ext uri="{FF2B5EF4-FFF2-40B4-BE49-F238E27FC236}">
                <a16:creationId xmlns:a16="http://schemas.microsoft.com/office/drawing/2014/main" id="{2F2A067E-714A-4C6B-9103-5337612AE668}"/>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12</a:t>
            </a:r>
          </a:p>
        </p:txBody>
      </p:sp>
      <p:sp>
        <p:nvSpPr>
          <p:cNvPr id="6" name="visual-caption">
            <a:extLst xmlns:a="http://schemas.openxmlformats.org/drawingml/2006/main">
              <a:ext uri="{FF2B5EF4-FFF2-40B4-BE49-F238E27FC236}">
                <a16:creationId xmlns:a16="http://schemas.microsoft.com/office/drawing/2014/main" id="{FC90BE09-58CF-49C8-8452-0D9874819D6C}"/>
              </a:ext>
            </a:extLst>
          </p:cNvPr>
          <p:cNvSpPr>
            <a:spLocks xmlns:a="http://schemas.openxmlformats.org/drawingml/2006/main" noGrp="1"/>
          </p:cNvSpPr>
          <p:nvPr/>
        </p:nvSpPr>
        <p:spPr>
          <a:xfrm xmlns:a="http://schemas.openxmlformats.org/drawingml/2006/main">
            <a:off x="609600" y="15049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00" b="1">
                <a:solidFill>
                  <a:srgbClr val="173449"/>
                </a:solidFill>
                <a:latin typeface="Arial"/>
                <a:ea typeface="Arial"/>
                <a:cs typeface="Arial"/>
              </a:defRPr>
            </a:pPr>
            <a:r>
              <a:rPr sz="2100" b="1">
                <a:solidFill>
                  <a:srgbClr val="173449"/>
                </a:solidFill>
                <a:latin typeface="Arial"/>
                <a:ea typeface="Arial"/>
                <a:cs typeface="Arial"/>
              </a:rPr>
              <a:t>FRAME</a:t>
            </a:r>
          </a:p>
        </p:txBody>
      </p:sp>
      <p:graphicFrame>
        <p:nvGraphicFramePr>
          <p:cNvPr id="17" name=""/>
          <p:cNvGraphicFramePr/>
          <p:nvPr/>
        </p:nvGraphicFramePr>
        <p:xfrm>
          <a:off xmlns:a="http://schemas.openxmlformats.org/drawingml/2006/main" x="609600" y="2105025"/>
          <a:ext xmlns:a="http://schemas.openxmlformats.org/drawingml/2006/main" cx="2952750" cy="3143250"/>
        </p:xfrm>
        <a:graphic xmlns:a="http://schemas.openxmlformats.org/drawingml/2006/main">
          <a:graphicData uri="http://schemas.openxmlformats.org/drawingml/2006/table">
            <a:tbl>
              <a:tblPr/>
              <a:tblGrid>
                <a:gridCol w="2952750"/>
              </a:tblGrid>
              <a:tr h="523875">
                <a:tc>
                  <a:txBody>
                    <a:bodyPr/>
                    <a:lstStyle/>
                    <a:p>
                      <a:r>
                        <a:rPr sz="1875" b="1">
                          <a:solidFill>
                            <a:srgbClr val="FFFFFF"/>
                          </a:solidFill>
                          <a:latin typeface="Arial"/>
                          <a:ea typeface="Arial"/>
                          <a:cs typeface="Arial"/>
                        </a:rPr>
                        <a:t>Student</a:t>
                      </a:r>
                    </a:p>
                  </a:txBody>
                  <a:tcPr marL="133350" marR="133350" marT="76200" marB="76200" anchor="ctr">
                    <a:solidFill>
                      <a:srgbClr val="173449"/>
                    </a:solidFill>
                  </a:tcPr>
                </a:tc>
              </a:tr>
              <a:tr h="523875">
                <a:tc>
                  <a:txBody>
                    <a:bodyPr/>
                    <a:lstStyle/>
                    <a:p>
                      <a:r>
                        <a:rPr sz="1875" b="0">
                          <a:solidFill>
                            <a:srgbClr val="263746"/>
                          </a:solidFill>
                          <a:latin typeface="Arial"/>
                          <a:ea typeface="Arial"/>
                          <a:cs typeface="Arial"/>
                        </a:rPr>
                        <a:t>Name</a:t>
                      </a:r>
                    </a:p>
                  </a:txBody>
                  <a:tcPr marL="133350" marR="133350" marT="76200" marB="76200" anchor="ctr">
                    <a:solidFill>
                      <a:srgbClr val="FFFFFF"/>
                    </a:solidFill>
                  </a:tcPr>
                </a:tc>
              </a:tr>
              <a:tr h="523875">
                <a:tc>
                  <a:txBody>
                    <a:bodyPr/>
                    <a:lstStyle/>
                    <a:p>
                      <a:r>
                        <a:rPr sz="1875" b="0">
                          <a:solidFill>
                            <a:srgbClr val="263746"/>
                          </a:solidFill>
                          <a:latin typeface="Arial"/>
                          <a:ea typeface="Arial"/>
                          <a:cs typeface="Arial"/>
                        </a:rPr>
                        <a:t>Age</a:t>
                      </a:r>
                    </a:p>
                  </a:txBody>
                  <a:tcPr marL="133350" marR="133350" marT="76200" marB="76200" anchor="ctr">
                    <a:solidFill>
                      <a:srgbClr val="EFF6F7"/>
                    </a:solidFill>
                  </a:tcPr>
                </a:tc>
              </a:tr>
              <a:tr h="523875">
                <a:tc>
                  <a:txBody>
                    <a:bodyPr/>
                    <a:lstStyle/>
                    <a:p>
                      <a:r>
                        <a:rPr sz="1875" b="0">
                          <a:solidFill>
                            <a:srgbClr val="263746"/>
                          </a:solidFill>
                          <a:latin typeface="Arial"/>
                          <a:ea typeface="Arial"/>
                          <a:cs typeface="Arial"/>
                        </a:rPr>
                        <a:t>Department</a:t>
                      </a:r>
                    </a:p>
                  </a:txBody>
                  <a:tcPr marL="133350" marR="133350" marT="76200" marB="76200" anchor="ctr">
                    <a:solidFill>
                      <a:srgbClr val="FFFFFF"/>
                    </a:solidFill>
                  </a:tcPr>
                </a:tc>
              </a:tr>
              <a:tr h="523875">
                <a:tc>
                  <a:txBody>
                    <a:bodyPr/>
                    <a:lstStyle/>
                    <a:p>
                      <a:r>
                        <a:rPr sz="1875" b="0">
                          <a:solidFill>
                            <a:srgbClr val="263746"/>
                          </a:solidFill>
                          <a:latin typeface="Arial"/>
                          <a:ea typeface="Arial"/>
                          <a:cs typeface="Arial"/>
                        </a:rPr>
                        <a:t>Courses</a:t>
                      </a:r>
                    </a:p>
                  </a:txBody>
                  <a:tcPr marL="133350" marR="133350" marT="76200" marB="76200" anchor="ctr">
                    <a:solidFill>
                      <a:srgbClr val="EFF6F7"/>
                    </a:solidFill>
                  </a:tcPr>
                </a:tc>
              </a:tr>
              <a:tr h="523875">
                <a:tc>
                  <a:txBody>
                    <a:bodyPr/>
                    <a:lstStyle/>
                    <a:p>
                      <a:r>
                        <a:rPr sz="1875" b="0">
                          <a:solidFill>
                            <a:srgbClr val="263746"/>
                          </a:solidFill>
                          <a:latin typeface="Arial"/>
                          <a:ea typeface="Arial"/>
                          <a:cs typeface="Arial"/>
                        </a:rPr>
                        <a:t>RegistrationNo</a:t>
                      </a:r>
                    </a:p>
                  </a:txBody>
                  <a:tcPr marL="133350" marR="133350" marT="76200" marB="76200" anchor="ctr">
                    <a:solidFill>
                      <a:srgbClr val="FFFFFF"/>
                    </a:solidFill>
                  </a:tcPr>
                </a:tc>
              </a:tr>
            </a:tbl>
          </a:graphicData>
        </a:graphic>
      </p:graphicFrame>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a83209dd37944d0"/>
          <a:stretch xmlns:a="http://schemas.openxmlformats.org/drawingml/2006/main"/>
        </p:blipFill>
        <p:spPr>
          <a:xfrm xmlns:a="http://schemas.openxmlformats.org/drawingml/2006/main">
            <a:off x="4086083" y="1362075"/>
            <a:ext cx="7458360" cy="4152900"/>
          </a:xfrm>
          <a:prstGeom xmlns:a="http://schemas.openxmlformats.org/drawingml/2006/main" prst="rect">
            <a:avLst/>
          </a:prstGeom>
        </p:spPr>
      </p:pic>
      <p:sp>
        <p:nvSpPr>
          <p:cNvPr id="9" name="visual-caption">
            <a:extLst xmlns:a="http://schemas.openxmlformats.org/drawingml/2006/main">
              <a:ext uri="{FF2B5EF4-FFF2-40B4-BE49-F238E27FC236}">
                <a16:creationId xmlns:a16="http://schemas.microsoft.com/office/drawing/2014/main" id="{D567DC60-A393-401A-B0C3-3342AAF43248}"/>
              </a:ext>
            </a:extLst>
          </p:cNvPr>
          <p:cNvSpPr>
            <a:spLocks xmlns:a="http://schemas.openxmlformats.org/drawingml/2006/main" noGrp="1"/>
          </p:cNvSpPr>
          <p:nvPr/>
        </p:nvSpPr>
        <p:spPr>
          <a:xfrm xmlns:a="http://schemas.openxmlformats.org/drawingml/2006/main">
            <a:off x="609600" y="5705475"/>
            <a:ext cx="295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0">
                <a:solidFill>
                  <a:srgbClr val="566570"/>
                </a:solidFill>
                <a:latin typeface="Arial"/>
                <a:ea typeface="Arial"/>
                <a:cs typeface="Arial"/>
              </a:defRPr>
            </a:pPr>
            <a:r>
              <a:rPr sz="1875" b="0">
                <a:solidFill>
                  <a:srgbClr val="566570"/>
                </a:solidFill>
                <a:latin typeface="Arial"/>
                <a:ea typeface="Arial"/>
                <a:cs typeface="Arial"/>
              </a:rPr>
              <a:t>Attributes of an object</a:t>
            </a:r>
          </a:p>
        </p:txBody>
      </p:sp>
      <p:sp>
        <p:nvSpPr>
          <p:cNvPr id="10" name="visual-caption">
            <a:extLst xmlns:a="http://schemas.openxmlformats.org/drawingml/2006/main">
              <a:ext uri="{FF2B5EF4-FFF2-40B4-BE49-F238E27FC236}">
                <a16:creationId xmlns:a16="http://schemas.microsoft.com/office/drawing/2014/main" id="{F31EBB3A-89D1-4C3D-84CA-37434DD4453E}"/>
              </a:ext>
            </a:extLst>
          </p:cNvPr>
          <p:cNvSpPr>
            <a:spLocks xmlns:a="http://schemas.openxmlformats.org/drawingml/2006/main" noGrp="1"/>
          </p:cNvSpPr>
          <p:nvPr/>
        </p:nvSpPr>
        <p:spPr>
          <a:xfrm xmlns:a="http://schemas.openxmlformats.org/drawingml/2006/main">
            <a:off x="4000500" y="5705475"/>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0">
                <a:solidFill>
                  <a:srgbClr val="566570"/>
                </a:solidFill>
                <a:latin typeface="Arial"/>
                <a:ea typeface="Arial"/>
                <a:cs typeface="Arial"/>
              </a:defRPr>
            </a:pPr>
            <a:r>
              <a:rPr sz="1875" b="0">
                <a:solidFill>
                  <a:srgbClr val="566570"/>
                </a:solidFill>
                <a:latin typeface="Arial"/>
                <a:ea typeface="Arial"/>
                <a:cs typeface="Arial"/>
              </a:rPr>
              <a:t>Category relationships</a:t>
            </a:r>
          </a:p>
        </p:txBody>
      </p:sp>
      <p:sp>
        <p:nvSpPr>
          <p:cNvPr id="11" name="visual-caption">
            <a:extLst xmlns:a="http://schemas.openxmlformats.org/drawingml/2006/main">
              <a:ext uri="{FF2B5EF4-FFF2-40B4-BE49-F238E27FC236}">
                <a16:creationId xmlns:a16="http://schemas.microsoft.com/office/drawing/2014/main" id="{24CF0FDC-7907-47F2-99D2-0EBA86FB937A}"/>
              </a:ext>
            </a:extLst>
          </p:cNvPr>
          <p:cNvSpPr>
            <a:spLocks xmlns:a="http://schemas.openxmlformats.org/drawingml/2006/main" noGrp="1"/>
          </p:cNvSpPr>
          <p:nvPr/>
        </p:nvSpPr>
        <p:spPr>
          <a:xfrm xmlns:a="http://schemas.openxmlformats.org/drawingml/2006/main">
            <a:off x="7991475" y="5619750"/>
            <a:ext cx="3543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0">
                <a:solidFill>
                  <a:srgbClr val="566570"/>
                </a:solidFill>
                <a:latin typeface="Arial"/>
                <a:ea typeface="Arial"/>
                <a:cs typeface="Arial"/>
              </a:defRPr>
            </a:pPr>
            <a:r>
              <a:rPr sz="1875" b="0">
                <a:solidFill>
                  <a:srgbClr val="566570"/>
                </a:solidFill>
                <a:latin typeface="Arial"/>
                <a:ea typeface="Arial"/>
                <a:cs typeface="Arial"/>
              </a:rPr>
              <a:t>Domain concepts</a:t>
            </a:r>
          </a:p>
          <a:p xmlns:a="http://schemas.openxmlformats.org/drawingml/2006/main">
            <a:pPr algn="ctr">
              <a:buNone/>
              <a:defRPr sz="1875" b="0">
                <a:solidFill>
                  <a:srgbClr val="566570"/>
                </a:solidFill>
                <a:latin typeface="Arial"/>
                <a:ea typeface="Arial"/>
                <a:cs typeface="Arial"/>
              </a:defRPr>
            </a:pPr>
            <a:r>
              <a:rPr sz="1875" b="0">
                <a:solidFill>
                  <a:srgbClr val="566570"/>
                </a:solidFill>
                <a:latin typeface="Arial"/>
                <a:ea typeface="Arial"/>
                <a:cs typeface="Arial"/>
              </a:rPr>
              <a:t>and their relationships</a:t>
            </a:r>
          </a:p>
        </p:txBody>
      </p:sp>
    </p:spTree>
    <p:extLst>
      <p:ext uri="{BB962C8B-B14F-4D97-AF65-F5344CB8AC3E}">
        <p14:creationId xmlns:p14="http://schemas.microsoft.com/office/powerpoint/2010/main" val="138782685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F6EB18CA-68A4-46AE-987B-CB9C55EEAD8F}"/>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Representation: Storage and Questions</a:t>
            </a:r>
          </a:p>
        </p:txBody>
      </p:sp>
      <p:sp>
        <p:nvSpPr>
          <p:cNvPr id="2" name="slide-number">
            <a:extLst xmlns:a="http://schemas.openxmlformats.org/drawingml/2006/main">
              <a:ext uri="{FF2B5EF4-FFF2-40B4-BE49-F238E27FC236}">
                <a16:creationId xmlns:a16="http://schemas.microsoft.com/office/drawing/2014/main" id="{50E9DA76-A8E3-4904-BC16-D023085562C6}"/>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a:solidFill>
                  <a:srgbClr val="566570"/>
                </a:solidFill>
                <a:latin typeface="Arial"/>
                <a:ea typeface="Arial"/>
                <a:cs typeface="Arial"/>
              </a:defRPr>
            </a:pPr>
            <a:r>
              <a:rPr sz="1350">
                <a:solidFill>
                  <a:srgbClr val="566570"/>
                </a:solidFill>
                <a:latin typeface="Arial"/>
                <a:ea typeface="Arial"/>
                <a:cs typeface="Arial"/>
              </a:rPr>
              <a:t>13</a:t>
            </a:r>
          </a:p>
        </p:txBody>
      </p:sp>
      <p:sp>
        <p:nvSpPr>
          <p:cNvPr id="3" name="assessment-text">
            <a:extLst xmlns:a="http://schemas.openxmlformats.org/drawingml/2006/main">
              <a:ext uri="{FF2B5EF4-FFF2-40B4-BE49-F238E27FC236}">
                <a16:creationId xmlns:a16="http://schemas.microsoft.com/office/drawing/2014/main" id="{4C827F75-9845-4928-8861-874B5EE2F416}"/>
              </a:ext>
            </a:extLst>
          </p:cNvPr>
          <p:cNvSpPr>
            <a:spLocks xmlns:a="http://schemas.openxmlformats.org/drawingml/2006/main" noGrp="1"/>
          </p:cNvSpPr>
          <p:nvPr/>
        </p:nvSpPr>
        <p:spPr>
          <a:xfrm xmlns:a="http://schemas.openxmlformats.org/drawingml/2006/main">
            <a:off x="609600" y="1543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1</a:t>
            </a:r>
          </a:p>
        </p:txBody>
      </p:sp>
      <p:sp>
        <p:nvSpPr>
          <p:cNvPr id="4" name="assessment-text">
            <a:extLst xmlns:a="http://schemas.openxmlformats.org/drawingml/2006/main">
              <a:ext uri="{FF2B5EF4-FFF2-40B4-BE49-F238E27FC236}">
                <a16:creationId xmlns:a16="http://schemas.microsoft.com/office/drawing/2014/main" id="{20A4CB27-6EC5-4FE8-A37C-55CD0D35300C}"/>
              </a:ext>
            </a:extLst>
          </p:cNvPr>
          <p:cNvSpPr>
            <a:spLocks xmlns:a="http://schemas.openxmlformats.org/drawingml/2006/main" noGrp="1"/>
          </p:cNvSpPr>
          <p:nvPr/>
        </p:nvSpPr>
        <p:spPr>
          <a:xfrm xmlns:a="http://schemas.openxmlformats.org/drawingml/2006/main">
            <a:off x="609600" y="19716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263746"/>
                </a:solidFill>
                <a:latin typeface="Arial"/>
                <a:ea typeface="Arial"/>
                <a:cs typeface="Arial"/>
              </a:defRPr>
            </a:pPr>
            <a:r>
              <a:rPr sz="2550">
                <a:solidFill>
                  <a:srgbClr val="263746"/>
                </a:solidFill>
                <a:latin typeface="Arial"/>
                <a:ea typeface="Arial"/>
                <a:cs typeface="Arial"/>
              </a:rPr>
              <a:t>Why can’t we simply store everything as raw data?</a:t>
            </a:r>
          </a:p>
        </p:txBody>
      </p:sp>
      <p:sp>
        <p:nvSpPr>
          <p:cNvPr id="5" name="assessment-text">
            <a:extLst xmlns:a="http://schemas.openxmlformats.org/drawingml/2006/main">
              <a:ext uri="{FF2B5EF4-FFF2-40B4-BE49-F238E27FC236}">
                <a16:creationId xmlns:a16="http://schemas.microsoft.com/office/drawing/2014/main" id="{05184191-4930-4365-B5C4-FAC46571E70D}"/>
              </a:ext>
            </a:extLst>
          </p:cNvPr>
          <p:cNvSpPr>
            <a:spLocks xmlns:a="http://schemas.openxmlformats.org/drawingml/2006/main" noGrp="1"/>
          </p:cNvSpPr>
          <p:nvPr/>
        </p:nvSpPr>
        <p:spPr>
          <a:xfrm xmlns:a="http://schemas.openxmlformats.org/drawingml/2006/main">
            <a:off x="609600" y="3438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2   Given this knowledge</a:t>
            </a:r>
          </a:p>
        </p:txBody>
      </p:sp>
      <p:sp>
        <p:nvSpPr>
          <p:cNvPr id="6" name="assessment-text">
            <a:extLst xmlns:a="http://schemas.openxmlformats.org/drawingml/2006/main">
              <a:ext uri="{FF2B5EF4-FFF2-40B4-BE49-F238E27FC236}">
                <a16:creationId xmlns:a16="http://schemas.microsoft.com/office/drawing/2014/main" id="{192CC5D0-EF6D-4081-B6AB-0FE32BA46799}"/>
              </a:ext>
            </a:extLst>
          </p:cNvPr>
          <p:cNvSpPr>
            <a:spLocks xmlns:a="http://schemas.openxmlformats.org/drawingml/2006/main" noGrp="1"/>
          </p:cNvSpPr>
          <p:nvPr/>
        </p:nvSpPr>
        <p:spPr>
          <a:xfrm xmlns:a="http://schemas.openxmlformats.org/drawingml/2006/main">
            <a:off x="609600" y="40290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3449"/>
                </a:solidFill>
                <a:latin typeface="Arial"/>
                <a:ea typeface="Arial"/>
                <a:cs typeface="Arial"/>
              </a:defRPr>
            </a:pPr>
            <a:r>
              <a:rPr sz="2550" b="1">
                <a:solidFill>
                  <a:srgbClr val="173449"/>
                </a:solidFill>
                <a:latin typeface="Arial"/>
                <a:ea typeface="Arial"/>
                <a:cs typeface="Arial"/>
              </a:rPr>
              <a:t>Studies(Ali, ComputerScience)</a:t>
            </a:r>
          </a:p>
        </p:txBody>
      </p:sp>
      <p:sp>
        <p:nvSpPr>
          <p:cNvPr id="7" name="assessment-text">
            <a:extLst xmlns:a="http://schemas.openxmlformats.org/drawingml/2006/main">
              <a:ext uri="{FF2B5EF4-FFF2-40B4-BE49-F238E27FC236}">
                <a16:creationId xmlns:a16="http://schemas.microsoft.com/office/drawing/2014/main" id="{3A5A7E2A-9C75-4F69-9BD7-4833B8613659}"/>
              </a:ext>
            </a:extLst>
          </p:cNvPr>
          <p:cNvSpPr>
            <a:spLocks xmlns:a="http://schemas.openxmlformats.org/drawingml/2006/main" noGrp="1"/>
          </p:cNvSpPr>
          <p:nvPr/>
        </p:nvSpPr>
        <p:spPr>
          <a:xfrm xmlns:a="http://schemas.openxmlformats.org/drawingml/2006/main">
            <a:off x="609600" y="52292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a:solidFill>
                  <a:srgbClr val="263746"/>
                </a:solidFill>
                <a:latin typeface="Arial"/>
                <a:ea typeface="Arial"/>
                <a:cs typeface="Arial"/>
              </a:defRPr>
            </a:pPr>
            <a:r>
              <a:rPr sz="2700">
                <a:solidFill>
                  <a:srgbClr val="263746"/>
                </a:solidFill>
                <a:latin typeface="Arial"/>
                <a:ea typeface="Arial"/>
                <a:cs typeface="Arial"/>
              </a:rPr>
              <a:t>What does Ali study?</a:t>
            </a:r>
          </a:p>
        </p:txBody>
      </p:sp>
    </p:spTree>
    <p:extLst>
      <p:ext uri="{BB962C8B-B14F-4D97-AF65-F5344CB8AC3E}">
        <p14:creationId xmlns:p14="http://schemas.microsoft.com/office/powerpoint/2010/main" val="16887389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817E4AB7-BCE6-4EF6-91F1-1829BBF6F06B}"/>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Why Representation Matters</a:t>
            </a:r>
          </a:p>
        </p:txBody>
      </p:sp>
      <p:sp>
        <p:nvSpPr>
          <p:cNvPr id="2" name="slide-number">
            <a:extLst xmlns:a="http://schemas.openxmlformats.org/drawingml/2006/main">
              <a:ext uri="{FF2B5EF4-FFF2-40B4-BE49-F238E27FC236}">
                <a16:creationId xmlns:a16="http://schemas.microsoft.com/office/drawing/2014/main" id="{9339B9AF-9592-4C63-8FD0-BCE7EC13EB4D}"/>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14</a:t>
            </a:r>
          </a:p>
        </p:txBody>
      </p:sp>
      <p:sp>
        <p:nvSpPr>
          <p:cNvPr id="3" name="text">
            <a:extLst xmlns:a="http://schemas.openxmlformats.org/drawingml/2006/main">
              <a:ext uri="{FF2B5EF4-FFF2-40B4-BE49-F238E27FC236}">
                <a16:creationId xmlns:a16="http://schemas.microsoft.com/office/drawing/2014/main" id="{46CAC9CF-86B0-4FCE-9ED0-6DA8503948CB}"/>
              </a:ext>
            </a:extLst>
          </p:cNvPr>
          <p:cNvSpPr>
            <a:spLocks xmlns:a="http://schemas.openxmlformats.org/drawingml/2006/main" noGrp="1"/>
          </p:cNvSpPr>
          <p:nvPr/>
        </p:nvSpPr>
        <p:spPr>
          <a:xfrm xmlns:a="http://schemas.openxmlformats.org/drawingml/2006/main">
            <a:off x="609600" y="14478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Organization</a:t>
            </a:r>
          </a:p>
        </p:txBody>
      </p:sp>
      <p:sp>
        <p:nvSpPr>
          <p:cNvPr id="4" name="text">
            <a:extLst xmlns:a="http://schemas.openxmlformats.org/drawingml/2006/main">
              <a:ext uri="{FF2B5EF4-FFF2-40B4-BE49-F238E27FC236}">
                <a16:creationId xmlns:a16="http://schemas.microsoft.com/office/drawing/2014/main" id="{E6343120-A834-46AD-8662-26BA5BB07E9C}"/>
              </a:ext>
            </a:extLst>
          </p:cNvPr>
          <p:cNvSpPr>
            <a:spLocks xmlns:a="http://schemas.openxmlformats.org/drawingml/2006/main" noGrp="1"/>
          </p:cNvSpPr>
          <p:nvPr/>
        </p:nvSpPr>
        <p:spPr>
          <a:xfrm xmlns:a="http://schemas.openxmlformats.org/drawingml/2006/main">
            <a:off x="609600" y="18573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63746"/>
                </a:solidFill>
                <a:latin typeface="Arial"/>
                <a:ea typeface="Arial"/>
                <a:cs typeface="Arial"/>
              </a:defRPr>
            </a:pPr>
            <a:r>
              <a:rPr sz="2100" b="0">
                <a:solidFill>
                  <a:srgbClr val="263746"/>
                </a:solidFill>
                <a:latin typeface="Arial"/>
                <a:ea typeface="Arial"/>
                <a:cs typeface="Arial"/>
              </a:rPr>
              <a:t>Connect facts about students, courses, and universities.</a:t>
            </a:r>
          </a:p>
        </p:txBody>
      </p:sp>
      <p:sp>
        <p:nvSpPr>
          <p:cNvPr id="5" name="text">
            <a:extLst xmlns:a="http://schemas.openxmlformats.org/drawingml/2006/main">
              <a:ext uri="{FF2B5EF4-FFF2-40B4-BE49-F238E27FC236}">
                <a16:creationId xmlns:a16="http://schemas.microsoft.com/office/drawing/2014/main" id="{9FBF5E0A-8040-4CB5-B9C4-5210642A9A74}"/>
              </a:ext>
            </a:extLst>
          </p:cNvPr>
          <p:cNvSpPr>
            <a:spLocks xmlns:a="http://schemas.openxmlformats.org/drawingml/2006/main" noGrp="1"/>
          </p:cNvSpPr>
          <p:nvPr/>
        </p:nvSpPr>
        <p:spPr>
          <a:xfrm xmlns:a="http://schemas.openxmlformats.org/drawingml/2006/main">
            <a:off x="609600" y="2362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Reasoning</a:t>
            </a:r>
          </a:p>
        </p:txBody>
      </p:sp>
      <p:sp>
        <p:nvSpPr>
          <p:cNvPr id="6" name="text">
            <a:extLst xmlns:a="http://schemas.openxmlformats.org/drawingml/2006/main">
              <a:ext uri="{FF2B5EF4-FFF2-40B4-BE49-F238E27FC236}">
                <a16:creationId xmlns:a16="http://schemas.microsoft.com/office/drawing/2014/main" id="{985B95F6-8B36-4926-8DBA-E582A9C63D38}"/>
              </a:ext>
            </a:extLst>
          </p:cNvPr>
          <p:cNvSpPr>
            <a:spLocks xmlns:a="http://schemas.openxmlformats.org/drawingml/2006/main" noGrp="1"/>
          </p:cNvSpPr>
          <p:nvPr/>
        </p:nvSpPr>
        <p:spPr>
          <a:xfrm xmlns:a="http://schemas.openxmlformats.org/drawingml/2006/main">
            <a:off x="609600" y="27717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63746"/>
                </a:solidFill>
                <a:latin typeface="Arial"/>
                <a:ea typeface="Arial"/>
                <a:cs typeface="Arial"/>
              </a:defRPr>
            </a:pPr>
            <a:r>
              <a:rPr sz="2100" b="0">
                <a:solidFill>
                  <a:srgbClr val="263746"/>
                </a:solidFill>
                <a:latin typeface="Arial"/>
                <a:ea typeface="Arial"/>
                <a:cs typeface="Arial"/>
              </a:rPr>
              <a:t>Use a student fact and an ID rule to derive a new conclusion.</a:t>
            </a:r>
          </a:p>
        </p:txBody>
      </p:sp>
      <p:sp>
        <p:nvSpPr>
          <p:cNvPr id="7" name="text">
            <a:extLst xmlns:a="http://schemas.openxmlformats.org/drawingml/2006/main">
              <a:ext uri="{FF2B5EF4-FFF2-40B4-BE49-F238E27FC236}">
                <a16:creationId xmlns:a16="http://schemas.microsoft.com/office/drawing/2014/main" id="{040997C4-C0EE-4CE4-A90C-404FE8CCA63B}"/>
              </a:ext>
            </a:extLst>
          </p:cNvPr>
          <p:cNvSpPr>
            <a:spLocks xmlns:a="http://schemas.openxmlformats.org/drawingml/2006/main" noGrp="1"/>
          </p:cNvSpPr>
          <p:nvPr/>
        </p:nvSpPr>
        <p:spPr>
          <a:xfrm xmlns:a="http://schemas.openxmlformats.org/drawingml/2006/main">
            <a:off x="609600" y="32766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Question answering</a:t>
            </a:r>
          </a:p>
        </p:txBody>
      </p:sp>
      <p:sp>
        <p:nvSpPr>
          <p:cNvPr id="8" name="text">
            <a:extLst xmlns:a="http://schemas.openxmlformats.org/drawingml/2006/main">
              <a:ext uri="{FF2B5EF4-FFF2-40B4-BE49-F238E27FC236}">
                <a16:creationId xmlns:a16="http://schemas.microsoft.com/office/drawing/2014/main" id="{C375281B-132D-46C7-AEC1-1386D1E17F93}"/>
              </a:ext>
            </a:extLst>
          </p:cNvPr>
          <p:cNvSpPr>
            <a:spLocks xmlns:a="http://schemas.openxmlformats.org/drawingml/2006/main" noGrp="1"/>
          </p:cNvSpPr>
          <p:nvPr/>
        </p:nvSpPr>
        <p:spPr>
          <a:xfrm xmlns:a="http://schemas.openxmlformats.org/drawingml/2006/main">
            <a:off x="609600" y="36861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63746"/>
                </a:solidFill>
                <a:latin typeface="Arial"/>
                <a:ea typeface="Arial"/>
                <a:cs typeface="Arial"/>
              </a:defRPr>
            </a:pPr>
            <a:r>
              <a:rPr sz="2100" b="0">
                <a:solidFill>
                  <a:srgbClr val="263746"/>
                </a:solidFill>
                <a:latin typeface="Arial"/>
                <a:ea typeface="Arial"/>
                <a:cs typeface="Arial"/>
              </a:rPr>
              <a:t>Use Studies(Ali, ComputerScience) to answer what Ali studies.</a:t>
            </a:r>
          </a:p>
        </p:txBody>
      </p:sp>
      <p:sp>
        <p:nvSpPr>
          <p:cNvPr id="9" name="text">
            <a:extLst xmlns:a="http://schemas.openxmlformats.org/drawingml/2006/main">
              <a:ext uri="{FF2B5EF4-FFF2-40B4-BE49-F238E27FC236}">
                <a16:creationId xmlns:a16="http://schemas.microsoft.com/office/drawing/2014/main" id="{93D8195D-5794-463F-BC63-A96A2B035D30}"/>
              </a:ext>
            </a:extLst>
          </p:cNvPr>
          <p:cNvSpPr>
            <a:spLocks xmlns:a="http://schemas.openxmlformats.org/drawingml/2006/main" noGrp="1"/>
          </p:cNvSpPr>
          <p:nvPr/>
        </p:nvSpPr>
        <p:spPr>
          <a:xfrm xmlns:a="http://schemas.openxmlformats.org/drawingml/2006/main">
            <a:off x="609600" y="41910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Problem solving</a:t>
            </a:r>
          </a:p>
        </p:txBody>
      </p:sp>
      <p:sp>
        <p:nvSpPr>
          <p:cNvPr id="10" name="text">
            <a:extLst xmlns:a="http://schemas.openxmlformats.org/drawingml/2006/main">
              <a:ext uri="{FF2B5EF4-FFF2-40B4-BE49-F238E27FC236}">
                <a16:creationId xmlns:a16="http://schemas.microsoft.com/office/drawing/2014/main" id="{44041599-696D-4FF8-9EBD-6A84BE435552}"/>
              </a:ext>
            </a:extLst>
          </p:cNvPr>
          <p:cNvSpPr>
            <a:spLocks xmlns:a="http://schemas.openxmlformats.org/drawingml/2006/main" noGrp="1"/>
          </p:cNvSpPr>
          <p:nvPr/>
        </p:nvSpPr>
        <p:spPr>
          <a:xfrm xmlns:a="http://schemas.openxmlformats.org/drawingml/2006/main">
            <a:off x="609600" y="46005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63746"/>
                </a:solidFill>
                <a:latin typeface="Arial"/>
                <a:ea typeface="Arial"/>
                <a:cs typeface="Arial"/>
              </a:defRPr>
            </a:pPr>
            <a:r>
              <a:rPr sz="2100" b="0">
                <a:solidFill>
                  <a:srgbClr val="263746"/>
                </a:solidFill>
                <a:latin typeface="Arial"/>
                <a:ea typeface="Arial"/>
                <a:cs typeface="Arial"/>
              </a:rPr>
              <a:t>Use domain relationships to investigate possible causes.</a:t>
            </a:r>
          </a:p>
        </p:txBody>
      </p:sp>
      <p:sp>
        <p:nvSpPr>
          <p:cNvPr id="11" name="text">
            <a:extLst xmlns:a="http://schemas.openxmlformats.org/drawingml/2006/main">
              <a:ext uri="{FF2B5EF4-FFF2-40B4-BE49-F238E27FC236}">
                <a16:creationId xmlns:a16="http://schemas.microsoft.com/office/drawing/2014/main" id="{0691D42C-99B7-4CBF-8825-CA3C25CD45B2}"/>
              </a:ext>
            </a:extLst>
          </p:cNvPr>
          <p:cNvSpPr>
            <a:spLocks xmlns:a="http://schemas.openxmlformats.org/drawingml/2006/main" noGrp="1"/>
          </p:cNvSpPr>
          <p:nvPr/>
        </p:nvSpPr>
        <p:spPr>
          <a:xfrm xmlns:a="http://schemas.openxmlformats.org/drawingml/2006/main">
            <a:off x="609600" y="5105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Decision making</a:t>
            </a:r>
          </a:p>
        </p:txBody>
      </p:sp>
      <p:sp>
        <p:nvSpPr>
          <p:cNvPr id="12" name="text">
            <a:extLst xmlns:a="http://schemas.openxmlformats.org/drawingml/2006/main">
              <a:ext uri="{FF2B5EF4-FFF2-40B4-BE49-F238E27FC236}">
                <a16:creationId xmlns:a16="http://schemas.microsoft.com/office/drawing/2014/main" id="{C052C275-28BC-40C3-87D3-AE07AE3E28B4}"/>
              </a:ext>
            </a:extLst>
          </p:cNvPr>
          <p:cNvSpPr>
            <a:spLocks xmlns:a="http://schemas.openxmlformats.org/drawingml/2006/main" noGrp="1"/>
          </p:cNvSpPr>
          <p:nvPr/>
        </p:nvSpPr>
        <p:spPr>
          <a:xfrm xmlns:a="http://schemas.openxmlformats.org/drawingml/2006/main">
            <a:off x="609600" y="551497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63746"/>
                </a:solidFill>
                <a:latin typeface="Arial"/>
                <a:ea typeface="Arial"/>
                <a:cs typeface="Arial"/>
              </a:defRPr>
            </a:pPr>
            <a:r>
              <a:rPr sz="2100" b="0">
                <a:solidFill>
                  <a:srgbClr val="263746"/>
                </a:solidFill>
                <a:latin typeface="Arial"/>
                <a:ea typeface="Arial"/>
                <a:cs typeface="Arial"/>
              </a:rPr>
              <a:t>Use conditions and rules to recommend an action.</a:t>
            </a:r>
          </a:p>
        </p:txBody>
      </p:sp>
    </p:spTree>
    <p:extLst>
      <p:ext uri="{BB962C8B-B14F-4D97-AF65-F5344CB8AC3E}">
        <p14:creationId xmlns:p14="http://schemas.microsoft.com/office/powerpoint/2010/main" val="84468927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0D5A3266-CCCC-4852-868F-1542C0C91555}"/>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Reasoning with Known Facts</a:t>
            </a:r>
          </a:p>
        </p:txBody>
      </p:sp>
      <p:sp>
        <p:nvSpPr>
          <p:cNvPr id="2" name="slide-number">
            <a:extLst xmlns:a="http://schemas.openxmlformats.org/drawingml/2006/main">
              <a:ext uri="{FF2B5EF4-FFF2-40B4-BE49-F238E27FC236}">
                <a16:creationId xmlns:a16="http://schemas.microsoft.com/office/drawing/2014/main" id="{FDDF44BE-91AB-4935-B276-174A37565717}"/>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15</a:t>
            </a:r>
          </a:p>
        </p:txBody>
      </p:sp>
      <p:sp>
        <p:nvSpPr>
          <p:cNvPr id="12" name="visual-caption">
            <a:extLst xmlns:a="http://schemas.openxmlformats.org/drawingml/2006/main">
              <a:ext uri="{FF2B5EF4-FFF2-40B4-BE49-F238E27FC236}">
                <a16:creationId xmlns:a16="http://schemas.microsoft.com/office/drawing/2014/main" id="{D2145114-FDCB-4D04-9B35-50922B75503D}"/>
              </a:ext>
            </a:extLst>
          </p:cNvPr>
          <p:cNvSpPr>
            <a:spLocks xmlns:a="http://schemas.openxmlformats.org/drawingml/2006/main" noGrp="1"/>
          </p:cNvSpPr>
          <p:nvPr/>
        </p:nvSpPr>
        <p:spPr>
          <a:xfrm xmlns:a="http://schemas.openxmlformats.org/drawingml/2006/main">
            <a:off x="609600" y="1685925"/>
            <a:ext cx="4000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Reasoning</a:t>
            </a:r>
          </a:p>
        </p:txBody>
      </p:sp>
      <p:sp>
        <p:nvSpPr>
          <p:cNvPr id="13" name="visual-caption">
            <a:extLst xmlns:a="http://schemas.openxmlformats.org/drawingml/2006/main">
              <a:ext uri="{FF2B5EF4-FFF2-40B4-BE49-F238E27FC236}">
                <a16:creationId xmlns:a16="http://schemas.microsoft.com/office/drawing/2014/main" id="{3E7B20B4-0518-4D01-A4C5-B5302D6360C9}"/>
              </a:ext>
            </a:extLst>
          </p:cNvPr>
          <p:cNvSpPr>
            <a:spLocks xmlns:a="http://schemas.openxmlformats.org/drawingml/2006/main" noGrp="1"/>
          </p:cNvSpPr>
          <p:nvPr/>
        </p:nvSpPr>
        <p:spPr>
          <a:xfrm xmlns:a="http://schemas.openxmlformats.org/drawingml/2006/main">
            <a:off x="609600" y="2095500"/>
            <a:ext cx="4000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263746"/>
                </a:solidFill>
                <a:latin typeface="Arial"/>
                <a:ea typeface="Arial"/>
                <a:cs typeface="Arial"/>
              </a:defRPr>
            </a:pPr>
            <a:r>
              <a:rPr sz="2250" b="0">
                <a:solidFill>
                  <a:srgbClr val="263746"/>
                </a:solidFill>
                <a:latin typeface="Arial"/>
                <a:ea typeface="Arial"/>
                <a:cs typeface="Arial"/>
              </a:rPr>
              <a:t>Uses available knowledge to determine what follows.</a:t>
            </a:r>
          </a:p>
        </p:txBody>
      </p:sp>
      <p:sp>
        <p:nvSpPr>
          <p:cNvPr id="14" name="visual-caption">
            <a:extLst xmlns:a="http://schemas.openxmlformats.org/drawingml/2006/main">
              <a:ext uri="{FF2B5EF4-FFF2-40B4-BE49-F238E27FC236}">
                <a16:creationId xmlns:a16="http://schemas.microsoft.com/office/drawing/2014/main" id="{A1BDAB24-19EE-4B26-8E34-66BC2B6D3F8D}"/>
              </a:ext>
            </a:extLst>
          </p:cNvPr>
          <p:cNvSpPr>
            <a:spLocks xmlns:a="http://schemas.openxmlformats.org/drawingml/2006/main" noGrp="1"/>
          </p:cNvSpPr>
          <p:nvPr/>
        </p:nvSpPr>
        <p:spPr>
          <a:xfrm xmlns:a="http://schemas.openxmlformats.org/drawingml/2006/main">
            <a:off x="609600" y="3667125"/>
            <a:ext cx="4000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Rule application</a:t>
            </a:r>
          </a:p>
        </p:txBody>
      </p:sp>
      <p:sp>
        <p:nvSpPr>
          <p:cNvPr id="15" name="visual-caption">
            <a:extLst xmlns:a="http://schemas.openxmlformats.org/drawingml/2006/main">
              <a:ext uri="{FF2B5EF4-FFF2-40B4-BE49-F238E27FC236}">
                <a16:creationId xmlns:a16="http://schemas.microsoft.com/office/drawing/2014/main" id="{1AA5702A-F2C7-4E09-B493-2CF2461CB411}"/>
              </a:ext>
            </a:extLst>
          </p:cNvPr>
          <p:cNvSpPr>
            <a:spLocks xmlns:a="http://schemas.openxmlformats.org/drawingml/2006/main" noGrp="1"/>
          </p:cNvSpPr>
          <p:nvPr/>
        </p:nvSpPr>
        <p:spPr>
          <a:xfrm xmlns:a="http://schemas.openxmlformats.org/drawingml/2006/main">
            <a:off x="609600" y="4076700"/>
            <a:ext cx="40005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263746"/>
                </a:solidFill>
                <a:latin typeface="Arial"/>
                <a:ea typeface="Arial"/>
                <a:cs typeface="Arial"/>
              </a:defRPr>
            </a:pPr>
            <a:r>
              <a:rPr sz="2250" b="0">
                <a:solidFill>
                  <a:srgbClr val="263746"/>
                </a:solidFill>
                <a:latin typeface="Arial"/>
                <a:ea typeface="Arial"/>
                <a:cs typeface="Arial"/>
              </a:rPr>
              <a:t>Match the fact to the condition, then substitute Ali for x.</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1517923ae3a543fc"/>
          <a:stretch xmlns:a="http://schemas.openxmlformats.org/drawingml/2006/main"/>
        </p:blipFill>
        <p:spPr>
          <a:xfrm xmlns:a="http://schemas.openxmlformats.org/drawingml/2006/main">
            <a:off x="5143500" y="1516063"/>
            <a:ext cx="6438900" cy="4292600"/>
          </a:xfrm>
          <a:prstGeom xmlns:a="http://schemas.openxmlformats.org/drawingml/2006/main" prst="rect">
            <a:avLst/>
          </a:prstGeom>
        </p:spPr>
      </p:pic>
      <p:sp>
        <p:nvSpPr>
          <p:cNvPr id="17" name="visual-caption">
            <a:extLst xmlns:a="http://schemas.openxmlformats.org/drawingml/2006/main">
              <a:ext uri="{FF2B5EF4-FFF2-40B4-BE49-F238E27FC236}">
                <a16:creationId xmlns:a16="http://schemas.microsoft.com/office/drawing/2014/main" id="{3E3D929D-05CF-4CF0-B107-B55D1B5B9827}"/>
              </a:ext>
            </a:extLst>
          </p:cNvPr>
          <p:cNvSpPr>
            <a:spLocks xmlns:a="http://schemas.openxmlformats.org/drawingml/2006/main" noGrp="1"/>
          </p:cNvSpPr>
          <p:nvPr/>
        </p:nvSpPr>
        <p:spPr>
          <a:xfrm xmlns:a="http://schemas.openxmlformats.org/drawingml/2006/main">
            <a:off x="609600" y="60674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950" b="0">
                <a:solidFill>
                  <a:srgbClr val="566570"/>
                </a:solidFill>
                <a:latin typeface="Arial"/>
                <a:ea typeface="Arial"/>
                <a:cs typeface="Arial"/>
              </a:defRPr>
            </a:pPr>
            <a:r>
              <a:rPr sz="1950" b="0">
                <a:solidFill>
                  <a:srgbClr val="566570"/>
                </a:solidFill>
                <a:latin typeface="Arial"/>
                <a:ea typeface="Arial"/>
                <a:cs typeface="Arial"/>
              </a:rPr>
              <a:t>The matching fact and the rule support the conclusion.</a:t>
            </a:r>
          </a:p>
        </p:txBody>
      </p:sp>
    </p:spTree>
    <p:extLst>
      <p:ext uri="{BB962C8B-B14F-4D97-AF65-F5344CB8AC3E}">
        <p14:creationId xmlns:p14="http://schemas.microsoft.com/office/powerpoint/2010/main" val="2510304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EBAD6BB9-2DB9-40D0-8247-DA7BB080CF91}"/>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Deductive Practice: Two Conclusions</a:t>
            </a:r>
          </a:p>
        </p:txBody>
      </p:sp>
      <p:sp>
        <p:nvSpPr>
          <p:cNvPr id="2" name="slide-number">
            <a:extLst xmlns:a="http://schemas.openxmlformats.org/drawingml/2006/main">
              <a:ext uri="{FF2B5EF4-FFF2-40B4-BE49-F238E27FC236}">
                <a16:creationId xmlns:a16="http://schemas.microsoft.com/office/drawing/2014/main" id="{751A3FC6-C76C-438E-BC69-E73F826FA296}"/>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a:solidFill>
                  <a:srgbClr val="566570"/>
                </a:solidFill>
                <a:latin typeface="Arial"/>
                <a:ea typeface="Arial"/>
                <a:cs typeface="Arial"/>
              </a:defRPr>
            </a:pPr>
            <a:r>
              <a:rPr sz="1350">
                <a:solidFill>
                  <a:srgbClr val="566570"/>
                </a:solidFill>
                <a:latin typeface="Arial"/>
                <a:ea typeface="Arial"/>
                <a:cs typeface="Arial"/>
              </a:rPr>
              <a:t>16</a:t>
            </a:r>
          </a:p>
        </p:txBody>
      </p:sp>
      <p:sp>
        <p:nvSpPr>
          <p:cNvPr id="3" name="assessment-text">
            <a:extLst xmlns:a="http://schemas.openxmlformats.org/drawingml/2006/main">
              <a:ext uri="{FF2B5EF4-FFF2-40B4-BE49-F238E27FC236}">
                <a16:creationId xmlns:a16="http://schemas.microsoft.com/office/drawing/2014/main" id="{FD84C876-97AC-44B9-BCC9-C9A87DC46B26}"/>
              </a:ext>
            </a:extLst>
          </p:cNvPr>
          <p:cNvSpPr>
            <a:spLocks xmlns:a="http://schemas.openxmlformats.org/drawingml/2006/main" noGrp="1"/>
          </p:cNvSpPr>
          <p:nvPr/>
        </p:nvSpPr>
        <p:spPr>
          <a:xfrm xmlns:a="http://schemas.openxmlformats.org/drawingml/2006/main">
            <a:off x="609600" y="16097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Case 1: Socrates</a:t>
            </a:r>
          </a:p>
        </p:txBody>
      </p:sp>
      <p:sp>
        <p:nvSpPr>
          <p:cNvPr id="4" name="assessment-text">
            <a:extLst xmlns:a="http://schemas.openxmlformats.org/drawingml/2006/main">
              <a:ext uri="{FF2B5EF4-FFF2-40B4-BE49-F238E27FC236}">
                <a16:creationId xmlns:a16="http://schemas.microsoft.com/office/drawing/2014/main" id="{0CD847C6-247B-403F-AC24-B069903D8347}"/>
              </a:ext>
            </a:extLst>
          </p:cNvPr>
          <p:cNvSpPr>
            <a:spLocks xmlns:a="http://schemas.openxmlformats.org/drawingml/2006/main" noGrp="1"/>
          </p:cNvSpPr>
          <p:nvPr/>
        </p:nvSpPr>
        <p:spPr>
          <a:xfrm xmlns:a="http://schemas.openxmlformats.org/drawingml/2006/main">
            <a:off x="609600" y="2324100"/>
            <a:ext cx="51244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3449"/>
                </a:solidFill>
                <a:latin typeface="Arial"/>
                <a:ea typeface="Arial"/>
                <a:cs typeface="Arial"/>
              </a:defRPr>
            </a:pPr>
            <a:r>
              <a:rPr sz="2250" b="1">
                <a:solidFill>
                  <a:srgbClr val="173449"/>
                </a:solidFill>
                <a:latin typeface="Arial"/>
                <a:ea typeface="Arial"/>
                <a:cs typeface="Arial"/>
              </a:rPr>
              <a:t>Human(x) → Mortal(x)</a:t>
            </a:r>
          </a:p>
          <a:p xmlns:a="http://schemas.openxmlformats.org/drawingml/2006/main">
            <a:pPr>
              <a:defRPr sz="2250" b="1">
                <a:solidFill>
                  <a:srgbClr val="173449"/>
                </a:solidFill>
                <a:latin typeface="Arial"/>
                <a:ea typeface="Arial"/>
                <a:cs typeface="Arial"/>
              </a:defRPr>
            </a:pPr>
            <a:r>
              <a:rPr sz="2250" b="1">
                <a:solidFill>
                  <a:srgbClr val="173449"/>
                </a:solidFill>
                <a:latin typeface="Arial"/>
                <a:ea typeface="Arial"/>
                <a:cs typeface="Arial"/>
              </a:rPr>
              <a:t>Human(Socrates)</a:t>
            </a:r>
          </a:p>
        </p:txBody>
      </p:sp>
      <p:sp>
        <p:nvSpPr>
          <p:cNvPr id="5" name="assessment-text">
            <a:extLst xmlns:a="http://schemas.openxmlformats.org/drawingml/2006/main">
              <a:ext uri="{FF2B5EF4-FFF2-40B4-BE49-F238E27FC236}">
                <a16:creationId xmlns:a16="http://schemas.microsoft.com/office/drawing/2014/main" id="{7F96140D-E34C-49D6-BB05-ADB83BB8A154}"/>
              </a:ext>
            </a:extLst>
          </p:cNvPr>
          <p:cNvSpPr>
            <a:spLocks xmlns:a="http://schemas.openxmlformats.org/drawingml/2006/main" noGrp="1"/>
          </p:cNvSpPr>
          <p:nvPr/>
        </p:nvSpPr>
        <p:spPr>
          <a:xfrm xmlns:a="http://schemas.openxmlformats.org/drawingml/2006/main">
            <a:off x="609600" y="4419600"/>
            <a:ext cx="51244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3449"/>
                </a:solidFill>
                <a:latin typeface="Arial"/>
                <a:ea typeface="Arial"/>
                <a:cs typeface="Arial"/>
              </a:defRPr>
            </a:pPr>
            <a:r>
              <a:rPr sz="2550" b="1">
                <a:solidFill>
                  <a:srgbClr val="173449"/>
                </a:solidFill>
                <a:latin typeface="Arial"/>
                <a:ea typeface="Arial"/>
                <a:cs typeface="Arial"/>
              </a:rPr>
              <a:t>What can we conclude?</a:t>
            </a:r>
          </a:p>
        </p:txBody>
      </p:sp>
      <p:sp>
        <p:nvSpPr>
          <p:cNvPr id="6" name="assessment-text">
            <a:extLst xmlns:a="http://schemas.openxmlformats.org/drawingml/2006/main">
              <a:ext uri="{FF2B5EF4-FFF2-40B4-BE49-F238E27FC236}">
                <a16:creationId xmlns:a16="http://schemas.microsoft.com/office/drawing/2014/main" id="{59742D6F-0A92-4847-AF1D-90A4FE12CF24}"/>
              </a:ext>
            </a:extLst>
          </p:cNvPr>
          <p:cNvSpPr>
            <a:spLocks xmlns:a="http://schemas.openxmlformats.org/drawingml/2006/main" noGrp="1"/>
          </p:cNvSpPr>
          <p:nvPr/>
        </p:nvSpPr>
        <p:spPr>
          <a:xfrm xmlns:a="http://schemas.openxmlformats.org/drawingml/2006/main">
            <a:off x="6543675" y="1609725"/>
            <a:ext cx="50387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Case 2: Ahmed</a:t>
            </a:r>
          </a:p>
        </p:txBody>
      </p:sp>
      <p:sp>
        <p:nvSpPr>
          <p:cNvPr id="7" name="assessment-text">
            <a:extLst xmlns:a="http://schemas.openxmlformats.org/drawingml/2006/main">
              <a:ext uri="{FF2B5EF4-FFF2-40B4-BE49-F238E27FC236}">
                <a16:creationId xmlns:a16="http://schemas.microsoft.com/office/drawing/2014/main" id="{BA669DD0-D276-409B-B118-C6369607732E}"/>
              </a:ext>
            </a:extLst>
          </p:cNvPr>
          <p:cNvSpPr>
            <a:spLocks xmlns:a="http://schemas.openxmlformats.org/drawingml/2006/main" noGrp="1"/>
          </p:cNvSpPr>
          <p:nvPr/>
        </p:nvSpPr>
        <p:spPr>
          <a:xfrm xmlns:a="http://schemas.openxmlformats.org/drawingml/2006/main">
            <a:off x="6543675" y="2324100"/>
            <a:ext cx="5038725"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73449"/>
                </a:solidFill>
                <a:latin typeface="Arial"/>
                <a:ea typeface="Arial"/>
                <a:cs typeface="Arial"/>
              </a:defRPr>
            </a:pPr>
            <a:r>
              <a:rPr sz="2175" b="1">
                <a:solidFill>
                  <a:srgbClr val="173449"/>
                </a:solidFill>
                <a:latin typeface="Arial"/>
                <a:ea typeface="Arial"/>
                <a:cs typeface="Arial"/>
              </a:rPr>
              <a:t>CSStudent(x)</a:t>
            </a:r>
          </a:p>
          <a:p xmlns:a="http://schemas.openxmlformats.org/drawingml/2006/main">
            <a:pPr>
              <a:defRPr sz="2175" b="1">
                <a:solidFill>
                  <a:srgbClr val="173449"/>
                </a:solidFill>
                <a:latin typeface="Arial"/>
                <a:ea typeface="Arial"/>
                <a:cs typeface="Arial"/>
              </a:defRPr>
            </a:pPr>
            <a:r>
              <a:rPr sz="2175" b="1">
                <a:solidFill>
                  <a:srgbClr val="173449"/>
                </a:solidFill>
                <a:latin typeface="Arial"/>
                <a:ea typeface="Arial"/>
                <a:cs typeface="Arial"/>
              </a:rPr>
              <a:t>→ StudiesProgramming(x)</a:t>
            </a:r>
          </a:p>
          <a:p xmlns:a="http://schemas.openxmlformats.org/drawingml/2006/main">
            <a:pPr>
              <a:defRPr sz="2175" b="1">
                <a:solidFill>
                  <a:srgbClr val="173449"/>
                </a:solidFill>
                <a:latin typeface="Arial"/>
                <a:ea typeface="Arial"/>
                <a:cs typeface="Arial"/>
              </a:defRPr>
            </a:pPr>
            <a:r>
              <a:rPr sz="2175" b="1">
                <a:solidFill>
                  <a:srgbClr val="173449"/>
                </a:solidFill>
                <a:latin typeface="Arial"/>
                <a:ea typeface="Arial"/>
                <a:cs typeface="Arial"/>
              </a:rPr>
              <a:t>CSStudent(Ahmed)</a:t>
            </a:r>
          </a:p>
        </p:txBody>
      </p:sp>
      <p:sp>
        <p:nvSpPr>
          <p:cNvPr id="8" name="assessment-text">
            <a:extLst xmlns:a="http://schemas.openxmlformats.org/drawingml/2006/main">
              <a:ext uri="{FF2B5EF4-FFF2-40B4-BE49-F238E27FC236}">
                <a16:creationId xmlns:a16="http://schemas.microsoft.com/office/drawing/2014/main" id="{A65EE167-076A-4835-B12D-B508509794FE}"/>
              </a:ext>
            </a:extLst>
          </p:cNvPr>
          <p:cNvSpPr>
            <a:spLocks xmlns:a="http://schemas.openxmlformats.org/drawingml/2006/main" noGrp="1"/>
          </p:cNvSpPr>
          <p:nvPr/>
        </p:nvSpPr>
        <p:spPr>
          <a:xfrm xmlns:a="http://schemas.openxmlformats.org/drawingml/2006/main">
            <a:off x="6543675" y="4419600"/>
            <a:ext cx="50387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3449"/>
                </a:solidFill>
                <a:latin typeface="Arial"/>
                <a:ea typeface="Arial"/>
                <a:cs typeface="Arial"/>
              </a:defRPr>
            </a:pPr>
            <a:r>
              <a:rPr sz="2550" b="1">
                <a:solidFill>
                  <a:srgbClr val="173449"/>
                </a:solidFill>
                <a:latin typeface="Arial"/>
                <a:ea typeface="Arial"/>
                <a:cs typeface="Arial"/>
              </a:rPr>
              <a:t>What can we conclude?</a:t>
            </a:r>
          </a:p>
        </p:txBody>
      </p:sp>
      <p:sp>
        <p:nvSpPr>
          <p:cNvPr id="9" name="assessment-text">
            <a:extLst xmlns:a="http://schemas.openxmlformats.org/drawingml/2006/main">
              <a:ext uri="{FF2B5EF4-FFF2-40B4-BE49-F238E27FC236}">
                <a16:creationId xmlns:a16="http://schemas.microsoft.com/office/drawing/2014/main" id="{005AC39F-CD42-416B-A9B6-B7DC72FC3FCF}"/>
              </a:ext>
            </a:extLst>
          </p:cNvPr>
          <p:cNvSpPr>
            <a:spLocks xmlns:a="http://schemas.openxmlformats.org/drawingml/2006/main" noGrp="1"/>
          </p:cNvSpPr>
          <p:nvPr/>
        </p:nvSpPr>
        <p:spPr>
          <a:xfrm xmlns:a="http://schemas.openxmlformats.org/drawingml/2006/main">
            <a:off x="609600" y="5724525"/>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087F8C"/>
                </a:solidFill>
                <a:latin typeface="Arial"/>
                <a:ea typeface="Arial"/>
                <a:cs typeface="Arial"/>
              </a:defRPr>
            </a:pPr>
            <a:r>
              <a:rPr sz="2175">
                <a:solidFill>
                  <a:srgbClr val="087F8C"/>
                </a:solidFill>
                <a:latin typeface="Arial"/>
                <a:ea typeface="Arial"/>
                <a:cs typeface="Arial"/>
              </a:rPr>
              <a:t>For each case, identify the rule and the matching fact.</a:t>
            </a:r>
          </a:p>
        </p:txBody>
      </p:sp>
    </p:spTree>
    <p:extLst>
      <p:ext uri="{BB962C8B-B14F-4D97-AF65-F5344CB8AC3E}">
        <p14:creationId xmlns:p14="http://schemas.microsoft.com/office/powerpoint/2010/main" val="122091383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6D8FD2D7-E670-44F9-9F74-F8C209928286}"/>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Deduction and Derived Knowledge</a:t>
            </a:r>
          </a:p>
        </p:txBody>
      </p:sp>
      <p:sp>
        <p:nvSpPr>
          <p:cNvPr id="2" name="slide-number">
            <a:extLst xmlns:a="http://schemas.openxmlformats.org/drawingml/2006/main">
              <a:ext uri="{FF2B5EF4-FFF2-40B4-BE49-F238E27FC236}">
                <a16:creationId xmlns:a16="http://schemas.microsoft.com/office/drawing/2014/main" id="{D8EB9F2D-ED6F-432E-A7C0-C79124275D1E}"/>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17</a:t>
            </a:r>
          </a:p>
        </p:txBody>
      </p:sp>
      <p:sp>
        <p:nvSpPr>
          <p:cNvPr id="3" name="text">
            <a:extLst xmlns:a="http://schemas.openxmlformats.org/drawingml/2006/main">
              <a:ext uri="{FF2B5EF4-FFF2-40B4-BE49-F238E27FC236}">
                <a16:creationId xmlns:a16="http://schemas.microsoft.com/office/drawing/2014/main" id="{FC0A5709-71C6-4DAC-8599-049D81357894}"/>
              </a:ext>
            </a:extLst>
          </p:cNvPr>
          <p:cNvSpPr>
            <a:spLocks xmlns:a="http://schemas.openxmlformats.org/drawingml/2006/main" noGrp="1"/>
          </p:cNvSpPr>
          <p:nvPr/>
        </p:nvSpPr>
        <p:spPr>
          <a:xfrm xmlns:a="http://schemas.openxmlformats.org/drawingml/2006/main">
            <a:off x="609600" y="14763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0">
                <a:solidFill>
                  <a:srgbClr val="263746"/>
                </a:solidFill>
                <a:latin typeface="Arial"/>
                <a:ea typeface="Arial"/>
                <a:cs typeface="Arial"/>
              </a:defRPr>
            </a:pPr>
            <a:r>
              <a:rPr sz="2475" b="0">
                <a:solidFill>
                  <a:srgbClr val="263746"/>
                </a:solidFill>
                <a:latin typeface="Arial"/>
                <a:ea typeface="Arial"/>
                <a:cs typeface="Arial"/>
              </a:rPr>
              <a:t>Deduction applies a general rule to a specific fact.</a:t>
            </a:r>
          </a:p>
        </p:txBody>
      </p:sp>
      <p:sp>
        <p:nvSpPr>
          <p:cNvPr id="4" name="text">
            <a:extLst xmlns:a="http://schemas.openxmlformats.org/drawingml/2006/main">
              <a:ext uri="{FF2B5EF4-FFF2-40B4-BE49-F238E27FC236}">
                <a16:creationId xmlns:a16="http://schemas.microsoft.com/office/drawing/2014/main" id="{A97ED242-9397-4F70-9D1A-FB8B483F9015}"/>
              </a:ext>
            </a:extLst>
          </p:cNvPr>
          <p:cNvSpPr>
            <a:spLocks xmlns:a="http://schemas.openxmlformats.org/drawingml/2006/main" noGrp="1"/>
          </p:cNvSpPr>
          <p:nvPr/>
        </p:nvSpPr>
        <p:spPr>
          <a:xfrm xmlns:a="http://schemas.openxmlformats.org/drawingml/2006/main">
            <a:off x="609600" y="2667000"/>
            <a:ext cx="5286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Explicit knowledge</a:t>
            </a:r>
          </a:p>
        </p:txBody>
      </p:sp>
      <p:sp>
        <p:nvSpPr>
          <p:cNvPr id="5" name="text">
            <a:extLst xmlns:a="http://schemas.openxmlformats.org/drawingml/2006/main">
              <a:ext uri="{FF2B5EF4-FFF2-40B4-BE49-F238E27FC236}">
                <a16:creationId xmlns:a16="http://schemas.microsoft.com/office/drawing/2014/main" id="{6DE1A057-0923-47BB-92E9-2368553F2FA3}"/>
              </a:ext>
            </a:extLst>
          </p:cNvPr>
          <p:cNvSpPr>
            <a:spLocks xmlns:a="http://schemas.openxmlformats.org/drawingml/2006/main" noGrp="1"/>
          </p:cNvSpPr>
          <p:nvPr/>
        </p:nvSpPr>
        <p:spPr>
          <a:xfrm xmlns:a="http://schemas.openxmlformats.org/drawingml/2006/main">
            <a:off x="609600" y="3076575"/>
            <a:ext cx="5286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63746"/>
                </a:solidFill>
                <a:latin typeface="Arial"/>
                <a:ea typeface="Arial"/>
                <a:cs typeface="Arial"/>
              </a:defRPr>
            </a:pPr>
            <a:r>
              <a:rPr sz="2100" b="0">
                <a:solidFill>
                  <a:srgbClr val="263746"/>
                </a:solidFill>
                <a:latin typeface="Arial"/>
                <a:ea typeface="Arial"/>
                <a:cs typeface="Arial"/>
              </a:rPr>
              <a:t>The system receives the rule and fact.</a:t>
            </a:r>
          </a:p>
        </p:txBody>
      </p:sp>
      <p:sp>
        <p:nvSpPr>
          <p:cNvPr id="6" name="text">
            <a:extLst xmlns:a="http://schemas.openxmlformats.org/drawingml/2006/main">
              <a:ext uri="{FF2B5EF4-FFF2-40B4-BE49-F238E27FC236}">
                <a16:creationId xmlns:a16="http://schemas.microsoft.com/office/drawing/2014/main" id="{6A87DAB1-42F0-479A-9E7D-5211B1E6FCE9}"/>
              </a:ext>
            </a:extLst>
          </p:cNvPr>
          <p:cNvSpPr>
            <a:spLocks xmlns:a="http://schemas.openxmlformats.org/drawingml/2006/main" noGrp="1"/>
          </p:cNvSpPr>
          <p:nvPr/>
        </p:nvSpPr>
        <p:spPr>
          <a:xfrm xmlns:a="http://schemas.openxmlformats.org/drawingml/2006/main">
            <a:off x="609600" y="3800475"/>
            <a:ext cx="5372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173449"/>
                </a:solidFill>
                <a:latin typeface="Arial"/>
                <a:ea typeface="Arial"/>
                <a:cs typeface="Arial"/>
              </a:defRPr>
            </a:pPr>
            <a:r>
              <a:rPr sz="2400" b="1">
                <a:solidFill>
                  <a:srgbClr val="173449"/>
                </a:solidFill>
                <a:latin typeface="Arial"/>
                <a:ea typeface="Arial"/>
                <a:cs typeface="Arial"/>
              </a:rPr>
              <a:t>Human(x) → Mortal(x)</a:t>
            </a:r>
          </a:p>
          <a:p xmlns:a="http://schemas.openxmlformats.org/drawingml/2006/main">
            <a:pPr>
              <a:buNone/>
              <a:defRPr sz="2400" b="1">
                <a:solidFill>
                  <a:srgbClr val="173449"/>
                </a:solidFill>
                <a:latin typeface="Arial"/>
                <a:ea typeface="Arial"/>
                <a:cs typeface="Arial"/>
              </a:defRPr>
            </a:pPr>
            <a:r>
              <a:rPr sz="2400" b="1">
                <a:solidFill>
                  <a:srgbClr val="173449"/>
                </a:solidFill>
                <a:latin typeface="Arial"/>
                <a:ea typeface="Arial"/>
                <a:cs typeface="Arial"/>
              </a:rPr>
              <a:t>Human(Socrates)</a:t>
            </a:r>
          </a:p>
        </p:txBody>
      </p:sp>
      <p:sp>
        <p:nvSpPr>
          <p:cNvPr id="7" name="text">
            <a:extLst xmlns:a="http://schemas.openxmlformats.org/drawingml/2006/main">
              <a:ext uri="{FF2B5EF4-FFF2-40B4-BE49-F238E27FC236}">
                <a16:creationId xmlns:a16="http://schemas.microsoft.com/office/drawing/2014/main" id="{54FA7A74-67CD-4D2E-970D-B4CCDDB7136D}"/>
              </a:ext>
            </a:extLst>
          </p:cNvPr>
          <p:cNvSpPr>
            <a:spLocks xmlns:a="http://schemas.openxmlformats.org/drawingml/2006/main" noGrp="1"/>
          </p:cNvSpPr>
          <p:nvPr/>
        </p:nvSpPr>
        <p:spPr>
          <a:xfrm xmlns:a="http://schemas.openxmlformats.org/drawingml/2006/main">
            <a:off x="6515100" y="2667000"/>
            <a:ext cx="506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Derived knowledge</a:t>
            </a:r>
          </a:p>
        </p:txBody>
      </p:sp>
      <p:sp>
        <p:nvSpPr>
          <p:cNvPr id="8" name="text">
            <a:extLst xmlns:a="http://schemas.openxmlformats.org/drawingml/2006/main">
              <a:ext uri="{FF2B5EF4-FFF2-40B4-BE49-F238E27FC236}">
                <a16:creationId xmlns:a16="http://schemas.microsoft.com/office/drawing/2014/main" id="{CEBBAF15-6679-4CD6-8089-3CB824945677}"/>
              </a:ext>
            </a:extLst>
          </p:cNvPr>
          <p:cNvSpPr>
            <a:spLocks xmlns:a="http://schemas.openxmlformats.org/drawingml/2006/main" noGrp="1"/>
          </p:cNvSpPr>
          <p:nvPr/>
        </p:nvSpPr>
        <p:spPr>
          <a:xfrm xmlns:a="http://schemas.openxmlformats.org/drawingml/2006/main">
            <a:off x="6515100" y="3076575"/>
            <a:ext cx="5067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63746"/>
                </a:solidFill>
                <a:latin typeface="Arial"/>
                <a:ea typeface="Arial"/>
                <a:cs typeface="Arial"/>
              </a:defRPr>
            </a:pPr>
            <a:r>
              <a:rPr sz="2100" b="0">
                <a:solidFill>
                  <a:srgbClr val="263746"/>
                </a:solidFill>
                <a:latin typeface="Arial"/>
                <a:ea typeface="Arial"/>
                <a:cs typeface="Arial"/>
              </a:rPr>
              <a:t>The system infers the conclusion.</a:t>
            </a:r>
          </a:p>
        </p:txBody>
      </p:sp>
      <p:sp>
        <p:nvSpPr>
          <p:cNvPr id="9" name="text">
            <a:extLst xmlns:a="http://schemas.openxmlformats.org/drawingml/2006/main">
              <a:ext uri="{FF2B5EF4-FFF2-40B4-BE49-F238E27FC236}">
                <a16:creationId xmlns:a16="http://schemas.microsoft.com/office/drawing/2014/main" id="{32988894-51F6-4CFE-841F-099346D81CEB}"/>
              </a:ext>
            </a:extLst>
          </p:cNvPr>
          <p:cNvSpPr>
            <a:spLocks xmlns:a="http://schemas.openxmlformats.org/drawingml/2006/main" noGrp="1"/>
          </p:cNvSpPr>
          <p:nvPr/>
        </p:nvSpPr>
        <p:spPr>
          <a:xfrm xmlns:a="http://schemas.openxmlformats.org/drawingml/2006/main">
            <a:off x="6515100" y="3800475"/>
            <a:ext cx="5067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1">
                <a:solidFill>
                  <a:srgbClr val="173449"/>
                </a:solidFill>
                <a:latin typeface="Arial"/>
                <a:ea typeface="Arial"/>
                <a:cs typeface="Arial"/>
              </a:defRPr>
            </a:pPr>
            <a:r>
              <a:rPr sz="2550" b="1">
                <a:solidFill>
                  <a:srgbClr val="173449"/>
                </a:solidFill>
                <a:latin typeface="Arial"/>
                <a:ea typeface="Arial"/>
                <a:cs typeface="Arial"/>
              </a:rPr>
              <a:t>Mortal(Socrates)</a:t>
            </a:r>
          </a:p>
        </p:txBody>
      </p:sp>
      <p:sp>
        <p:nvSpPr>
          <p:cNvPr id="10" name="text">
            <a:extLst xmlns:a="http://schemas.openxmlformats.org/drawingml/2006/main">
              <a:ext uri="{FF2B5EF4-FFF2-40B4-BE49-F238E27FC236}">
                <a16:creationId xmlns:a16="http://schemas.microsoft.com/office/drawing/2014/main" id="{B5EA42AB-A524-4AB7-8BCB-F0A67866EB8A}"/>
              </a:ext>
            </a:extLst>
          </p:cNvPr>
          <p:cNvSpPr>
            <a:spLocks xmlns:a="http://schemas.openxmlformats.org/drawingml/2006/main" noGrp="1"/>
          </p:cNvSpPr>
          <p:nvPr/>
        </p:nvSpPr>
        <p:spPr>
          <a:xfrm xmlns:a="http://schemas.openxmlformats.org/drawingml/2006/main">
            <a:off x="6515100" y="4505325"/>
            <a:ext cx="50673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Socrates is mortal.</a:t>
            </a:r>
          </a:p>
        </p:txBody>
      </p:sp>
      <p:sp>
        <p:nvSpPr>
          <p:cNvPr id="11" name="text">
            <a:extLst xmlns:a="http://schemas.openxmlformats.org/drawingml/2006/main">
              <a:ext uri="{FF2B5EF4-FFF2-40B4-BE49-F238E27FC236}">
                <a16:creationId xmlns:a16="http://schemas.microsoft.com/office/drawing/2014/main" id="{963CE08A-A07B-4157-9990-F5E80722AA20}"/>
              </a:ext>
            </a:extLst>
          </p:cNvPr>
          <p:cNvSpPr>
            <a:spLocks xmlns:a="http://schemas.openxmlformats.org/drawingml/2006/main" noGrp="1"/>
          </p:cNvSpPr>
          <p:nvPr/>
        </p:nvSpPr>
        <p:spPr>
          <a:xfrm xmlns:a="http://schemas.openxmlformats.org/drawingml/2006/main">
            <a:off x="609600" y="5857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66570"/>
                </a:solidFill>
                <a:latin typeface="Arial"/>
                <a:ea typeface="Arial"/>
                <a:cs typeface="Arial"/>
              </a:defRPr>
            </a:pPr>
            <a:r>
              <a:rPr sz="1800" b="0">
                <a:solidFill>
                  <a:srgbClr val="566570"/>
                </a:solidFill>
                <a:latin typeface="Arial"/>
                <a:ea typeface="Arial"/>
                <a:cs typeface="Arial"/>
              </a:rPr>
              <a:t>A valid deductive step preserves truth when the premises are true.</a:t>
            </a:r>
          </a:p>
        </p:txBody>
      </p:sp>
    </p:spTree>
    <p:extLst>
      <p:ext uri="{BB962C8B-B14F-4D97-AF65-F5344CB8AC3E}">
        <p14:creationId xmlns:p14="http://schemas.microsoft.com/office/powerpoint/2010/main" val="23051657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A768D17B-04A3-4E0B-AE10-8458F3D4C35F}"/>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Worked Example: Ahmed Studies Programming</a:t>
            </a:r>
          </a:p>
        </p:txBody>
      </p:sp>
      <p:sp>
        <p:nvSpPr>
          <p:cNvPr id="2" name="slide-number">
            <a:extLst xmlns:a="http://schemas.openxmlformats.org/drawingml/2006/main">
              <a:ext uri="{FF2B5EF4-FFF2-40B4-BE49-F238E27FC236}">
                <a16:creationId xmlns:a16="http://schemas.microsoft.com/office/drawing/2014/main" id="{5E0A9A7E-9E35-49C4-98E5-A1AD74D794DC}"/>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18</a:t>
            </a:r>
          </a:p>
        </p:txBody>
      </p:sp>
      <p:sp>
        <p:nvSpPr>
          <p:cNvPr id="3" name="text">
            <a:extLst xmlns:a="http://schemas.openxmlformats.org/drawingml/2006/main">
              <a:ext uri="{FF2B5EF4-FFF2-40B4-BE49-F238E27FC236}">
                <a16:creationId xmlns:a16="http://schemas.microsoft.com/office/drawing/2014/main" id="{C23EB37D-E54F-4616-A90D-61E9E55E00D7}"/>
              </a:ext>
            </a:extLst>
          </p:cNvPr>
          <p:cNvSpPr>
            <a:spLocks xmlns:a="http://schemas.openxmlformats.org/drawingml/2006/main" noGrp="1"/>
          </p:cNvSpPr>
          <p:nvPr/>
        </p:nvSpPr>
        <p:spPr>
          <a:xfrm xmlns:a="http://schemas.openxmlformats.org/drawingml/2006/main">
            <a:off x="609600" y="15335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1  Identify the rule</a:t>
            </a:r>
          </a:p>
        </p:txBody>
      </p:sp>
      <p:sp>
        <p:nvSpPr>
          <p:cNvPr id="4" name="text">
            <a:extLst xmlns:a="http://schemas.openxmlformats.org/drawingml/2006/main">
              <a:ext uri="{FF2B5EF4-FFF2-40B4-BE49-F238E27FC236}">
                <a16:creationId xmlns:a16="http://schemas.microsoft.com/office/drawing/2014/main" id="{20FEDFFD-B50D-46E0-A117-34BAB5300787}"/>
              </a:ext>
            </a:extLst>
          </p:cNvPr>
          <p:cNvSpPr>
            <a:spLocks xmlns:a="http://schemas.openxmlformats.org/drawingml/2006/main" noGrp="1"/>
          </p:cNvSpPr>
          <p:nvPr/>
        </p:nvSpPr>
        <p:spPr>
          <a:xfrm xmlns:a="http://schemas.openxmlformats.org/drawingml/2006/main">
            <a:off x="609600" y="1943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63746"/>
                </a:solidFill>
                <a:latin typeface="Arial"/>
                <a:ea typeface="Arial"/>
                <a:cs typeface="Arial"/>
              </a:defRPr>
            </a:pPr>
            <a:r>
              <a:rPr sz="2400" b="0">
                <a:solidFill>
                  <a:srgbClr val="263746"/>
                </a:solidFill>
                <a:latin typeface="Arial"/>
                <a:ea typeface="Arial"/>
                <a:cs typeface="Arial"/>
              </a:rPr>
              <a:t>CSStudent(x) → StudiesProgramming(x)</a:t>
            </a:r>
          </a:p>
        </p:txBody>
      </p:sp>
      <p:sp>
        <p:nvSpPr>
          <p:cNvPr id="5" name="text">
            <a:extLst xmlns:a="http://schemas.openxmlformats.org/drawingml/2006/main">
              <a:ext uri="{FF2B5EF4-FFF2-40B4-BE49-F238E27FC236}">
                <a16:creationId xmlns:a16="http://schemas.microsoft.com/office/drawing/2014/main" id="{E3F315FD-504A-435B-AB1A-63270B124CC6}"/>
              </a:ext>
            </a:extLst>
          </p:cNvPr>
          <p:cNvSpPr>
            <a:spLocks xmlns:a="http://schemas.openxmlformats.org/drawingml/2006/main" noGrp="1"/>
          </p:cNvSpPr>
          <p:nvPr/>
        </p:nvSpPr>
        <p:spPr>
          <a:xfrm xmlns:a="http://schemas.openxmlformats.org/drawingml/2006/main">
            <a:off x="609600" y="25908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2  Find the matching fact</a:t>
            </a:r>
          </a:p>
        </p:txBody>
      </p:sp>
      <p:sp>
        <p:nvSpPr>
          <p:cNvPr id="6" name="text">
            <a:extLst xmlns:a="http://schemas.openxmlformats.org/drawingml/2006/main">
              <a:ext uri="{FF2B5EF4-FFF2-40B4-BE49-F238E27FC236}">
                <a16:creationId xmlns:a16="http://schemas.microsoft.com/office/drawing/2014/main" id="{D03229EA-1B5D-4F50-AEE8-6AFDCAA107E0}"/>
              </a:ext>
            </a:extLst>
          </p:cNvPr>
          <p:cNvSpPr>
            <a:spLocks xmlns:a="http://schemas.openxmlformats.org/drawingml/2006/main" noGrp="1"/>
          </p:cNvSpPr>
          <p:nvPr/>
        </p:nvSpPr>
        <p:spPr>
          <a:xfrm xmlns:a="http://schemas.openxmlformats.org/drawingml/2006/main">
            <a:off x="609600" y="30003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63746"/>
                </a:solidFill>
                <a:latin typeface="Arial"/>
                <a:ea typeface="Arial"/>
                <a:cs typeface="Arial"/>
              </a:defRPr>
            </a:pPr>
            <a:r>
              <a:rPr sz="2400" b="0">
                <a:solidFill>
                  <a:srgbClr val="263746"/>
                </a:solidFill>
                <a:latin typeface="Arial"/>
                <a:ea typeface="Arial"/>
                <a:cs typeface="Arial"/>
              </a:rPr>
              <a:t>CSStudent(Ahmed)</a:t>
            </a:r>
          </a:p>
        </p:txBody>
      </p:sp>
      <p:sp>
        <p:nvSpPr>
          <p:cNvPr id="7" name="text">
            <a:extLst xmlns:a="http://schemas.openxmlformats.org/drawingml/2006/main">
              <a:ext uri="{FF2B5EF4-FFF2-40B4-BE49-F238E27FC236}">
                <a16:creationId xmlns:a16="http://schemas.microsoft.com/office/drawing/2014/main" id="{D3DE730B-67D2-4488-A727-6D63F1196F2D}"/>
              </a:ext>
            </a:extLst>
          </p:cNvPr>
          <p:cNvSpPr>
            <a:spLocks xmlns:a="http://schemas.openxmlformats.org/drawingml/2006/main" noGrp="1"/>
          </p:cNvSpPr>
          <p:nvPr/>
        </p:nvSpPr>
        <p:spPr>
          <a:xfrm xmlns:a="http://schemas.openxmlformats.org/drawingml/2006/main">
            <a:off x="609600" y="36480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3  Substitute the individual</a:t>
            </a:r>
          </a:p>
        </p:txBody>
      </p:sp>
      <p:sp>
        <p:nvSpPr>
          <p:cNvPr id="8" name="text">
            <a:extLst xmlns:a="http://schemas.openxmlformats.org/drawingml/2006/main">
              <a:ext uri="{FF2B5EF4-FFF2-40B4-BE49-F238E27FC236}">
                <a16:creationId xmlns:a16="http://schemas.microsoft.com/office/drawing/2014/main" id="{82BF3A3F-247A-42D3-9BFD-FA50F40C26A1}"/>
              </a:ext>
            </a:extLst>
          </p:cNvPr>
          <p:cNvSpPr>
            <a:spLocks xmlns:a="http://schemas.openxmlformats.org/drawingml/2006/main" noGrp="1"/>
          </p:cNvSpPr>
          <p:nvPr/>
        </p:nvSpPr>
        <p:spPr>
          <a:xfrm xmlns:a="http://schemas.openxmlformats.org/drawingml/2006/main">
            <a:off x="609600" y="40576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63746"/>
                </a:solidFill>
                <a:latin typeface="Arial"/>
                <a:ea typeface="Arial"/>
                <a:cs typeface="Arial"/>
              </a:defRPr>
            </a:pPr>
            <a:r>
              <a:rPr sz="2400" b="0">
                <a:solidFill>
                  <a:srgbClr val="263746"/>
                </a:solidFill>
                <a:latin typeface="Arial"/>
                <a:ea typeface="Arial"/>
                <a:cs typeface="Arial"/>
              </a:rPr>
              <a:t>x = Ahmed</a:t>
            </a:r>
          </a:p>
        </p:txBody>
      </p:sp>
      <p:sp>
        <p:nvSpPr>
          <p:cNvPr id="9" name="text">
            <a:extLst xmlns:a="http://schemas.openxmlformats.org/drawingml/2006/main">
              <a:ext uri="{FF2B5EF4-FFF2-40B4-BE49-F238E27FC236}">
                <a16:creationId xmlns:a16="http://schemas.microsoft.com/office/drawing/2014/main" id="{05FDE139-9367-4A0B-93A2-2D737997D70B}"/>
              </a:ext>
            </a:extLst>
          </p:cNvPr>
          <p:cNvSpPr>
            <a:spLocks xmlns:a="http://schemas.openxmlformats.org/drawingml/2006/main" noGrp="1"/>
          </p:cNvSpPr>
          <p:nvPr/>
        </p:nvSpPr>
        <p:spPr>
          <a:xfrm xmlns:a="http://schemas.openxmlformats.org/drawingml/2006/main">
            <a:off x="609600" y="47053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4  Derive the conclusion</a:t>
            </a:r>
          </a:p>
        </p:txBody>
      </p:sp>
      <p:sp>
        <p:nvSpPr>
          <p:cNvPr id="10" name="text">
            <a:extLst xmlns:a="http://schemas.openxmlformats.org/drawingml/2006/main">
              <a:ext uri="{FF2B5EF4-FFF2-40B4-BE49-F238E27FC236}">
                <a16:creationId xmlns:a16="http://schemas.microsoft.com/office/drawing/2014/main" id="{741CBD98-6031-4D76-844E-FC404E66ADAF}"/>
              </a:ext>
            </a:extLst>
          </p:cNvPr>
          <p:cNvSpPr>
            <a:spLocks xmlns:a="http://schemas.openxmlformats.org/drawingml/2006/main" noGrp="1"/>
          </p:cNvSpPr>
          <p:nvPr/>
        </p:nvSpPr>
        <p:spPr>
          <a:xfrm xmlns:a="http://schemas.openxmlformats.org/drawingml/2006/main">
            <a:off x="609600" y="51149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63746"/>
                </a:solidFill>
                <a:latin typeface="Arial"/>
                <a:ea typeface="Arial"/>
                <a:cs typeface="Arial"/>
              </a:defRPr>
            </a:pPr>
            <a:r>
              <a:rPr sz="2400" b="0">
                <a:solidFill>
                  <a:srgbClr val="263746"/>
                </a:solidFill>
                <a:latin typeface="Arial"/>
                <a:ea typeface="Arial"/>
                <a:cs typeface="Arial"/>
              </a:rPr>
              <a:t>StudiesProgramming(Ahmed)</a:t>
            </a:r>
          </a:p>
        </p:txBody>
      </p:sp>
      <p:sp>
        <p:nvSpPr>
          <p:cNvPr id="11" name="text">
            <a:extLst xmlns:a="http://schemas.openxmlformats.org/drawingml/2006/main">
              <a:ext uri="{FF2B5EF4-FFF2-40B4-BE49-F238E27FC236}">
                <a16:creationId xmlns:a16="http://schemas.microsoft.com/office/drawing/2014/main" id="{DBC939BB-B0CC-4ABA-9790-EA097252661C}"/>
              </a:ext>
            </a:extLst>
          </p:cNvPr>
          <p:cNvSpPr>
            <a:spLocks xmlns:a="http://schemas.openxmlformats.org/drawingml/2006/main" noGrp="1"/>
          </p:cNvSpPr>
          <p:nvPr/>
        </p:nvSpPr>
        <p:spPr>
          <a:xfrm xmlns:a="http://schemas.openxmlformats.org/drawingml/2006/main">
            <a:off x="609600" y="60388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66570"/>
                </a:solidFill>
                <a:latin typeface="Arial"/>
                <a:ea typeface="Arial"/>
                <a:cs typeface="Arial"/>
              </a:defRPr>
            </a:pPr>
            <a:r>
              <a:rPr sz="1800" b="0">
                <a:solidFill>
                  <a:srgbClr val="566570"/>
                </a:solidFill>
                <a:latin typeface="Arial"/>
                <a:ea typeface="Arial"/>
                <a:cs typeface="Arial"/>
              </a:rPr>
              <a:t>Ahmed studies programming.</a:t>
            </a:r>
          </a:p>
        </p:txBody>
      </p:sp>
    </p:spTree>
    <p:extLst>
      <p:ext uri="{BB962C8B-B14F-4D97-AF65-F5344CB8AC3E}">
        <p14:creationId xmlns:p14="http://schemas.microsoft.com/office/powerpoint/2010/main" val="36444574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BD6D6FA8-F42A-428A-86D1-30740C140E90}"/>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Practice: Reasoning Through Categories</a:t>
            </a:r>
          </a:p>
        </p:txBody>
      </p:sp>
      <p:sp>
        <p:nvSpPr>
          <p:cNvPr id="2" name="slide-number">
            <a:extLst xmlns:a="http://schemas.openxmlformats.org/drawingml/2006/main">
              <a:ext uri="{FF2B5EF4-FFF2-40B4-BE49-F238E27FC236}">
                <a16:creationId xmlns:a16="http://schemas.microsoft.com/office/drawing/2014/main" id="{6965CA12-7B32-44B5-94C4-1B646789A78C}"/>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a:solidFill>
                  <a:srgbClr val="566570"/>
                </a:solidFill>
                <a:latin typeface="Arial"/>
                <a:ea typeface="Arial"/>
                <a:cs typeface="Arial"/>
              </a:defRPr>
            </a:pPr>
            <a:r>
              <a:rPr sz="1350">
                <a:solidFill>
                  <a:srgbClr val="566570"/>
                </a:solidFill>
                <a:latin typeface="Arial"/>
                <a:ea typeface="Arial"/>
                <a:cs typeface="Arial"/>
              </a:rPr>
              <a:t>19</a:t>
            </a:r>
          </a:p>
        </p:txBody>
      </p:sp>
      <p:sp>
        <p:nvSpPr>
          <p:cNvPr id="3" name="assessment-text">
            <a:extLst xmlns:a="http://schemas.openxmlformats.org/drawingml/2006/main">
              <a:ext uri="{FF2B5EF4-FFF2-40B4-BE49-F238E27FC236}">
                <a16:creationId xmlns:a16="http://schemas.microsoft.com/office/drawing/2014/main" id="{C009786D-B95D-4566-84F7-9425FC247798}"/>
              </a:ext>
            </a:extLst>
          </p:cNvPr>
          <p:cNvSpPr>
            <a:spLocks xmlns:a="http://schemas.openxmlformats.org/drawingml/2006/main" noGrp="1"/>
          </p:cNvSpPr>
          <p:nvPr/>
        </p:nvSpPr>
        <p:spPr>
          <a:xfrm xmlns:a="http://schemas.openxmlformats.org/drawingml/2006/main">
            <a:off x="609600" y="15716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Given these relationships:</a:t>
            </a:r>
          </a:p>
        </p:txBody>
      </p:sp>
      <p:sp>
        <p:nvSpPr>
          <p:cNvPr id="4" name="assessment-text">
            <a:extLst xmlns:a="http://schemas.openxmlformats.org/drawingml/2006/main">
              <a:ext uri="{FF2B5EF4-FFF2-40B4-BE49-F238E27FC236}">
                <a16:creationId xmlns:a16="http://schemas.microsoft.com/office/drawing/2014/main" id="{765084D3-EA47-4531-A256-79FE38564035}"/>
              </a:ext>
            </a:extLst>
          </p:cNvPr>
          <p:cNvSpPr>
            <a:spLocks xmlns:a="http://schemas.openxmlformats.org/drawingml/2006/main" noGrp="1"/>
          </p:cNvSpPr>
          <p:nvPr/>
        </p:nvSpPr>
        <p:spPr>
          <a:xfrm xmlns:a="http://schemas.openxmlformats.org/drawingml/2006/main">
            <a:off x="609600" y="2381250"/>
            <a:ext cx="109728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3449"/>
                </a:solidFill>
                <a:latin typeface="Arial"/>
                <a:ea typeface="Arial"/>
                <a:cs typeface="Arial"/>
              </a:defRPr>
            </a:pPr>
            <a:r>
              <a:rPr sz="2625" b="1">
                <a:solidFill>
                  <a:srgbClr val="173449"/>
                </a:solidFill>
                <a:latin typeface="Arial"/>
                <a:ea typeface="Arial"/>
                <a:cs typeface="Arial"/>
              </a:rPr>
              <a:t>Dog(x) → Animal(x)</a:t>
            </a:r>
          </a:p>
          <a:p xmlns:a="http://schemas.openxmlformats.org/drawingml/2006/main">
            <a:pPr>
              <a:defRPr sz="2625" b="1">
                <a:solidFill>
                  <a:srgbClr val="173449"/>
                </a:solidFill>
                <a:latin typeface="Arial"/>
                <a:ea typeface="Arial"/>
                <a:cs typeface="Arial"/>
              </a:defRPr>
            </a:pPr>
            <a:r>
              <a:rPr sz="2625" b="1">
                <a:solidFill>
                  <a:srgbClr val="173449"/>
                </a:solidFill>
                <a:latin typeface="Arial"/>
                <a:ea typeface="Arial"/>
                <a:cs typeface="Arial"/>
              </a:rPr>
              <a:t>Animal(x) → LivingThing(x)</a:t>
            </a:r>
          </a:p>
          <a:p xmlns:a="http://schemas.openxmlformats.org/drawingml/2006/main">
            <a:pPr>
              <a:defRPr sz="2625" b="1">
                <a:solidFill>
                  <a:srgbClr val="173449"/>
                </a:solidFill>
                <a:latin typeface="Arial"/>
                <a:ea typeface="Arial"/>
                <a:cs typeface="Arial"/>
              </a:defRPr>
            </a:pPr>
            <a:r>
              <a:rPr sz="2625" b="1">
                <a:solidFill>
                  <a:srgbClr val="173449"/>
                </a:solidFill>
                <a:latin typeface="Arial"/>
                <a:ea typeface="Arial"/>
                <a:cs typeface="Arial"/>
              </a:rPr>
              <a:t>LivingThing(x) → RequiresEnergy(x)</a:t>
            </a:r>
          </a:p>
        </p:txBody>
      </p:sp>
      <p:sp>
        <p:nvSpPr>
          <p:cNvPr id="5" name="assessment-text">
            <a:extLst xmlns:a="http://schemas.openxmlformats.org/drawingml/2006/main">
              <a:ext uri="{FF2B5EF4-FFF2-40B4-BE49-F238E27FC236}">
                <a16:creationId xmlns:a16="http://schemas.microsoft.com/office/drawing/2014/main" id="{0F085560-CF18-48A8-B414-291D68EAFBF2}"/>
              </a:ext>
            </a:extLst>
          </p:cNvPr>
          <p:cNvSpPr>
            <a:spLocks xmlns:a="http://schemas.openxmlformats.org/drawingml/2006/main" noGrp="1"/>
          </p:cNvSpPr>
          <p:nvPr/>
        </p:nvSpPr>
        <p:spPr>
          <a:xfrm xmlns:a="http://schemas.openxmlformats.org/drawingml/2006/main">
            <a:off x="609600" y="45529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a:solidFill>
                  <a:srgbClr val="263746"/>
                </a:solidFill>
                <a:latin typeface="Arial"/>
                <a:ea typeface="Arial"/>
                <a:cs typeface="Arial"/>
              </a:defRPr>
            </a:pPr>
            <a:r>
              <a:rPr sz="2775">
                <a:solidFill>
                  <a:srgbClr val="263746"/>
                </a:solidFill>
                <a:latin typeface="Arial"/>
                <a:ea typeface="Arial"/>
                <a:cs typeface="Arial"/>
              </a:rPr>
              <a:t>Does a dog require energy?</a:t>
            </a:r>
          </a:p>
        </p:txBody>
      </p:sp>
      <p:sp>
        <p:nvSpPr>
          <p:cNvPr id="6" name="assessment-text">
            <a:extLst xmlns:a="http://schemas.openxmlformats.org/drawingml/2006/main">
              <a:ext uri="{FF2B5EF4-FFF2-40B4-BE49-F238E27FC236}">
                <a16:creationId xmlns:a16="http://schemas.microsoft.com/office/drawing/2014/main" id="{033BFC23-7C21-48BE-B9A2-401EC35053B2}"/>
              </a:ext>
            </a:extLst>
          </p:cNvPr>
          <p:cNvSpPr>
            <a:spLocks xmlns:a="http://schemas.openxmlformats.org/drawingml/2006/main" noGrp="1"/>
          </p:cNvSpPr>
          <p:nvPr/>
        </p:nvSpPr>
        <p:spPr>
          <a:xfrm xmlns:a="http://schemas.openxmlformats.org/drawingml/2006/main">
            <a:off x="609600" y="55816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087F8C"/>
                </a:solidFill>
                <a:latin typeface="Arial"/>
                <a:ea typeface="Arial"/>
                <a:cs typeface="Arial"/>
              </a:defRPr>
            </a:pPr>
            <a:r>
              <a:rPr sz="2250">
                <a:solidFill>
                  <a:srgbClr val="087F8C"/>
                </a:solidFill>
                <a:latin typeface="Arial"/>
                <a:ea typeface="Arial"/>
                <a:cs typeface="Arial"/>
              </a:rPr>
              <a:t>Show the reasoning chain that supports your answer.</a:t>
            </a:r>
          </a:p>
        </p:txBody>
      </p:sp>
    </p:spTree>
    <p:extLst>
      <p:ext uri="{BB962C8B-B14F-4D97-AF65-F5344CB8AC3E}">
        <p14:creationId xmlns:p14="http://schemas.microsoft.com/office/powerpoint/2010/main" val="121444507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72E88E68-1362-47AD-8BC4-2CB1597E37E6}"/>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Reasoning Across Several Rules</a:t>
            </a:r>
          </a:p>
        </p:txBody>
      </p:sp>
      <p:sp>
        <p:nvSpPr>
          <p:cNvPr id="2" name="slide-number">
            <a:extLst xmlns:a="http://schemas.openxmlformats.org/drawingml/2006/main">
              <a:ext uri="{FF2B5EF4-FFF2-40B4-BE49-F238E27FC236}">
                <a16:creationId xmlns:a16="http://schemas.microsoft.com/office/drawing/2014/main" id="{FBE0F0A4-858E-4C45-A89E-5F9585B6BE7A}"/>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20</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198b41d2d649419a"/>
          <a:stretch xmlns:a="http://schemas.openxmlformats.org/drawingml/2006/main"/>
        </p:blipFill>
        <p:spPr>
          <a:xfrm xmlns:a="http://schemas.openxmlformats.org/drawingml/2006/main">
            <a:off x="1666875" y="1381125"/>
            <a:ext cx="8858250" cy="2952750"/>
          </a:xfrm>
          <a:prstGeom xmlns:a="http://schemas.openxmlformats.org/drawingml/2006/main" prst="rect">
            <a:avLst/>
          </a:prstGeom>
        </p:spPr>
      </p:pic>
      <p:sp>
        <p:nvSpPr>
          <p:cNvPr id="13" name="visual-caption">
            <a:extLst xmlns:a="http://schemas.openxmlformats.org/drawingml/2006/main">
              <a:ext uri="{FF2B5EF4-FFF2-40B4-BE49-F238E27FC236}">
                <a16:creationId xmlns:a16="http://schemas.microsoft.com/office/drawing/2014/main" id="{B16F0A3F-4E24-49E8-8626-AD54DA1651F0}"/>
              </a:ext>
            </a:extLst>
          </p:cNvPr>
          <p:cNvSpPr>
            <a:spLocks xmlns:a="http://schemas.openxmlformats.org/drawingml/2006/main" noGrp="1"/>
          </p:cNvSpPr>
          <p:nvPr/>
        </p:nvSpPr>
        <p:spPr>
          <a:xfrm xmlns:a="http://schemas.openxmlformats.org/drawingml/2006/main">
            <a:off x="609600" y="4362450"/>
            <a:ext cx="7143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73449"/>
                </a:solidFill>
                <a:latin typeface="Arial"/>
                <a:ea typeface="Arial"/>
                <a:cs typeface="Arial"/>
              </a:defRPr>
            </a:pPr>
            <a:r>
              <a:rPr sz="2175" b="0">
                <a:solidFill>
                  <a:srgbClr val="173449"/>
                </a:solidFill>
                <a:latin typeface="Arial"/>
                <a:ea typeface="Arial"/>
                <a:cs typeface="Arial"/>
              </a:rPr>
              <a:t>Dog(x) → Animal(x)</a:t>
            </a:r>
          </a:p>
          <a:p xmlns:a="http://schemas.openxmlformats.org/drawingml/2006/main">
            <a:pPr>
              <a:buNone/>
              <a:defRPr sz="2175" b="0">
                <a:solidFill>
                  <a:srgbClr val="173449"/>
                </a:solidFill>
                <a:latin typeface="Arial"/>
                <a:ea typeface="Arial"/>
                <a:cs typeface="Arial"/>
              </a:defRPr>
            </a:pPr>
            <a:r>
              <a:rPr sz="2175" b="0">
                <a:solidFill>
                  <a:srgbClr val="173449"/>
                </a:solidFill>
                <a:latin typeface="Arial"/>
                <a:ea typeface="Arial"/>
                <a:cs typeface="Arial"/>
              </a:rPr>
              <a:t>Animal(x) → LivingThing(x)</a:t>
            </a:r>
          </a:p>
          <a:p xmlns:a="http://schemas.openxmlformats.org/drawingml/2006/main">
            <a:pPr>
              <a:buNone/>
              <a:defRPr sz="2175" b="0">
                <a:solidFill>
                  <a:srgbClr val="173449"/>
                </a:solidFill>
                <a:latin typeface="Arial"/>
                <a:ea typeface="Arial"/>
                <a:cs typeface="Arial"/>
              </a:defRPr>
            </a:pPr>
            <a:r>
              <a:rPr sz="2175" b="0">
                <a:solidFill>
                  <a:srgbClr val="173449"/>
                </a:solidFill>
                <a:latin typeface="Arial"/>
                <a:ea typeface="Arial"/>
                <a:cs typeface="Arial"/>
              </a:rPr>
              <a:t>LivingThing(x) → RequiresEnergy(x)</a:t>
            </a:r>
          </a:p>
        </p:txBody>
      </p:sp>
      <p:sp>
        <p:nvSpPr>
          <p:cNvPr id="14" name="visual-caption">
            <a:extLst xmlns:a="http://schemas.openxmlformats.org/drawingml/2006/main">
              <a:ext uri="{FF2B5EF4-FFF2-40B4-BE49-F238E27FC236}">
                <a16:creationId xmlns:a16="http://schemas.microsoft.com/office/drawing/2014/main" id="{A7402365-C7AF-4512-B6E4-0518D5135AAE}"/>
              </a:ext>
            </a:extLst>
          </p:cNvPr>
          <p:cNvSpPr>
            <a:spLocks xmlns:a="http://schemas.openxmlformats.org/drawingml/2006/main" noGrp="1"/>
          </p:cNvSpPr>
          <p:nvPr/>
        </p:nvSpPr>
        <p:spPr>
          <a:xfrm xmlns:a="http://schemas.openxmlformats.org/drawingml/2006/main">
            <a:off x="8277225" y="4429125"/>
            <a:ext cx="33051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087F8C"/>
                </a:solidFill>
                <a:latin typeface="Arial"/>
                <a:ea typeface="Arial"/>
                <a:cs typeface="Arial"/>
              </a:defRPr>
            </a:pPr>
            <a:r>
              <a:rPr sz="2025" b="1">
                <a:solidFill>
                  <a:srgbClr val="087F8C"/>
                </a:solidFill>
                <a:latin typeface="Arial"/>
                <a:ea typeface="Arial"/>
                <a:cs typeface="Arial"/>
              </a:rPr>
              <a:t>Derived rule</a:t>
            </a:r>
          </a:p>
        </p:txBody>
      </p:sp>
      <p:sp>
        <p:nvSpPr>
          <p:cNvPr id="15" name="visual-caption">
            <a:extLst xmlns:a="http://schemas.openxmlformats.org/drawingml/2006/main">
              <a:ext uri="{FF2B5EF4-FFF2-40B4-BE49-F238E27FC236}">
                <a16:creationId xmlns:a16="http://schemas.microsoft.com/office/drawing/2014/main" id="{148692D5-B63E-42E1-BE55-7EC0A57DEF00}"/>
              </a:ext>
            </a:extLst>
          </p:cNvPr>
          <p:cNvSpPr>
            <a:spLocks xmlns:a="http://schemas.openxmlformats.org/drawingml/2006/main" noGrp="1"/>
          </p:cNvSpPr>
          <p:nvPr/>
        </p:nvSpPr>
        <p:spPr>
          <a:xfrm xmlns:a="http://schemas.openxmlformats.org/drawingml/2006/main">
            <a:off x="8277225" y="4905375"/>
            <a:ext cx="3305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173449"/>
                </a:solidFill>
                <a:latin typeface="Arial"/>
                <a:ea typeface="Arial"/>
                <a:cs typeface="Arial"/>
              </a:defRPr>
            </a:pPr>
            <a:r>
              <a:rPr sz="2175" b="1">
                <a:solidFill>
                  <a:srgbClr val="173449"/>
                </a:solidFill>
                <a:latin typeface="Arial"/>
                <a:ea typeface="Arial"/>
                <a:cs typeface="Arial"/>
              </a:rPr>
              <a:t>Dog(x) →</a:t>
            </a:r>
          </a:p>
          <a:p xmlns:a="http://schemas.openxmlformats.org/drawingml/2006/main">
            <a:pPr>
              <a:buNone/>
              <a:defRPr sz="2175" b="1">
                <a:solidFill>
                  <a:srgbClr val="173449"/>
                </a:solidFill>
                <a:latin typeface="Arial"/>
                <a:ea typeface="Arial"/>
                <a:cs typeface="Arial"/>
              </a:defRPr>
            </a:pPr>
            <a:r>
              <a:rPr sz="2175" b="1">
                <a:solidFill>
                  <a:srgbClr val="173449"/>
                </a:solidFill>
                <a:latin typeface="Arial"/>
                <a:ea typeface="Arial"/>
                <a:cs typeface="Arial"/>
              </a:rPr>
              <a:t>RequiresEnergy(x)</a:t>
            </a:r>
          </a:p>
        </p:txBody>
      </p:sp>
      <p:sp>
        <p:nvSpPr>
          <p:cNvPr id="16" name="visual-caption">
            <a:extLst xmlns:a="http://schemas.openxmlformats.org/drawingml/2006/main">
              <a:ext uri="{FF2B5EF4-FFF2-40B4-BE49-F238E27FC236}">
                <a16:creationId xmlns:a16="http://schemas.microsoft.com/office/drawing/2014/main" id="{D3A556A3-89BC-4A1A-BEE2-980FE61E239B}"/>
              </a:ext>
            </a:extLst>
          </p:cNvPr>
          <p:cNvSpPr>
            <a:spLocks xmlns:a="http://schemas.openxmlformats.org/drawingml/2006/main" noGrp="1"/>
          </p:cNvSpPr>
          <p:nvPr/>
        </p:nvSpPr>
        <p:spPr>
          <a:xfrm xmlns:a="http://schemas.openxmlformats.org/drawingml/2006/main">
            <a:off x="609600" y="60864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566570"/>
                </a:solidFill>
                <a:latin typeface="Arial"/>
                <a:ea typeface="Arial"/>
                <a:cs typeface="Arial"/>
              </a:defRPr>
            </a:pPr>
            <a:r>
              <a:rPr sz="1875" b="0">
                <a:solidFill>
                  <a:srgbClr val="566570"/>
                </a:solidFill>
                <a:latin typeface="Arial"/>
                <a:ea typeface="Arial"/>
                <a:cs typeface="Arial"/>
              </a:rPr>
              <a:t>A conclusion from one rule can support the next reasoning step.</a:t>
            </a:r>
          </a:p>
        </p:txBody>
      </p:sp>
    </p:spTree>
    <p:extLst>
      <p:ext uri="{BB962C8B-B14F-4D97-AF65-F5344CB8AC3E}">
        <p14:creationId xmlns:p14="http://schemas.microsoft.com/office/powerpoint/2010/main" val="213645153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3FE3DC0-50C0-4BBA-8A74-3704974B5ED3}"/>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Inductive Reasoning</a:t>
            </a:r>
          </a:p>
        </p:txBody>
      </p:sp>
      <p:sp>
        <p:nvSpPr>
          <p:cNvPr id="2" name="slide-number">
            <a:extLst xmlns:a="http://schemas.openxmlformats.org/drawingml/2006/main">
              <a:ext uri="{FF2B5EF4-FFF2-40B4-BE49-F238E27FC236}">
                <a16:creationId xmlns:a16="http://schemas.microsoft.com/office/drawing/2014/main" id="{A71CAB19-9BAC-4A79-A855-38CB7F009525}"/>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21</a:t>
            </a:r>
          </a:p>
        </p:txBody>
      </p:sp>
      <p:sp>
        <p:nvSpPr>
          <p:cNvPr id="10" name="visual-caption">
            <a:extLst xmlns:a="http://schemas.openxmlformats.org/drawingml/2006/main">
              <a:ext uri="{FF2B5EF4-FFF2-40B4-BE49-F238E27FC236}">
                <a16:creationId xmlns:a16="http://schemas.microsoft.com/office/drawing/2014/main" id="{E8175CF0-027B-4F93-B529-8A02CDB4DE7A}"/>
              </a:ext>
            </a:extLst>
          </p:cNvPr>
          <p:cNvSpPr>
            <a:spLocks xmlns:a="http://schemas.openxmlformats.org/drawingml/2006/main" noGrp="1"/>
          </p:cNvSpPr>
          <p:nvPr/>
        </p:nvSpPr>
        <p:spPr>
          <a:xfrm xmlns:a="http://schemas.openxmlformats.org/drawingml/2006/main">
            <a:off x="609600" y="1400175"/>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Induction uses observations to support a generalization.</a:t>
            </a:r>
          </a:p>
        </p:txBody>
      </p:sp>
      <p:graphicFrame>
        <p:nvGraphicFramePr>
          <p:cNvPr id="21" name="Chart"/>
          <p:cNvGraphicFramePr/>
          <p:nvPr/>
        </p:nvGraphicFramePr>
        <p:xfrm>
          <a:off xmlns:a="http://schemas.openxmlformats.org/drawingml/2006/main" x="571500" y="2238375"/>
          <a:ext xmlns:a="http://schemas.openxmlformats.org/drawingml/2006/main" cx="6477000" cy="3419475"/>
        </p:xfrm>
        <a:graphic xmlns:a="http://schemas.openxmlformats.org/drawingml/2006/main">
          <a:graphicData uri="http://schemas.openxmlformats.org/drawingml/2006/chart">
            <c:chart xmlns:r="http://schemas.openxmlformats.org/officeDocument/2006/relationships" xmlns:c="http://schemas.openxmlformats.org/drawingml/2006/chart" r:id="R4415f7cb459249ee"/>
          </a:graphicData>
        </a:graphic>
      </p:graphicFrame>
      <p:sp>
        <p:nvSpPr>
          <p:cNvPr id="12" name="visual-caption">
            <a:extLst xmlns:a="http://schemas.openxmlformats.org/drawingml/2006/main">
              <a:ext uri="{FF2B5EF4-FFF2-40B4-BE49-F238E27FC236}">
                <a16:creationId xmlns:a16="http://schemas.microsoft.com/office/drawing/2014/main" id="{D6B1B9B5-3AC7-4A49-BF31-0A351DFE6F6C}"/>
              </a:ext>
            </a:extLst>
          </p:cNvPr>
          <p:cNvSpPr>
            <a:spLocks xmlns:a="http://schemas.openxmlformats.org/drawingml/2006/main" noGrp="1"/>
          </p:cNvSpPr>
          <p:nvPr/>
        </p:nvSpPr>
        <p:spPr>
          <a:xfrm xmlns:a="http://schemas.openxmlformats.org/drawingml/2006/main">
            <a:off x="7524750" y="2409825"/>
            <a:ext cx="4057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Observation</a:t>
            </a:r>
          </a:p>
        </p:txBody>
      </p:sp>
      <p:sp>
        <p:nvSpPr>
          <p:cNvPr id="13" name="visual-caption">
            <a:extLst xmlns:a="http://schemas.openxmlformats.org/drawingml/2006/main">
              <a:ext uri="{FF2B5EF4-FFF2-40B4-BE49-F238E27FC236}">
                <a16:creationId xmlns:a16="http://schemas.microsoft.com/office/drawing/2014/main" id="{3456487B-168F-4B3B-B7B5-E8EBA74F2A4F}"/>
              </a:ext>
            </a:extLst>
          </p:cNvPr>
          <p:cNvSpPr>
            <a:spLocks xmlns:a="http://schemas.openxmlformats.org/drawingml/2006/main" noGrp="1"/>
          </p:cNvSpPr>
          <p:nvPr/>
        </p:nvSpPr>
        <p:spPr>
          <a:xfrm xmlns:a="http://schemas.openxmlformats.org/drawingml/2006/main">
            <a:off x="7524750" y="2819400"/>
            <a:ext cx="40576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263746"/>
                </a:solidFill>
                <a:latin typeface="Arial"/>
                <a:ea typeface="Arial"/>
                <a:cs typeface="Arial"/>
              </a:defRPr>
            </a:pPr>
            <a:r>
              <a:rPr sz="2250" b="0">
                <a:solidFill>
                  <a:srgbClr val="263746"/>
                </a:solidFill>
                <a:latin typeface="Arial"/>
                <a:ea typeface="Arial"/>
                <a:cs typeface="Arial"/>
              </a:rPr>
              <a:t>All four observed crows are black.</a:t>
            </a:r>
          </a:p>
        </p:txBody>
      </p:sp>
      <p:sp>
        <p:nvSpPr>
          <p:cNvPr id="14" name="visual-caption">
            <a:extLst xmlns:a="http://schemas.openxmlformats.org/drawingml/2006/main">
              <a:ext uri="{FF2B5EF4-FFF2-40B4-BE49-F238E27FC236}">
                <a16:creationId xmlns:a16="http://schemas.microsoft.com/office/drawing/2014/main" id="{C39C893E-8DA7-417A-AB4C-25FF8E99125D}"/>
              </a:ext>
            </a:extLst>
          </p:cNvPr>
          <p:cNvSpPr>
            <a:spLocks xmlns:a="http://schemas.openxmlformats.org/drawingml/2006/main" noGrp="1"/>
          </p:cNvSpPr>
          <p:nvPr/>
        </p:nvSpPr>
        <p:spPr>
          <a:xfrm xmlns:a="http://schemas.openxmlformats.org/drawingml/2006/main">
            <a:off x="7524750" y="4105275"/>
            <a:ext cx="4057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Generalization</a:t>
            </a:r>
          </a:p>
        </p:txBody>
      </p:sp>
      <p:sp>
        <p:nvSpPr>
          <p:cNvPr id="15" name="visual-caption">
            <a:extLst xmlns:a="http://schemas.openxmlformats.org/drawingml/2006/main">
              <a:ext uri="{FF2B5EF4-FFF2-40B4-BE49-F238E27FC236}">
                <a16:creationId xmlns:a16="http://schemas.microsoft.com/office/drawing/2014/main" id="{13099EB8-ED8F-49A5-941A-C22F44D2481B}"/>
              </a:ext>
            </a:extLst>
          </p:cNvPr>
          <p:cNvSpPr>
            <a:spLocks xmlns:a="http://schemas.openxmlformats.org/drawingml/2006/main" noGrp="1"/>
          </p:cNvSpPr>
          <p:nvPr/>
        </p:nvSpPr>
        <p:spPr>
          <a:xfrm xmlns:a="http://schemas.openxmlformats.org/drawingml/2006/main">
            <a:off x="7524750" y="4514850"/>
            <a:ext cx="40576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Crows are generally black.</a:t>
            </a:r>
          </a:p>
        </p:txBody>
      </p:sp>
      <p:sp>
        <p:nvSpPr>
          <p:cNvPr id="16" name="visual-caption">
            <a:extLst xmlns:a="http://schemas.openxmlformats.org/drawingml/2006/main">
              <a:ext uri="{FF2B5EF4-FFF2-40B4-BE49-F238E27FC236}">
                <a16:creationId xmlns:a16="http://schemas.microsoft.com/office/drawing/2014/main" id="{AD89EF4B-FC55-41F1-A60C-69F348144408}"/>
              </a:ext>
            </a:extLst>
          </p:cNvPr>
          <p:cNvSpPr>
            <a:spLocks xmlns:a="http://schemas.openxmlformats.org/drawingml/2006/main" noGrp="1"/>
          </p:cNvSpPr>
          <p:nvPr/>
        </p:nvSpPr>
        <p:spPr>
          <a:xfrm xmlns:a="http://schemas.openxmlformats.org/drawingml/2006/main">
            <a:off x="609600" y="60293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173449"/>
                </a:solidFill>
                <a:latin typeface="Arial"/>
                <a:ea typeface="Arial"/>
                <a:cs typeface="Arial"/>
              </a:defRPr>
            </a:pPr>
            <a:r>
              <a:rPr sz="2100" b="1">
                <a:solidFill>
                  <a:srgbClr val="173449"/>
                </a:solidFill>
                <a:latin typeface="Arial"/>
                <a:ea typeface="Arial"/>
                <a:cs typeface="Arial"/>
              </a:rPr>
              <a:t>Four observations do not prove that every crow is black.</a:t>
            </a:r>
          </a:p>
        </p:txBody>
      </p:sp>
    </p:spTree>
    <p:extLst>
      <p:ext uri="{BB962C8B-B14F-4D97-AF65-F5344CB8AC3E}">
        <p14:creationId xmlns:p14="http://schemas.microsoft.com/office/powerpoint/2010/main" val="126611675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A04203CD-2676-4424-9137-83908D047230}"/>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Abductive Reasoning</a:t>
            </a:r>
          </a:p>
        </p:txBody>
      </p:sp>
      <p:sp>
        <p:nvSpPr>
          <p:cNvPr id="2" name="slide-number">
            <a:extLst xmlns:a="http://schemas.openxmlformats.org/drawingml/2006/main">
              <a:ext uri="{FF2B5EF4-FFF2-40B4-BE49-F238E27FC236}">
                <a16:creationId xmlns:a16="http://schemas.microsoft.com/office/drawing/2014/main" id="{46732A7F-929C-4F59-9B29-CCAA998A1E03}"/>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22</a:t>
            </a:r>
          </a:p>
        </p:txBody>
      </p:sp>
      <p:sp>
        <p:nvSpPr>
          <p:cNvPr id="11" name="visual-caption">
            <a:extLst xmlns:a="http://schemas.openxmlformats.org/drawingml/2006/main">
              <a:ext uri="{FF2B5EF4-FFF2-40B4-BE49-F238E27FC236}">
                <a16:creationId xmlns:a16="http://schemas.microsoft.com/office/drawing/2014/main" id="{FE80EC53-2156-4BB3-86BD-5558ADC788E9}"/>
              </a:ext>
            </a:extLst>
          </p:cNvPr>
          <p:cNvSpPr>
            <a:spLocks xmlns:a="http://schemas.openxmlformats.org/drawingml/2006/main" noGrp="1"/>
          </p:cNvSpPr>
          <p:nvPr/>
        </p:nvSpPr>
        <p:spPr>
          <a:xfrm xmlns:a="http://schemas.openxmlformats.org/drawingml/2006/main">
            <a:off x="609600" y="14001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Abduction seeks a plausible explanation for an observation.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935e2f03b70454a"/>
          <a:stretch xmlns:a="http://schemas.openxmlformats.org/drawingml/2006/main"/>
        </p:blipFill>
        <p:spPr>
          <a:xfrm xmlns:a="http://schemas.openxmlformats.org/drawingml/2006/main">
            <a:off x="3417094" y="2066925"/>
            <a:ext cx="5357813" cy="3571875"/>
          </a:xfrm>
          <a:prstGeom xmlns:a="http://schemas.openxmlformats.org/drawingml/2006/main" prst="rect">
            <a:avLst/>
          </a:prstGeom>
        </p:spPr>
      </p:pic>
      <p:sp>
        <p:nvSpPr>
          <p:cNvPr id="13" name="visual-caption">
            <a:extLst xmlns:a="http://schemas.openxmlformats.org/drawingml/2006/main">
              <a:ext uri="{FF2B5EF4-FFF2-40B4-BE49-F238E27FC236}">
                <a16:creationId xmlns:a16="http://schemas.microsoft.com/office/drawing/2014/main" id="{1A188C2C-BEE2-47AF-BC42-3DFA71E8866B}"/>
              </a:ext>
            </a:extLst>
          </p:cNvPr>
          <p:cNvSpPr>
            <a:spLocks xmlns:a="http://schemas.openxmlformats.org/drawingml/2006/main" noGrp="1"/>
          </p:cNvSpPr>
          <p:nvPr/>
        </p:nvSpPr>
        <p:spPr>
          <a:xfrm xmlns:a="http://schemas.openxmlformats.org/drawingml/2006/main">
            <a:off x="609600" y="58293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173449"/>
                </a:solidFill>
                <a:latin typeface="Arial"/>
                <a:ea typeface="Arial"/>
                <a:cs typeface="Arial"/>
              </a:defRPr>
            </a:pPr>
            <a:r>
              <a:rPr sz="2100" b="0">
                <a:solidFill>
                  <a:srgbClr val="173449"/>
                </a:solidFill>
                <a:latin typeface="Arial"/>
                <a:ea typeface="Arial"/>
                <a:cs typeface="Arial"/>
              </a:rPr>
              <a:t>A weather report indicating rain can support the rainfall explanation.</a:t>
            </a:r>
          </a:p>
        </p:txBody>
      </p:sp>
    </p:spTree>
    <p:extLst>
      <p:ext uri="{BB962C8B-B14F-4D97-AF65-F5344CB8AC3E}">
        <p14:creationId xmlns:p14="http://schemas.microsoft.com/office/powerpoint/2010/main" val="51247162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1932D7D2-E61B-4370-826F-197626FB07AB}"/>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Comparison of Reasoning Types</a:t>
            </a:r>
          </a:p>
        </p:txBody>
      </p:sp>
      <p:sp>
        <p:nvSpPr>
          <p:cNvPr id="2" name="slide-number">
            <a:extLst xmlns:a="http://schemas.openxmlformats.org/drawingml/2006/main">
              <a:ext uri="{FF2B5EF4-FFF2-40B4-BE49-F238E27FC236}">
                <a16:creationId xmlns:a16="http://schemas.microsoft.com/office/drawing/2014/main" id="{6140F39D-AC50-41DB-BBF5-25B9D9F46AF4}"/>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23</a:t>
            </a:r>
          </a:p>
        </p:txBody>
      </p:sp>
      <p:graphicFrame>
        <p:nvGraphicFramePr>
          <p:cNvPr id="9" name=""/>
          <p:cNvGraphicFramePr/>
          <p:nvPr/>
        </p:nvGraphicFramePr>
        <p:xfrm>
          <a:off xmlns:a="http://schemas.openxmlformats.org/drawingml/2006/main" x="609600" y="1600200"/>
          <a:ext xmlns:a="http://schemas.openxmlformats.org/drawingml/2006/main" cx="10972800" cy="4114800"/>
        </p:xfrm>
        <a:graphic xmlns:a="http://schemas.openxmlformats.org/drawingml/2006/main">
          <a:graphicData uri="http://schemas.openxmlformats.org/drawingml/2006/table">
            <a:tbl>
              <a:tblPr firstRow="0" bandRow="0"/>
              <a:tblGrid>
                <a:gridCol w="1971675"/>
                <a:gridCol w="2724150"/>
                <a:gridCol w="2857500"/>
                <a:gridCol w="3419475"/>
              </a:tblGrid>
              <a:tr h="1028700">
                <a:tc>
                  <a:txBody>
                    <a:bodyPr>
                      <a:noAutofit/>
                    </a:bodyPr>
                    <a:lstStyle/>
                    <a:p>
                      <a:r>
                        <a:rPr sz="1800" b="1">
                          <a:solidFill>
                            <a:srgbClr val="FFFFFF"/>
                          </a:solidFill>
                          <a:latin typeface="Arial"/>
                          <a:ea typeface="Arial"/>
                          <a:cs typeface="Arial"/>
                        </a:rPr>
                        <a:t>Type</a:t>
                      </a:r>
                    </a:p>
                  </a:txBody>
                  <a:tcPr marL="152400" marR="152400" marT="95250" marB="95250" anchor="ctr">
                    <a:solidFill>
                      <a:srgbClr val="173449"/>
                    </a:solidFill>
                  </a:tcPr>
                </a:tc>
                <a:tc>
                  <a:txBody>
                    <a:bodyPr>
                      <a:noAutofit/>
                    </a:bodyPr>
                    <a:lstStyle/>
                    <a:p>
                      <a:r>
                        <a:rPr sz="1800" b="1">
                          <a:solidFill>
                            <a:srgbClr val="FFFFFF"/>
                          </a:solidFill>
                          <a:latin typeface="Arial"/>
                          <a:ea typeface="Arial"/>
                          <a:cs typeface="Arial"/>
                        </a:rPr>
                        <a:t>Reasoning pattern</a:t>
                      </a:r>
                    </a:p>
                  </a:txBody>
                  <a:tcPr marL="152400" marR="152400" marT="95250" marB="95250" anchor="ctr">
                    <a:solidFill>
                      <a:srgbClr val="173449"/>
                    </a:solidFill>
                  </a:tcPr>
                </a:tc>
                <a:tc>
                  <a:txBody>
                    <a:bodyPr>
                      <a:noAutofit/>
                    </a:bodyPr>
                    <a:lstStyle/>
                    <a:p>
                      <a:r>
                        <a:rPr sz="1800" b="1">
                          <a:solidFill>
                            <a:srgbClr val="FFFFFF"/>
                          </a:solidFill>
                          <a:latin typeface="Arial"/>
                          <a:ea typeface="Arial"/>
                          <a:cs typeface="Arial"/>
                        </a:rPr>
                        <a:t>Main question</a:t>
                      </a:r>
                    </a:p>
                  </a:txBody>
                  <a:tcPr marL="152400" marR="152400" marT="95250" marB="95250" anchor="ctr">
                    <a:solidFill>
                      <a:srgbClr val="173449"/>
                    </a:solidFill>
                  </a:tcPr>
                </a:tc>
                <a:tc>
                  <a:txBody>
                    <a:bodyPr>
                      <a:noAutofit/>
                    </a:bodyPr>
                    <a:lstStyle/>
                    <a:p>
                      <a:r>
                        <a:rPr sz="1800" b="1">
                          <a:solidFill>
                            <a:srgbClr val="FFFFFF"/>
                          </a:solidFill>
                          <a:latin typeface="Arial"/>
                          <a:ea typeface="Arial"/>
                          <a:cs typeface="Arial"/>
                        </a:rPr>
                        <a:t>Status of conclusion</a:t>
                      </a:r>
                    </a:p>
                  </a:txBody>
                  <a:tcPr marL="152400" marR="152400" marT="95250" marB="95250" anchor="ctr">
                    <a:solidFill>
                      <a:srgbClr val="173449"/>
                    </a:solidFill>
                  </a:tcPr>
                </a:tc>
              </a:tr>
              <a:tr h="1028700">
                <a:tc>
                  <a:txBody>
                    <a:bodyPr>
                      <a:noAutofit/>
                    </a:bodyPr>
                    <a:lstStyle/>
                    <a:p>
                      <a:r>
                        <a:rPr sz="1875" b="0">
                          <a:solidFill>
                            <a:srgbClr val="263746"/>
                          </a:solidFill>
                          <a:latin typeface="Arial"/>
                          <a:ea typeface="Arial"/>
                          <a:cs typeface="Arial"/>
                        </a:rPr>
                        <a:t>Deductive</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Rule and fact</a:t>
                      </a:r>
                    </a:p>
                    <a:p>
                      <a:r>
                        <a:rPr sz="1875" b="0">
                          <a:solidFill>
                            <a:srgbClr val="263746"/>
                          </a:solidFill>
                          <a:latin typeface="Arial"/>
                          <a:ea typeface="Arial"/>
                          <a:cs typeface="Arial"/>
                        </a:rPr>
                        <a:t>to conclusion</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What must follow?</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Entailed if the premises hold and inference is valid</a:t>
                      </a:r>
                    </a:p>
                  </a:txBody>
                  <a:tcPr marL="152400" marR="152400" marT="95250" marB="95250" anchor="ctr">
                    <a:solidFill>
                      <a:srgbClr val="FFFFFF"/>
                    </a:solidFill>
                  </a:tcPr>
                </a:tc>
              </a:tr>
              <a:tr h="1028700">
                <a:tc>
                  <a:txBody>
                    <a:bodyPr>
                      <a:noAutofit/>
                    </a:bodyPr>
                    <a:lstStyle/>
                    <a:p>
                      <a:r>
                        <a:rPr sz="1875" b="0">
                          <a:solidFill>
                            <a:srgbClr val="263746"/>
                          </a:solidFill>
                          <a:latin typeface="Arial"/>
                          <a:ea typeface="Arial"/>
                          <a:cs typeface="Arial"/>
                        </a:rPr>
                        <a:t>Inductive</a:t>
                      </a:r>
                    </a:p>
                  </a:txBody>
                  <a:tcPr marL="152400" marR="152400" marT="95250" marB="95250" anchor="ctr">
                    <a:solidFill>
                      <a:srgbClr val="EFF6F7"/>
                    </a:solidFill>
                  </a:tcPr>
                </a:tc>
                <a:tc>
                  <a:txBody>
                    <a:bodyPr>
                      <a:noAutofit/>
                    </a:bodyPr>
                    <a:lstStyle/>
                    <a:p>
                      <a:r>
                        <a:rPr sz="1875" b="0">
                          <a:solidFill>
                            <a:srgbClr val="263746"/>
                          </a:solidFill>
                          <a:latin typeface="Arial"/>
                          <a:ea typeface="Arial"/>
                          <a:cs typeface="Arial"/>
                        </a:rPr>
                        <a:t>Observations</a:t>
                      </a:r>
                    </a:p>
                    <a:p>
                      <a:r>
                        <a:rPr sz="1875" b="0">
                          <a:solidFill>
                            <a:srgbClr val="263746"/>
                          </a:solidFill>
                          <a:latin typeface="Arial"/>
                          <a:ea typeface="Arial"/>
                          <a:cs typeface="Arial"/>
                        </a:rPr>
                        <a:t>to generalization</a:t>
                      </a:r>
                    </a:p>
                  </a:txBody>
                  <a:tcPr marL="152400" marR="152400" marT="95250" marB="95250" anchor="ctr">
                    <a:solidFill>
                      <a:srgbClr val="EFF6F7"/>
                    </a:solidFill>
                  </a:tcPr>
                </a:tc>
                <a:tc>
                  <a:txBody>
                    <a:bodyPr>
                      <a:noAutofit/>
                    </a:bodyPr>
                    <a:lstStyle/>
                    <a:p>
                      <a:r>
                        <a:rPr sz="1875" b="0">
                          <a:solidFill>
                            <a:srgbClr val="263746"/>
                          </a:solidFill>
                          <a:latin typeface="Arial"/>
                          <a:ea typeface="Arial"/>
                          <a:cs typeface="Arial"/>
                        </a:rPr>
                        <a:t>What generalization is supported?</a:t>
                      </a:r>
                    </a:p>
                  </a:txBody>
                  <a:tcPr marL="152400" marR="152400" marT="95250" marB="95250" anchor="ctr">
                    <a:solidFill>
                      <a:srgbClr val="EFF6F7"/>
                    </a:solidFill>
                  </a:tcPr>
                </a:tc>
                <a:tc>
                  <a:txBody>
                    <a:bodyPr>
                      <a:noAutofit/>
                    </a:bodyPr>
                    <a:lstStyle/>
                    <a:p>
                      <a:r>
                        <a:rPr sz="1875" b="0">
                          <a:solidFill>
                            <a:srgbClr val="263746"/>
                          </a:solidFill>
                          <a:latin typeface="Arial"/>
                          <a:ea typeface="Arial"/>
                          <a:cs typeface="Arial"/>
                        </a:rPr>
                        <a:t>Supported, but not guaranteed</a:t>
                      </a:r>
                    </a:p>
                  </a:txBody>
                  <a:tcPr marL="152400" marR="152400" marT="95250" marB="95250" anchor="ctr">
                    <a:solidFill>
                      <a:srgbClr val="EFF6F7"/>
                    </a:solidFill>
                  </a:tcPr>
                </a:tc>
              </a:tr>
              <a:tr h="1028700">
                <a:tc>
                  <a:txBody>
                    <a:bodyPr>
                      <a:noAutofit/>
                    </a:bodyPr>
                    <a:lstStyle/>
                    <a:p>
                      <a:r>
                        <a:rPr sz="1875" b="0">
                          <a:solidFill>
                            <a:srgbClr val="263746"/>
                          </a:solidFill>
                          <a:latin typeface="Arial"/>
                          <a:ea typeface="Arial"/>
                          <a:cs typeface="Arial"/>
                        </a:rPr>
                        <a:t>Abductive</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Observation</a:t>
                      </a:r>
                    </a:p>
                    <a:p>
                      <a:r>
                        <a:rPr sz="1875" b="0">
                          <a:solidFill>
                            <a:srgbClr val="263746"/>
                          </a:solidFill>
                          <a:latin typeface="Arial"/>
                          <a:ea typeface="Arial"/>
                          <a:cs typeface="Arial"/>
                        </a:rPr>
                        <a:t>to explanation</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What could explain this?</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Plausible, but not guaranteed</a:t>
                      </a:r>
                    </a:p>
                  </a:txBody>
                  <a:tcPr marL="152400" marR="152400" marT="95250" marB="95250" anchor="ctr">
                    <a:solidFill>
                      <a:srgbClr val="FFFFFF"/>
                    </a:solidFill>
                  </a:tcPr>
                </a:tc>
              </a:tr>
            </a:tbl>
          </a:graphicData>
        </a:graphic>
      </p:graphicFrame>
      <p:sp>
        <p:nvSpPr>
          <p:cNvPr id="4" name="text">
            <a:extLst xmlns:a="http://schemas.openxmlformats.org/drawingml/2006/main">
              <a:ext uri="{FF2B5EF4-FFF2-40B4-BE49-F238E27FC236}">
                <a16:creationId xmlns:a16="http://schemas.microsoft.com/office/drawing/2014/main" id="{CBAE3CCE-F78A-46F1-A020-A299815B3343}"/>
              </a:ext>
            </a:extLst>
          </p:cNvPr>
          <p:cNvSpPr>
            <a:spLocks xmlns:a="http://schemas.openxmlformats.org/drawingml/2006/main" noGrp="1"/>
          </p:cNvSpPr>
          <p:nvPr/>
        </p:nvSpPr>
        <p:spPr>
          <a:xfrm xmlns:a="http://schemas.openxmlformats.org/drawingml/2006/main">
            <a:off x="609600" y="58578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66570"/>
                </a:solidFill>
                <a:latin typeface="Arial"/>
                <a:ea typeface="Arial"/>
                <a:cs typeface="Arial"/>
              </a:defRPr>
            </a:pPr>
            <a:r>
              <a:rPr sz="1800" b="0">
                <a:solidFill>
                  <a:srgbClr val="566570"/>
                </a:solidFill>
                <a:latin typeface="Arial"/>
                <a:ea typeface="Arial"/>
                <a:cs typeface="Arial"/>
              </a:rPr>
              <a:t>The reasoning method determines what kind of claim the conclusion supports.</a:t>
            </a:r>
          </a:p>
        </p:txBody>
      </p:sp>
    </p:spTree>
    <p:extLst>
      <p:ext uri="{BB962C8B-B14F-4D97-AF65-F5344CB8AC3E}">
        <p14:creationId xmlns:p14="http://schemas.microsoft.com/office/powerpoint/2010/main" val="193633722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28B9C10B-32AA-433D-972A-B42A8B944236}"/>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Discussion: Reasoning Without Knowledge</a:t>
            </a:r>
          </a:p>
        </p:txBody>
      </p:sp>
      <p:sp>
        <p:nvSpPr>
          <p:cNvPr id="2" name="slide-number">
            <a:extLst xmlns:a="http://schemas.openxmlformats.org/drawingml/2006/main">
              <a:ext uri="{FF2B5EF4-FFF2-40B4-BE49-F238E27FC236}">
                <a16:creationId xmlns:a16="http://schemas.microsoft.com/office/drawing/2014/main" id="{9FB1DBC6-5C68-404B-9CEF-B51EFBD55B1F}"/>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a:solidFill>
                  <a:srgbClr val="566570"/>
                </a:solidFill>
                <a:latin typeface="Arial"/>
                <a:ea typeface="Arial"/>
                <a:cs typeface="Arial"/>
              </a:defRPr>
            </a:pPr>
            <a:r>
              <a:rPr sz="1350">
                <a:solidFill>
                  <a:srgbClr val="566570"/>
                </a:solidFill>
                <a:latin typeface="Arial"/>
                <a:ea typeface="Arial"/>
                <a:cs typeface="Arial"/>
              </a:rPr>
              <a:t>24</a:t>
            </a:r>
          </a:p>
        </p:txBody>
      </p:sp>
      <p:sp>
        <p:nvSpPr>
          <p:cNvPr id="3" name="assessment-text">
            <a:extLst xmlns:a="http://schemas.openxmlformats.org/drawingml/2006/main">
              <a:ext uri="{FF2B5EF4-FFF2-40B4-BE49-F238E27FC236}">
                <a16:creationId xmlns:a16="http://schemas.microsoft.com/office/drawing/2014/main" id="{1A3C6BB6-27C4-4865-AFD0-63FD534CF21A}"/>
              </a:ext>
            </a:extLst>
          </p:cNvPr>
          <p:cNvSpPr>
            <a:spLocks xmlns:a="http://schemas.openxmlformats.org/drawingml/2006/main" noGrp="1"/>
          </p:cNvSpPr>
          <p:nvPr/>
        </p:nvSpPr>
        <p:spPr>
          <a:xfrm xmlns:a="http://schemas.openxmlformats.org/drawingml/2006/main">
            <a:off x="609600" y="1619250"/>
            <a:ext cx="10972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a:solidFill>
                  <a:srgbClr val="263746"/>
                </a:solidFill>
                <a:latin typeface="Arial"/>
                <a:ea typeface="Arial"/>
                <a:cs typeface="Arial"/>
              </a:defRPr>
            </a:pPr>
            <a:r>
              <a:rPr sz="2625">
                <a:solidFill>
                  <a:srgbClr val="263746"/>
                </a:solidFill>
                <a:latin typeface="Arial"/>
                <a:ea typeface="Arial"/>
                <a:cs typeface="Arial"/>
              </a:rPr>
              <a:t>Suppose a system has a powerful reasoning mechanism but no domain knowledge.</a:t>
            </a:r>
          </a:p>
        </p:txBody>
      </p:sp>
      <p:sp>
        <p:nvSpPr>
          <p:cNvPr id="4" name="assessment-text">
            <a:extLst xmlns:a="http://schemas.openxmlformats.org/drawingml/2006/main">
              <a:ext uri="{FF2B5EF4-FFF2-40B4-BE49-F238E27FC236}">
                <a16:creationId xmlns:a16="http://schemas.microsoft.com/office/drawing/2014/main" id="{543B3810-0188-4CA5-BBD5-3521EA754A06}"/>
              </a:ext>
            </a:extLst>
          </p:cNvPr>
          <p:cNvSpPr>
            <a:spLocks xmlns:a="http://schemas.openxmlformats.org/drawingml/2006/main" noGrp="1"/>
          </p:cNvSpPr>
          <p:nvPr/>
        </p:nvSpPr>
        <p:spPr>
          <a:xfrm xmlns:a="http://schemas.openxmlformats.org/drawingml/2006/main">
            <a:off x="609600" y="33813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a:solidFill>
                  <a:srgbClr val="263746"/>
                </a:solidFill>
                <a:latin typeface="Arial"/>
                <a:ea typeface="Arial"/>
                <a:cs typeface="Arial"/>
              </a:defRPr>
            </a:pPr>
            <a:r>
              <a:rPr sz="2850">
                <a:solidFill>
                  <a:srgbClr val="263746"/>
                </a:solidFill>
                <a:latin typeface="Arial"/>
                <a:ea typeface="Arial"/>
                <a:cs typeface="Arial"/>
              </a:rPr>
              <a:t>Can it provide useful medical advice?</a:t>
            </a:r>
          </a:p>
        </p:txBody>
      </p:sp>
      <p:sp>
        <p:nvSpPr>
          <p:cNvPr id="5" name="assessment-text">
            <a:extLst xmlns:a="http://schemas.openxmlformats.org/drawingml/2006/main">
              <a:ext uri="{FF2B5EF4-FFF2-40B4-BE49-F238E27FC236}">
                <a16:creationId xmlns:a16="http://schemas.microsoft.com/office/drawing/2014/main" id="{7EB1263F-6D0C-4D73-AAC0-ACD3D72380BB}"/>
              </a:ext>
            </a:extLst>
          </p:cNvPr>
          <p:cNvSpPr>
            <a:spLocks xmlns:a="http://schemas.openxmlformats.org/drawingml/2006/main" noGrp="1"/>
          </p:cNvSpPr>
          <p:nvPr/>
        </p:nvSpPr>
        <p:spPr>
          <a:xfrm xmlns:a="http://schemas.openxmlformats.org/drawingml/2006/main">
            <a:off x="609600" y="52101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87F8C"/>
                </a:solidFill>
                <a:latin typeface="Arial"/>
                <a:ea typeface="Arial"/>
                <a:cs typeface="Arial"/>
              </a:defRPr>
            </a:pPr>
            <a:r>
              <a:rPr sz="2400" b="1">
                <a:solidFill>
                  <a:srgbClr val="087F8C"/>
                </a:solidFill>
                <a:latin typeface="Arial"/>
                <a:ea typeface="Arial"/>
                <a:cs typeface="Arial"/>
              </a:rPr>
              <a:t>Justify your answer by identifying what the system is missing.</a:t>
            </a:r>
          </a:p>
        </p:txBody>
      </p:sp>
    </p:spTree>
    <p:extLst>
      <p:ext uri="{BB962C8B-B14F-4D97-AF65-F5344CB8AC3E}">
        <p14:creationId xmlns:p14="http://schemas.microsoft.com/office/powerpoint/2010/main" val="69509947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F229B189-83E0-47BC-8CEE-6D2C728E7768}"/>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Knowledge and Reasoning Work Together</a:t>
            </a:r>
          </a:p>
        </p:txBody>
      </p:sp>
      <p:sp>
        <p:nvSpPr>
          <p:cNvPr id="2" name="slide-number">
            <a:extLst xmlns:a="http://schemas.openxmlformats.org/drawingml/2006/main">
              <a:ext uri="{FF2B5EF4-FFF2-40B4-BE49-F238E27FC236}">
                <a16:creationId xmlns:a16="http://schemas.microsoft.com/office/drawing/2014/main" id="{43347480-638B-4D28-B501-B7C6901BA5AB}"/>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25</a:t>
            </a:r>
          </a:p>
        </p:txBody>
      </p:sp>
      <p:sp>
        <p:nvSpPr>
          <p:cNvPr id="3" name="text">
            <a:extLst xmlns:a="http://schemas.openxmlformats.org/drawingml/2006/main">
              <a:ext uri="{FF2B5EF4-FFF2-40B4-BE49-F238E27FC236}">
                <a16:creationId xmlns:a16="http://schemas.microsoft.com/office/drawing/2014/main" id="{6A9958C2-5985-41AE-81CC-83FE65841B22}"/>
              </a:ext>
            </a:extLst>
          </p:cNvPr>
          <p:cNvSpPr>
            <a:spLocks xmlns:a="http://schemas.openxmlformats.org/drawingml/2006/main" noGrp="1"/>
          </p:cNvSpPr>
          <p:nvPr/>
        </p:nvSpPr>
        <p:spPr>
          <a:xfrm xmlns:a="http://schemas.openxmlformats.org/drawingml/2006/main">
            <a:off x="609600" y="16954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Knowledge without reasoning</a:t>
            </a:r>
          </a:p>
        </p:txBody>
      </p:sp>
      <p:sp>
        <p:nvSpPr>
          <p:cNvPr id="4" name="text">
            <a:extLst xmlns:a="http://schemas.openxmlformats.org/drawingml/2006/main">
              <a:ext uri="{FF2B5EF4-FFF2-40B4-BE49-F238E27FC236}">
                <a16:creationId xmlns:a16="http://schemas.microsoft.com/office/drawing/2014/main" id="{4ACD441B-D61F-48FC-A857-FAA625FF87B7}"/>
              </a:ext>
            </a:extLst>
          </p:cNvPr>
          <p:cNvSpPr>
            <a:spLocks xmlns:a="http://schemas.openxmlformats.org/drawingml/2006/main" noGrp="1"/>
          </p:cNvSpPr>
          <p:nvPr/>
        </p:nvSpPr>
        <p:spPr>
          <a:xfrm xmlns:a="http://schemas.openxmlformats.org/drawingml/2006/main">
            <a:off x="609600" y="210502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263746"/>
                </a:solidFill>
                <a:latin typeface="Arial"/>
                <a:ea typeface="Arial"/>
                <a:cs typeface="Arial"/>
              </a:defRPr>
            </a:pPr>
            <a:r>
              <a:rPr sz="2250" b="0">
                <a:solidFill>
                  <a:srgbClr val="263746"/>
                </a:solidFill>
                <a:latin typeface="Arial"/>
                <a:ea typeface="Arial"/>
                <a:cs typeface="Arial"/>
              </a:rPr>
              <a:t>Stored rules may leave useful conclusions undiscovered.</a:t>
            </a:r>
          </a:p>
        </p:txBody>
      </p:sp>
      <p:sp>
        <p:nvSpPr>
          <p:cNvPr id="5" name="text">
            <a:extLst xmlns:a="http://schemas.openxmlformats.org/drawingml/2006/main">
              <a:ext uri="{FF2B5EF4-FFF2-40B4-BE49-F238E27FC236}">
                <a16:creationId xmlns:a16="http://schemas.microsoft.com/office/drawing/2014/main" id="{C199CB24-F61A-4BC3-AD81-2A051638CD75}"/>
              </a:ext>
            </a:extLst>
          </p:cNvPr>
          <p:cNvSpPr>
            <a:spLocks xmlns:a="http://schemas.openxmlformats.org/drawingml/2006/main" noGrp="1"/>
          </p:cNvSpPr>
          <p:nvPr/>
        </p:nvSpPr>
        <p:spPr>
          <a:xfrm xmlns:a="http://schemas.openxmlformats.org/drawingml/2006/main">
            <a:off x="609600" y="30575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Reasoning without domain knowledge</a:t>
            </a:r>
          </a:p>
        </p:txBody>
      </p:sp>
      <p:sp>
        <p:nvSpPr>
          <p:cNvPr id="6" name="text">
            <a:extLst xmlns:a="http://schemas.openxmlformats.org/drawingml/2006/main">
              <a:ext uri="{FF2B5EF4-FFF2-40B4-BE49-F238E27FC236}">
                <a16:creationId xmlns:a16="http://schemas.microsoft.com/office/drawing/2014/main" id="{6696C9AF-AFA0-4AE2-A210-C0E837056A96}"/>
              </a:ext>
            </a:extLst>
          </p:cNvPr>
          <p:cNvSpPr>
            <a:spLocks xmlns:a="http://schemas.openxmlformats.org/drawingml/2006/main" noGrp="1"/>
          </p:cNvSpPr>
          <p:nvPr/>
        </p:nvSpPr>
        <p:spPr>
          <a:xfrm xmlns:a="http://schemas.openxmlformats.org/drawingml/2006/main">
            <a:off x="609600" y="3467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263746"/>
                </a:solidFill>
                <a:latin typeface="Arial"/>
                <a:ea typeface="Arial"/>
                <a:cs typeface="Arial"/>
              </a:defRPr>
            </a:pPr>
            <a:r>
              <a:rPr sz="2250" b="0">
                <a:solidFill>
                  <a:srgbClr val="263746"/>
                </a:solidFill>
                <a:latin typeface="Arial"/>
                <a:ea typeface="Arial"/>
                <a:cs typeface="Arial"/>
              </a:rPr>
              <a:t>A mechanism lacks the facts and rules needed for a useful answer.</a:t>
            </a:r>
          </a:p>
        </p:txBody>
      </p:sp>
      <p:sp>
        <p:nvSpPr>
          <p:cNvPr id="7" name="text">
            <a:extLst xmlns:a="http://schemas.openxmlformats.org/drawingml/2006/main">
              <a:ext uri="{FF2B5EF4-FFF2-40B4-BE49-F238E27FC236}">
                <a16:creationId xmlns:a16="http://schemas.microsoft.com/office/drawing/2014/main" id="{D71DE8C5-24C4-4C93-B5A8-EE5793F3C784}"/>
              </a:ext>
            </a:extLst>
          </p:cNvPr>
          <p:cNvSpPr>
            <a:spLocks xmlns:a="http://schemas.openxmlformats.org/drawingml/2006/main" noGrp="1"/>
          </p:cNvSpPr>
          <p:nvPr/>
        </p:nvSpPr>
        <p:spPr>
          <a:xfrm xmlns:a="http://schemas.openxmlformats.org/drawingml/2006/main">
            <a:off x="609600" y="44196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Their combined role</a:t>
            </a:r>
          </a:p>
        </p:txBody>
      </p:sp>
      <p:sp>
        <p:nvSpPr>
          <p:cNvPr id="8" name="text">
            <a:extLst xmlns:a="http://schemas.openxmlformats.org/drawingml/2006/main">
              <a:ext uri="{FF2B5EF4-FFF2-40B4-BE49-F238E27FC236}">
                <a16:creationId xmlns:a16="http://schemas.microsoft.com/office/drawing/2014/main" id="{71C4D63B-22FF-42C4-84D0-E0BB3DFD40EE}"/>
              </a:ext>
            </a:extLst>
          </p:cNvPr>
          <p:cNvSpPr>
            <a:spLocks xmlns:a="http://schemas.openxmlformats.org/drawingml/2006/main" noGrp="1"/>
          </p:cNvSpPr>
          <p:nvPr/>
        </p:nvSpPr>
        <p:spPr>
          <a:xfrm xmlns:a="http://schemas.openxmlformats.org/drawingml/2006/main">
            <a:off x="609600" y="4829175"/>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263746"/>
                </a:solidFill>
                <a:latin typeface="Arial"/>
                <a:ea typeface="Arial"/>
                <a:cs typeface="Arial"/>
              </a:defRPr>
            </a:pPr>
            <a:r>
              <a:rPr sz="2250" b="0">
                <a:solidFill>
                  <a:srgbClr val="263746"/>
                </a:solidFill>
                <a:latin typeface="Arial"/>
                <a:ea typeface="Arial"/>
                <a:cs typeface="Arial"/>
              </a:rPr>
              <a:t>Represent relevant knowledge, derive a conclusion, and choose an action.</a:t>
            </a:r>
          </a:p>
        </p:txBody>
      </p:sp>
    </p:spTree>
    <p:extLst>
      <p:ext uri="{BB962C8B-B14F-4D97-AF65-F5344CB8AC3E}">
        <p14:creationId xmlns:p14="http://schemas.microsoft.com/office/powerpoint/2010/main" val="96756932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5D5FEA1C-A1AA-468D-B838-6F4553F34095}"/>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Advising Practice: Course Registration</a:t>
            </a:r>
          </a:p>
        </p:txBody>
      </p:sp>
      <p:sp>
        <p:nvSpPr>
          <p:cNvPr id="2" name="slide-number">
            <a:extLst xmlns:a="http://schemas.openxmlformats.org/drawingml/2006/main">
              <a:ext uri="{FF2B5EF4-FFF2-40B4-BE49-F238E27FC236}">
                <a16:creationId xmlns:a16="http://schemas.microsoft.com/office/drawing/2014/main" id="{A0A65FBB-5885-425A-9B2C-0F4A7B76C2CF}"/>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a:solidFill>
                  <a:srgbClr val="566570"/>
                </a:solidFill>
                <a:latin typeface="Arial"/>
                <a:ea typeface="Arial"/>
                <a:cs typeface="Arial"/>
              </a:defRPr>
            </a:pPr>
            <a:r>
              <a:rPr sz="1350">
                <a:solidFill>
                  <a:srgbClr val="566570"/>
                </a:solidFill>
                <a:latin typeface="Arial"/>
                <a:ea typeface="Arial"/>
                <a:cs typeface="Arial"/>
              </a:rPr>
              <a:t>26</a:t>
            </a:r>
          </a:p>
        </p:txBody>
      </p:sp>
      <p:sp>
        <p:nvSpPr>
          <p:cNvPr id="3" name="assessment-text">
            <a:extLst xmlns:a="http://schemas.openxmlformats.org/drawingml/2006/main">
              <a:ext uri="{FF2B5EF4-FFF2-40B4-BE49-F238E27FC236}">
                <a16:creationId xmlns:a16="http://schemas.microsoft.com/office/drawing/2014/main" id="{76B6334E-8DBF-48F9-AD23-7B9FEBBCBB1A}"/>
              </a:ext>
            </a:extLst>
          </p:cNvPr>
          <p:cNvSpPr>
            <a:spLocks xmlns:a="http://schemas.openxmlformats.org/drawingml/2006/main" noGrp="1"/>
          </p:cNvSpPr>
          <p:nvPr/>
        </p:nvSpPr>
        <p:spPr>
          <a:xfrm xmlns:a="http://schemas.openxmlformats.org/drawingml/2006/main">
            <a:off x="609600" y="1543050"/>
            <a:ext cx="109728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173449"/>
                </a:solidFill>
                <a:latin typeface="Arial"/>
                <a:ea typeface="Arial"/>
                <a:cs typeface="Arial"/>
              </a:defRPr>
            </a:pPr>
            <a:r>
              <a:rPr sz="2250" b="1">
                <a:solidFill>
                  <a:srgbClr val="173449"/>
                </a:solidFill>
                <a:latin typeface="Arial"/>
                <a:ea typeface="Arial"/>
                <a:cs typeface="Arial"/>
              </a:rPr>
              <a:t>Student(Ali)</a:t>
            </a:r>
          </a:p>
          <a:p xmlns:a="http://schemas.openxmlformats.org/drawingml/2006/main">
            <a:pPr>
              <a:defRPr sz="2250" b="1">
                <a:solidFill>
                  <a:srgbClr val="173449"/>
                </a:solidFill>
                <a:latin typeface="Arial"/>
                <a:ea typeface="Arial"/>
                <a:cs typeface="Arial"/>
              </a:defRPr>
            </a:pPr>
            <a:r>
              <a:rPr sz="2250" b="1">
                <a:solidFill>
                  <a:srgbClr val="173449"/>
                </a:solidFill>
                <a:latin typeface="Arial"/>
                <a:ea typeface="Arial"/>
                <a:cs typeface="Arial"/>
              </a:rPr>
              <a:t>Completed(Ali, ProgrammingFundamentals)</a:t>
            </a:r>
          </a:p>
          <a:p xmlns:a="http://schemas.openxmlformats.org/drawingml/2006/main">
            <a:pPr>
              <a:defRPr sz="2250" b="1">
                <a:solidFill>
                  <a:srgbClr val="173449"/>
                </a:solidFill>
                <a:latin typeface="Arial"/>
                <a:ea typeface="Arial"/>
                <a:cs typeface="Arial"/>
              </a:defRPr>
            </a:pPr>
            <a:r>
              <a:rPr sz="2250" b="1">
                <a:solidFill>
                  <a:srgbClr val="173449"/>
                </a:solidFill>
                <a:latin typeface="Arial"/>
                <a:ea typeface="Arial"/>
                <a:cs typeface="Arial"/>
              </a:rPr>
              <a:t>Requires(DataStructures, ProgrammingFundamentals)</a:t>
            </a:r>
          </a:p>
        </p:txBody>
      </p:sp>
      <p:sp>
        <p:nvSpPr>
          <p:cNvPr id="4" name="assessment-text">
            <a:extLst xmlns:a="http://schemas.openxmlformats.org/drawingml/2006/main">
              <a:ext uri="{FF2B5EF4-FFF2-40B4-BE49-F238E27FC236}">
                <a16:creationId xmlns:a16="http://schemas.microsoft.com/office/drawing/2014/main" id="{B0B33752-9D63-49DB-98E3-2E2236F30D56}"/>
              </a:ext>
            </a:extLst>
          </p:cNvPr>
          <p:cNvSpPr>
            <a:spLocks xmlns:a="http://schemas.openxmlformats.org/drawingml/2006/main" noGrp="1"/>
          </p:cNvSpPr>
          <p:nvPr/>
        </p:nvSpPr>
        <p:spPr>
          <a:xfrm xmlns:a="http://schemas.openxmlformats.org/drawingml/2006/main">
            <a:off x="609600" y="32004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Rule</a:t>
            </a:r>
          </a:p>
        </p:txBody>
      </p:sp>
      <p:sp>
        <p:nvSpPr>
          <p:cNvPr id="5" name="assessment-text">
            <a:extLst xmlns:a="http://schemas.openxmlformats.org/drawingml/2006/main">
              <a:ext uri="{FF2B5EF4-FFF2-40B4-BE49-F238E27FC236}">
                <a16:creationId xmlns:a16="http://schemas.microsoft.com/office/drawing/2014/main" id="{14E33F8E-F61A-41E3-82A0-3A9001B2E6F2}"/>
              </a:ext>
            </a:extLst>
          </p:cNvPr>
          <p:cNvSpPr>
            <a:spLocks xmlns:a="http://schemas.openxmlformats.org/drawingml/2006/main" noGrp="1"/>
          </p:cNvSpPr>
          <p:nvPr/>
        </p:nvSpPr>
        <p:spPr>
          <a:xfrm xmlns:a="http://schemas.openxmlformats.org/drawingml/2006/main">
            <a:off x="609600" y="36385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263746"/>
                </a:solidFill>
                <a:latin typeface="Arial"/>
                <a:ea typeface="Arial"/>
                <a:cs typeface="Arial"/>
              </a:defRPr>
            </a:pPr>
            <a:r>
              <a:rPr sz="2325">
                <a:solidFill>
                  <a:srgbClr val="263746"/>
                </a:solidFill>
                <a:latin typeface="Arial"/>
                <a:ea typeface="Arial"/>
                <a:cs typeface="Arial"/>
              </a:rPr>
              <a:t>If a student has completed all prerequisites, the student can register for the course.</a:t>
            </a:r>
          </a:p>
        </p:txBody>
      </p:sp>
      <p:sp>
        <p:nvSpPr>
          <p:cNvPr id="6" name="assessment-text">
            <a:extLst xmlns:a="http://schemas.openxmlformats.org/drawingml/2006/main">
              <a:ext uri="{FF2B5EF4-FFF2-40B4-BE49-F238E27FC236}">
                <a16:creationId xmlns:a16="http://schemas.microsoft.com/office/drawing/2014/main" id="{E0F3904F-915F-4889-A13F-FF4A08C034DA}"/>
              </a:ext>
            </a:extLst>
          </p:cNvPr>
          <p:cNvSpPr>
            <a:spLocks xmlns:a="http://schemas.openxmlformats.org/drawingml/2006/main" noGrp="1"/>
          </p:cNvSpPr>
          <p:nvPr/>
        </p:nvSpPr>
        <p:spPr>
          <a:xfrm xmlns:a="http://schemas.openxmlformats.org/drawingml/2006/main">
            <a:off x="609600" y="502920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a:solidFill>
                  <a:srgbClr val="263746"/>
                </a:solidFill>
                <a:latin typeface="Arial"/>
                <a:ea typeface="Arial"/>
                <a:cs typeface="Arial"/>
              </a:defRPr>
            </a:pPr>
            <a:r>
              <a:rPr sz="2625">
                <a:solidFill>
                  <a:srgbClr val="263746"/>
                </a:solidFill>
                <a:latin typeface="Arial"/>
                <a:ea typeface="Arial"/>
                <a:cs typeface="Arial"/>
              </a:rPr>
              <a:t>Can Ali register for Data Structures?</a:t>
            </a:r>
          </a:p>
        </p:txBody>
      </p:sp>
      <p:sp>
        <p:nvSpPr>
          <p:cNvPr id="7" name="assessment-text">
            <a:extLst xmlns:a="http://schemas.openxmlformats.org/drawingml/2006/main">
              <a:ext uri="{FF2B5EF4-FFF2-40B4-BE49-F238E27FC236}">
                <a16:creationId xmlns:a16="http://schemas.microsoft.com/office/drawing/2014/main" id="{35FA34D9-F120-4C29-A1A3-4CEB02D7A267}"/>
              </a:ext>
            </a:extLst>
          </p:cNvPr>
          <p:cNvSpPr>
            <a:spLocks xmlns:a="http://schemas.openxmlformats.org/drawingml/2006/main" noGrp="1"/>
          </p:cNvSpPr>
          <p:nvPr/>
        </p:nvSpPr>
        <p:spPr>
          <a:xfrm xmlns:a="http://schemas.openxmlformats.org/drawingml/2006/main">
            <a:off x="609600" y="60007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a:solidFill>
                  <a:srgbClr val="566570"/>
                </a:solidFill>
                <a:latin typeface="Arial"/>
                <a:ea typeface="Arial"/>
                <a:cs typeface="Arial"/>
              </a:defRPr>
            </a:pPr>
            <a:r>
              <a:rPr sz="1800">
                <a:solidFill>
                  <a:srgbClr val="566570"/>
                </a:solidFill>
                <a:latin typeface="Arial"/>
                <a:ea typeface="Arial"/>
                <a:cs typeface="Arial"/>
              </a:rPr>
              <a:t>Assume this is the only prerequisite and no other restriction applies.</a:t>
            </a:r>
          </a:p>
        </p:txBody>
      </p:sp>
    </p:spTree>
    <p:extLst>
      <p:ext uri="{BB962C8B-B14F-4D97-AF65-F5344CB8AC3E}">
        <p14:creationId xmlns:p14="http://schemas.microsoft.com/office/powerpoint/2010/main" val="100521336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E9C329EE-36B2-4664-A602-478629039391}"/>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University Advising Example</a:t>
            </a:r>
          </a:p>
        </p:txBody>
      </p:sp>
      <p:sp>
        <p:nvSpPr>
          <p:cNvPr id="2" name="slide-number">
            <a:extLst xmlns:a="http://schemas.openxmlformats.org/drawingml/2006/main">
              <a:ext uri="{FF2B5EF4-FFF2-40B4-BE49-F238E27FC236}">
                <a16:creationId xmlns:a16="http://schemas.microsoft.com/office/drawing/2014/main" id="{F3B7627D-219D-4B31-A6F7-F5F88BF40C5B}"/>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27</a:t>
            </a:r>
          </a:p>
        </p:txBody>
      </p:sp>
      <p:sp>
        <p:nvSpPr>
          <p:cNvPr id="12" name="visual-caption">
            <a:extLst xmlns:a="http://schemas.openxmlformats.org/drawingml/2006/main">
              <a:ext uri="{FF2B5EF4-FFF2-40B4-BE49-F238E27FC236}">
                <a16:creationId xmlns:a16="http://schemas.microsoft.com/office/drawing/2014/main" id="{E9D522DE-9979-4495-B40A-15C072B048BA}"/>
              </a:ext>
            </a:extLst>
          </p:cNvPr>
          <p:cNvSpPr>
            <a:spLocks xmlns:a="http://schemas.openxmlformats.org/drawingml/2006/main" noGrp="1"/>
          </p:cNvSpPr>
          <p:nvPr/>
        </p:nvSpPr>
        <p:spPr>
          <a:xfrm xmlns:a="http://schemas.openxmlformats.org/drawingml/2006/main">
            <a:off x="609600" y="14287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63746"/>
                </a:solidFill>
                <a:latin typeface="Arial"/>
                <a:ea typeface="Arial"/>
                <a:cs typeface="Arial"/>
              </a:defRPr>
            </a:pPr>
            <a:r>
              <a:rPr sz="2400" b="0">
                <a:solidFill>
                  <a:srgbClr val="263746"/>
                </a:solidFill>
                <a:latin typeface="Arial"/>
                <a:ea typeface="Arial"/>
                <a:cs typeface="Arial"/>
              </a:rPr>
              <a:t>Ali has completed the prerequisite for Data Structures.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a19814e6f2b4478"/>
          <a:srcRect xmlns:a="http://schemas.openxmlformats.org/drawingml/2006/main" l="0" t="27500" r="0" b="27500"/>
          <a:stretch xmlns:a="http://schemas.openxmlformats.org/drawingml/2006/main">
            <a:fillRect l="0" t="0" r="0" b="0"/>
          </a:stretch>
        </p:blipFill>
        <p:spPr>
          <a:xfrm xmlns:a="http://schemas.openxmlformats.org/drawingml/2006/main">
            <a:off x="857250" y="2009775"/>
            <a:ext cx="10477500" cy="3143250"/>
          </a:xfrm>
          <a:prstGeom xmlns:a="http://schemas.openxmlformats.org/drawingml/2006/main" prst="rect">
            <a:avLst/>
          </a:prstGeom>
        </p:spPr>
      </p:pic>
      <p:sp>
        <p:nvSpPr>
          <p:cNvPr id="14" name="visual-caption">
            <a:extLst xmlns:a="http://schemas.openxmlformats.org/drawingml/2006/main">
              <a:ext uri="{FF2B5EF4-FFF2-40B4-BE49-F238E27FC236}">
                <a16:creationId xmlns:a16="http://schemas.microsoft.com/office/drawing/2014/main" id="{20D6BB9B-589F-4902-96C8-9742B44D180F}"/>
              </a:ext>
            </a:extLst>
          </p:cNvPr>
          <p:cNvSpPr>
            <a:spLocks xmlns:a="http://schemas.openxmlformats.org/drawingml/2006/main" noGrp="1"/>
          </p:cNvSpPr>
          <p:nvPr/>
        </p:nvSpPr>
        <p:spPr>
          <a:xfrm xmlns:a="http://schemas.openxmlformats.org/drawingml/2006/main">
            <a:off x="609600" y="4457700"/>
            <a:ext cx="109728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173449"/>
                </a:solidFill>
                <a:latin typeface="Arial"/>
                <a:ea typeface="Arial"/>
                <a:cs typeface="Arial"/>
              </a:defRPr>
            </a:pPr>
            <a:r>
              <a:rPr sz="2175" b="0">
                <a:solidFill>
                  <a:srgbClr val="173449"/>
                </a:solidFill>
                <a:latin typeface="Arial"/>
                <a:ea typeface="Arial"/>
                <a:cs typeface="Arial"/>
              </a:rPr>
              <a:t>Student(Ali)</a:t>
            </a:r>
          </a:p>
          <a:p xmlns:a="http://schemas.openxmlformats.org/drawingml/2006/main">
            <a:pPr>
              <a:buNone/>
              <a:defRPr sz="2175" b="0">
                <a:solidFill>
                  <a:srgbClr val="173449"/>
                </a:solidFill>
                <a:latin typeface="Arial"/>
                <a:ea typeface="Arial"/>
                <a:cs typeface="Arial"/>
              </a:defRPr>
            </a:pPr>
            <a:r>
              <a:rPr sz="2175" b="0">
                <a:solidFill>
                  <a:srgbClr val="173449"/>
                </a:solidFill>
                <a:latin typeface="Arial"/>
                <a:ea typeface="Arial"/>
                <a:cs typeface="Arial"/>
              </a:rPr>
              <a:t>Completed(Ali, ProgrammingFundamentals)</a:t>
            </a:r>
          </a:p>
          <a:p xmlns:a="http://schemas.openxmlformats.org/drawingml/2006/main">
            <a:pPr>
              <a:buNone/>
              <a:defRPr sz="2175" b="0">
                <a:solidFill>
                  <a:srgbClr val="173449"/>
                </a:solidFill>
                <a:latin typeface="Arial"/>
                <a:ea typeface="Arial"/>
                <a:cs typeface="Arial"/>
              </a:defRPr>
            </a:pPr>
            <a:r>
              <a:rPr sz="2175" b="0">
                <a:solidFill>
                  <a:srgbClr val="173449"/>
                </a:solidFill>
                <a:latin typeface="Arial"/>
                <a:ea typeface="Arial"/>
                <a:cs typeface="Arial"/>
              </a:rPr>
              <a:t>Requires(DataStructures, ProgrammingFundamentals)</a:t>
            </a:r>
          </a:p>
        </p:txBody>
      </p:sp>
      <p:sp>
        <p:nvSpPr>
          <p:cNvPr id="15" name="visual-caption">
            <a:extLst xmlns:a="http://schemas.openxmlformats.org/drawingml/2006/main">
              <a:ext uri="{FF2B5EF4-FFF2-40B4-BE49-F238E27FC236}">
                <a16:creationId xmlns:a16="http://schemas.microsoft.com/office/drawing/2014/main" id="{D018E33F-EAFF-4BAA-AA92-371F31B7D67B}"/>
              </a:ext>
            </a:extLst>
          </p:cNvPr>
          <p:cNvSpPr>
            <a:spLocks xmlns:a="http://schemas.openxmlformats.org/drawingml/2006/main" noGrp="1"/>
          </p:cNvSpPr>
          <p:nvPr/>
        </p:nvSpPr>
        <p:spPr>
          <a:xfrm xmlns:a="http://schemas.openxmlformats.org/drawingml/2006/main">
            <a:off x="609600" y="561022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87F8C"/>
                </a:solidFill>
                <a:latin typeface="Arial"/>
                <a:ea typeface="Arial"/>
                <a:cs typeface="Arial"/>
              </a:defRPr>
            </a:pPr>
            <a:r>
              <a:rPr sz="2250" b="1">
                <a:solidFill>
                  <a:srgbClr val="087F8C"/>
                </a:solidFill>
                <a:latin typeface="Arial"/>
                <a:ea typeface="Arial"/>
                <a:cs typeface="Arial"/>
              </a:rPr>
              <a:t>Recommendation: Ali can register under the example’s rule.</a:t>
            </a:r>
          </a:p>
        </p:txBody>
      </p:sp>
      <p:sp>
        <p:nvSpPr>
          <p:cNvPr id="16" name="visual-caption">
            <a:extLst xmlns:a="http://schemas.openxmlformats.org/drawingml/2006/main">
              <a:ext uri="{FF2B5EF4-FFF2-40B4-BE49-F238E27FC236}">
                <a16:creationId xmlns:a16="http://schemas.microsoft.com/office/drawing/2014/main" id="{AAB88053-39B8-4AE5-B0E0-DEE416B8440E}"/>
              </a:ext>
            </a:extLst>
          </p:cNvPr>
          <p:cNvSpPr>
            <a:spLocks xmlns:a="http://schemas.openxmlformats.org/drawingml/2006/main" noGrp="1"/>
          </p:cNvSpPr>
          <p:nvPr/>
        </p:nvSpPr>
        <p:spPr>
          <a:xfrm xmlns:a="http://schemas.openxmlformats.org/drawingml/2006/main">
            <a:off x="609600" y="6105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725" b="0">
                <a:solidFill>
                  <a:srgbClr val="566570"/>
                </a:solidFill>
                <a:latin typeface="Arial"/>
                <a:ea typeface="Arial"/>
                <a:cs typeface="Arial"/>
              </a:defRPr>
            </a:pPr>
            <a:r>
              <a:rPr sz="1725" b="0">
                <a:solidFill>
                  <a:srgbClr val="566570"/>
                </a:solidFill>
                <a:latin typeface="Arial"/>
                <a:ea typeface="Arial"/>
                <a:cs typeface="Arial"/>
              </a:rPr>
              <a:t>Assume this is the only prerequisite and no other registration restriction applies.</a:t>
            </a:r>
          </a:p>
        </p:txBody>
      </p:sp>
    </p:spTree>
    <p:extLst>
      <p:ext uri="{BB962C8B-B14F-4D97-AF65-F5344CB8AC3E}">
        <p14:creationId xmlns:p14="http://schemas.microsoft.com/office/powerpoint/2010/main" val="7445903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DB3EA1CD-262E-4F83-9D09-6587C8F7E471}"/>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Knowledge-Based System Architecture</a:t>
            </a:r>
          </a:p>
        </p:txBody>
      </p:sp>
      <p:sp>
        <p:nvSpPr>
          <p:cNvPr id="2" name="slide-number">
            <a:extLst xmlns:a="http://schemas.openxmlformats.org/drawingml/2006/main">
              <a:ext uri="{FF2B5EF4-FFF2-40B4-BE49-F238E27FC236}">
                <a16:creationId xmlns:a16="http://schemas.microsoft.com/office/drawing/2014/main" id="{B268DF04-6398-41B4-A853-BEB410F6B84A}"/>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28</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92ce62bb23a4eed"/>
          <a:stretch xmlns:a="http://schemas.openxmlformats.org/drawingml/2006/main"/>
        </p:blipFill>
        <p:spPr>
          <a:xfrm xmlns:a="http://schemas.openxmlformats.org/drawingml/2006/main">
            <a:off x="95250" y="1520825"/>
            <a:ext cx="6667500" cy="4445000"/>
          </a:xfrm>
          <a:prstGeom xmlns:a="http://schemas.openxmlformats.org/drawingml/2006/main" prst="rect">
            <a:avLst/>
          </a:prstGeom>
        </p:spPr>
      </p:pic>
      <p:sp>
        <p:nvSpPr>
          <p:cNvPr id="4" name="text">
            <a:extLst xmlns:a="http://schemas.openxmlformats.org/drawingml/2006/main">
              <a:ext uri="{FF2B5EF4-FFF2-40B4-BE49-F238E27FC236}">
                <a16:creationId xmlns:a16="http://schemas.microsoft.com/office/drawing/2014/main" id="{5F661633-9C58-4BAA-B07C-CCAB28ABF024}"/>
              </a:ext>
            </a:extLst>
          </p:cNvPr>
          <p:cNvSpPr>
            <a:spLocks xmlns:a="http://schemas.openxmlformats.org/drawingml/2006/main" noGrp="1"/>
          </p:cNvSpPr>
          <p:nvPr/>
        </p:nvSpPr>
        <p:spPr>
          <a:xfrm xmlns:a="http://schemas.openxmlformats.org/drawingml/2006/main">
            <a:off x="6915150" y="1657350"/>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Knowledge base</a:t>
            </a:r>
          </a:p>
        </p:txBody>
      </p:sp>
      <p:sp>
        <p:nvSpPr>
          <p:cNvPr id="5" name="text">
            <a:extLst xmlns:a="http://schemas.openxmlformats.org/drawingml/2006/main">
              <a:ext uri="{FF2B5EF4-FFF2-40B4-BE49-F238E27FC236}">
                <a16:creationId xmlns:a16="http://schemas.microsoft.com/office/drawing/2014/main" id="{DE73AB5F-F17C-481D-BA84-577AA7D758DA}"/>
              </a:ext>
            </a:extLst>
          </p:cNvPr>
          <p:cNvSpPr>
            <a:spLocks xmlns:a="http://schemas.openxmlformats.org/drawingml/2006/main" noGrp="1"/>
          </p:cNvSpPr>
          <p:nvPr/>
        </p:nvSpPr>
        <p:spPr>
          <a:xfrm xmlns:a="http://schemas.openxmlformats.org/drawingml/2006/main">
            <a:off x="6915150" y="2066925"/>
            <a:ext cx="4667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63746"/>
                </a:solidFill>
                <a:latin typeface="Arial"/>
                <a:ea typeface="Arial"/>
                <a:cs typeface="Arial"/>
              </a:defRPr>
            </a:pPr>
            <a:r>
              <a:rPr sz="2100" b="0">
                <a:solidFill>
                  <a:srgbClr val="263746"/>
                </a:solidFill>
                <a:latin typeface="Arial"/>
                <a:ea typeface="Arial"/>
                <a:cs typeface="Arial"/>
              </a:rPr>
              <a:t>Stores represented facts, rules, and relationships.</a:t>
            </a:r>
          </a:p>
        </p:txBody>
      </p:sp>
      <p:sp>
        <p:nvSpPr>
          <p:cNvPr id="6" name="text">
            <a:extLst xmlns:a="http://schemas.openxmlformats.org/drawingml/2006/main">
              <a:ext uri="{FF2B5EF4-FFF2-40B4-BE49-F238E27FC236}">
                <a16:creationId xmlns:a16="http://schemas.microsoft.com/office/drawing/2014/main" id="{CAF64519-9328-434C-A7F7-12BF5008F164}"/>
              </a:ext>
            </a:extLst>
          </p:cNvPr>
          <p:cNvSpPr>
            <a:spLocks xmlns:a="http://schemas.openxmlformats.org/drawingml/2006/main" noGrp="1"/>
          </p:cNvSpPr>
          <p:nvPr/>
        </p:nvSpPr>
        <p:spPr>
          <a:xfrm xmlns:a="http://schemas.openxmlformats.org/drawingml/2006/main">
            <a:off x="6915150" y="3076575"/>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Inference engine</a:t>
            </a:r>
          </a:p>
        </p:txBody>
      </p:sp>
      <p:sp>
        <p:nvSpPr>
          <p:cNvPr id="7" name="text">
            <a:extLst xmlns:a="http://schemas.openxmlformats.org/drawingml/2006/main">
              <a:ext uri="{FF2B5EF4-FFF2-40B4-BE49-F238E27FC236}">
                <a16:creationId xmlns:a16="http://schemas.microsoft.com/office/drawing/2014/main" id="{FB80C401-1805-439A-8904-46CEDB972F61}"/>
              </a:ext>
            </a:extLst>
          </p:cNvPr>
          <p:cNvSpPr>
            <a:spLocks xmlns:a="http://schemas.openxmlformats.org/drawingml/2006/main" noGrp="1"/>
          </p:cNvSpPr>
          <p:nvPr/>
        </p:nvSpPr>
        <p:spPr>
          <a:xfrm xmlns:a="http://schemas.openxmlformats.org/drawingml/2006/main">
            <a:off x="6915150" y="3486150"/>
            <a:ext cx="4667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63746"/>
                </a:solidFill>
                <a:latin typeface="Arial"/>
                <a:ea typeface="Arial"/>
                <a:cs typeface="Arial"/>
              </a:defRPr>
            </a:pPr>
            <a:r>
              <a:rPr sz="2100" b="0">
                <a:solidFill>
                  <a:srgbClr val="263746"/>
                </a:solidFill>
                <a:latin typeface="Arial"/>
                <a:ea typeface="Arial"/>
                <a:cs typeface="Arial"/>
              </a:rPr>
              <a:t>Applies reasoning to derive conclusions.</a:t>
            </a:r>
          </a:p>
        </p:txBody>
      </p:sp>
      <p:sp>
        <p:nvSpPr>
          <p:cNvPr id="8" name="text">
            <a:extLst xmlns:a="http://schemas.openxmlformats.org/drawingml/2006/main">
              <a:ext uri="{FF2B5EF4-FFF2-40B4-BE49-F238E27FC236}">
                <a16:creationId xmlns:a16="http://schemas.microsoft.com/office/drawing/2014/main" id="{8536F276-D461-4609-875C-A68DEA54B05B}"/>
              </a:ext>
            </a:extLst>
          </p:cNvPr>
          <p:cNvSpPr>
            <a:spLocks xmlns:a="http://schemas.openxmlformats.org/drawingml/2006/main" noGrp="1"/>
          </p:cNvSpPr>
          <p:nvPr/>
        </p:nvSpPr>
        <p:spPr>
          <a:xfrm xmlns:a="http://schemas.openxmlformats.org/drawingml/2006/main">
            <a:off x="6915150" y="4495800"/>
            <a:ext cx="466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User interface</a:t>
            </a:r>
          </a:p>
        </p:txBody>
      </p:sp>
      <p:sp>
        <p:nvSpPr>
          <p:cNvPr id="9" name="text">
            <a:extLst xmlns:a="http://schemas.openxmlformats.org/drawingml/2006/main">
              <a:ext uri="{FF2B5EF4-FFF2-40B4-BE49-F238E27FC236}">
                <a16:creationId xmlns:a16="http://schemas.microsoft.com/office/drawing/2014/main" id="{972631C0-CFF1-4355-85C2-14A2CA42918B}"/>
              </a:ext>
            </a:extLst>
          </p:cNvPr>
          <p:cNvSpPr>
            <a:spLocks xmlns:a="http://schemas.openxmlformats.org/drawingml/2006/main" noGrp="1"/>
          </p:cNvSpPr>
          <p:nvPr/>
        </p:nvSpPr>
        <p:spPr>
          <a:xfrm xmlns:a="http://schemas.openxmlformats.org/drawingml/2006/main">
            <a:off x="6915150" y="4905375"/>
            <a:ext cx="46672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63746"/>
                </a:solidFill>
                <a:latin typeface="Arial"/>
                <a:ea typeface="Arial"/>
                <a:cs typeface="Arial"/>
              </a:defRPr>
            </a:pPr>
            <a:r>
              <a:rPr sz="2100" b="0">
                <a:solidFill>
                  <a:srgbClr val="263746"/>
                </a:solidFill>
                <a:latin typeface="Arial"/>
                <a:ea typeface="Arial"/>
                <a:cs typeface="Arial"/>
              </a:rPr>
              <a:t>Receives questions and presents answers.</a:t>
            </a:r>
          </a:p>
        </p:txBody>
      </p:sp>
    </p:spTree>
    <p:extLst>
      <p:ext uri="{BB962C8B-B14F-4D97-AF65-F5344CB8AC3E}">
        <p14:creationId xmlns:p14="http://schemas.microsoft.com/office/powerpoint/2010/main" val="58390994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6671478B-1D45-4659-90B7-155A383269DE}"/>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Troubleshooting with a Knowledge Base</a:t>
            </a:r>
          </a:p>
        </p:txBody>
      </p:sp>
      <p:sp>
        <p:nvSpPr>
          <p:cNvPr id="2" name="slide-number">
            <a:extLst xmlns:a="http://schemas.openxmlformats.org/drawingml/2006/main">
              <a:ext uri="{FF2B5EF4-FFF2-40B4-BE49-F238E27FC236}">
                <a16:creationId xmlns:a16="http://schemas.microsoft.com/office/drawing/2014/main" id="{13444E6C-5F77-4066-986D-B1D96D48B85F}"/>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29</a:t>
            </a:r>
          </a:p>
        </p:txBody>
      </p:sp>
      <p:sp>
        <p:nvSpPr>
          <p:cNvPr id="3" name="text">
            <a:extLst xmlns:a="http://schemas.openxmlformats.org/drawingml/2006/main">
              <a:ext uri="{FF2B5EF4-FFF2-40B4-BE49-F238E27FC236}">
                <a16:creationId xmlns:a16="http://schemas.microsoft.com/office/drawing/2014/main" id="{E346F2CD-1649-4A43-B688-340373077E3C}"/>
              </a:ext>
            </a:extLst>
          </p:cNvPr>
          <p:cNvSpPr>
            <a:spLocks xmlns:a="http://schemas.openxmlformats.org/drawingml/2006/main" noGrp="1"/>
          </p:cNvSpPr>
          <p:nvPr/>
        </p:nvSpPr>
        <p:spPr>
          <a:xfrm xmlns:a="http://schemas.openxmlformats.org/drawingml/2006/main">
            <a:off x="609600" y="15525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Known fact</a:t>
            </a:r>
          </a:p>
        </p:txBody>
      </p:sp>
      <p:sp>
        <p:nvSpPr>
          <p:cNvPr id="4" name="text">
            <a:extLst xmlns:a="http://schemas.openxmlformats.org/drawingml/2006/main">
              <a:ext uri="{FF2B5EF4-FFF2-40B4-BE49-F238E27FC236}">
                <a16:creationId xmlns:a16="http://schemas.microsoft.com/office/drawing/2014/main" id="{082623E6-95C3-464D-A6A9-8ADAD2814496}"/>
              </a:ext>
            </a:extLst>
          </p:cNvPr>
          <p:cNvSpPr>
            <a:spLocks xmlns:a="http://schemas.openxmlformats.org/drawingml/2006/main" noGrp="1"/>
          </p:cNvSpPr>
          <p:nvPr/>
        </p:nvSpPr>
        <p:spPr>
          <a:xfrm xmlns:a="http://schemas.openxmlformats.org/drawingml/2006/main">
            <a:off x="609600" y="19621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0">
                <a:solidFill>
                  <a:srgbClr val="263746"/>
                </a:solidFill>
                <a:latin typeface="Arial"/>
                <a:ea typeface="Arial"/>
                <a:cs typeface="Arial"/>
              </a:defRPr>
            </a:pPr>
            <a:r>
              <a:rPr sz="2475" b="0">
                <a:solidFill>
                  <a:srgbClr val="263746"/>
                </a:solidFill>
                <a:latin typeface="Arial"/>
                <a:ea typeface="Arial"/>
                <a:cs typeface="Arial"/>
              </a:rPr>
              <a:t>BatteryLow(Car1)</a:t>
            </a:r>
          </a:p>
        </p:txBody>
      </p:sp>
      <p:sp>
        <p:nvSpPr>
          <p:cNvPr id="5" name="text">
            <a:extLst xmlns:a="http://schemas.openxmlformats.org/drawingml/2006/main">
              <a:ext uri="{FF2B5EF4-FFF2-40B4-BE49-F238E27FC236}">
                <a16:creationId xmlns:a16="http://schemas.microsoft.com/office/drawing/2014/main" id="{44AF29E8-B09E-4938-AE9A-958179333DB3}"/>
              </a:ext>
            </a:extLst>
          </p:cNvPr>
          <p:cNvSpPr>
            <a:spLocks xmlns:a="http://schemas.openxmlformats.org/drawingml/2006/main" noGrp="1"/>
          </p:cNvSpPr>
          <p:nvPr/>
        </p:nvSpPr>
        <p:spPr>
          <a:xfrm xmlns:a="http://schemas.openxmlformats.org/drawingml/2006/main">
            <a:off x="609600" y="2819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Rules</a:t>
            </a:r>
          </a:p>
        </p:txBody>
      </p:sp>
      <p:sp>
        <p:nvSpPr>
          <p:cNvPr id="6" name="text">
            <a:extLst xmlns:a="http://schemas.openxmlformats.org/drawingml/2006/main">
              <a:ext uri="{FF2B5EF4-FFF2-40B4-BE49-F238E27FC236}">
                <a16:creationId xmlns:a16="http://schemas.microsoft.com/office/drawing/2014/main" id="{DB472EF2-60C9-4B96-AF59-3FB427CA9E3A}"/>
              </a:ext>
            </a:extLst>
          </p:cNvPr>
          <p:cNvSpPr>
            <a:spLocks xmlns:a="http://schemas.openxmlformats.org/drawingml/2006/main" noGrp="1"/>
          </p:cNvSpPr>
          <p:nvPr/>
        </p:nvSpPr>
        <p:spPr>
          <a:xfrm xmlns:a="http://schemas.openxmlformats.org/drawingml/2006/main">
            <a:off x="609600" y="32289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BatteryLow(x) → EngineMayNotStart(x)</a:t>
            </a:r>
          </a:p>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EngineMayNotStart(x) → CheckBattery(x)</a:t>
            </a:r>
          </a:p>
        </p:txBody>
      </p:sp>
      <p:sp>
        <p:nvSpPr>
          <p:cNvPr id="7" name="text">
            <a:extLst xmlns:a="http://schemas.openxmlformats.org/drawingml/2006/main">
              <a:ext uri="{FF2B5EF4-FFF2-40B4-BE49-F238E27FC236}">
                <a16:creationId xmlns:a16="http://schemas.microsoft.com/office/drawing/2014/main" id="{B5B78613-8975-44C9-8E65-4F61884CB6AE}"/>
              </a:ext>
            </a:extLst>
          </p:cNvPr>
          <p:cNvSpPr>
            <a:spLocks xmlns:a="http://schemas.openxmlformats.org/drawingml/2006/main" noGrp="1"/>
          </p:cNvSpPr>
          <p:nvPr/>
        </p:nvSpPr>
        <p:spPr>
          <a:xfrm xmlns:a="http://schemas.openxmlformats.org/drawingml/2006/main">
            <a:off x="609600" y="4648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Derived conclusions</a:t>
            </a:r>
          </a:p>
        </p:txBody>
      </p:sp>
      <p:sp>
        <p:nvSpPr>
          <p:cNvPr id="8" name="text">
            <a:extLst xmlns:a="http://schemas.openxmlformats.org/drawingml/2006/main">
              <a:ext uri="{FF2B5EF4-FFF2-40B4-BE49-F238E27FC236}">
                <a16:creationId xmlns:a16="http://schemas.microsoft.com/office/drawing/2014/main" id="{55791F90-1061-4D44-8D7A-7F28EB0775F8}"/>
              </a:ext>
            </a:extLst>
          </p:cNvPr>
          <p:cNvSpPr>
            <a:spLocks xmlns:a="http://schemas.openxmlformats.org/drawingml/2006/main" noGrp="1"/>
          </p:cNvSpPr>
          <p:nvPr/>
        </p:nvSpPr>
        <p:spPr>
          <a:xfrm xmlns:a="http://schemas.openxmlformats.org/drawingml/2006/main">
            <a:off x="609600" y="505777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63746"/>
                </a:solidFill>
                <a:latin typeface="Arial"/>
                <a:ea typeface="Arial"/>
                <a:cs typeface="Arial"/>
              </a:defRPr>
            </a:pPr>
            <a:r>
              <a:rPr sz="2400" b="0">
                <a:solidFill>
                  <a:srgbClr val="263746"/>
                </a:solidFill>
                <a:latin typeface="Arial"/>
                <a:ea typeface="Arial"/>
                <a:cs typeface="Arial"/>
              </a:rPr>
              <a:t>EngineMayNotStart(Car1)</a:t>
            </a:r>
          </a:p>
          <a:p xmlns:a="http://schemas.openxmlformats.org/drawingml/2006/main">
            <a:pPr>
              <a:buNone/>
              <a:defRPr sz="2400" b="0">
                <a:solidFill>
                  <a:srgbClr val="263746"/>
                </a:solidFill>
                <a:latin typeface="Arial"/>
                <a:ea typeface="Arial"/>
                <a:cs typeface="Arial"/>
              </a:defRPr>
            </a:pPr>
            <a:r>
              <a:rPr sz="2400" b="0">
                <a:solidFill>
                  <a:srgbClr val="263746"/>
                </a:solidFill>
                <a:latin typeface="Arial"/>
                <a:ea typeface="Arial"/>
                <a:cs typeface="Arial"/>
              </a:rPr>
              <a:t>CheckBattery(Car1)</a:t>
            </a:r>
          </a:p>
        </p:txBody>
      </p:sp>
    </p:spTree>
    <p:extLst>
      <p:ext uri="{BB962C8B-B14F-4D97-AF65-F5344CB8AC3E}">
        <p14:creationId xmlns:p14="http://schemas.microsoft.com/office/powerpoint/2010/main" val="66475699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21FAE7B1-E72D-436D-8CCE-CD03FC949FC6}"/>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Expressiveness and Reasoning Difficulty</a:t>
            </a:r>
          </a:p>
        </p:txBody>
      </p:sp>
      <p:sp>
        <p:nvSpPr>
          <p:cNvPr id="2" name="slide-number">
            <a:extLst xmlns:a="http://schemas.openxmlformats.org/drawingml/2006/main">
              <a:ext uri="{FF2B5EF4-FFF2-40B4-BE49-F238E27FC236}">
                <a16:creationId xmlns:a16="http://schemas.microsoft.com/office/drawing/2014/main" id="{19DE7D08-44AF-415C-AA5B-599B92F2A3C9}"/>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30</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92fb0fe03484e80"/>
          <a:stretch xmlns:a="http://schemas.openxmlformats.org/drawingml/2006/main"/>
        </p:blipFill>
        <p:spPr>
          <a:xfrm xmlns:a="http://schemas.openxmlformats.org/drawingml/2006/main">
            <a:off x="804863" y="1514475"/>
            <a:ext cx="6486525" cy="4324350"/>
          </a:xfrm>
          <a:prstGeom xmlns:a="http://schemas.openxmlformats.org/drawingml/2006/main" prst="rect">
            <a:avLst/>
          </a:prstGeom>
        </p:spPr>
      </p:pic>
      <p:sp>
        <p:nvSpPr>
          <p:cNvPr id="11" name="visual-caption">
            <a:extLst xmlns:a="http://schemas.openxmlformats.org/drawingml/2006/main">
              <a:ext uri="{FF2B5EF4-FFF2-40B4-BE49-F238E27FC236}">
                <a16:creationId xmlns:a16="http://schemas.microsoft.com/office/drawing/2014/main" id="{96D9DB53-B1DA-42F7-9625-50E53341A00E}"/>
              </a:ext>
            </a:extLst>
          </p:cNvPr>
          <p:cNvSpPr>
            <a:spLocks xmlns:a="http://schemas.openxmlformats.org/drawingml/2006/main" noGrp="1"/>
          </p:cNvSpPr>
          <p:nvPr/>
        </p:nvSpPr>
        <p:spPr>
          <a:xfrm xmlns:a="http://schemas.openxmlformats.org/drawingml/2006/main">
            <a:off x="8048625" y="1771650"/>
            <a:ext cx="35337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Greater expressiveness</a:t>
            </a:r>
          </a:p>
        </p:txBody>
      </p:sp>
      <p:sp>
        <p:nvSpPr>
          <p:cNvPr id="12" name="visual-caption">
            <a:extLst xmlns:a="http://schemas.openxmlformats.org/drawingml/2006/main">
              <a:ext uri="{FF2B5EF4-FFF2-40B4-BE49-F238E27FC236}">
                <a16:creationId xmlns:a16="http://schemas.microsoft.com/office/drawing/2014/main" id="{3E3C6927-2BAD-4E9A-8542-49BBC17B9463}"/>
              </a:ext>
            </a:extLst>
          </p:cNvPr>
          <p:cNvSpPr>
            <a:spLocks xmlns:a="http://schemas.openxmlformats.org/drawingml/2006/main" noGrp="1"/>
          </p:cNvSpPr>
          <p:nvPr/>
        </p:nvSpPr>
        <p:spPr>
          <a:xfrm xmlns:a="http://schemas.openxmlformats.org/drawingml/2006/main">
            <a:off x="8048625" y="2181225"/>
            <a:ext cx="35337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263746"/>
                </a:solidFill>
                <a:latin typeface="Arial"/>
                <a:ea typeface="Arial"/>
                <a:cs typeface="Arial"/>
              </a:defRPr>
            </a:pPr>
            <a:r>
              <a:rPr sz="2025" b="0">
                <a:solidFill>
                  <a:srgbClr val="263746"/>
                </a:solidFill>
                <a:latin typeface="Arial"/>
                <a:ea typeface="Arial"/>
                <a:cs typeface="Arial"/>
              </a:rPr>
              <a:t>Can describe more complex situations, exceptions, and uncertainty.</a:t>
            </a:r>
          </a:p>
        </p:txBody>
      </p:sp>
      <p:sp>
        <p:nvSpPr>
          <p:cNvPr id="13" name="visual-caption">
            <a:extLst xmlns:a="http://schemas.openxmlformats.org/drawingml/2006/main">
              <a:ext uri="{FF2B5EF4-FFF2-40B4-BE49-F238E27FC236}">
                <a16:creationId xmlns:a16="http://schemas.microsoft.com/office/drawing/2014/main" id="{B9C50CB2-1C94-4D9D-A963-F8295E46ECC2}"/>
              </a:ext>
            </a:extLst>
          </p:cNvPr>
          <p:cNvSpPr>
            <a:spLocks xmlns:a="http://schemas.openxmlformats.org/drawingml/2006/main" noGrp="1"/>
          </p:cNvSpPr>
          <p:nvPr/>
        </p:nvSpPr>
        <p:spPr>
          <a:xfrm xmlns:a="http://schemas.openxmlformats.org/drawingml/2006/main">
            <a:off x="8048625" y="3819525"/>
            <a:ext cx="35337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Simpler representations</a:t>
            </a:r>
          </a:p>
        </p:txBody>
      </p:sp>
      <p:sp>
        <p:nvSpPr>
          <p:cNvPr id="14" name="visual-caption">
            <a:extLst xmlns:a="http://schemas.openxmlformats.org/drawingml/2006/main">
              <a:ext uri="{FF2B5EF4-FFF2-40B4-BE49-F238E27FC236}">
                <a16:creationId xmlns:a16="http://schemas.microsoft.com/office/drawing/2014/main" id="{4D25F6A7-2FB4-4A3C-AD0B-454164DA44B9}"/>
              </a:ext>
            </a:extLst>
          </p:cNvPr>
          <p:cNvSpPr>
            <a:spLocks xmlns:a="http://schemas.openxmlformats.org/drawingml/2006/main" noGrp="1"/>
          </p:cNvSpPr>
          <p:nvPr/>
        </p:nvSpPr>
        <p:spPr>
          <a:xfrm xmlns:a="http://schemas.openxmlformats.org/drawingml/2006/main">
            <a:off x="8048625" y="4229100"/>
            <a:ext cx="3533775"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263746"/>
                </a:solidFill>
                <a:latin typeface="Arial"/>
                <a:ea typeface="Arial"/>
                <a:cs typeface="Arial"/>
              </a:defRPr>
            </a:pPr>
            <a:r>
              <a:rPr sz="2025" b="0">
                <a:solidFill>
                  <a:srgbClr val="263746"/>
                </a:solidFill>
                <a:latin typeface="Arial"/>
                <a:ea typeface="Arial"/>
                <a:cs typeface="Arial"/>
              </a:rPr>
              <a:t>Can make reasoning easier, while leaving some details unexpressed.</a:t>
            </a:r>
          </a:p>
        </p:txBody>
      </p:sp>
      <p:sp>
        <p:nvSpPr>
          <p:cNvPr id="15" name="visual-caption">
            <a:extLst xmlns:a="http://schemas.openxmlformats.org/drawingml/2006/main">
              <a:ext uri="{FF2B5EF4-FFF2-40B4-BE49-F238E27FC236}">
                <a16:creationId xmlns:a16="http://schemas.microsoft.com/office/drawing/2014/main" id="{36AA7A7B-C51B-449B-9A34-90AEA23F20EC}"/>
              </a:ext>
            </a:extLst>
          </p:cNvPr>
          <p:cNvSpPr>
            <a:spLocks xmlns:a="http://schemas.openxmlformats.org/drawingml/2006/main" noGrp="1"/>
          </p:cNvSpPr>
          <p:nvPr/>
        </p:nvSpPr>
        <p:spPr>
          <a:xfrm xmlns:a="http://schemas.openxmlformats.org/drawingml/2006/main">
            <a:off x="609600" y="60769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66570"/>
                </a:solidFill>
                <a:latin typeface="Arial"/>
                <a:ea typeface="Arial"/>
                <a:cs typeface="Arial"/>
              </a:defRPr>
            </a:pPr>
            <a:r>
              <a:rPr sz="1800" b="0">
                <a:solidFill>
                  <a:srgbClr val="566570"/>
                </a:solidFill>
                <a:latin typeface="Arial"/>
                <a:ea typeface="Arial"/>
                <a:cs typeface="Arial"/>
              </a:rPr>
              <a:t>Conceptual illustration. Difficulty depends on the representation and reasoning task.</a:t>
            </a:r>
          </a:p>
        </p:txBody>
      </p:sp>
    </p:spTree>
    <p:extLst>
      <p:ext uri="{BB962C8B-B14F-4D97-AF65-F5344CB8AC3E}">
        <p14:creationId xmlns:p14="http://schemas.microsoft.com/office/powerpoint/2010/main" val="175823509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12CFEA6A-8CA5-4553-89E1-57BC9269F2F2}"/>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Classroom Activity: Exam-Hall Entry</a:t>
            </a:r>
          </a:p>
        </p:txBody>
      </p:sp>
      <p:sp>
        <p:nvSpPr>
          <p:cNvPr id="2" name="slide-number">
            <a:extLst xmlns:a="http://schemas.openxmlformats.org/drawingml/2006/main">
              <a:ext uri="{FF2B5EF4-FFF2-40B4-BE49-F238E27FC236}">
                <a16:creationId xmlns:a16="http://schemas.microsoft.com/office/drawing/2014/main" id="{457DDC8C-BB29-454A-8F68-5D386984725E}"/>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31</a:t>
            </a:r>
          </a:p>
        </p:txBody>
      </p:sp>
      <p:sp>
        <p:nvSpPr>
          <p:cNvPr id="3" name="text">
            <a:extLst xmlns:a="http://schemas.openxmlformats.org/drawingml/2006/main">
              <a:ext uri="{FF2B5EF4-FFF2-40B4-BE49-F238E27FC236}">
                <a16:creationId xmlns:a16="http://schemas.microsoft.com/office/drawing/2014/main" id="{104BC3EE-D96E-4EEC-A205-C54A1DA992B9}"/>
              </a:ext>
            </a:extLst>
          </p:cNvPr>
          <p:cNvSpPr>
            <a:spLocks xmlns:a="http://schemas.openxmlformats.org/drawingml/2006/main" noGrp="1"/>
          </p:cNvSpPr>
          <p:nvPr/>
        </p:nvSpPr>
        <p:spPr>
          <a:xfrm xmlns:a="http://schemas.openxmlformats.org/drawingml/2006/main">
            <a:off x="609600" y="14573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Facts</a:t>
            </a:r>
          </a:p>
        </p:txBody>
      </p:sp>
      <p:sp>
        <p:nvSpPr>
          <p:cNvPr id="4" name="text">
            <a:extLst xmlns:a="http://schemas.openxmlformats.org/drawingml/2006/main">
              <a:ext uri="{FF2B5EF4-FFF2-40B4-BE49-F238E27FC236}">
                <a16:creationId xmlns:a16="http://schemas.microsoft.com/office/drawing/2014/main" id="{44214F9C-8128-4793-BDC9-761571D465A1}"/>
              </a:ext>
            </a:extLst>
          </p:cNvPr>
          <p:cNvSpPr>
            <a:spLocks xmlns:a="http://schemas.openxmlformats.org/drawingml/2006/main" noGrp="1"/>
          </p:cNvSpPr>
          <p:nvPr/>
        </p:nvSpPr>
        <p:spPr>
          <a:xfrm xmlns:a="http://schemas.openxmlformats.org/drawingml/2006/main">
            <a:off x="609600" y="19050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173449"/>
                </a:solidFill>
                <a:latin typeface="Arial"/>
                <a:ea typeface="Arial"/>
                <a:cs typeface="Arial"/>
              </a:defRPr>
            </a:pPr>
            <a:r>
              <a:rPr sz="2400" b="1">
                <a:solidFill>
                  <a:srgbClr val="173449"/>
                </a:solidFill>
                <a:latin typeface="Arial"/>
                <a:ea typeface="Arial"/>
                <a:cs typeface="Arial"/>
              </a:rPr>
              <a:t>Registered(Sara)      ValidID(Sara)</a:t>
            </a:r>
          </a:p>
        </p:txBody>
      </p:sp>
      <p:sp>
        <p:nvSpPr>
          <p:cNvPr id="5" name="text">
            <a:extLst xmlns:a="http://schemas.openxmlformats.org/drawingml/2006/main">
              <a:ext uri="{FF2B5EF4-FFF2-40B4-BE49-F238E27FC236}">
                <a16:creationId xmlns:a16="http://schemas.microsoft.com/office/drawing/2014/main" id="{668D418D-E5B3-4C8A-992F-CEFD6C297225}"/>
              </a:ext>
            </a:extLst>
          </p:cNvPr>
          <p:cNvSpPr>
            <a:spLocks xmlns:a="http://schemas.openxmlformats.org/drawingml/2006/main" noGrp="1"/>
          </p:cNvSpPr>
          <p:nvPr/>
        </p:nvSpPr>
        <p:spPr>
          <a:xfrm xmlns:a="http://schemas.openxmlformats.org/drawingml/2006/main">
            <a:off x="609600" y="28479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Rules</a:t>
            </a:r>
          </a:p>
        </p:txBody>
      </p:sp>
      <p:sp>
        <p:nvSpPr>
          <p:cNvPr id="6" name="text">
            <a:extLst xmlns:a="http://schemas.openxmlformats.org/drawingml/2006/main">
              <a:ext uri="{FF2B5EF4-FFF2-40B4-BE49-F238E27FC236}">
                <a16:creationId xmlns:a16="http://schemas.microsoft.com/office/drawing/2014/main" id="{6A0542C8-5BF3-47DD-AE28-655CAC531946}"/>
              </a:ext>
            </a:extLst>
          </p:cNvPr>
          <p:cNvSpPr>
            <a:spLocks xmlns:a="http://schemas.openxmlformats.org/drawingml/2006/main" noGrp="1"/>
          </p:cNvSpPr>
          <p:nvPr/>
        </p:nvSpPr>
        <p:spPr>
          <a:xfrm xmlns:a="http://schemas.openxmlformats.org/drawingml/2006/main">
            <a:off x="609600" y="329565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173449"/>
                </a:solidFill>
                <a:latin typeface="Arial"/>
                <a:ea typeface="Arial"/>
                <a:cs typeface="Arial"/>
              </a:defRPr>
            </a:pPr>
            <a:r>
              <a:rPr sz="2325" b="1">
                <a:solidFill>
                  <a:srgbClr val="173449"/>
                </a:solidFill>
                <a:latin typeface="Arial"/>
                <a:ea typeface="Arial"/>
                <a:cs typeface="Arial"/>
              </a:rPr>
              <a:t>Registered(x) → HasUniversityID(x)</a:t>
            </a:r>
          </a:p>
        </p:txBody>
      </p:sp>
      <p:sp>
        <p:nvSpPr>
          <p:cNvPr id="7" name="text">
            <a:extLst xmlns:a="http://schemas.openxmlformats.org/drawingml/2006/main">
              <a:ext uri="{FF2B5EF4-FFF2-40B4-BE49-F238E27FC236}">
                <a16:creationId xmlns:a16="http://schemas.microsoft.com/office/drawing/2014/main" id="{B71DAFD6-7A0F-44F8-BB49-D522DA687A3C}"/>
              </a:ext>
            </a:extLst>
          </p:cNvPr>
          <p:cNvSpPr>
            <a:spLocks xmlns:a="http://schemas.openxmlformats.org/drawingml/2006/main" noGrp="1"/>
          </p:cNvSpPr>
          <p:nvPr/>
        </p:nvSpPr>
        <p:spPr>
          <a:xfrm xmlns:a="http://schemas.openxmlformats.org/drawingml/2006/main">
            <a:off x="609600" y="3933825"/>
            <a:ext cx="109728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173449"/>
                </a:solidFill>
                <a:latin typeface="Arial"/>
                <a:ea typeface="Arial"/>
                <a:cs typeface="Arial"/>
              </a:defRPr>
            </a:pPr>
            <a:r>
              <a:rPr sz="2325" b="1">
                <a:solidFill>
                  <a:srgbClr val="173449"/>
                </a:solidFill>
                <a:latin typeface="Arial"/>
                <a:ea typeface="Arial"/>
                <a:cs typeface="Arial"/>
              </a:rPr>
              <a:t>HasUniversityID(x) ∧ ValidID(x)</a:t>
            </a:r>
          </a:p>
          <a:p xmlns:a="http://schemas.openxmlformats.org/drawingml/2006/main">
            <a:pPr>
              <a:buNone/>
              <a:defRPr sz="2325" b="1">
                <a:solidFill>
                  <a:srgbClr val="173449"/>
                </a:solidFill>
                <a:latin typeface="Arial"/>
                <a:ea typeface="Arial"/>
                <a:cs typeface="Arial"/>
              </a:defRPr>
            </a:pPr>
            <a:r>
              <a:rPr sz="2325" b="1">
                <a:solidFill>
                  <a:srgbClr val="173449"/>
                </a:solidFill>
                <a:latin typeface="Arial"/>
                <a:ea typeface="Arial"/>
                <a:cs typeface="Arial"/>
              </a:rPr>
              <a:t>→ CanEnterExamHall(x)</a:t>
            </a:r>
          </a:p>
        </p:txBody>
      </p:sp>
      <p:sp>
        <p:nvSpPr>
          <p:cNvPr id="8" name="text">
            <a:extLst xmlns:a="http://schemas.openxmlformats.org/drawingml/2006/main">
              <a:ext uri="{FF2B5EF4-FFF2-40B4-BE49-F238E27FC236}">
                <a16:creationId xmlns:a16="http://schemas.microsoft.com/office/drawing/2014/main" id="{FACCEB7E-69F3-485E-A967-43978F7B4910}"/>
              </a:ext>
            </a:extLst>
          </p:cNvPr>
          <p:cNvSpPr>
            <a:spLocks xmlns:a="http://schemas.openxmlformats.org/drawingml/2006/main" noGrp="1"/>
          </p:cNvSpPr>
          <p:nvPr/>
        </p:nvSpPr>
        <p:spPr>
          <a:xfrm xmlns:a="http://schemas.openxmlformats.org/drawingml/2006/main">
            <a:off x="609600" y="49149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00" b="0">
                <a:solidFill>
                  <a:srgbClr val="566570"/>
                </a:solidFill>
                <a:latin typeface="Arial"/>
                <a:ea typeface="Arial"/>
                <a:cs typeface="Arial"/>
              </a:defRPr>
            </a:pPr>
            <a:r>
              <a:rPr sz="1800" b="0">
                <a:solidFill>
                  <a:srgbClr val="566570"/>
                </a:solidFill>
                <a:latin typeface="Arial"/>
                <a:ea typeface="Arial"/>
                <a:cs typeface="Arial"/>
              </a:rPr>
              <a:t>∧ means AND: both conditions must hold.</a:t>
            </a:r>
          </a:p>
        </p:txBody>
      </p:sp>
      <p:sp>
        <p:nvSpPr>
          <p:cNvPr id="9" name="text">
            <a:extLst xmlns:a="http://schemas.openxmlformats.org/drawingml/2006/main">
              <a:ext uri="{FF2B5EF4-FFF2-40B4-BE49-F238E27FC236}">
                <a16:creationId xmlns:a16="http://schemas.microsoft.com/office/drawing/2014/main" id="{62B7F90C-42CE-458A-8BF7-082FA4690B78}"/>
              </a:ext>
            </a:extLst>
          </p:cNvPr>
          <p:cNvSpPr>
            <a:spLocks xmlns:a="http://schemas.openxmlformats.org/drawingml/2006/main" noGrp="1"/>
          </p:cNvSpPr>
          <p:nvPr/>
        </p:nvSpPr>
        <p:spPr>
          <a:xfrm xmlns:a="http://schemas.openxmlformats.org/drawingml/2006/main">
            <a:off x="609600" y="528637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173449"/>
                </a:solidFill>
                <a:latin typeface="Arial"/>
                <a:ea typeface="Arial"/>
                <a:cs typeface="Arial"/>
              </a:defRPr>
            </a:pPr>
            <a:r>
              <a:rPr sz="2250" b="1">
                <a:solidFill>
                  <a:srgbClr val="173449"/>
                </a:solidFill>
                <a:latin typeface="Arial"/>
                <a:ea typeface="Arial"/>
                <a:cs typeface="Arial"/>
              </a:rPr>
              <a:t>What can the system conclude about Sara?</a:t>
            </a:r>
          </a:p>
          <a:p xmlns:a="http://schemas.openxmlformats.org/drawingml/2006/main">
            <a:pPr>
              <a:buNone/>
              <a:defRPr sz="2250" b="1">
                <a:solidFill>
                  <a:srgbClr val="173449"/>
                </a:solidFill>
                <a:latin typeface="Arial"/>
                <a:ea typeface="Arial"/>
                <a:cs typeface="Arial"/>
              </a:defRPr>
            </a:pPr>
            <a:r>
              <a:rPr sz="2250" b="1">
                <a:solidFill>
                  <a:srgbClr val="173449"/>
                </a:solidFill>
                <a:latin typeface="Arial"/>
                <a:ea typeface="Arial"/>
                <a:cs typeface="Arial"/>
              </a:rPr>
              <a:t>Which conclusions require more than one condition?</a:t>
            </a:r>
          </a:p>
        </p:txBody>
      </p:sp>
    </p:spTree>
    <p:extLst>
      <p:ext uri="{BB962C8B-B14F-4D97-AF65-F5344CB8AC3E}">
        <p14:creationId xmlns:p14="http://schemas.microsoft.com/office/powerpoint/2010/main" val="178648506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98803FBE-2960-4632-AFC8-0227797C40D9}"/>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Exam-Hall Activity: Discussion Questions</a:t>
            </a:r>
          </a:p>
        </p:txBody>
      </p:sp>
      <p:sp>
        <p:nvSpPr>
          <p:cNvPr id="2" name="slide-number">
            <a:extLst xmlns:a="http://schemas.openxmlformats.org/drawingml/2006/main">
              <a:ext uri="{FF2B5EF4-FFF2-40B4-BE49-F238E27FC236}">
                <a16:creationId xmlns:a16="http://schemas.microsoft.com/office/drawing/2014/main" id="{11704499-BB2C-4393-AC8D-E826409B5320}"/>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a:solidFill>
                  <a:srgbClr val="566570"/>
                </a:solidFill>
                <a:latin typeface="Arial"/>
                <a:ea typeface="Arial"/>
                <a:cs typeface="Arial"/>
              </a:defRPr>
            </a:pPr>
            <a:r>
              <a:rPr sz="1350">
                <a:solidFill>
                  <a:srgbClr val="566570"/>
                </a:solidFill>
                <a:latin typeface="Arial"/>
                <a:ea typeface="Arial"/>
                <a:cs typeface="Arial"/>
              </a:rPr>
              <a:t>32</a:t>
            </a:r>
          </a:p>
        </p:txBody>
      </p:sp>
      <p:sp>
        <p:nvSpPr>
          <p:cNvPr id="3" name="assessment-text">
            <a:extLst xmlns:a="http://schemas.openxmlformats.org/drawingml/2006/main">
              <a:ext uri="{FF2B5EF4-FFF2-40B4-BE49-F238E27FC236}">
                <a16:creationId xmlns:a16="http://schemas.microsoft.com/office/drawing/2014/main" id="{6F95ABD4-143E-47E2-B12D-A7889675E9B9}"/>
              </a:ext>
            </a:extLst>
          </p:cNvPr>
          <p:cNvSpPr>
            <a:spLocks xmlns:a="http://schemas.openxmlformats.org/drawingml/2006/main" noGrp="1"/>
          </p:cNvSpPr>
          <p:nvPr/>
        </p:nvSpPr>
        <p:spPr>
          <a:xfrm xmlns:a="http://schemas.openxmlformats.org/drawingml/2006/main">
            <a:off x="609600" y="14573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1</a:t>
            </a:r>
          </a:p>
        </p:txBody>
      </p:sp>
      <p:sp>
        <p:nvSpPr>
          <p:cNvPr id="4" name="assessment-text">
            <a:extLst xmlns:a="http://schemas.openxmlformats.org/drawingml/2006/main">
              <a:ext uri="{FF2B5EF4-FFF2-40B4-BE49-F238E27FC236}">
                <a16:creationId xmlns:a16="http://schemas.microsoft.com/office/drawing/2014/main" id="{3C75FF53-48F4-429F-A993-DB20B0C3A195}"/>
              </a:ext>
            </a:extLst>
          </p:cNvPr>
          <p:cNvSpPr>
            <a:spLocks xmlns:a="http://schemas.openxmlformats.org/drawingml/2006/main" noGrp="1"/>
          </p:cNvSpPr>
          <p:nvPr/>
        </p:nvSpPr>
        <p:spPr>
          <a:xfrm xmlns:a="http://schemas.openxmlformats.org/drawingml/2006/main">
            <a:off x="609600" y="188595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263746"/>
                </a:solidFill>
                <a:latin typeface="Arial"/>
                <a:ea typeface="Arial"/>
                <a:cs typeface="Arial"/>
              </a:defRPr>
            </a:pPr>
            <a:r>
              <a:rPr sz="2400">
                <a:solidFill>
                  <a:srgbClr val="263746"/>
                </a:solidFill>
                <a:latin typeface="Arial"/>
                <a:ea typeface="Arial"/>
                <a:cs typeface="Arial"/>
              </a:rPr>
              <a:t>Which statements were given directly?</a:t>
            </a:r>
          </a:p>
        </p:txBody>
      </p:sp>
      <p:sp>
        <p:nvSpPr>
          <p:cNvPr id="5" name="assessment-text">
            <a:extLst xmlns:a="http://schemas.openxmlformats.org/drawingml/2006/main">
              <a:ext uri="{FF2B5EF4-FFF2-40B4-BE49-F238E27FC236}">
                <a16:creationId xmlns:a16="http://schemas.microsoft.com/office/drawing/2014/main" id="{2202D43A-A7F2-48CC-AFF4-1481175D21C0}"/>
              </a:ext>
            </a:extLst>
          </p:cNvPr>
          <p:cNvSpPr>
            <a:spLocks xmlns:a="http://schemas.openxmlformats.org/drawingml/2006/main" noGrp="1"/>
          </p:cNvSpPr>
          <p:nvPr/>
        </p:nvSpPr>
        <p:spPr>
          <a:xfrm xmlns:a="http://schemas.openxmlformats.org/drawingml/2006/main">
            <a:off x="609600" y="26193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2</a:t>
            </a:r>
          </a:p>
        </p:txBody>
      </p:sp>
      <p:sp>
        <p:nvSpPr>
          <p:cNvPr id="6" name="assessment-text">
            <a:extLst xmlns:a="http://schemas.openxmlformats.org/drawingml/2006/main">
              <a:ext uri="{FF2B5EF4-FFF2-40B4-BE49-F238E27FC236}">
                <a16:creationId xmlns:a16="http://schemas.microsoft.com/office/drawing/2014/main" id="{44C082E2-02C0-4B02-A2F6-FDE5212901C1}"/>
              </a:ext>
            </a:extLst>
          </p:cNvPr>
          <p:cNvSpPr>
            <a:spLocks xmlns:a="http://schemas.openxmlformats.org/drawingml/2006/main" noGrp="1"/>
          </p:cNvSpPr>
          <p:nvPr/>
        </p:nvSpPr>
        <p:spPr>
          <a:xfrm xmlns:a="http://schemas.openxmlformats.org/drawingml/2006/main">
            <a:off x="609600" y="304800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263746"/>
                </a:solidFill>
                <a:latin typeface="Arial"/>
                <a:ea typeface="Arial"/>
                <a:cs typeface="Arial"/>
              </a:defRPr>
            </a:pPr>
            <a:r>
              <a:rPr sz="2400">
                <a:solidFill>
                  <a:srgbClr val="263746"/>
                </a:solidFill>
                <a:latin typeface="Arial"/>
                <a:ea typeface="Arial"/>
                <a:cs typeface="Arial"/>
              </a:rPr>
              <a:t>Which statement was inferred?</a:t>
            </a:r>
          </a:p>
        </p:txBody>
      </p:sp>
      <p:sp>
        <p:nvSpPr>
          <p:cNvPr id="7" name="assessment-text">
            <a:extLst xmlns:a="http://schemas.openxmlformats.org/drawingml/2006/main">
              <a:ext uri="{FF2B5EF4-FFF2-40B4-BE49-F238E27FC236}">
                <a16:creationId xmlns:a16="http://schemas.microsoft.com/office/drawing/2014/main" id="{E75166BF-3BF9-49BB-85A0-DA5F2196B837}"/>
              </a:ext>
            </a:extLst>
          </p:cNvPr>
          <p:cNvSpPr>
            <a:spLocks xmlns:a="http://schemas.openxmlformats.org/drawingml/2006/main" noGrp="1"/>
          </p:cNvSpPr>
          <p:nvPr/>
        </p:nvSpPr>
        <p:spPr>
          <a:xfrm xmlns:a="http://schemas.openxmlformats.org/drawingml/2006/main">
            <a:off x="609600" y="37814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3</a:t>
            </a:r>
          </a:p>
        </p:txBody>
      </p:sp>
      <p:sp>
        <p:nvSpPr>
          <p:cNvPr id="8" name="assessment-text">
            <a:extLst xmlns:a="http://schemas.openxmlformats.org/drawingml/2006/main">
              <a:ext uri="{FF2B5EF4-FFF2-40B4-BE49-F238E27FC236}">
                <a16:creationId xmlns:a16="http://schemas.microsoft.com/office/drawing/2014/main" id="{684CB758-1A11-4A9B-9D49-4556898CBA78}"/>
              </a:ext>
            </a:extLst>
          </p:cNvPr>
          <p:cNvSpPr>
            <a:spLocks xmlns:a="http://schemas.openxmlformats.org/drawingml/2006/main" noGrp="1"/>
          </p:cNvSpPr>
          <p:nvPr/>
        </p:nvSpPr>
        <p:spPr>
          <a:xfrm xmlns:a="http://schemas.openxmlformats.org/drawingml/2006/main">
            <a:off x="609600" y="421005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263746"/>
                </a:solidFill>
                <a:latin typeface="Arial"/>
                <a:ea typeface="Arial"/>
                <a:cs typeface="Arial"/>
              </a:defRPr>
            </a:pPr>
            <a:r>
              <a:rPr sz="2400">
                <a:solidFill>
                  <a:srgbClr val="263746"/>
                </a:solidFill>
                <a:latin typeface="Arial"/>
                <a:ea typeface="Arial"/>
                <a:cs typeface="Arial"/>
              </a:rPr>
              <a:t>Which rule was used?</a:t>
            </a:r>
          </a:p>
        </p:txBody>
      </p:sp>
      <p:sp>
        <p:nvSpPr>
          <p:cNvPr id="9" name="assessment-text">
            <a:extLst xmlns:a="http://schemas.openxmlformats.org/drawingml/2006/main">
              <a:ext uri="{FF2B5EF4-FFF2-40B4-BE49-F238E27FC236}">
                <a16:creationId xmlns:a16="http://schemas.microsoft.com/office/drawing/2014/main" id="{76D51D0D-581A-4E19-AA94-D7BDD4D929D0}"/>
              </a:ext>
            </a:extLst>
          </p:cNvPr>
          <p:cNvSpPr>
            <a:spLocks xmlns:a="http://schemas.openxmlformats.org/drawingml/2006/main" noGrp="1"/>
          </p:cNvSpPr>
          <p:nvPr/>
        </p:nvSpPr>
        <p:spPr>
          <a:xfrm xmlns:a="http://schemas.openxmlformats.org/drawingml/2006/main">
            <a:off x="609600" y="49434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4</a:t>
            </a:r>
          </a:p>
        </p:txBody>
      </p:sp>
      <p:sp>
        <p:nvSpPr>
          <p:cNvPr id="10" name="assessment-text">
            <a:extLst xmlns:a="http://schemas.openxmlformats.org/drawingml/2006/main">
              <a:ext uri="{FF2B5EF4-FFF2-40B4-BE49-F238E27FC236}">
                <a16:creationId xmlns:a16="http://schemas.microsoft.com/office/drawing/2014/main" id="{42DD24A6-E37E-4FF3-B312-ADC91BB6AC6B}"/>
              </a:ext>
            </a:extLst>
          </p:cNvPr>
          <p:cNvSpPr>
            <a:spLocks xmlns:a="http://schemas.openxmlformats.org/drawingml/2006/main" noGrp="1"/>
          </p:cNvSpPr>
          <p:nvPr/>
        </p:nvSpPr>
        <p:spPr>
          <a:xfrm xmlns:a="http://schemas.openxmlformats.org/drawingml/2006/main">
            <a:off x="609600" y="5372100"/>
            <a:ext cx="109728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263746"/>
                </a:solidFill>
                <a:latin typeface="Arial"/>
                <a:ea typeface="Arial"/>
                <a:cs typeface="Arial"/>
              </a:defRPr>
            </a:pPr>
            <a:r>
              <a:rPr sz="2400">
                <a:solidFill>
                  <a:srgbClr val="263746"/>
                </a:solidFill>
                <a:latin typeface="Arial"/>
                <a:ea typeface="Arial"/>
                <a:cs typeface="Arial"/>
              </a:rPr>
              <a:t>What would happen if Sara’s ID were not valid?</a:t>
            </a:r>
          </a:p>
        </p:txBody>
      </p:sp>
    </p:spTree>
    <p:extLst>
      <p:ext uri="{BB962C8B-B14F-4D97-AF65-F5344CB8AC3E}">
        <p14:creationId xmlns:p14="http://schemas.microsoft.com/office/powerpoint/2010/main" val="33104358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674BF220-AFF5-4754-BCB5-E3B39952BD71}"/>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Exam-Hall Entry: Reasoning and Conditions</a:t>
            </a:r>
          </a:p>
        </p:txBody>
      </p:sp>
      <p:sp>
        <p:nvSpPr>
          <p:cNvPr id="2" name="slide-number">
            <a:extLst xmlns:a="http://schemas.openxmlformats.org/drawingml/2006/main">
              <a:ext uri="{FF2B5EF4-FFF2-40B4-BE49-F238E27FC236}">
                <a16:creationId xmlns:a16="http://schemas.microsoft.com/office/drawing/2014/main" id="{77BAF708-7A68-47E2-B023-E3AAE1D6BCCF}"/>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33</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b4011fb25034929"/>
          <a:stretch xmlns:a="http://schemas.openxmlformats.org/drawingml/2006/main"/>
        </p:blipFill>
        <p:spPr>
          <a:xfrm xmlns:a="http://schemas.openxmlformats.org/drawingml/2006/main">
            <a:off x="952500" y="1504950"/>
            <a:ext cx="6715125" cy="4476750"/>
          </a:xfrm>
          <a:prstGeom xmlns:a="http://schemas.openxmlformats.org/drawingml/2006/main" prst="rect">
            <a:avLst/>
          </a:prstGeom>
        </p:spPr>
      </p:pic>
      <p:sp>
        <p:nvSpPr>
          <p:cNvPr id="12" name="visual-caption">
            <a:extLst xmlns:a="http://schemas.openxmlformats.org/drawingml/2006/main">
              <a:ext uri="{FF2B5EF4-FFF2-40B4-BE49-F238E27FC236}">
                <a16:creationId xmlns:a16="http://schemas.microsoft.com/office/drawing/2014/main" id="{92590E78-4F62-4D45-80DE-7BCBFA76869D}"/>
              </a:ext>
            </a:extLst>
          </p:cNvPr>
          <p:cNvSpPr>
            <a:spLocks xmlns:a="http://schemas.openxmlformats.org/drawingml/2006/main" noGrp="1"/>
          </p:cNvSpPr>
          <p:nvPr/>
        </p:nvSpPr>
        <p:spPr>
          <a:xfrm xmlns:a="http://schemas.openxmlformats.org/drawingml/2006/main">
            <a:off x="8439150" y="2057400"/>
            <a:ext cx="314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Two conditions</a:t>
            </a:r>
          </a:p>
        </p:txBody>
      </p:sp>
      <p:sp>
        <p:nvSpPr>
          <p:cNvPr id="13" name="visual-caption">
            <a:extLst xmlns:a="http://schemas.openxmlformats.org/drawingml/2006/main">
              <a:ext uri="{FF2B5EF4-FFF2-40B4-BE49-F238E27FC236}">
                <a16:creationId xmlns:a16="http://schemas.microsoft.com/office/drawing/2014/main" id="{ECBDEF01-28D2-414B-B5A0-EE239E604652}"/>
              </a:ext>
            </a:extLst>
          </p:cNvPr>
          <p:cNvSpPr>
            <a:spLocks xmlns:a="http://schemas.openxmlformats.org/drawingml/2006/main" noGrp="1"/>
          </p:cNvSpPr>
          <p:nvPr/>
        </p:nvSpPr>
        <p:spPr>
          <a:xfrm xmlns:a="http://schemas.openxmlformats.org/drawingml/2006/main">
            <a:off x="8439150" y="2466975"/>
            <a:ext cx="314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63746"/>
                </a:solidFill>
                <a:latin typeface="Arial"/>
                <a:ea typeface="Arial"/>
                <a:cs typeface="Arial"/>
              </a:defRPr>
            </a:pPr>
            <a:r>
              <a:rPr sz="2100" b="0">
                <a:solidFill>
                  <a:srgbClr val="263746"/>
                </a:solidFill>
                <a:latin typeface="Arial"/>
                <a:ea typeface="Arial"/>
                <a:cs typeface="Arial"/>
              </a:rPr>
              <a:t>Sara must have a university ID, and that ID must be valid.</a:t>
            </a:r>
          </a:p>
        </p:txBody>
      </p:sp>
      <p:sp>
        <p:nvSpPr>
          <p:cNvPr id="14" name="visual-caption">
            <a:extLst xmlns:a="http://schemas.openxmlformats.org/drawingml/2006/main">
              <a:ext uri="{FF2B5EF4-FFF2-40B4-BE49-F238E27FC236}">
                <a16:creationId xmlns:a16="http://schemas.microsoft.com/office/drawing/2014/main" id="{549048B4-7594-450B-8D14-3CF48FB7322D}"/>
              </a:ext>
            </a:extLst>
          </p:cNvPr>
          <p:cNvSpPr>
            <a:spLocks xmlns:a="http://schemas.openxmlformats.org/drawingml/2006/main" noGrp="1"/>
          </p:cNvSpPr>
          <p:nvPr/>
        </p:nvSpPr>
        <p:spPr>
          <a:xfrm xmlns:a="http://schemas.openxmlformats.org/drawingml/2006/main">
            <a:off x="8439150" y="4314825"/>
            <a:ext cx="3143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Unmet condition</a:t>
            </a:r>
          </a:p>
        </p:txBody>
      </p:sp>
      <p:sp>
        <p:nvSpPr>
          <p:cNvPr id="15" name="visual-caption">
            <a:extLst xmlns:a="http://schemas.openxmlformats.org/drawingml/2006/main">
              <a:ext uri="{FF2B5EF4-FFF2-40B4-BE49-F238E27FC236}">
                <a16:creationId xmlns:a16="http://schemas.microsoft.com/office/drawing/2014/main" id="{56ED7E00-3CC9-4460-B56F-F8106A416B79}"/>
              </a:ext>
            </a:extLst>
          </p:cNvPr>
          <p:cNvSpPr>
            <a:spLocks xmlns:a="http://schemas.openxmlformats.org/drawingml/2006/main" noGrp="1"/>
          </p:cNvSpPr>
          <p:nvPr/>
        </p:nvSpPr>
        <p:spPr>
          <a:xfrm xmlns:a="http://schemas.openxmlformats.org/drawingml/2006/main">
            <a:off x="8439150" y="4724400"/>
            <a:ext cx="3143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263746"/>
                </a:solidFill>
                <a:latin typeface="Arial"/>
                <a:ea typeface="Arial"/>
                <a:cs typeface="Arial"/>
              </a:defRPr>
            </a:pPr>
            <a:r>
              <a:rPr sz="2100" b="0">
                <a:solidFill>
                  <a:srgbClr val="263746"/>
                </a:solidFill>
                <a:latin typeface="Arial"/>
                <a:ea typeface="Arial"/>
                <a:cs typeface="Arial"/>
              </a:rPr>
              <a:t>This rule cannot establish permission if validity is unmet.</a:t>
            </a:r>
          </a:p>
        </p:txBody>
      </p:sp>
      <p:sp>
        <p:nvSpPr>
          <p:cNvPr id="16" name="visual-caption">
            <a:extLst xmlns:a="http://schemas.openxmlformats.org/drawingml/2006/main">
              <a:ext uri="{FF2B5EF4-FFF2-40B4-BE49-F238E27FC236}">
                <a16:creationId xmlns:a16="http://schemas.microsoft.com/office/drawing/2014/main" id="{5F7B6273-47C0-4475-A69F-9E0A9460DC30}"/>
              </a:ext>
            </a:extLst>
          </p:cNvPr>
          <p:cNvSpPr>
            <a:spLocks xmlns:a="http://schemas.openxmlformats.org/drawingml/2006/main" noGrp="1"/>
          </p:cNvSpPr>
          <p:nvPr/>
        </p:nvSpPr>
        <p:spPr>
          <a:xfrm xmlns:a="http://schemas.openxmlformats.org/drawingml/2006/main">
            <a:off x="609600" y="60960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566570"/>
                </a:solidFill>
                <a:latin typeface="Arial"/>
                <a:ea typeface="Arial"/>
                <a:cs typeface="Arial"/>
              </a:defRPr>
            </a:pPr>
            <a:r>
              <a:rPr sz="1875" b="0">
                <a:solidFill>
                  <a:srgbClr val="566570"/>
                </a:solidFill>
                <a:latin typeface="Arial"/>
                <a:ea typeface="Arial"/>
                <a:cs typeface="Arial"/>
              </a:rPr>
              <a:t>A derived fact can combine with an explicit fact in the next rule.</a:t>
            </a:r>
          </a:p>
        </p:txBody>
      </p:sp>
    </p:spTree>
    <p:extLst>
      <p:ext uri="{BB962C8B-B14F-4D97-AF65-F5344CB8AC3E}">
        <p14:creationId xmlns:p14="http://schemas.microsoft.com/office/powerpoint/2010/main" val="1123985536"/>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B3E3B1E3-0018-42E0-B2E7-3B3C489C91D2}"/>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Common Misconceptions</a:t>
            </a:r>
          </a:p>
        </p:txBody>
      </p:sp>
      <p:sp>
        <p:nvSpPr>
          <p:cNvPr id="2" name="slide-number">
            <a:extLst xmlns:a="http://schemas.openxmlformats.org/drawingml/2006/main">
              <a:ext uri="{FF2B5EF4-FFF2-40B4-BE49-F238E27FC236}">
                <a16:creationId xmlns:a16="http://schemas.microsoft.com/office/drawing/2014/main" id="{82AE5923-F4CD-4DF4-BE8D-3E45F76A3126}"/>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34</a:t>
            </a:r>
          </a:p>
        </p:txBody>
      </p:sp>
      <p:graphicFrame>
        <p:nvGraphicFramePr>
          <p:cNvPr id="8" name=""/>
          <p:cNvGraphicFramePr/>
          <p:nvPr/>
        </p:nvGraphicFramePr>
        <p:xfrm>
          <a:off xmlns:a="http://schemas.openxmlformats.org/drawingml/2006/main" x="609600" y="1600200"/>
          <a:ext xmlns:a="http://schemas.openxmlformats.org/drawingml/2006/main" cx="10972800" cy="4371975"/>
        </p:xfrm>
        <a:graphic xmlns:a="http://schemas.openxmlformats.org/drawingml/2006/main">
          <a:graphicData uri="http://schemas.openxmlformats.org/drawingml/2006/table">
            <a:tbl>
              <a:tblPr firstRow="0" bandRow="0"/>
              <a:tblGrid>
                <a:gridCol w="4695825"/>
                <a:gridCol w="6276975"/>
              </a:tblGrid>
              <a:tr h="728663">
                <a:tc>
                  <a:txBody>
                    <a:bodyPr>
                      <a:noAutofit/>
                    </a:bodyPr>
                    <a:lstStyle/>
                    <a:p>
                      <a:r>
                        <a:rPr sz="1800" b="1">
                          <a:solidFill>
                            <a:srgbClr val="FFFFFF"/>
                          </a:solidFill>
                          <a:latin typeface="Arial"/>
                          <a:ea typeface="Arial"/>
                          <a:cs typeface="Arial"/>
                        </a:rPr>
                        <a:t>Misconception</a:t>
                      </a:r>
                    </a:p>
                  </a:txBody>
                  <a:tcPr marL="152400" marR="152400" marT="95250" marB="95250" anchor="ctr">
                    <a:solidFill>
                      <a:srgbClr val="173449"/>
                    </a:solidFill>
                  </a:tcPr>
                </a:tc>
                <a:tc>
                  <a:txBody>
                    <a:bodyPr>
                      <a:noAutofit/>
                    </a:bodyPr>
                    <a:lstStyle/>
                    <a:p>
                      <a:r>
                        <a:rPr sz="1800" b="1">
                          <a:solidFill>
                            <a:srgbClr val="FFFFFF"/>
                          </a:solidFill>
                          <a:latin typeface="Arial"/>
                          <a:ea typeface="Arial"/>
                          <a:cs typeface="Arial"/>
                        </a:rPr>
                        <a:t>Clarification</a:t>
                      </a:r>
                    </a:p>
                  </a:txBody>
                  <a:tcPr marL="152400" marR="152400" marT="95250" marB="95250" anchor="ctr">
                    <a:solidFill>
                      <a:srgbClr val="173449"/>
                    </a:solidFill>
                  </a:tcPr>
                </a:tc>
              </a:tr>
              <a:tr h="728663">
                <a:tc>
                  <a:txBody>
                    <a:bodyPr>
                      <a:noAutofit/>
                    </a:bodyPr>
                    <a:lstStyle/>
                    <a:p>
                      <a:r>
                        <a:rPr sz="1875" b="0">
                          <a:solidFill>
                            <a:srgbClr val="263746"/>
                          </a:solidFill>
                          <a:latin typeface="Arial"/>
                          <a:ea typeface="Arial"/>
                          <a:cs typeface="Arial"/>
                        </a:rPr>
                        <a:t>Representation is just storing data.</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Structure lets a system use and reason with knowledge.</a:t>
                      </a:r>
                    </a:p>
                  </a:txBody>
                  <a:tcPr marL="152400" marR="152400" marT="95250" marB="95250" anchor="ctr">
                    <a:solidFill>
                      <a:srgbClr val="FFFFFF"/>
                    </a:solidFill>
                  </a:tcPr>
                </a:tc>
              </a:tr>
              <a:tr h="728663">
                <a:tc>
                  <a:txBody>
                    <a:bodyPr>
                      <a:noAutofit/>
                    </a:bodyPr>
                    <a:lstStyle/>
                    <a:p>
                      <a:r>
                        <a:rPr sz="1875" b="0">
                          <a:solidFill>
                            <a:srgbClr val="263746"/>
                          </a:solidFill>
                          <a:latin typeface="Arial"/>
                          <a:ea typeface="Arial"/>
                          <a:cs typeface="Arial"/>
                        </a:rPr>
                        <a:t>Reasoning means calculation.</a:t>
                      </a:r>
                    </a:p>
                  </a:txBody>
                  <a:tcPr marL="152400" marR="152400" marT="95250" marB="95250" anchor="ctr">
                    <a:solidFill>
                      <a:srgbClr val="EFF6F7"/>
                    </a:solidFill>
                  </a:tcPr>
                </a:tc>
                <a:tc>
                  <a:txBody>
                    <a:bodyPr>
                      <a:noAutofit/>
                    </a:bodyPr>
                    <a:lstStyle/>
                    <a:p>
                      <a:r>
                        <a:rPr sz="1875" b="0">
                          <a:solidFill>
                            <a:srgbClr val="263746"/>
                          </a:solidFill>
                          <a:latin typeface="Arial"/>
                          <a:ea typeface="Arial"/>
                          <a:cs typeface="Arial"/>
                        </a:rPr>
                        <a:t>Reasoning also draws conclusions and explanations.</a:t>
                      </a:r>
                    </a:p>
                  </a:txBody>
                  <a:tcPr marL="152400" marR="152400" marT="95250" marB="95250" anchor="ctr">
                    <a:solidFill>
                      <a:srgbClr val="EFF6F7"/>
                    </a:solidFill>
                  </a:tcPr>
                </a:tc>
              </a:tr>
              <a:tr h="728663">
                <a:tc>
                  <a:txBody>
                    <a:bodyPr>
                      <a:noAutofit/>
                    </a:bodyPr>
                    <a:lstStyle/>
                    <a:p>
                      <a:r>
                        <a:rPr sz="1875" b="0">
                          <a:solidFill>
                            <a:srgbClr val="263746"/>
                          </a:solidFill>
                          <a:latin typeface="Arial"/>
                          <a:ea typeface="Arial"/>
                          <a:cs typeface="Arial"/>
                        </a:rPr>
                        <a:t>AI is only machine learning.</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AI also includes representation and reasoning.</a:t>
                      </a:r>
                    </a:p>
                  </a:txBody>
                  <a:tcPr marL="152400" marR="152400" marT="95250" marB="95250" anchor="ctr">
                    <a:solidFill>
                      <a:srgbClr val="FFFFFF"/>
                    </a:solidFill>
                  </a:tcPr>
                </a:tc>
              </a:tr>
              <a:tr h="728663">
                <a:tc>
                  <a:txBody>
                    <a:bodyPr>
                      <a:noAutofit/>
                    </a:bodyPr>
                    <a:lstStyle/>
                    <a:p>
                      <a:r>
                        <a:rPr sz="1875" b="0">
                          <a:solidFill>
                            <a:srgbClr val="263746"/>
                          </a:solidFill>
                          <a:latin typeface="Arial"/>
                          <a:ea typeface="Arial"/>
                          <a:cs typeface="Arial"/>
                        </a:rPr>
                        <a:t>Every conclusion is certain.</a:t>
                      </a:r>
                    </a:p>
                  </a:txBody>
                  <a:tcPr marL="152400" marR="152400" marT="95250" marB="95250" anchor="ctr">
                    <a:solidFill>
                      <a:srgbClr val="EFF6F7"/>
                    </a:solidFill>
                  </a:tcPr>
                </a:tc>
                <a:tc>
                  <a:txBody>
                    <a:bodyPr>
                      <a:noAutofit/>
                    </a:bodyPr>
                    <a:lstStyle/>
                    <a:p>
                      <a:r>
                        <a:rPr sz="1875" b="0">
                          <a:solidFill>
                            <a:srgbClr val="263746"/>
                          </a:solidFill>
                          <a:latin typeface="Arial"/>
                          <a:ea typeface="Arial"/>
                          <a:cs typeface="Arial"/>
                        </a:rPr>
                        <a:t>Certainty depends on the premises and inference method.</a:t>
                      </a:r>
                    </a:p>
                  </a:txBody>
                  <a:tcPr marL="152400" marR="152400" marT="95250" marB="95250" anchor="ctr">
                    <a:solidFill>
                      <a:srgbClr val="EFF6F7"/>
                    </a:solidFill>
                  </a:tcPr>
                </a:tc>
              </a:tr>
              <a:tr h="728663">
                <a:tc>
                  <a:txBody>
                    <a:bodyPr>
                      <a:noAutofit/>
                    </a:bodyPr>
                    <a:lstStyle/>
                    <a:p>
                      <a:r>
                        <a:rPr sz="1875" b="0">
                          <a:solidFill>
                            <a:srgbClr val="263746"/>
                          </a:solidFill>
                          <a:latin typeface="Arial"/>
                          <a:ea typeface="Arial"/>
                          <a:cs typeface="Arial"/>
                        </a:rPr>
                        <a:t>Facts and conclusions have the same origin.</a:t>
                      </a:r>
                    </a:p>
                  </a:txBody>
                  <a:tcPr marL="152400" marR="152400" marT="95250" marB="95250" anchor="ctr">
                    <a:solidFill>
                      <a:srgbClr val="FFFFFF"/>
                    </a:solidFill>
                  </a:tcPr>
                </a:tc>
                <a:tc>
                  <a:txBody>
                    <a:bodyPr>
                      <a:noAutofit/>
                    </a:bodyPr>
                    <a:lstStyle/>
                    <a:p>
                      <a:r>
                        <a:rPr sz="1875" b="0">
                          <a:solidFill>
                            <a:srgbClr val="263746"/>
                          </a:solidFill>
                          <a:latin typeface="Arial"/>
                          <a:ea typeface="Arial"/>
                          <a:cs typeface="Arial"/>
                        </a:rPr>
                        <a:t>The system receives explicit facts and infers conclusions.</a:t>
                      </a:r>
                    </a:p>
                  </a:txBody>
                  <a:tcPr marL="152400" marR="152400" marT="95250" marB="95250" anchor="ctr">
                    <a:solidFill>
                      <a:srgbClr val="FFFFFF"/>
                    </a:solidFill>
                  </a:tcPr>
                </a:tc>
              </a:tr>
            </a:tbl>
          </a:graphicData>
        </a:graphic>
      </p:graphicFrame>
    </p:spTree>
    <p:extLst>
      <p:ext uri="{BB962C8B-B14F-4D97-AF65-F5344CB8AC3E}">
        <p14:creationId xmlns:p14="http://schemas.microsoft.com/office/powerpoint/2010/main" val="1227242434"/>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FA55C47B-9A8C-4919-8221-8F0192F587B4}"/>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Bloom Questions: Concepts and Rule Application</a:t>
            </a:r>
          </a:p>
        </p:txBody>
      </p:sp>
      <p:sp>
        <p:nvSpPr>
          <p:cNvPr id="2" name="slide-number">
            <a:extLst xmlns:a="http://schemas.openxmlformats.org/drawingml/2006/main">
              <a:ext uri="{FF2B5EF4-FFF2-40B4-BE49-F238E27FC236}">
                <a16:creationId xmlns:a16="http://schemas.microsoft.com/office/drawing/2014/main" id="{9D5DECD0-7803-477D-8924-625930AFF83C}"/>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a:solidFill>
                  <a:srgbClr val="566570"/>
                </a:solidFill>
                <a:latin typeface="Arial"/>
                <a:ea typeface="Arial"/>
                <a:cs typeface="Arial"/>
              </a:defRPr>
            </a:pPr>
            <a:r>
              <a:rPr sz="1350">
                <a:solidFill>
                  <a:srgbClr val="566570"/>
                </a:solidFill>
                <a:latin typeface="Arial"/>
                <a:ea typeface="Arial"/>
                <a:cs typeface="Arial"/>
              </a:rPr>
              <a:t>35</a:t>
            </a:r>
          </a:p>
        </p:txBody>
      </p:sp>
      <p:sp>
        <p:nvSpPr>
          <p:cNvPr id="3" name="assessment-text">
            <a:extLst xmlns:a="http://schemas.openxmlformats.org/drawingml/2006/main">
              <a:ext uri="{FF2B5EF4-FFF2-40B4-BE49-F238E27FC236}">
                <a16:creationId xmlns:a16="http://schemas.microsoft.com/office/drawing/2014/main" id="{D9984C2D-CB83-4F18-A648-E0F52D6DF1D8}"/>
              </a:ext>
            </a:extLst>
          </p:cNvPr>
          <p:cNvSpPr>
            <a:spLocks xmlns:a="http://schemas.openxmlformats.org/drawingml/2006/main" noGrp="1"/>
          </p:cNvSpPr>
          <p:nvPr/>
        </p:nvSpPr>
        <p:spPr>
          <a:xfrm xmlns:a="http://schemas.openxmlformats.org/drawingml/2006/main">
            <a:off x="609600" y="14287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Remember</a:t>
            </a:r>
          </a:p>
        </p:txBody>
      </p:sp>
      <p:sp>
        <p:nvSpPr>
          <p:cNvPr id="4" name="assessment-text">
            <a:extLst xmlns:a="http://schemas.openxmlformats.org/drawingml/2006/main">
              <a:ext uri="{FF2B5EF4-FFF2-40B4-BE49-F238E27FC236}">
                <a16:creationId xmlns:a16="http://schemas.microsoft.com/office/drawing/2014/main" id="{39646C1C-1DC2-4EC6-902B-B92A4E6E6B98}"/>
              </a:ext>
            </a:extLst>
          </p:cNvPr>
          <p:cNvSpPr>
            <a:spLocks xmlns:a="http://schemas.openxmlformats.org/drawingml/2006/main" noGrp="1"/>
          </p:cNvSpPr>
          <p:nvPr/>
        </p:nvSpPr>
        <p:spPr>
          <a:xfrm xmlns:a="http://schemas.openxmlformats.org/drawingml/2006/main">
            <a:off x="609600" y="1857375"/>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263746"/>
                </a:solidFill>
                <a:latin typeface="Arial"/>
                <a:ea typeface="Arial"/>
                <a:cs typeface="Arial"/>
              </a:defRPr>
            </a:pPr>
            <a:r>
              <a:rPr sz="2400">
                <a:solidFill>
                  <a:srgbClr val="263746"/>
                </a:solidFill>
                <a:latin typeface="Arial"/>
                <a:ea typeface="Arial"/>
                <a:cs typeface="Arial"/>
              </a:rPr>
              <a:t>What is knowledge representation?</a:t>
            </a:r>
          </a:p>
        </p:txBody>
      </p:sp>
      <p:sp>
        <p:nvSpPr>
          <p:cNvPr id="5" name="assessment-text">
            <a:extLst xmlns:a="http://schemas.openxmlformats.org/drawingml/2006/main">
              <a:ext uri="{FF2B5EF4-FFF2-40B4-BE49-F238E27FC236}">
                <a16:creationId xmlns:a16="http://schemas.microsoft.com/office/drawing/2014/main" id="{435AA743-496F-4469-B755-53DB080A4410}"/>
              </a:ext>
            </a:extLst>
          </p:cNvPr>
          <p:cNvSpPr>
            <a:spLocks xmlns:a="http://schemas.openxmlformats.org/drawingml/2006/main" noGrp="1"/>
          </p:cNvSpPr>
          <p:nvPr/>
        </p:nvSpPr>
        <p:spPr>
          <a:xfrm xmlns:a="http://schemas.openxmlformats.org/drawingml/2006/main">
            <a:off x="609600" y="27241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Understand</a:t>
            </a:r>
          </a:p>
        </p:txBody>
      </p:sp>
      <p:sp>
        <p:nvSpPr>
          <p:cNvPr id="6" name="assessment-text">
            <a:extLst xmlns:a="http://schemas.openxmlformats.org/drawingml/2006/main">
              <a:ext uri="{FF2B5EF4-FFF2-40B4-BE49-F238E27FC236}">
                <a16:creationId xmlns:a16="http://schemas.microsoft.com/office/drawing/2014/main" id="{4CB90B37-8776-4682-8B06-F7E655614798}"/>
              </a:ext>
            </a:extLst>
          </p:cNvPr>
          <p:cNvSpPr>
            <a:spLocks xmlns:a="http://schemas.openxmlformats.org/drawingml/2006/main" noGrp="1"/>
          </p:cNvSpPr>
          <p:nvPr/>
        </p:nvSpPr>
        <p:spPr>
          <a:xfrm xmlns:a="http://schemas.openxmlformats.org/drawingml/2006/main">
            <a:off x="609600" y="3152775"/>
            <a:ext cx="10972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263746"/>
                </a:solidFill>
                <a:latin typeface="Arial"/>
                <a:ea typeface="Arial"/>
                <a:cs typeface="Arial"/>
              </a:defRPr>
            </a:pPr>
            <a:r>
              <a:rPr sz="2400">
                <a:solidFill>
                  <a:srgbClr val="263746"/>
                </a:solidFill>
                <a:latin typeface="Arial"/>
                <a:ea typeface="Arial"/>
                <a:cs typeface="Arial"/>
              </a:rPr>
              <a:t>Explain why knowledge representation is important for AI.</a:t>
            </a:r>
          </a:p>
        </p:txBody>
      </p:sp>
      <p:sp>
        <p:nvSpPr>
          <p:cNvPr id="7" name="assessment-text">
            <a:extLst xmlns:a="http://schemas.openxmlformats.org/drawingml/2006/main">
              <a:ext uri="{FF2B5EF4-FFF2-40B4-BE49-F238E27FC236}">
                <a16:creationId xmlns:a16="http://schemas.microsoft.com/office/drawing/2014/main" id="{75C6647F-BCC5-44B1-AEC8-67EF8659A2A1}"/>
              </a:ext>
            </a:extLst>
          </p:cNvPr>
          <p:cNvSpPr>
            <a:spLocks xmlns:a="http://schemas.openxmlformats.org/drawingml/2006/main" noGrp="1"/>
          </p:cNvSpPr>
          <p:nvPr/>
        </p:nvSpPr>
        <p:spPr>
          <a:xfrm xmlns:a="http://schemas.openxmlformats.org/drawingml/2006/main">
            <a:off x="609600" y="41814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Apply</a:t>
            </a:r>
          </a:p>
        </p:txBody>
      </p:sp>
      <p:sp>
        <p:nvSpPr>
          <p:cNvPr id="8" name="assessment-text">
            <a:extLst xmlns:a="http://schemas.openxmlformats.org/drawingml/2006/main">
              <a:ext uri="{FF2B5EF4-FFF2-40B4-BE49-F238E27FC236}">
                <a16:creationId xmlns:a16="http://schemas.microsoft.com/office/drawing/2014/main" id="{2A3D392F-6500-4011-A97E-C833E5E414BD}"/>
              </a:ext>
            </a:extLst>
          </p:cNvPr>
          <p:cNvSpPr>
            <a:spLocks xmlns:a="http://schemas.openxmlformats.org/drawingml/2006/main" noGrp="1"/>
          </p:cNvSpPr>
          <p:nvPr/>
        </p:nvSpPr>
        <p:spPr>
          <a:xfrm xmlns:a="http://schemas.openxmlformats.org/drawingml/2006/main">
            <a:off x="609600" y="4676775"/>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73449"/>
                </a:solidFill>
                <a:latin typeface="Arial"/>
                <a:ea typeface="Arial"/>
                <a:cs typeface="Arial"/>
              </a:defRPr>
            </a:pPr>
            <a:r>
              <a:rPr sz="2325" b="1">
                <a:solidFill>
                  <a:srgbClr val="173449"/>
                </a:solidFill>
                <a:latin typeface="Arial"/>
                <a:ea typeface="Arial"/>
                <a:cs typeface="Arial"/>
              </a:rPr>
              <a:t>Student(Ali)</a:t>
            </a:r>
          </a:p>
          <a:p xmlns:a="http://schemas.openxmlformats.org/drawingml/2006/main">
            <a:pPr>
              <a:defRPr sz="2325" b="1">
                <a:solidFill>
                  <a:srgbClr val="173449"/>
                </a:solidFill>
                <a:latin typeface="Arial"/>
                <a:ea typeface="Arial"/>
                <a:cs typeface="Arial"/>
              </a:defRPr>
            </a:pPr>
            <a:r>
              <a:rPr sz="2325" b="1">
                <a:solidFill>
                  <a:srgbClr val="173449"/>
                </a:solidFill>
                <a:latin typeface="Arial"/>
                <a:ea typeface="Arial"/>
                <a:cs typeface="Arial"/>
              </a:rPr>
              <a:t>Student(x) → HasID(x)</a:t>
            </a:r>
          </a:p>
        </p:txBody>
      </p:sp>
      <p:sp>
        <p:nvSpPr>
          <p:cNvPr id="9" name="assessment-text">
            <a:extLst xmlns:a="http://schemas.openxmlformats.org/drawingml/2006/main">
              <a:ext uri="{FF2B5EF4-FFF2-40B4-BE49-F238E27FC236}">
                <a16:creationId xmlns:a16="http://schemas.microsoft.com/office/drawing/2014/main" id="{3996CF00-0AD8-43AB-BF7F-00F3D892C8F9}"/>
              </a:ext>
            </a:extLst>
          </p:cNvPr>
          <p:cNvSpPr>
            <a:spLocks xmlns:a="http://schemas.openxmlformats.org/drawingml/2006/main" noGrp="1"/>
          </p:cNvSpPr>
          <p:nvPr/>
        </p:nvSpPr>
        <p:spPr>
          <a:xfrm xmlns:a="http://schemas.openxmlformats.org/drawingml/2006/main">
            <a:off x="609600" y="58388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263746"/>
                </a:solidFill>
                <a:latin typeface="Arial"/>
                <a:ea typeface="Arial"/>
                <a:cs typeface="Arial"/>
              </a:defRPr>
            </a:pPr>
            <a:r>
              <a:rPr sz="2325">
                <a:solidFill>
                  <a:srgbClr val="263746"/>
                </a:solidFill>
                <a:latin typeface="Arial"/>
                <a:ea typeface="Arial"/>
                <a:cs typeface="Arial"/>
              </a:rPr>
              <a:t>Derive the conclusion.</a:t>
            </a:r>
          </a:p>
        </p:txBody>
      </p:sp>
    </p:spTree>
    <p:extLst>
      <p:ext uri="{BB962C8B-B14F-4D97-AF65-F5344CB8AC3E}">
        <p14:creationId xmlns:p14="http://schemas.microsoft.com/office/powerpoint/2010/main" val="115385186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B9C87C5B-1586-4823-AAC6-06C1566E576A}"/>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Bloom Questions: Analysis and Evaluation</a:t>
            </a:r>
          </a:p>
        </p:txBody>
      </p:sp>
      <p:sp>
        <p:nvSpPr>
          <p:cNvPr id="2" name="slide-number">
            <a:extLst xmlns:a="http://schemas.openxmlformats.org/drawingml/2006/main">
              <a:ext uri="{FF2B5EF4-FFF2-40B4-BE49-F238E27FC236}">
                <a16:creationId xmlns:a16="http://schemas.microsoft.com/office/drawing/2014/main" id="{905B4D47-2697-494F-8988-5FEC0E326286}"/>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a:solidFill>
                  <a:srgbClr val="566570"/>
                </a:solidFill>
                <a:latin typeface="Arial"/>
                <a:ea typeface="Arial"/>
                <a:cs typeface="Arial"/>
              </a:defRPr>
            </a:pPr>
            <a:r>
              <a:rPr sz="1350">
                <a:solidFill>
                  <a:srgbClr val="566570"/>
                </a:solidFill>
                <a:latin typeface="Arial"/>
                <a:ea typeface="Arial"/>
                <a:cs typeface="Arial"/>
              </a:rPr>
              <a:t>36</a:t>
            </a:r>
          </a:p>
        </p:txBody>
      </p:sp>
      <p:sp>
        <p:nvSpPr>
          <p:cNvPr id="3" name="assessment-text">
            <a:extLst xmlns:a="http://schemas.openxmlformats.org/drawingml/2006/main">
              <a:ext uri="{FF2B5EF4-FFF2-40B4-BE49-F238E27FC236}">
                <a16:creationId xmlns:a16="http://schemas.microsoft.com/office/drawing/2014/main" id="{86141FCF-CE48-4F03-ACA8-1AD95F9D6C3D}"/>
              </a:ext>
            </a:extLst>
          </p:cNvPr>
          <p:cNvSpPr>
            <a:spLocks xmlns:a="http://schemas.openxmlformats.org/drawingml/2006/main" noGrp="1"/>
          </p:cNvSpPr>
          <p:nvPr/>
        </p:nvSpPr>
        <p:spPr>
          <a:xfrm xmlns:a="http://schemas.openxmlformats.org/drawingml/2006/main">
            <a:off x="609600" y="14382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Analyze</a:t>
            </a:r>
          </a:p>
        </p:txBody>
      </p:sp>
      <p:sp>
        <p:nvSpPr>
          <p:cNvPr id="4" name="assessment-text">
            <a:extLst xmlns:a="http://schemas.openxmlformats.org/drawingml/2006/main">
              <a:ext uri="{FF2B5EF4-FFF2-40B4-BE49-F238E27FC236}">
                <a16:creationId xmlns:a16="http://schemas.microsoft.com/office/drawing/2014/main" id="{1F4B77F2-4F32-4076-B86D-272D98FE3214}"/>
              </a:ext>
            </a:extLst>
          </p:cNvPr>
          <p:cNvSpPr>
            <a:spLocks xmlns:a="http://schemas.openxmlformats.org/drawingml/2006/main" noGrp="1"/>
          </p:cNvSpPr>
          <p:nvPr/>
        </p:nvSpPr>
        <p:spPr>
          <a:xfrm xmlns:a="http://schemas.openxmlformats.org/drawingml/2006/main">
            <a:off x="609600" y="1866900"/>
            <a:ext cx="10972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263746"/>
                </a:solidFill>
                <a:latin typeface="Arial"/>
                <a:ea typeface="Arial"/>
                <a:cs typeface="Arial"/>
              </a:defRPr>
            </a:pPr>
            <a:r>
              <a:rPr sz="2325">
                <a:solidFill>
                  <a:srgbClr val="263746"/>
                </a:solidFill>
                <a:latin typeface="Arial"/>
                <a:ea typeface="Arial"/>
                <a:cs typeface="Arial"/>
              </a:rPr>
              <a:t>Consider an AI traffic system. Identify which parts represent data, knowledge, reasoning, and decision-making.</a:t>
            </a:r>
          </a:p>
        </p:txBody>
      </p:sp>
      <p:sp>
        <p:nvSpPr>
          <p:cNvPr id="5" name="assessment-text">
            <a:extLst xmlns:a="http://schemas.openxmlformats.org/drawingml/2006/main">
              <a:ext uri="{FF2B5EF4-FFF2-40B4-BE49-F238E27FC236}">
                <a16:creationId xmlns:a16="http://schemas.microsoft.com/office/drawing/2014/main" id="{01701620-2F9B-4F51-8E81-B05F3C5A324F}"/>
              </a:ext>
            </a:extLst>
          </p:cNvPr>
          <p:cNvSpPr>
            <a:spLocks xmlns:a="http://schemas.openxmlformats.org/drawingml/2006/main" noGrp="1"/>
          </p:cNvSpPr>
          <p:nvPr/>
        </p:nvSpPr>
        <p:spPr>
          <a:xfrm xmlns:a="http://schemas.openxmlformats.org/drawingml/2006/main">
            <a:off x="609600" y="33718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Evaluate</a:t>
            </a:r>
          </a:p>
        </p:txBody>
      </p:sp>
      <p:sp>
        <p:nvSpPr>
          <p:cNvPr id="6" name="assessment-text">
            <a:extLst xmlns:a="http://schemas.openxmlformats.org/drawingml/2006/main">
              <a:ext uri="{FF2B5EF4-FFF2-40B4-BE49-F238E27FC236}">
                <a16:creationId xmlns:a16="http://schemas.microsoft.com/office/drawing/2014/main" id="{16D3E293-A66F-4763-B012-D3CD173165C5}"/>
              </a:ext>
            </a:extLst>
          </p:cNvPr>
          <p:cNvSpPr>
            <a:spLocks xmlns:a="http://schemas.openxmlformats.org/drawingml/2006/main" noGrp="1"/>
          </p:cNvSpPr>
          <p:nvPr/>
        </p:nvSpPr>
        <p:spPr>
          <a:xfrm xmlns:a="http://schemas.openxmlformats.org/drawingml/2006/main">
            <a:off x="609600" y="3800475"/>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263746"/>
                </a:solidFill>
                <a:latin typeface="Arial"/>
                <a:ea typeface="Arial"/>
                <a:cs typeface="Arial"/>
              </a:defRPr>
            </a:pPr>
            <a:r>
              <a:rPr sz="2325">
                <a:solidFill>
                  <a:srgbClr val="263746"/>
                </a:solidFill>
                <a:latin typeface="Arial"/>
                <a:ea typeface="Arial"/>
                <a:cs typeface="Arial"/>
              </a:rPr>
              <a:t>Why might simply storing more data not necessarily make an AI system more intelligent? Justify your answer.</a:t>
            </a:r>
          </a:p>
        </p:txBody>
      </p:sp>
      <p:sp>
        <p:nvSpPr>
          <p:cNvPr id="7" name="assessment-text">
            <a:extLst xmlns:a="http://schemas.openxmlformats.org/drawingml/2006/main">
              <a:ext uri="{FF2B5EF4-FFF2-40B4-BE49-F238E27FC236}">
                <a16:creationId xmlns:a16="http://schemas.microsoft.com/office/drawing/2014/main" id="{670E1A12-17A4-4337-9741-A5467B6109CC}"/>
              </a:ext>
            </a:extLst>
          </p:cNvPr>
          <p:cNvSpPr>
            <a:spLocks xmlns:a="http://schemas.openxmlformats.org/drawingml/2006/main" noGrp="1"/>
          </p:cNvSpPr>
          <p:nvPr/>
        </p:nvSpPr>
        <p:spPr>
          <a:xfrm xmlns:a="http://schemas.openxmlformats.org/drawingml/2006/main">
            <a:off x="609600" y="546735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263746"/>
                </a:solidFill>
                <a:latin typeface="Arial"/>
                <a:ea typeface="Arial"/>
                <a:cs typeface="Arial"/>
              </a:defRPr>
            </a:pPr>
            <a:r>
              <a:rPr sz="2175">
                <a:solidFill>
                  <a:srgbClr val="263746"/>
                </a:solidFill>
                <a:latin typeface="Arial"/>
                <a:ea typeface="Arial"/>
                <a:cs typeface="Arial"/>
              </a:rPr>
              <a:t>How should knowledge be represented so that useful reasoning is possible?</a:t>
            </a:r>
          </a:p>
        </p:txBody>
      </p:sp>
    </p:spTree>
    <p:extLst>
      <p:ext uri="{BB962C8B-B14F-4D97-AF65-F5344CB8AC3E}">
        <p14:creationId xmlns:p14="http://schemas.microsoft.com/office/powerpoint/2010/main" val="40514063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number">
            <a:extLst xmlns:a="http://schemas.openxmlformats.org/drawingml/2006/main">
              <a:ext uri="{FF2B5EF4-FFF2-40B4-BE49-F238E27FC236}">
                <a16:creationId xmlns:a16="http://schemas.microsoft.com/office/drawing/2014/main" id="{D320BB07-B69C-415F-8ABF-616A66EC615A}"/>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37</a:t>
            </a:r>
          </a:p>
        </p:txBody>
      </p:sp>
      <p:sp>
        <p:nvSpPr>
          <p:cNvPr id="3" name="slide-title">
            <a:extLst xmlns:a="http://schemas.openxmlformats.org/drawingml/2006/main">
              <a:ext uri="{FF2B5EF4-FFF2-40B4-BE49-F238E27FC236}">
                <a16:creationId xmlns:a16="http://schemas.microsoft.com/office/drawing/2014/main" id="{09D15C87-E927-4A7E-8F58-D1BC22E4DCCC}"/>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Scenario Analysis: Academic Advising</a:t>
            </a:r>
          </a:p>
        </p:txBody>
      </p:sp>
      <p:sp>
        <p:nvSpPr>
          <p:cNvPr id="4" name="assessment-text">
            <a:extLst xmlns:a="http://schemas.openxmlformats.org/drawingml/2006/main">
              <a:ext uri="{FF2B5EF4-FFF2-40B4-BE49-F238E27FC236}">
                <a16:creationId xmlns:a16="http://schemas.microsoft.com/office/drawing/2014/main" id="{A3AE27E6-85F0-4ECA-89D2-8F7DEE71B031}"/>
              </a:ext>
            </a:extLst>
          </p:cNvPr>
          <p:cNvSpPr>
            <a:spLocks xmlns:a="http://schemas.openxmlformats.org/drawingml/2006/main" noGrp="1"/>
          </p:cNvSpPr>
          <p:nvPr/>
        </p:nvSpPr>
        <p:spPr>
          <a:xfrm xmlns:a="http://schemas.openxmlformats.org/drawingml/2006/main">
            <a:off x="609600" y="1457325"/>
            <a:ext cx="109728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263746"/>
                </a:solidFill>
                <a:latin typeface="Arial"/>
                <a:ea typeface="Arial"/>
                <a:cs typeface="Arial"/>
              </a:defRPr>
            </a:pPr>
            <a:r>
              <a:rPr sz="2175">
                <a:solidFill>
                  <a:srgbClr val="263746"/>
                </a:solidFill>
                <a:latin typeface="Arial"/>
                <a:ea typeface="Arial"/>
                <a:cs typeface="Arial"/>
              </a:rPr>
              <a:t>A university AI advising system knows that Ahmed is a BSCS student, that Data Structures requires Programming Fundamentals, and that Ahmed has completed Programming Fundamentals. The system recommends that Ahmed register for Data Structures.</a:t>
            </a:r>
          </a:p>
        </p:txBody>
      </p:sp>
      <p:sp>
        <p:nvSpPr>
          <p:cNvPr id="5" name="assessment-text">
            <a:extLst xmlns:a="http://schemas.openxmlformats.org/drawingml/2006/main">
              <a:ext uri="{FF2B5EF4-FFF2-40B4-BE49-F238E27FC236}">
                <a16:creationId xmlns:a16="http://schemas.microsoft.com/office/drawing/2014/main" id="{A095A4C0-C16C-4AAE-A0B7-9E2097D7FFEC}"/>
              </a:ext>
            </a:extLst>
          </p:cNvPr>
          <p:cNvSpPr>
            <a:spLocks xmlns:a="http://schemas.openxmlformats.org/drawingml/2006/main" noGrp="1"/>
          </p:cNvSpPr>
          <p:nvPr/>
        </p:nvSpPr>
        <p:spPr>
          <a:xfrm xmlns:a="http://schemas.openxmlformats.org/drawingml/2006/main">
            <a:off x="609600" y="32480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263746"/>
                </a:solidFill>
                <a:latin typeface="Arial"/>
                <a:ea typeface="Arial"/>
                <a:cs typeface="Arial"/>
              </a:defRPr>
            </a:pPr>
            <a:r>
              <a:rPr sz="2175">
                <a:solidFill>
                  <a:srgbClr val="263746"/>
                </a:solidFill>
                <a:latin typeface="Arial"/>
                <a:ea typeface="Arial"/>
                <a:cs typeface="Arial"/>
              </a:rPr>
              <a:t>1   Identify the knowledge.</a:t>
            </a:r>
          </a:p>
        </p:txBody>
      </p:sp>
      <p:sp>
        <p:nvSpPr>
          <p:cNvPr id="6" name="assessment-text">
            <a:extLst xmlns:a="http://schemas.openxmlformats.org/drawingml/2006/main">
              <a:ext uri="{FF2B5EF4-FFF2-40B4-BE49-F238E27FC236}">
                <a16:creationId xmlns:a16="http://schemas.microsoft.com/office/drawing/2014/main" id="{79570E73-5653-4E5A-B622-01D3EC479D83}"/>
              </a:ext>
            </a:extLst>
          </p:cNvPr>
          <p:cNvSpPr>
            <a:spLocks xmlns:a="http://schemas.openxmlformats.org/drawingml/2006/main" noGrp="1"/>
          </p:cNvSpPr>
          <p:nvPr/>
        </p:nvSpPr>
        <p:spPr>
          <a:xfrm xmlns:a="http://schemas.openxmlformats.org/drawingml/2006/main">
            <a:off x="609600" y="38957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263746"/>
                </a:solidFill>
                <a:latin typeface="Arial"/>
                <a:ea typeface="Arial"/>
                <a:cs typeface="Arial"/>
              </a:defRPr>
            </a:pPr>
            <a:r>
              <a:rPr sz="2175">
                <a:solidFill>
                  <a:srgbClr val="263746"/>
                </a:solidFill>
                <a:latin typeface="Arial"/>
                <a:ea typeface="Arial"/>
                <a:cs typeface="Arial"/>
              </a:rPr>
              <a:t>2   Identify how the knowledge can be represented.</a:t>
            </a:r>
          </a:p>
        </p:txBody>
      </p:sp>
      <p:sp>
        <p:nvSpPr>
          <p:cNvPr id="7" name="assessment-text">
            <a:extLst xmlns:a="http://schemas.openxmlformats.org/drawingml/2006/main">
              <a:ext uri="{FF2B5EF4-FFF2-40B4-BE49-F238E27FC236}">
                <a16:creationId xmlns:a16="http://schemas.microsoft.com/office/drawing/2014/main" id="{DCCCFC13-0B19-4BA6-A371-F5C79F5A76BA}"/>
              </a:ext>
            </a:extLst>
          </p:cNvPr>
          <p:cNvSpPr>
            <a:spLocks xmlns:a="http://schemas.openxmlformats.org/drawingml/2006/main" noGrp="1"/>
          </p:cNvSpPr>
          <p:nvPr/>
        </p:nvSpPr>
        <p:spPr>
          <a:xfrm xmlns:a="http://schemas.openxmlformats.org/drawingml/2006/main">
            <a:off x="609600" y="45434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263746"/>
                </a:solidFill>
                <a:latin typeface="Arial"/>
                <a:ea typeface="Arial"/>
                <a:cs typeface="Arial"/>
              </a:defRPr>
            </a:pPr>
            <a:r>
              <a:rPr sz="2175">
                <a:solidFill>
                  <a:srgbClr val="263746"/>
                </a:solidFill>
                <a:latin typeface="Arial"/>
                <a:ea typeface="Arial"/>
                <a:cs typeface="Arial"/>
              </a:rPr>
              <a:t>3   Identify the reasoning performed.</a:t>
            </a:r>
          </a:p>
        </p:txBody>
      </p:sp>
      <p:sp>
        <p:nvSpPr>
          <p:cNvPr id="8" name="assessment-text">
            <a:extLst xmlns:a="http://schemas.openxmlformats.org/drawingml/2006/main">
              <a:ext uri="{FF2B5EF4-FFF2-40B4-BE49-F238E27FC236}">
                <a16:creationId xmlns:a16="http://schemas.microsoft.com/office/drawing/2014/main" id="{D5D42A71-CE9C-4D0C-844B-AEE41579AD1C}"/>
              </a:ext>
            </a:extLst>
          </p:cNvPr>
          <p:cNvSpPr>
            <a:spLocks xmlns:a="http://schemas.openxmlformats.org/drawingml/2006/main" noGrp="1"/>
          </p:cNvSpPr>
          <p:nvPr/>
        </p:nvSpPr>
        <p:spPr>
          <a:xfrm xmlns:a="http://schemas.openxmlformats.org/drawingml/2006/main">
            <a:off x="609600" y="5191125"/>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a:solidFill>
                  <a:srgbClr val="263746"/>
                </a:solidFill>
                <a:latin typeface="Arial"/>
                <a:ea typeface="Arial"/>
                <a:cs typeface="Arial"/>
              </a:defRPr>
            </a:pPr>
            <a:r>
              <a:rPr sz="2175">
                <a:solidFill>
                  <a:srgbClr val="263746"/>
                </a:solidFill>
                <a:latin typeface="Arial"/>
                <a:ea typeface="Arial"/>
                <a:cs typeface="Arial"/>
              </a:rPr>
              <a:t>4   Explain how the conclusion supports intelligent behavior.</a:t>
            </a:r>
          </a:p>
        </p:txBody>
      </p:sp>
      <p:sp>
        <p:nvSpPr>
          <p:cNvPr id="9" name="assessment-text">
            <a:extLst xmlns:a="http://schemas.openxmlformats.org/drawingml/2006/main">
              <a:ext uri="{FF2B5EF4-FFF2-40B4-BE49-F238E27FC236}">
                <a16:creationId xmlns:a16="http://schemas.microsoft.com/office/drawing/2014/main" id="{77CCB56A-B2B0-4BC4-88C9-CDD3D6D401AD}"/>
              </a:ext>
            </a:extLst>
          </p:cNvPr>
          <p:cNvSpPr>
            <a:spLocks xmlns:a="http://schemas.openxmlformats.org/drawingml/2006/main" noGrp="1"/>
          </p:cNvSpPr>
          <p:nvPr/>
        </p:nvSpPr>
        <p:spPr>
          <a:xfrm xmlns:a="http://schemas.openxmlformats.org/drawingml/2006/main">
            <a:off x="609600" y="6153150"/>
            <a:ext cx="10972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66570"/>
                </a:solidFill>
                <a:latin typeface="Arial"/>
                <a:ea typeface="Arial"/>
                <a:cs typeface="Arial"/>
              </a:defRPr>
            </a:pPr>
            <a:r>
              <a:rPr sz="1650">
                <a:solidFill>
                  <a:srgbClr val="566570"/>
                </a:solidFill>
                <a:latin typeface="Arial"/>
                <a:ea typeface="Arial"/>
                <a:cs typeface="Arial"/>
              </a:rPr>
              <a:t>Assume this is the only prerequisite and no other registration restriction applies.</a:t>
            </a:r>
          </a:p>
        </p:txBody>
      </p:sp>
    </p:spTree>
    <p:extLst>
      <p:ext uri="{BB962C8B-B14F-4D97-AF65-F5344CB8AC3E}">
        <p14:creationId xmlns:p14="http://schemas.microsoft.com/office/powerpoint/2010/main" val="1448376762"/>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number">
            <a:extLst xmlns:a="http://schemas.openxmlformats.org/drawingml/2006/main">
              <a:ext uri="{FF2B5EF4-FFF2-40B4-BE49-F238E27FC236}">
                <a16:creationId xmlns:a16="http://schemas.microsoft.com/office/drawing/2014/main" id="{7297FCE7-343C-414A-8349-63FE7AB9499E}"/>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38</a:t>
            </a:r>
          </a:p>
        </p:txBody>
      </p:sp>
      <p:sp>
        <p:nvSpPr>
          <p:cNvPr id="3" name="slide-title">
            <a:extLst xmlns:a="http://schemas.openxmlformats.org/drawingml/2006/main">
              <a:ext uri="{FF2B5EF4-FFF2-40B4-BE49-F238E27FC236}">
                <a16:creationId xmlns:a16="http://schemas.microsoft.com/office/drawing/2014/main" id="{2FCEEACC-F274-4FB9-848E-FCDC530DCB79}"/>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Formative Check: Knowledge Concepts</a:t>
            </a:r>
          </a:p>
        </p:txBody>
      </p:sp>
      <p:sp>
        <p:nvSpPr>
          <p:cNvPr id="4" name="assessment-text">
            <a:extLst xmlns:a="http://schemas.openxmlformats.org/drawingml/2006/main">
              <a:ext uri="{FF2B5EF4-FFF2-40B4-BE49-F238E27FC236}">
                <a16:creationId xmlns:a16="http://schemas.microsoft.com/office/drawing/2014/main" id="{5733C290-F88B-41B6-B789-BF5DF12B52D1}"/>
              </a:ext>
            </a:extLst>
          </p:cNvPr>
          <p:cNvSpPr>
            <a:spLocks xmlns:a="http://schemas.openxmlformats.org/drawingml/2006/main" noGrp="1"/>
          </p:cNvSpPr>
          <p:nvPr/>
        </p:nvSpPr>
        <p:spPr>
          <a:xfrm xmlns:a="http://schemas.openxmlformats.org/drawingml/2006/main">
            <a:off x="609600" y="15144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Question 1</a:t>
            </a:r>
          </a:p>
        </p:txBody>
      </p:sp>
      <p:sp>
        <p:nvSpPr>
          <p:cNvPr id="5" name="assessment-text">
            <a:extLst xmlns:a="http://schemas.openxmlformats.org/drawingml/2006/main">
              <a:ext uri="{FF2B5EF4-FFF2-40B4-BE49-F238E27FC236}">
                <a16:creationId xmlns:a16="http://schemas.microsoft.com/office/drawing/2014/main" id="{A5485B79-0106-4237-8560-900EAED3A639}"/>
              </a:ext>
            </a:extLst>
          </p:cNvPr>
          <p:cNvSpPr>
            <a:spLocks xmlns:a="http://schemas.openxmlformats.org/drawingml/2006/main" noGrp="1"/>
          </p:cNvSpPr>
          <p:nvPr/>
        </p:nvSpPr>
        <p:spPr>
          <a:xfrm xmlns:a="http://schemas.openxmlformats.org/drawingml/2006/main">
            <a:off x="609600" y="1943100"/>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263746"/>
                </a:solidFill>
                <a:latin typeface="Arial"/>
                <a:ea typeface="Arial"/>
                <a:cs typeface="Arial"/>
              </a:defRPr>
            </a:pPr>
            <a:r>
              <a:rPr sz="2550">
                <a:solidFill>
                  <a:srgbClr val="263746"/>
                </a:solidFill>
                <a:latin typeface="Arial"/>
                <a:ea typeface="Arial"/>
                <a:cs typeface="Arial"/>
              </a:rPr>
              <a:t>Define knowledge in the context of AI.</a:t>
            </a:r>
          </a:p>
        </p:txBody>
      </p:sp>
      <p:sp>
        <p:nvSpPr>
          <p:cNvPr id="6" name="assessment-text">
            <a:extLst xmlns:a="http://schemas.openxmlformats.org/drawingml/2006/main">
              <a:ext uri="{FF2B5EF4-FFF2-40B4-BE49-F238E27FC236}">
                <a16:creationId xmlns:a16="http://schemas.microsoft.com/office/drawing/2014/main" id="{42A705F0-38E7-45EB-ADBC-4D41C542E24C}"/>
              </a:ext>
            </a:extLst>
          </p:cNvPr>
          <p:cNvSpPr>
            <a:spLocks xmlns:a="http://schemas.openxmlformats.org/drawingml/2006/main" noGrp="1"/>
          </p:cNvSpPr>
          <p:nvPr/>
        </p:nvSpPr>
        <p:spPr>
          <a:xfrm xmlns:a="http://schemas.openxmlformats.org/drawingml/2006/main">
            <a:off x="609600" y="3028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Question 2</a:t>
            </a:r>
          </a:p>
        </p:txBody>
      </p:sp>
      <p:sp>
        <p:nvSpPr>
          <p:cNvPr id="7" name="assessment-text">
            <a:extLst xmlns:a="http://schemas.openxmlformats.org/drawingml/2006/main">
              <a:ext uri="{FF2B5EF4-FFF2-40B4-BE49-F238E27FC236}">
                <a16:creationId xmlns:a16="http://schemas.microsoft.com/office/drawing/2014/main" id="{A0739329-BC82-4E3D-B512-8B8AE7F8FEF3}"/>
              </a:ext>
            </a:extLst>
          </p:cNvPr>
          <p:cNvSpPr>
            <a:spLocks xmlns:a="http://schemas.openxmlformats.org/drawingml/2006/main" noGrp="1"/>
          </p:cNvSpPr>
          <p:nvPr/>
        </p:nvSpPr>
        <p:spPr>
          <a:xfrm xmlns:a="http://schemas.openxmlformats.org/drawingml/2006/main">
            <a:off x="609600" y="345757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263746"/>
                </a:solidFill>
                <a:latin typeface="Arial"/>
                <a:ea typeface="Arial"/>
                <a:cs typeface="Arial"/>
              </a:defRPr>
            </a:pPr>
            <a:r>
              <a:rPr sz="2550">
                <a:solidFill>
                  <a:srgbClr val="263746"/>
                </a:solidFill>
                <a:latin typeface="Arial"/>
                <a:ea typeface="Arial"/>
                <a:cs typeface="Arial"/>
              </a:rPr>
              <a:t>Differentiate between data, information, and knowledge.</a:t>
            </a:r>
          </a:p>
        </p:txBody>
      </p:sp>
      <p:sp>
        <p:nvSpPr>
          <p:cNvPr id="8" name="assessment-text">
            <a:extLst xmlns:a="http://schemas.openxmlformats.org/drawingml/2006/main">
              <a:ext uri="{FF2B5EF4-FFF2-40B4-BE49-F238E27FC236}">
                <a16:creationId xmlns:a16="http://schemas.microsoft.com/office/drawing/2014/main" id="{68DED86F-0C08-4AFD-AB77-E641AE4398AC}"/>
              </a:ext>
            </a:extLst>
          </p:cNvPr>
          <p:cNvSpPr>
            <a:spLocks xmlns:a="http://schemas.openxmlformats.org/drawingml/2006/main" noGrp="1"/>
          </p:cNvSpPr>
          <p:nvPr/>
        </p:nvSpPr>
        <p:spPr>
          <a:xfrm xmlns:a="http://schemas.openxmlformats.org/drawingml/2006/main">
            <a:off x="609600" y="4838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Question 3</a:t>
            </a:r>
          </a:p>
        </p:txBody>
      </p:sp>
      <p:sp>
        <p:nvSpPr>
          <p:cNvPr id="9" name="assessment-text">
            <a:extLst xmlns:a="http://schemas.openxmlformats.org/drawingml/2006/main">
              <a:ext uri="{FF2B5EF4-FFF2-40B4-BE49-F238E27FC236}">
                <a16:creationId xmlns:a16="http://schemas.microsoft.com/office/drawing/2014/main" id="{CA025E28-368C-4B93-A479-A8C85EC1F70E}"/>
              </a:ext>
            </a:extLst>
          </p:cNvPr>
          <p:cNvSpPr>
            <a:spLocks xmlns:a="http://schemas.openxmlformats.org/drawingml/2006/main" noGrp="1"/>
          </p:cNvSpPr>
          <p:nvPr/>
        </p:nvSpPr>
        <p:spPr>
          <a:xfrm xmlns:a="http://schemas.openxmlformats.org/drawingml/2006/main">
            <a:off x="609600" y="52673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a:solidFill>
                  <a:srgbClr val="263746"/>
                </a:solidFill>
                <a:latin typeface="Arial"/>
                <a:ea typeface="Arial"/>
                <a:cs typeface="Arial"/>
              </a:defRPr>
            </a:pPr>
            <a:r>
              <a:rPr sz="2550">
                <a:solidFill>
                  <a:srgbClr val="263746"/>
                </a:solidFill>
                <a:latin typeface="Arial"/>
                <a:ea typeface="Arial"/>
                <a:cs typeface="Arial"/>
              </a:rPr>
              <a:t>Why is knowledge representation necessary?</a:t>
            </a:r>
          </a:p>
        </p:txBody>
      </p:sp>
    </p:spTree>
    <p:extLst>
      <p:ext uri="{BB962C8B-B14F-4D97-AF65-F5344CB8AC3E}">
        <p14:creationId xmlns:p14="http://schemas.microsoft.com/office/powerpoint/2010/main" val="156895808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3D1A0002-DC49-4C3B-8204-C44BCEA4EE85}"/>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Formative Check: Inference and Reasoning Types</a:t>
            </a:r>
          </a:p>
        </p:txBody>
      </p:sp>
      <p:sp>
        <p:nvSpPr>
          <p:cNvPr id="2" name="slide-number">
            <a:extLst xmlns:a="http://schemas.openxmlformats.org/drawingml/2006/main">
              <a:ext uri="{FF2B5EF4-FFF2-40B4-BE49-F238E27FC236}">
                <a16:creationId xmlns:a16="http://schemas.microsoft.com/office/drawing/2014/main" id="{0033A20A-C786-4687-B551-200C87AB93C1}"/>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a:solidFill>
                  <a:srgbClr val="566570"/>
                </a:solidFill>
                <a:latin typeface="Arial"/>
                <a:ea typeface="Arial"/>
                <a:cs typeface="Arial"/>
              </a:defRPr>
            </a:pPr>
            <a:r>
              <a:rPr sz="1350">
                <a:solidFill>
                  <a:srgbClr val="566570"/>
                </a:solidFill>
                <a:latin typeface="Arial"/>
                <a:ea typeface="Arial"/>
                <a:cs typeface="Arial"/>
              </a:rPr>
              <a:t>39</a:t>
            </a:r>
          </a:p>
        </p:txBody>
      </p:sp>
      <p:sp>
        <p:nvSpPr>
          <p:cNvPr id="3" name="assessment-text">
            <a:extLst xmlns:a="http://schemas.openxmlformats.org/drawingml/2006/main">
              <a:ext uri="{FF2B5EF4-FFF2-40B4-BE49-F238E27FC236}">
                <a16:creationId xmlns:a16="http://schemas.microsoft.com/office/drawing/2014/main" id="{C464EC1B-9863-4C5F-AAC2-B292982AA737}"/>
              </a:ext>
            </a:extLst>
          </p:cNvPr>
          <p:cNvSpPr>
            <a:spLocks xmlns:a="http://schemas.openxmlformats.org/drawingml/2006/main" noGrp="1"/>
          </p:cNvSpPr>
          <p:nvPr/>
        </p:nvSpPr>
        <p:spPr>
          <a:xfrm xmlns:a="http://schemas.openxmlformats.org/drawingml/2006/main">
            <a:off x="609600" y="345757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a:solidFill>
                  <a:srgbClr val="263746"/>
                </a:solidFill>
                <a:latin typeface="Arial"/>
                <a:ea typeface="Arial"/>
                <a:cs typeface="Arial"/>
              </a:defRPr>
            </a:pPr>
            <a:r>
              <a:rPr sz="2625">
                <a:solidFill>
                  <a:srgbClr val="263746"/>
                </a:solidFill>
                <a:latin typeface="Arial"/>
                <a:ea typeface="Arial"/>
                <a:cs typeface="Arial"/>
              </a:rPr>
              <a:t>What can be concluded?</a:t>
            </a:r>
          </a:p>
        </p:txBody>
      </p:sp>
      <p:sp>
        <p:nvSpPr>
          <p:cNvPr id="4" name="assessment-text">
            <a:extLst xmlns:a="http://schemas.openxmlformats.org/drawingml/2006/main">
              <a:ext uri="{FF2B5EF4-FFF2-40B4-BE49-F238E27FC236}">
                <a16:creationId xmlns:a16="http://schemas.microsoft.com/office/drawing/2014/main" id="{E6167E0C-52B3-4527-8531-45FB35A48D09}"/>
              </a:ext>
            </a:extLst>
          </p:cNvPr>
          <p:cNvSpPr>
            <a:spLocks xmlns:a="http://schemas.openxmlformats.org/drawingml/2006/main" noGrp="1"/>
          </p:cNvSpPr>
          <p:nvPr/>
        </p:nvSpPr>
        <p:spPr>
          <a:xfrm xmlns:a="http://schemas.openxmlformats.org/drawingml/2006/main">
            <a:off x="609600" y="46672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Question 5</a:t>
            </a:r>
          </a:p>
        </p:txBody>
      </p:sp>
      <p:sp>
        <p:nvSpPr>
          <p:cNvPr id="5" name="assessment-text">
            <a:extLst xmlns:a="http://schemas.openxmlformats.org/drawingml/2006/main">
              <a:ext uri="{FF2B5EF4-FFF2-40B4-BE49-F238E27FC236}">
                <a16:creationId xmlns:a16="http://schemas.microsoft.com/office/drawing/2014/main" id="{E7E53485-3236-4C11-9D84-2C1E1FDDD6F7}"/>
              </a:ext>
            </a:extLst>
          </p:cNvPr>
          <p:cNvSpPr>
            <a:spLocks xmlns:a="http://schemas.openxmlformats.org/drawingml/2006/main" noGrp="1"/>
          </p:cNvSpPr>
          <p:nvPr/>
        </p:nvSpPr>
        <p:spPr>
          <a:xfrm xmlns:a="http://schemas.openxmlformats.org/drawingml/2006/main">
            <a:off x="609600" y="5095875"/>
            <a:ext cx="109728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263746"/>
                </a:solidFill>
                <a:latin typeface="Arial"/>
                <a:ea typeface="Arial"/>
                <a:cs typeface="Arial"/>
              </a:defRPr>
            </a:pPr>
            <a:r>
              <a:rPr sz="2400">
                <a:solidFill>
                  <a:srgbClr val="263746"/>
                </a:solidFill>
                <a:latin typeface="Arial"/>
                <a:ea typeface="Arial"/>
                <a:cs typeface="Arial"/>
              </a:rPr>
              <a:t>Explain the difference between deductive, inductive, and abductive reasoning.</a:t>
            </a:r>
          </a:p>
        </p:txBody>
      </p:sp>
      <p:sp>
        <p:nvSpPr>
          <p:cNvPr id="6" name="assessment-text">
            <a:extLst xmlns:a="http://schemas.openxmlformats.org/drawingml/2006/main">
              <a:ext uri="{FF2B5EF4-FFF2-40B4-BE49-F238E27FC236}">
                <a16:creationId xmlns:a16="http://schemas.microsoft.com/office/drawing/2014/main" id="{F417A161-B648-4B7D-8AB2-376A4E79A080}"/>
              </a:ext>
            </a:extLst>
          </p:cNvPr>
          <p:cNvSpPr>
            <a:spLocks xmlns:a="http://schemas.openxmlformats.org/drawingml/2006/main" noGrp="1"/>
          </p:cNvSpPr>
          <p:nvPr/>
        </p:nvSpPr>
        <p:spPr>
          <a:xfrm xmlns:a="http://schemas.openxmlformats.org/drawingml/2006/main">
            <a:off x="609600" y="14954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Question 4: Given</a:t>
            </a:r>
          </a:p>
        </p:txBody>
      </p:sp>
      <p:sp>
        <p:nvSpPr>
          <p:cNvPr id="7" name="assessment-text">
            <a:extLst xmlns:a="http://schemas.openxmlformats.org/drawingml/2006/main">
              <a:ext uri="{FF2B5EF4-FFF2-40B4-BE49-F238E27FC236}">
                <a16:creationId xmlns:a16="http://schemas.microsoft.com/office/drawing/2014/main" id="{DB7C4656-E27E-4D24-A5ED-619DB903E0FE}"/>
              </a:ext>
            </a:extLst>
          </p:cNvPr>
          <p:cNvSpPr>
            <a:spLocks xmlns:a="http://schemas.openxmlformats.org/drawingml/2006/main" noGrp="1"/>
          </p:cNvSpPr>
          <p:nvPr/>
        </p:nvSpPr>
        <p:spPr>
          <a:xfrm xmlns:a="http://schemas.openxmlformats.org/drawingml/2006/main">
            <a:off x="609600" y="2114550"/>
            <a:ext cx="109728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3449"/>
                </a:solidFill>
                <a:latin typeface="Arial"/>
                <a:ea typeface="Arial"/>
                <a:cs typeface="Arial"/>
              </a:defRPr>
            </a:pPr>
            <a:r>
              <a:rPr sz="2550" b="1">
                <a:solidFill>
                  <a:srgbClr val="173449"/>
                </a:solidFill>
                <a:latin typeface="Arial"/>
                <a:ea typeface="Arial"/>
                <a:cs typeface="Arial"/>
              </a:rPr>
              <a:t>Human(x) → Mortal(x)</a:t>
            </a:r>
          </a:p>
          <a:p xmlns:a="http://schemas.openxmlformats.org/drawingml/2006/main">
            <a:pPr>
              <a:defRPr sz="2550" b="1">
                <a:solidFill>
                  <a:srgbClr val="173449"/>
                </a:solidFill>
                <a:latin typeface="Arial"/>
                <a:ea typeface="Arial"/>
                <a:cs typeface="Arial"/>
              </a:defRPr>
            </a:pPr>
            <a:r>
              <a:rPr sz="2550" b="1">
                <a:solidFill>
                  <a:srgbClr val="173449"/>
                </a:solidFill>
                <a:latin typeface="Arial"/>
                <a:ea typeface="Arial"/>
                <a:cs typeface="Arial"/>
              </a:rPr>
              <a:t>Human(Ali)</a:t>
            </a:r>
          </a:p>
        </p:txBody>
      </p:sp>
    </p:spTree>
    <p:extLst>
      <p:ext uri="{BB962C8B-B14F-4D97-AF65-F5344CB8AC3E}">
        <p14:creationId xmlns:p14="http://schemas.microsoft.com/office/powerpoint/2010/main" val="134251010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BF46019-FC08-44C6-87BE-5DD5DB56638A}"/>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Formative Check: Smart Traffic</a:t>
            </a:r>
          </a:p>
        </p:txBody>
      </p:sp>
      <p:sp>
        <p:nvSpPr>
          <p:cNvPr id="2" name="slide-number">
            <a:extLst xmlns:a="http://schemas.openxmlformats.org/drawingml/2006/main">
              <a:ext uri="{FF2B5EF4-FFF2-40B4-BE49-F238E27FC236}">
                <a16:creationId xmlns:a16="http://schemas.microsoft.com/office/drawing/2014/main" id="{9B72D332-6DE7-485F-A60E-B7D0B6CB8093}"/>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a:solidFill>
                  <a:srgbClr val="566570"/>
                </a:solidFill>
                <a:latin typeface="Arial"/>
                <a:ea typeface="Arial"/>
                <a:cs typeface="Arial"/>
              </a:defRPr>
            </a:pPr>
            <a:r>
              <a:rPr sz="1350">
                <a:solidFill>
                  <a:srgbClr val="566570"/>
                </a:solidFill>
                <a:latin typeface="Arial"/>
                <a:ea typeface="Arial"/>
                <a:cs typeface="Arial"/>
              </a:rPr>
              <a:t>40</a:t>
            </a:r>
          </a:p>
        </p:txBody>
      </p:sp>
      <p:sp>
        <p:nvSpPr>
          <p:cNvPr id="3" name="assessment-text">
            <a:extLst xmlns:a="http://schemas.openxmlformats.org/drawingml/2006/main">
              <a:ext uri="{FF2B5EF4-FFF2-40B4-BE49-F238E27FC236}">
                <a16:creationId xmlns:a16="http://schemas.microsoft.com/office/drawing/2014/main" id="{2648E3B1-12C2-472D-925B-A1AD1825C4D4}"/>
              </a:ext>
            </a:extLst>
          </p:cNvPr>
          <p:cNvSpPr>
            <a:spLocks xmlns:a="http://schemas.openxmlformats.org/drawingml/2006/main" noGrp="1"/>
          </p:cNvSpPr>
          <p:nvPr/>
        </p:nvSpPr>
        <p:spPr>
          <a:xfrm xmlns:a="http://schemas.openxmlformats.org/drawingml/2006/main">
            <a:off x="609600" y="15240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87F8C"/>
                </a:solidFill>
                <a:latin typeface="Arial"/>
                <a:ea typeface="Arial"/>
                <a:cs typeface="Arial"/>
              </a:defRPr>
            </a:pPr>
            <a:r>
              <a:rPr sz="2100" b="1">
                <a:solidFill>
                  <a:srgbClr val="087F8C"/>
                </a:solidFill>
                <a:latin typeface="Arial"/>
                <a:ea typeface="Arial"/>
                <a:cs typeface="Arial"/>
              </a:rPr>
              <a:t>Recall the classroom traffic example:</a:t>
            </a:r>
          </a:p>
        </p:txBody>
      </p:sp>
      <p:sp>
        <p:nvSpPr>
          <p:cNvPr id="4" name="assessment-text">
            <a:extLst xmlns:a="http://schemas.openxmlformats.org/drawingml/2006/main">
              <a:ext uri="{FF2B5EF4-FFF2-40B4-BE49-F238E27FC236}">
                <a16:creationId xmlns:a16="http://schemas.microsoft.com/office/drawing/2014/main" id="{848FF480-18D7-47C4-8200-D7D6C64F08FE}"/>
              </a:ext>
            </a:extLst>
          </p:cNvPr>
          <p:cNvSpPr>
            <a:spLocks xmlns:a="http://schemas.openxmlformats.org/drawingml/2006/main" noGrp="1"/>
          </p:cNvSpPr>
          <p:nvPr/>
        </p:nvSpPr>
        <p:spPr>
          <a:xfrm xmlns:a="http://schemas.openxmlformats.org/drawingml/2006/main">
            <a:off x="609600" y="2114550"/>
            <a:ext cx="109728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263746"/>
                </a:solidFill>
                <a:latin typeface="Arial"/>
                <a:ea typeface="Arial"/>
                <a:cs typeface="Arial"/>
              </a:defRPr>
            </a:pPr>
            <a:r>
              <a:rPr sz="2325">
                <a:solidFill>
                  <a:srgbClr val="263746"/>
                </a:solidFill>
                <a:latin typeface="Arial"/>
                <a:ea typeface="Arial"/>
                <a:cs typeface="Arial"/>
              </a:rPr>
              <a:t>Sensors report 95 vehicles on Road A. The system interprets heavy traffic. It knows that heavy traffic generally increases travel time, considers Road B, and recommends an alternative route.</a:t>
            </a:r>
          </a:p>
        </p:txBody>
      </p:sp>
      <p:sp>
        <p:nvSpPr>
          <p:cNvPr id="5" name="assessment-text">
            <a:extLst xmlns:a="http://schemas.openxmlformats.org/drawingml/2006/main">
              <a:ext uri="{FF2B5EF4-FFF2-40B4-BE49-F238E27FC236}">
                <a16:creationId xmlns:a16="http://schemas.microsoft.com/office/drawing/2014/main" id="{00482891-1052-4E3D-83AD-E8CE16540F55}"/>
              </a:ext>
            </a:extLst>
          </p:cNvPr>
          <p:cNvSpPr>
            <a:spLocks xmlns:a="http://schemas.openxmlformats.org/drawingml/2006/main" noGrp="1"/>
          </p:cNvSpPr>
          <p:nvPr/>
        </p:nvSpPr>
        <p:spPr>
          <a:xfrm xmlns:a="http://schemas.openxmlformats.org/drawingml/2006/main">
            <a:off x="609600" y="44862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Question 6</a:t>
            </a:r>
          </a:p>
        </p:txBody>
      </p:sp>
      <p:sp>
        <p:nvSpPr>
          <p:cNvPr id="6" name="assessment-text">
            <a:extLst xmlns:a="http://schemas.openxmlformats.org/drawingml/2006/main">
              <a:ext uri="{FF2B5EF4-FFF2-40B4-BE49-F238E27FC236}">
                <a16:creationId xmlns:a16="http://schemas.microsoft.com/office/drawing/2014/main" id="{2A6A5614-2E1A-42BE-B715-DBCDCB1D7D1B}"/>
              </a:ext>
            </a:extLst>
          </p:cNvPr>
          <p:cNvSpPr>
            <a:spLocks xmlns:a="http://schemas.openxmlformats.org/drawingml/2006/main" noGrp="1"/>
          </p:cNvSpPr>
          <p:nvPr/>
        </p:nvSpPr>
        <p:spPr>
          <a:xfrm xmlns:a="http://schemas.openxmlformats.org/drawingml/2006/main">
            <a:off x="609600" y="4914900"/>
            <a:ext cx="109728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a:solidFill>
                  <a:srgbClr val="263746"/>
                </a:solidFill>
                <a:latin typeface="Arial"/>
                <a:ea typeface="Arial"/>
                <a:cs typeface="Arial"/>
              </a:defRPr>
            </a:pPr>
            <a:r>
              <a:rPr sz="2625">
                <a:solidFill>
                  <a:srgbClr val="263746"/>
                </a:solidFill>
                <a:latin typeface="Arial"/>
                <a:ea typeface="Arial"/>
                <a:cs typeface="Arial"/>
              </a:rPr>
              <a:t>Analyze a smart traffic system and identify where knowledge and reasoning are used.</a:t>
            </a:r>
          </a:p>
        </p:txBody>
      </p:sp>
    </p:spTree>
    <p:extLst>
      <p:ext uri="{BB962C8B-B14F-4D97-AF65-F5344CB8AC3E}">
        <p14:creationId xmlns:p14="http://schemas.microsoft.com/office/powerpoint/2010/main" val="1244578819"/>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CAC06C31-133E-46D7-B789-DE9FE3D4770B}"/>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Key Takeaways</a:t>
            </a:r>
          </a:p>
        </p:txBody>
      </p:sp>
      <p:sp>
        <p:nvSpPr>
          <p:cNvPr id="2" name="slide-number">
            <a:extLst xmlns:a="http://schemas.openxmlformats.org/drawingml/2006/main">
              <a:ext uri="{FF2B5EF4-FFF2-40B4-BE49-F238E27FC236}">
                <a16:creationId xmlns:a16="http://schemas.microsoft.com/office/drawing/2014/main" id="{2E1509FE-6134-4CA1-AF0A-BA92880260DC}"/>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41</a:t>
            </a:r>
          </a:p>
        </p:txBody>
      </p:sp>
      <p:sp>
        <p:nvSpPr>
          <p:cNvPr id="3" name="text">
            <a:extLst xmlns:a="http://schemas.openxmlformats.org/drawingml/2006/main">
              <a:ext uri="{FF2B5EF4-FFF2-40B4-BE49-F238E27FC236}">
                <a16:creationId xmlns:a16="http://schemas.microsoft.com/office/drawing/2014/main" id="{8178353B-636E-479C-8FA7-297F2D21EC5C}"/>
              </a:ext>
            </a:extLst>
          </p:cNvPr>
          <p:cNvSpPr>
            <a:spLocks xmlns:a="http://schemas.openxmlformats.org/drawingml/2006/main" noGrp="1"/>
          </p:cNvSpPr>
          <p:nvPr/>
        </p:nvSpPr>
        <p:spPr>
          <a:xfrm xmlns:a="http://schemas.openxmlformats.org/drawingml/2006/main">
            <a:off x="609600" y="14382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Knowledge</a:t>
            </a:r>
          </a:p>
        </p:txBody>
      </p:sp>
      <p:sp>
        <p:nvSpPr>
          <p:cNvPr id="4" name="text">
            <a:extLst xmlns:a="http://schemas.openxmlformats.org/drawingml/2006/main">
              <a:ext uri="{FF2B5EF4-FFF2-40B4-BE49-F238E27FC236}">
                <a16:creationId xmlns:a16="http://schemas.microsoft.com/office/drawing/2014/main" id="{259C059C-D0D6-43B9-B43C-75E7CB6D8607}"/>
              </a:ext>
            </a:extLst>
          </p:cNvPr>
          <p:cNvSpPr>
            <a:spLocks xmlns:a="http://schemas.openxmlformats.org/drawingml/2006/main" noGrp="1"/>
          </p:cNvSpPr>
          <p:nvPr/>
        </p:nvSpPr>
        <p:spPr>
          <a:xfrm xmlns:a="http://schemas.openxmlformats.org/drawingml/2006/main">
            <a:off x="609600" y="1847850"/>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263746"/>
                </a:solidFill>
                <a:latin typeface="Arial"/>
                <a:ea typeface="Arial"/>
                <a:cs typeface="Arial"/>
              </a:defRPr>
            </a:pPr>
            <a:r>
              <a:rPr sz="2175" b="0">
                <a:solidFill>
                  <a:srgbClr val="263746"/>
                </a:solidFill>
                <a:latin typeface="Arial"/>
                <a:ea typeface="Arial"/>
                <a:cs typeface="Arial"/>
              </a:rPr>
              <a:t>What a system knows about its domain.</a:t>
            </a:r>
          </a:p>
        </p:txBody>
      </p:sp>
      <p:sp>
        <p:nvSpPr>
          <p:cNvPr id="5" name="text">
            <a:extLst xmlns:a="http://schemas.openxmlformats.org/drawingml/2006/main">
              <a:ext uri="{FF2B5EF4-FFF2-40B4-BE49-F238E27FC236}">
                <a16:creationId xmlns:a16="http://schemas.microsoft.com/office/drawing/2014/main" id="{FD5B908A-8BE0-49AD-A456-1DD39C48FCFB}"/>
              </a:ext>
            </a:extLst>
          </p:cNvPr>
          <p:cNvSpPr>
            <a:spLocks xmlns:a="http://schemas.openxmlformats.org/drawingml/2006/main" noGrp="1"/>
          </p:cNvSpPr>
          <p:nvPr/>
        </p:nvSpPr>
        <p:spPr>
          <a:xfrm xmlns:a="http://schemas.openxmlformats.org/drawingml/2006/main">
            <a:off x="609600" y="23526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Representation</a:t>
            </a:r>
          </a:p>
        </p:txBody>
      </p:sp>
      <p:sp>
        <p:nvSpPr>
          <p:cNvPr id="6" name="text">
            <a:extLst xmlns:a="http://schemas.openxmlformats.org/drawingml/2006/main">
              <a:ext uri="{FF2B5EF4-FFF2-40B4-BE49-F238E27FC236}">
                <a16:creationId xmlns:a16="http://schemas.microsoft.com/office/drawing/2014/main" id="{07AE118C-BF49-4F39-9A45-C3CBF0A28B3E}"/>
              </a:ext>
            </a:extLst>
          </p:cNvPr>
          <p:cNvSpPr>
            <a:spLocks xmlns:a="http://schemas.openxmlformats.org/drawingml/2006/main" noGrp="1"/>
          </p:cNvSpPr>
          <p:nvPr/>
        </p:nvSpPr>
        <p:spPr>
          <a:xfrm xmlns:a="http://schemas.openxmlformats.org/drawingml/2006/main">
            <a:off x="609600" y="2762250"/>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263746"/>
                </a:solidFill>
                <a:latin typeface="Arial"/>
                <a:ea typeface="Arial"/>
                <a:cs typeface="Arial"/>
              </a:defRPr>
            </a:pPr>
            <a:r>
              <a:rPr sz="2175" b="0">
                <a:solidFill>
                  <a:srgbClr val="263746"/>
                </a:solidFill>
                <a:latin typeface="Arial"/>
                <a:ea typeface="Arial"/>
                <a:cs typeface="Arial"/>
              </a:rPr>
              <a:t>The structured form in which it expresses knowledge.</a:t>
            </a:r>
          </a:p>
        </p:txBody>
      </p:sp>
      <p:sp>
        <p:nvSpPr>
          <p:cNvPr id="7" name="text">
            <a:extLst xmlns:a="http://schemas.openxmlformats.org/drawingml/2006/main">
              <a:ext uri="{FF2B5EF4-FFF2-40B4-BE49-F238E27FC236}">
                <a16:creationId xmlns:a16="http://schemas.microsoft.com/office/drawing/2014/main" id="{C3D55433-80A6-4562-AE7A-46ECD01ED4B8}"/>
              </a:ext>
            </a:extLst>
          </p:cNvPr>
          <p:cNvSpPr>
            <a:spLocks xmlns:a="http://schemas.openxmlformats.org/drawingml/2006/main" noGrp="1"/>
          </p:cNvSpPr>
          <p:nvPr/>
        </p:nvSpPr>
        <p:spPr>
          <a:xfrm xmlns:a="http://schemas.openxmlformats.org/drawingml/2006/main">
            <a:off x="609600" y="32670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Reasoning</a:t>
            </a:r>
          </a:p>
        </p:txBody>
      </p:sp>
      <p:sp>
        <p:nvSpPr>
          <p:cNvPr id="8" name="text">
            <a:extLst xmlns:a="http://schemas.openxmlformats.org/drawingml/2006/main">
              <a:ext uri="{FF2B5EF4-FFF2-40B4-BE49-F238E27FC236}">
                <a16:creationId xmlns:a16="http://schemas.microsoft.com/office/drawing/2014/main" id="{2806E89A-2F82-44E3-B2D0-1532D74801ED}"/>
              </a:ext>
            </a:extLst>
          </p:cNvPr>
          <p:cNvSpPr>
            <a:spLocks xmlns:a="http://schemas.openxmlformats.org/drawingml/2006/main" noGrp="1"/>
          </p:cNvSpPr>
          <p:nvPr/>
        </p:nvSpPr>
        <p:spPr>
          <a:xfrm xmlns:a="http://schemas.openxmlformats.org/drawingml/2006/main">
            <a:off x="609600" y="3676650"/>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263746"/>
                </a:solidFill>
                <a:latin typeface="Arial"/>
                <a:ea typeface="Arial"/>
                <a:cs typeface="Arial"/>
              </a:defRPr>
            </a:pPr>
            <a:r>
              <a:rPr sz="2175" b="0">
                <a:solidFill>
                  <a:srgbClr val="263746"/>
                </a:solidFill>
                <a:latin typeface="Arial"/>
                <a:ea typeface="Arial"/>
                <a:cs typeface="Arial"/>
              </a:rPr>
              <a:t>The process that derives conclusions from knowledge.</a:t>
            </a:r>
          </a:p>
        </p:txBody>
      </p:sp>
      <p:sp>
        <p:nvSpPr>
          <p:cNvPr id="9" name="text">
            <a:extLst xmlns:a="http://schemas.openxmlformats.org/drawingml/2006/main">
              <a:ext uri="{FF2B5EF4-FFF2-40B4-BE49-F238E27FC236}">
                <a16:creationId xmlns:a16="http://schemas.microsoft.com/office/drawing/2014/main" id="{67E42265-707F-487B-92A6-E71370D9B573}"/>
              </a:ext>
            </a:extLst>
          </p:cNvPr>
          <p:cNvSpPr>
            <a:spLocks xmlns:a="http://schemas.openxmlformats.org/drawingml/2006/main" noGrp="1"/>
          </p:cNvSpPr>
          <p:nvPr/>
        </p:nvSpPr>
        <p:spPr>
          <a:xfrm xmlns:a="http://schemas.openxmlformats.org/drawingml/2006/main">
            <a:off x="609600" y="41814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Intelligent behavior</a:t>
            </a:r>
          </a:p>
        </p:txBody>
      </p:sp>
      <p:sp>
        <p:nvSpPr>
          <p:cNvPr id="10" name="text">
            <a:extLst xmlns:a="http://schemas.openxmlformats.org/drawingml/2006/main">
              <a:ext uri="{FF2B5EF4-FFF2-40B4-BE49-F238E27FC236}">
                <a16:creationId xmlns:a16="http://schemas.microsoft.com/office/drawing/2014/main" id="{02BD0501-484D-4C43-B652-1E2D2E8C95DA}"/>
              </a:ext>
            </a:extLst>
          </p:cNvPr>
          <p:cNvSpPr>
            <a:spLocks xmlns:a="http://schemas.openxmlformats.org/drawingml/2006/main" noGrp="1"/>
          </p:cNvSpPr>
          <p:nvPr/>
        </p:nvSpPr>
        <p:spPr>
          <a:xfrm xmlns:a="http://schemas.openxmlformats.org/drawingml/2006/main">
            <a:off x="609600" y="4591050"/>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263746"/>
                </a:solidFill>
                <a:latin typeface="Arial"/>
                <a:ea typeface="Arial"/>
                <a:cs typeface="Arial"/>
              </a:defRPr>
            </a:pPr>
            <a:r>
              <a:rPr sz="2175" b="0">
                <a:solidFill>
                  <a:srgbClr val="263746"/>
                </a:solidFill>
                <a:latin typeface="Arial"/>
                <a:ea typeface="Arial"/>
                <a:cs typeface="Arial"/>
              </a:rPr>
              <a:t>Useful answers or actions supported by those conclusions.</a:t>
            </a:r>
          </a:p>
        </p:txBody>
      </p:sp>
      <p:sp>
        <p:nvSpPr>
          <p:cNvPr id="11" name="text">
            <a:extLst xmlns:a="http://schemas.openxmlformats.org/drawingml/2006/main">
              <a:ext uri="{FF2B5EF4-FFF2-40B4-BE49-F238E27FC236}">
                <a16:creationId xmlns:a16="http://schemas.microsoft.com/office/drawing/2014/main" id="{DC4710AE-4118-47EF-B838-A65ED862C587}"/>
              </a:ext>
            </a:extLst>
          </p:cNvPr>
          <p:cNvSpPr>
            <a:spLocks xmlns:a="http://schemas.openxmlformats.org/drawingml/2006/main" noGrp="1"/>
          </p:cNvSpPr>
          <p:nvPr/>
        </p:nvSpPr>
        <p:spPr>
          <a:xfrm xmlns:a="http://schemas.openxmlformats.org/drawingml/2006/main">
            <a:off x="609600" y="5095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Knowledge-based system</a:t>
            </a:r>
          </a:p>
        </p:txBody>
      </p:sp>
      <p:sp>
        <p:nvSpPr>
          <p:cNvPr id="12" name="text">
            <a:extLst xmlns:a="http://schemas.openxmlformats.org/drawingml/2006/main">
              <a:ext uri="{FF2B5EF4-FFF2-40B4-BE49-F238E27FC236}">
                <a16:creationId xmlns:a16="http://schemas.microsoft.com/office/drawing/2014/main" id="{2896383A-8D0C-4615-B575-271022619A7B}"/>
              </a:ext>
            </a:extLst>
          </p:cNvPr>
          <p:cNvSpPr>
            <a:spLocks xmlns:a="http://schemas.openxmlformats.org/drawingml/2006/main" noGrp="1"/>
          </p:cNvSpPr>
          <p:nvPr/>
        </p:nvSpPr>
        <p:spPr>
          <a:xfrm xmlns:a="http://schemas.openxmlformats.org/drawingml/2006/main">
            <a:off x="609600" y="5505450"/>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263746"/>
                </a:solidFill>
                <a:latin typeface="Arial"/>
                <a:ea typeface="Arial"/>
                <a:cs typeface="Arial"/>
              </a:defRPr>
            </a:pPr>
            <a:r>
              <a:rPr sz="2175" b="0">
                <a:solidFill>
                  <a:srgbClr val="263746"/>
                </a:solidFill>
                <a:latin typeface="Arial"/>
                <a:ea typeface="Arial"/>
                <a:cs typeface="Arial"/>
              </a:rPr>
              <a:t>A knowledge base working with an inference mechanism.</a:t>
            </a:r>
          </a:p>
        </p:txBody>
      </p:sp>
    </p:spTree>
    <p:extLst>
      <p:ext uri="{BB962C8B-B14F-4D97-AF65-F5344CB8AC3E}">
        <p14:creationId xmlns:p14="http://schemas.microsoft.com/office/powerpoint/2010/main" val="463143456"/>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8390B12F-E019-4E8A-B0FD-1864B3130237}"/>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Homework: Concepts and Comparison</a:t>
            </a:r>
          </a:p>
        </p:txBody>
      </p:sp>
      <p:sp>
        <p:nvSpPr>
          <p:cNvPr id="2" name="slide-number">
            <a:extLst xmlns:a="http://schemas.openxmlformats.org/drawingml/2006/main">
              <a:ext uri="{FF2B5EF4-FFF2-40B4-BE49-F238E27FC236}">
                <a16:creationId xmlns:a16="http://schemas.microsoft.com/office/drawing/2014/main" id="{2C991333-377D-4AB9-9E84-E093CC063279}"/>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42</a:t>
            </a:r>
          </a:p>
        </p:txBody>
      </p:sp>
      <p:sp>
        <p:nvSpPr>
          <p:cNvPr id="3" name="text">
            <a:extLst xmlns:a="http://schemas.openxmlformats.org/drawingml/2006/main">
              <a:ext uri="{FF2B5EF4-FFF2-40B4-BE49-F238E27FC236}">
                <a16:creationId xmlns:a16="http://schemas.microsoft.com/office/drawing/2014/main" id="{5DFB0292-BACA-4515-9B4F-B51C222C350B}"/>
              </a:ext>
            </a:extLst>
          </p:cNvPr>
          <p:cNvSpPr>
            <a:spLocks xmlns:a="http://schemas.openxmlformats.org/drawingml/2006/main" noGrp="1"/>
          </p:cNvSpPr>
          <p:nvPr/>
        </p:nvSpPr>
        <p:spPr>
          <a:xfrm xmlns:a="http://schemas.openxmlformats.org/drawingml/2006/main">
            <a:off x="609600" y="162877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Part A: Explain in your own words</a:t>
            </a:r>
          </a:p>
        </p:txBody>
      </p:sp>
      <p:sp>
        <p:nvSpPr>
          <p:cNvPr id="4" name="text">
            <a:extLst xmlns:a="http://schemas.openxmlformats.org/drawingml/2006/main">
              <a:ext uri="{FF2B5EF4-FFF2-40B4-BE49-F238E27FC236}">
                <a16:creationId xmlns:a16="http://schemas.microsoft.com/office/drawing/2014/main" id="{E1536C08-E60F-4F26-8399-09DF1DF69F4A}"/>
              </a:ext>
            </a:extLst>
          </p:cNvPr>
          <p:cNvSpPr>
            <a:spLocks xmlns:a="http://schemas.openxmlformats.org/drawingml/2006/main" noGrp="1"/>
          </p:cNvSpPr>
          <p:nvPr/>
        </p:nvSpPr>
        <p:spPr>
          <a:xfrm xmlns:a="http://schemas.openxmlformats.org/drawingml/2006/main">
            <a:off x="609600" y="2038350"/>
            <a:ext cx="5143500"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Knowledge</a:t>
            </a:r>
          </a:p>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Knowledge representation</a:t>
            </a:r>
          </a:p>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Reasoning</a:t>
            </a:r>
          </a:p>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Knowledge-based system</a:t>
            </a:r>
          </a:p>
        </p:txBody>
      </p:sp>
      <p:sp>
        <p:nvSpPr>
          <p:cNvPr id="5" name="text">
            <a:extLst xmlns:a="http://schemas.openxmlformats.org/drawingml/2006/main">
              <a:ext uri="{FF2B5EF4-FFF2-40B4-BE49-F238E27FC236}">
                <a16:creationId xmlns:a16="http://schemas.microsoft.com/office/drawing/2014/main" id="{B9AB9E6D-5F1A-4839-BCF8-49A2E9AC69C8}"/>
              </a:ext>
            </a:extLst>
          </p:cNvPr>
          <p:cNvSpPr>
            <a:spLocks xmlns:a="http://schemas.openxmlformats.org/drawingml/2006/main" noGrp="1"/>
          </p:cNvSpPr>
          <p:nvPr/>
        </p:nvSpPr>
        <p:spPr>
          <a:xfrm xmlns:a="http://schemas.openxmlformats.org/drawingml/2006/main">
            <a:off x="6543675" y="1628775"/>
            <a:ext cx="5038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1">
                <a:solidFill>
                  <a:srgbClr val="087F8C"/>
                </a:solidFill>
                <a:latin typeface="Arial"/>
                <a:ea typeface="Arial"/>
                <a:cs typeface="Arial"/>
              </a:defRPr>
            </a:pPr>
            <a:r>
              <a:rPr sz="2100" b="1">
                <a:solidFill>
                  <a:srgbClr val="087F8C"/>
                </a:solidFill>
                <a:latin typeface="Arial"/>
                <a:ea typeface="Arial"/>
                <a:cs typeface="Arial"/>
              </a:rPr>
              <a:t>Part B: Prepare a comparison table</a:t>
            </a:r>
          </a:p>
        </p:txBody>
      </p:sp>
      <p:sp>
        <p:nvSpPr>
          <p:cNvPr id="6" name="text">
            <a:extLst xmlns:a="http://schemas.openxmlformats.org/drawingml/2006/main">
              <a:ext uri="{FF2B5EF4-FFF2-40B4-BE49-F238E27FC236}">
                <a16:creationId xmlns:a16="http://schemas.microsoft.com/office/drawing/2014/main" id="{A347093D-980D-4787-8990-1E0B05347DDE}"/>
              </a:ext>
            </a:extLst>
          </p:cNvPr>
          <p:cNvSpPr>
            <a:spLocks xmlns:a="http://schemas.openxmlformats.org/drawingml/2006/main" noGrp="1"/>
          </p:cNvSpPr>
          <p:nvPr/>
        </p:nvSpPr>
        <p:spPr>
          <a:xfrm xmlns:a="http://schemas.openxmlformats.org/drawingml/2006/main">
            <a:off x="6543675" y="2038350"/>
            <a:ext cx="5038725" cy="3209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Compare data, information, and knowledge.</a:t>
            </a:r>
          </a:p>
          <a:p xmlns:a="http://schemas.openxmlformats.org/drawingml/2006/main">
            <a:r>
              <a:t/>
            </a:r>
          </a:p>
          <a:p xmlns:a="http://schemas.openxmlformats.org/drawingml/2006/main">
            <a:pPr>
              <a:buNone/>
              <a:defRPr sz="2325" b="0">
                <a:solidFill>
                  <a:srgbClr val="263746"/>
                </a:solidFill>
                <a:latin typeface="Arial"/>
                <a:ea typeface="Arial"/>
                <a:cs typeface="Arial"/>
              </a:defRPr>
            </a:pPr>
            <a:r>
              <a:rPr sz="2325" b="0">
                <a:solidFill>
                  <a:srgbClr val="263746"/>
                </a:solidFill>
                <a:latin typeface="Arial"/>
                <a:ea typeface="Arial"/>
                <a:cs typeface="Arial"/>
              </a:rPr>
              <a:t>Include a definition and one example of each.</a:t>
            </a:r>
          </a:p>
        </p:txBody>
      </p:sp>
    </p:spTree>
    <p:extLst>
      <p:ext uri="{BB962C8B-B14F-4D97-AF65-F5344CB8AC3E}">
        <p14:creationId xmlns:p14="http://schemas.microsoft.com/office/powerpoint/2010/main" val="1843429207"/>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number">
            <a:extLst xmlns:a="http://schemas.openxmlformats.org/drawingml/2006/main">
              <a:ext uri="{FF2B5EF4-FFF2-40B4-BE49-F238E27FC236}">
                <a16:creationId xmlns:a16="http://schemas.microsoft.com/office/drawing/2014/main" id="{D2D47A4E-11C0-4477-97C3-0685EDA86338}"/>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43</a:t>
            </a:r>
          </a:p>
        </p:txBody>
      </p:sp>
      <p:sp>
        <p:nvSpPr>
          <p:cNvPr id="3" name="slide-title">
            <a:extLst xmlns:a="http://schemas.openxmlformats.org/drawingml/2006/main">
              <a:ext uri="{FF2B5EF4-FFF2-40B4-BE49-F238E27FC236}">
                <a16:creationId xmlns:a16="http://schemas.microsoft.com/office/drawing/2014/main" id="{FC939756-4640-4F80-B6BB-F892F278BF19}"/>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Homework: Reasoning About Tweety</a:t>
            </a:r>
          </a:p>
        </p:txBody>
      </p:sp>
      <p:sp>
        <p:nvSpPr>
          <p:cNvPr id="4" name="assessment-text">
            <a:extLst xmlns:a="http://schemas.openxmlformats.org/drawingml/2006/main">
              <a:ext uri="{FF2B5EF4-FFF2-40B4-BE49-F238E27FC236}">
                <a16:creationId xmlns:a16="http://schemas.microsoft.com/office/drawing/2014/main" id="{91BE2EC0-23E9-416A-85AF-7F336BFB2C57}"/>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Part C: Given</a:t>
            </a:r>
          </a:p>
        </p:txBody>
      </p:sp>
      <p:sp>
        <p:nvSpPr>
          <p:cNvPr id="5" name="assessment-text">
            <a:extLst xmlns:a="http://schemas.openxmlformats.org/drawingml/2006/main">
              <a:ext uri="{FF2B5EF4-FFF2-40B4-BE49-F238E27FC236}">
                <a16:creationId xmlns:a16="http://schemas.microsoft.com/office/drawing/2014/main" id="{D2E37718-564D-49D1-8BD5-1092D716F8BB}"/>
              </a:ext>
            </a:extLst>
          </p:cNvPr>
          <p:cNvSpPr>
            <a:spLocks xmlns:a="http://schemas.openxmlformats.org/drawingml/2006/main" noGrp="1"/>
          </p:cNvSpPr>
          <p:nvPr/>
        </p:nvSpPr>
        <p:spPr>
          <a:xfrm xmlns:a="http://schemas.openxmlformats.org/drawingml/2006/main">
            <a:off x="609600" y="2257425"/>
            <a:ext cx="1097280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173449"/>
                </a:solidFill>
                <a:latin typeface="Arial"/>
                <a:ea typeface="Arial"/>
                <a:cs typeface="Arial"/>
              </a:defRPr>
            </a:pPr>
            <a:r>
              <a:rPr sz="2625" b="1">
                <a:solidFill>
                  <a:srgbClr val="173449"/>
                </a:solidFill>
                <a:latin typeface="Arial"/>
                <a:ea typeface="Arial"/>
                <a:cs typeface="Arial"/>
              </a:rPr>
              <a:t>Bird(Tweety)</a:t>
            </a:r>
          </a:p>
          <a:p xmlns:a="http://schemas.openxmlformats.org/drawingml/2006/main">
            <a:pPr>
              <a:defRPr sz="2625" b="1">
                <a:solidFill>
                  <a:srgbClr val="173449"/>
                </a:solidFill>
                <a:latin typeface="Arial"/>
                <a:ea typeface="Arial"/>
                <a:cs typeface="Arial"/>
              </a:defRPr>
            </a:pPr>
            <a:r>
              <a:rPr sz="2625" b="1">
                <a:solidFill>
                  <a:srgbClr val="173449"/>
                </a:solidFill>
                <a:latin typeface="Arial"/>
                <a:ea typeface="Arial"/>
                <a:cs typeface="Arial"/>
              </a:rPr>
              <a:t>Bird(x) → Animal(x)</a:t>
            </a:r>
          </a:p>
          <a:p xmlns:a="http://schemas.openxmlformats.org/drawingml/2006/main">
            <a:pPr>
              <a:defRPr sz="2625" b="1">
                <a:solidFill>
                  <a:srgbClr val="173449"/>
                </a:solidFill>
                <a:latin typeface="Arial"/>
                <a:ea typeface="Arial"/>
                <a:cs typeface="Arial"/>
              </a:defRPr>
            </a:pPr>
            <a:r>
              <a:rPr sz="2625" b="1">
                <a:solidFill>
                  <a:srgbClr val="173449"/>
                </a:solidFill>
                <a:latin typeface="Arial"/>
                <a:ea typeface="Arial"/>
                <a:cs typeface="Arial"/>
              </a:rPr>
              <a:t>Animal(x) → LivingThing(x)</a:t>
            </a:r>
          </a:p>
        </p:txBody>
      </p:sp>
      <p:sp>
        <p:nvSpPr>
          <p:cNvPr id="6" name="assessment-text">
            <a:extLst xmlns:a="http://schemas.openxmlformats.org/drawingml/2006/main">
              <a:ext uri="{FF2B5EF4-FFF2-40B4-BE49-F238E27FC236}">
                <a16:creationId xmlns:a16="http://schemas.microsoft.com/office/drawing/2014/main" id="{DDAA657A-8C75-42A5-BEBB-2C995E1D3684}"/>
              </a:ext>
            </a:extLst>
          </p:cNvPr>
          <p:cNvSpPr>
            <a:spLocks xmlns:a="http://schemas.openxmlformats.org/drawingml/2006/main" noGrp="1"/>
          </p:cNvSpPr>
          <p:nvPr/>
        </p:nvSpPr>
        <p:spPr>
          <a:xfrm xmlns:a="http://schemas.openxmlformats.org/drawingml/2006/main">
            <a:off x="609600" y="44577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a:solidFill>
                  <a:srgbClr val="263746"/>
                </a:solidFill>
                <a:latin typeface="Arial"/>
                <a:ea typeface="Arial"/>
                <a:cs typeface="Arial"/>
              </a:defRPr>
            </a:pPr>
            <a:r>
              <a:rPr sz="2625">
                <a:solidFill>
                  <a:srgbClr val="263746"/>
                </a:solidFill>
                <a:latin typeface="Arial"/>
                <a:ea typeface="Arial"/>
                <a:cs typeface="Arial"/>
              </a:rPr>
              <a:t>Determine what can be concluded about Tweety.</a:t>
            </a:r>
          </a:p>
        </p:txBody>
      </p:sp>
      <p:sp>
        <p:nvSpPr>
          <p:cNvPr id="7" name="assessment-text">
            <a:extLst xmlns:a="http://schemas.openxmlformats.org/drawingml/2006/main">
              <a:ext uri="{FF2B5EF4-FFF2-40B4-BE49-F238E27FC236}">
                <a16:creationId xmlns:a16="http://schemas.microsoft.com/office/drawing/2014/main" id="{CA729633-28EC-4297-A5BA-5F075A7E49F5}"/>
              </a:ext>
            </a:extLst>
          </p:cNvPr>
          <p:cNvSpPr>
            <a:spLocks xmlns:a="http://schemas.openxmlformats.org/drawingml/2006/main" noGrp="1"/>
          </p:cNvSpPr>
          <p:nvPr/>
        </p:nvSpPr>
        <p:spPr>
          <a:xfrm xmlns:a="http://schemas.openxmlformats.org/drawingml/2006/main">
            <a:off x="609600" y="5600700"/>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a:solidFill>
                  <a:srgbClr val="263746"/>
                </a:solidFill>
                <a:latin typeface="Arial"/>
                <a:ea typeface="Arial"/>
                <a:cs typeface="Arial"/>
              </a:defRPr>
            </a:pPr>
            <a:r>
              <a:rPr sz="2400">
                <a:solidFill>
                  <a:srgbClr val="263746"/>
                </a:solidFill>
                <a:latin typeface="Arial"/>
                <a:ea typeface="Arial"/>
                <a:cs typeface="Arial"/>
              </a:rPr>
              <a:t>Show your reasoning step by step.</a:t>
            </a:r>
          </a:p>
        </p:txBody>
      </p:sp>
    </p:spTree>
    <p:extLst>
      <p:ext uri="{BB962C8B-B14F-4D97-AF65-F5344CB8AC3E}">
        <p14:creationId xmlns:p14="http://schemas.microsoft.com/office/powerpoint/2010/main" val="282369485"/>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BF4BABF0-08CA-4E23-804D-22D7D93CEF57}"/>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73449"/>
                </a:solidFill>
                <a:latin typeface="Arial"/>
                <a:ea typeface="Arial"/>
                <a:cs typeface="Arial"/>
              </a:defRPr>
            </a:pPr>
            <a:r>
              <a:rPr sz="3450" b="1">
                <a:solidFill>
                  <a:srgbClr val="173449"/>
                </a:solidFill>
                <a:latin typeface="Arial"/>
                <a:ea typeface="Arial"/>
                <a:cs typeface="Arial"/>
              </a:rPr>
              <a:t>Homework: Analysis of an AI Application</a:t>
            </a:r>
          </a:p>
        </p:txBody>
      </p:sp>
      <p:sp>
        <p:nvSpPr>
          <p:cNvPr id="2" name="slide-number">
            <a:extLst xmlns:a="http://schemas.openxmlformats.org/drawingml/2006/main">
              <a:ext uri="{FF2B5EF4-FFF2-40B4-BE49-F238E27FC236}">
                <a16:creationId xmlns:a16="http://schemas.microsoft.com/office/drawing/2014/main" id="{14D2D730-5068-44C4-8F94-5DBDBA5B261F}"/>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a:solidFill>
                  <a:srgbClr val="566570"/>
                </a:solidFill>
                <a:latin typeface="Arial"/>
                <a:ea typeface="Arial"/>
                <a:cs typeface="Arial"/>
              </a:defRPr>
            </a:pPr>
            <a:r>
              <a:rPr sz="1350">
                <a:solidFill>
                  <a:srgbClr val="566570"/>
                </a:solidFill>
                <a:latin typeface="Arial"/>
                <a:ea typeface="Arial"/>
                <a:cs typeface="Arial"/>
              </a:rPr>
              <a:t>44</a:t>
            </a:r>
          </a:p>
        </p:txBody>
      </p:sp>
      <p:sp>
        <p:nvSpPr>
          <p:cNvPr id="3" name="assessment-text">
            <a:extLst xmlns:a="http://schemas.openxmlformats.org/drawingml/2006/main">
              <a:ext uri="{FF2B5EF4-FFF2-40B4-BE49-F238E27FC236}">
                <a16:creationId xmlns:a16="http://schemas.microsoft.com/office/drawing/2014/main" id="{E2DA11BB-323B-4791-B4CC-8C5B9FD31DF6}"/>
              </a:ext>
            </a:extLst>
          </p:cNvPr>
          <p:cNvSpPr>
            <a:spLocks xmlns:a="http://schemas.openxmlformats.org/drawingml/2006/main" noGrp="1"/>
          </p:cNvSpPr>
          <p:nvPr/>
        </p:nvSpPr>
        <p:spPr>
          <a:xfrm xmlns:a="http://schemas.openxmlformats.org/drawingml/2006/main">
            <a:off x="609600" y="14573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Part D: Select one AI application</a:t>
            </a:r>
          </a:p>
        </p:txBody>
      </p:sp>
      <p:sp>
        <p:nvSpPr>
          <p:cNvPr id="4" name="assessment-text">
            <a:extLst xmlns:a="http://schemas.openxmlformats.org/drawingml/2006/main">
              <a:ext uri="{FF2B5EF4-FFF2-40B4-BE49-F238E27FC236}">
                <a16:creationId xmlns:a16="http://schemas.microsoft.com/office/drawing/2014/main" id="{3D70D5A8-B19E-4995-A8EB-8F1005819A55}"/>
              </a:ext>
            </a:extLst>
          </p:cNvPr>
          <p:cNvSpPr>
            <a:spLocks xmlns:a="http://schemas.openxmlformats.org/drawingml/2006/main" noGrp="1"/>
          </p:cNvSpPr>
          <p:nvPr/>
        </p:nvSpPr>
        <p:spPr>
          <a:xfrm xmlns:a="http://schemas.openxmlformats.org/drawingml/2006/main">
            <a:off x="609600" y="20574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263746"/>
                </a:solidFill>
                <a:latin typeface="Arial"/>
                <a:ea typeface="Arial"/>
                <a:cs typeface="Arial"/>
              </a:defRPr>
            </a:pPr>
            <a:r>
              <a:rPr sz="2325">
                <a:solidFill>
                  <a:srgbClr val="263746"/>
                </a:solidFill>
                <a:latin typeface="Arial"/>
                <a:ea typeface="Arial"/>
                <a:cs typeface="Arial"/>
              </a:rPr>
              <a:t>Medical diagnosis, autonomous vehicle, university advising, smart traffic management, or robotics.</a:t>
            </a:r>
          </a:p>
        </p:txBody>
      </p:sp>
      <p:sp>
        <p:nvSpPr>
          <p:cNvPr id="5" name="assessment-text">
            <a:extLst xmlns:a="http://schemas.openxmlformats.org/drawingml/2006/main">
              <a:ext uri="{FF2B5EF4-FFF2-40B4-BE49-F238E27FC236}">
                <a16:creationId xmlns:a16="http://schemas.microsoft.com/office/drawing/2014/main" id="{9029C970-4FBF-43E5-8ABD-439044640F1D}"/>
              </a:ext>
            </a:extLst>
          </p:cNvPr>
          <p:cNvSpPr>
            <a:spLocks xmlns:a="http://schemas.openxmlformats.org/drawingml/2006/main" noGrp="1"/>
          </p:cNvSpPr>
          <p:nvPr/>
        </p:nvSpPr>
        <p:spPr>
          <a:xfrm xmlns:a="http://schemas.openxmlformats.org/drawingml/2006/main">
            <a:off x="609600" y="335280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263746"/>
                </a:solidFill>
                <a:latin typeface="Arial"/>
                <a:ea typeface="Arial"/>
                <a:cs typeface="Arial"/>
              </a:defRPr>
            </a:pPr>
            <a:r>
              <a:rPr sz="2325">
                <a:solidFill>
                  <a:srgbClr val="263746"/>
                </a:solidFill>
                <a:latin typeface="Arial"/>
                <a:ea typeface="Arial"/>
                <a:cs typeface="Arial"/>
              </a:rPr>
              <a:t>1   What knowledge does the system require?</a:t>
            </a:r>
          </a:p>
        </p:txBody>
      </p:sp>
      <p:sp>
        <p:nvSpPr>
          <p:cNvPr id="6" name="assessment-text">
            <a:extLst xmlns:a="http://schemas.openxmlformats.org/drawingml/2006/main">
              <a:ext uri="{FF2B5EF4-FFF2-40B4-BE49-F238E27FC236}">
                <a16:creationId xmlns:a16="http://schemas.microsoft.com/office/drawing/2014/main" id="{BD4C2ADD-EF03-4267-975F-1EB4C3B7F148}"/>
              </a:ext>
            </a:extLst>
          </p:cNvPr>
          <p:cNvSpPr>
            <a:spLocks xmlns:a="http://schemas.openxmlformats.org/drawingml/2006/main" noGrp="1"/>
          </p:cNvSpPr>
          <p:nvPr/>
        </p:nvSpPr>
        <p:spPr>
          <a:xfrm xmlns:a="http://schemas.openxmlformats.org/drawingml/2006/main">
            <a:off x="609600" y="40671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263746"/>
                </a:solidFill>
                <a:latin typeface="Arial"/>
                <a:ea typeface="Arial"/>
                <a:cs typeface="Arial"/>
              </a:defRPr>
            </a:pPr>
            <a:r>
              <a:rPr sz="2325">
                <a:solidFill>
                  <a:srgbClr val="263746"/>
                </a:solidFill>
                <a:latin typeface="Arial"/>
                <a:ea typeface="Arial"/>
                <a:cs typeface="Arial"/>
              </a:rPr>
              <a:t>2   How could that knowledge be represented?</a:t>
            </a:r>
          </a:p>
        </p:txBody>
      </p:sp>
      <p:sp>
        <p:nvSpPr>
          <p:cNvPr id="7" name="assessment-text">
            <a:extLst xmlns:a="http://schemas.openxmlformats.org/drawingml/2006/main">
              <a:ext uri="{FF2B5EF4-FFF2-40B4-BE49-F238E27FC236}">
                <a16:creationId xmlns:a16="http://schemas.microsoft.com/office/drawing/2014/main" id="{F62B9224-6D88-4565-96ED-56ADE594BC50}"/>
              </a:ext>
            </a:extLst>
          </p:cNvPr>
          <p:cNvSpPr>
            <a:spLocks xmlns:a="http://schemas.openxmlformats.org/drawingml/2006/main" noGrp="1"/>
          </p:cNvSpPr>
          <p:nvPr/>
        </p:nvSpPr>
        <p:spPr>
          <a:xfrm xmlns:a="http://schemas.openxmlformats.org/drawingml/2006/main">
            <a:off x="609600" y="4781550"/>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263746"/>
                </a:solidFill>
                <a:latin typeface="Arial"/>
                <a:ea typeface="Arial"/>
                <a:cs typeface="Arial"/>
              </a:defRPr>
            </a:pPr>
            <a:r>
              <a:rPr sz="2325">
                <a:solidFill>
                  <a:srgbClr val="263746"/>
                </a:solidFill>
                <a:latin typeface="Arial"/>
                <a:ea typeface="Arial"/>
                <a:cs typeface="Arial"/>
              </a:rPr>
              <a:t>3   What reasoning could the system perform?</a:t>
            </a:r>
          </a:p>
        </p:txBody>
      </p:sp>
      <p:sp>
        <p:nvSpPr>
          <p:cNvPr id="8" name="assessment-text">
            <a:extLst xmlns:a="http://schemas.openxmlformats.org/drawingml/2006/main">
              <a:ext uri="{FF2B5EF4-FFF2-40B4-BE49-F238E27FC236}">
                <a16:creationId xmlns:a16="http://schemas.microsoft.com/office/drawing/2014/main" id="{ACD43534-1E19-4F08-B720-9B5D430EF691}"/>
              </a:ext>
            </a:extLst>
          </p:cNvPr>
          <p:cNvSpPr>
            <a:spLocks xmlns:a="http://schemas.openxmlformats.org/drawingml/2006/main" noGrp="1"/>
          </p:cNvSpPr>
          <p:nvPr/>
        </p:nvSpPr>
        <p:spPr>
          <a:xfrm xmlns:a="http://schemas.openxmlformats.org/drawingml/2006/main">
            <a:off x="609600" y="54959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a:solidFill>
                  <a:srgbClr val="263746"/>
                </a:solidFill>
                <a:latin typeface="Arial"/>
                <a:ea typeface="Arial"/>
                <a:cs typeface="Arial"/>
              </a:defRPr>
            </a:pPr>
            <a:r>
              <a:rPr sz="2325">
                <a:solidFill>
                  <a:srgbClr val="263746"/>
                </a:solidFill>
                <a:latin typeface="Arial"/>
                <a:ea typeface="Arial"/>
                <a:cs typeface="Arial"/>
              </a:rPr>
              <a:t>4   What intelligent action could result?</a:t>
            </a:r>
          </a:p>
        </p:txBody>
      </p:sp>
    </p:spTree>
    <p:extLst>
      <p:ext uri="{BB962C8B-B14F-4D97-AF65-F5344CB8AC3E}">
        <p14:creationId xmlns:p14="http://schemas.microsoft.com/office/powerpoint/2010/main" val="1459539096"/>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title">
            <a:extLst xmlns:a="http://schemas.openxmlformats.org/drawingml/2006/main">
              <a:ext uri="{FF2B5EF4-FFF2-40B4-BE49-F238E27FC236}">
                <a16:creationId xmlns:a16="http://schemas.microsoft.com/office/drawing/2014/main" id="{4A9BC989-D32F-42F0-A8B3-DBDCADE10AD2}"/>
              </a:ext>
            </a:extLst>
          </p:cNvPr>
          <p:cNvSpPr>
            <a:spLocks xmlns:a="http://schemas.openxmlformats.org/drawingml/2006/main" noGrp="1"/>
          </p:cNvSpPr>
          <p:nvPr/>
        </p:nvSpPr>
        <p:spPr>
          <a:xfrm xmlns:a="http://schemas.openxmlformats.org/drawingml/2006/main">
            <a:off x="609600" y="45720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450" b="1">
                <a:solidFill>
                  <a:srgbClr val="173449"/>
                </a:solidFill>
                <a:latin typeface="Arial"/>
                <a:ea typeface="Arial"/>
                <a:cs typeface="Arial"/>
              </a:defRPr>
            </a:pPr>
            <a:r>
              <a:rPr sz="3450" b="1">
                <a:solidFill>
                  <a:srgbClr val="173449"/>
                </a:solidFill>
                <a:latin typeface="Arial"/>
                <a:ea typeface="Arial"/>
                <a:cs typeface="Arial"/>
              </a:rPr>
              <a:t>Exit Ticket</a:t>
            </a:r>
          </a:p>
        </p:txBody>
      </p:sp>
      <p:sp>
        <p:nvSpPr>
          <p:cNvPr id="2" name="slide-number">
            <a:extLst xmlns:a="http://schemas.openxmlformats.org/drawingml/2006/main">
              <a:ext uri="{FF2B5EF4-FFF2-40B4-BE49-F238E27FC236}">
                <a16:creationId xmlns:a16="http://schemas.microsoft.com/office/drawing/2014/main" id="{F2227950-ED40-495B-B82E-3C95092A6C99}"/>
              </a:ext>
            </a:extLst>
          </p:cNvPr>
          <p:cNvSpPr>
            <a:spLocks xmlns:a="http://schemas.openxmlformats.org/drawingml/2006/main" noGrp="1"/>
          </p:cNvSpPr>
          <p:nvPr/>
        </p:nvSpPr>
        <p:spPr>
          <a:xfrm xmlns:a="http://schemas.openxmlformats.org/drawingml/2006/main">
            <a:off x="11049000" y="641985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350" b="0">
                <a:solidFill>
                  <a:srgbClr val="566570"/>
                </a:solidFill>
                <a:latin typeface="Arial"/>
                <a:ea typeface="Arial"/>
                <a:cs typeface="Arial"/>
              </a:defRPr>
            </a:pPr>
            <a:r>
              <a:rPr sz="1350" b="0">
                <a:solidFill>
                  <a:srgbClr val="566570"/>
                </a:solidFill>
                <a:latin typeface="Arial"/>
                <a:ea typeface="Arial"/>
                <a:cs typeface="Arial"/>
              </a:rPr>
              <a:t>45</a:t>
            </a:r>
          </a:p>
        </p:txBody>
      </p:sp>
      <p:sp>
        <p:nvSpPr>
          <p:cNvPr id="3" name="text">
            <a:extLst xmlns:a="http://schemas.openxmlformats.org/drawingml/2006/main">
              <a:ext uri="{FF2B5EF4-FFF2-40B4-BE49-F238E27FC236}">
                <a16:creationId xmlns:a16="http://schemas.microsoft.com/office/drawing/2014/main" id="{290F26B9-EFEE-41C2-99DC-EEB0DA9B958E}"/>
              </a:ext>
            </a:extLst>
          </p:cNvPr>
          <p:cNvSpPr>
            <a:spLocks xmlns:a="http://schemas.openxmlformats.org/drawingml/2006/main" noGrp="1"/>
          </p:cNvSpPr>
          <p:nvPr/>
        </p:nvSpPr>
        <p:spPr>
          <a:xfrm xmlns:a="http://schemas.openxmlformats.org/drawingml/2006/main">
            <a:off x="609600" y="16287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87F8C"/>
                </a:solidFill>
                <a:latin typeface="Arial"/>
                <a:ea typeface="Arial"/>
                <a:cs typeface="Arial"/>
              </a:defRPr>
            </a:pPr>
            <a:r>
              <a:rPr sz="2250" b="1">
                <a:solidFill>
                  <a:srgbClr val="087F8C"/>
                </a:solidFill>
                <a:latin typeface="Arial"/>
                <a:ea typeface="Arial"/>
                <a:cs typeface="Arial"/>
              </a:rPr>
              <a:t>1   Complete the relationship</a:t>
            </a:r>
          </a:p>
        </p:txBody>
      </p:sp>
      <p:sp>
        <p:nvSpPr>
          <p:cNvPr id="4" name="text">
            <a:extLst xmlns:a="http://schemas.openxmlformats.org/drawingml/2006/main">
              <a:ext uri="{FF2B5EF4-FFF2-40B4-BE49-F238E27FC236}">
                <a16:creationId xmlns:a16="http://schemas.microsoft.com/office/drawing/2014/main" id="{3C97F044-4627-49BC-9EC7-39DAC25DA6B6}"/>
              </a:ext>
            </a:extLst>
          </p:cNvPr>
          <p:cNvSpPr>
            <a:spLocks xmlns:a="http://schemas.openxmlformats.org/drawingml/2006/main" noGrp="1"/>
          </p:cNvSpPr>
          <p:nvPr/>
        </p:nvSpPr>
        <p:spPr>
          <a:xfrm xmlns:a="http://schemas.openxmlformats.org/drawingml/2006/main">
            <a:off x="609600" y="22098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63746"/>
                </a:solidFill>
                <a:latin typeface="Arial"/>
                <a:ea typeface="Arial"/>
                <a:cs typeface="Arial"/>
              </a:defRPr>
            </a:pPr>
            <a:r>
              <a:rPr sz="2400" b="0">
                <a:solidFill>
                  <a:srgbClr val="263746"/>
                </a:solidFill>
                <a:latin typeface="Arial"/>
                <a:ea typeface="Arial"/>
                <a:cs typeface="Arial"/>
              </a:rPr>
              <a:t>Knowledge + __________ supports intelligent behavior.</a:t>
            </a:r>
          </a:p>
        </p:txBody>
      </p:sp>
      <p:sp>
        <p:nvSpPr>
          <p:cNvPr id="5" name="text">
            <a:extLst xmlns:a="http://schemas.openxmlformats.org/drawingml/2006/main">
              <a:ext uri="{FF2B5EF4-FFF2-40B4-BE49-F238E27FC236}">
                <a16:creationId xmlns:a16="http://schemas.microsoft.com/office/drawing/2014/main" id="{AE352DEB-A641-498C-B127-2F0BA3905EF0}"/>
              </a:ext>
            </a:extLst>
          </p:cNvPr>
          <p:cNvSpPr>
            <a:spLocks xmlns:a="http://schemas.openxmlformats.org/drawingml/2006/main" noGrp="1"/>
          </p:cNvSpPr>
          <p:nvPr/>
        </p:nvSpPr>
        <p:spPr>
          <a:xfrm xmlns:a="http://schemas.openxmlformats.org/drawingml/2006/main">
            <a:off x="609600" y="32766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87F8C"/>
                </a:solidFill>
                <a:latin typeface="Arial"/>
                <a:ea typeface="Arial"/>
                <a:cs typeface="Arial"/>
              </a:defRPr>
            </a:pPr>
            <a:r>
              <a:rPr sz="2250" b="1">
                <a:solidFill>
                  <a:srgbClr val="087F8C"/>
                </a:solidFill>
                <a:latin typeface="Arial"/>
                <a:ea typeface="Arial"/>
                <a:cs typeface="Arial"/>
              </a:rPr>
              <a:t>2   State the conclusion</a:t>
            </a:r>
          </a:p>
        </p:txBody>
      </p:sp>
      <p:sp>
        <p:nvSpPr>
          <p:cNvPr id="6" name="text">
            <a:extLst xmlns:a="http://schemas.openxmlformats.org/drawingml/2006/main">
              <a:ext uri="{FF2B5EF4-FFF2-40B4-BE49-F238E27FC236}">
                <a16:creationId xmlns:a16="http://schemas.microsoft.com/office/drawing/2014/main" id="{43E087BF-8608-4208-8DCD-98643D11D9DF}"/>
              </a:ext>
            </a:extLst>
          </p:cNvPr>
          <p:cNvSpPr>
            <a:spLocks xmlns:a="http://schemas.openxmlformats.org/drawingml/2006/main" noGrp="1"/>
          </p:cNvSpPr>
          <p:nvPr/>
        </p:nvSpPr>
        <p:spPr>
          <a:xfrm xmlns:a="http://schemas.openxmlformats.org/drawingml/2006/main">
            <a:off x="609600" y="38576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173449"/>
                </a:solidFill>
                <a:latin typeface="Arial"/>
                <a:ea typeface="Arial"/>
                <a:cs typeface="Arial"/>
              </a:defRPr>
            </a:pPr>
            <a:r>
              <a:rPr sz="2400" b="1">
                <a:solidFill>
                  <a:srgbClr val="173449"/>
                </a:solidFill>
                <a:latin typeface="Arial"/>
                <a:ea typeface="Arial"/>
                <a:cs typeface="Arial"/>
              </a:rPr>
              <a:t>Student(Ali)      Student(x) → HasID(x)</a:t>
            </a:r>
          </a:p>
        </p:txBody>
      </p:sp>
      <p:sp>
        <p:nvSpPr>
          <p:cNvPr id="7" name="text">
            <a:extLst xmlns:a="http://schemas.openxmlformats.org/drawingml/2006/main">
              <a:ext uri="{FF2B5EF4-FFF2-40B4-BE49-F238E27FC236}">
                <a16:creationId xmlns:a16="http://schemas.microsoft.com/office/drawing/2014/main" id="{E96FC3B0-44FB-423C-AE24-F343112EF5A3}"/>
              </a:ext>
            </a:extLst>
          </p:cNvPr>
          <p:cNvSpPr>
            <a:spLocks xmlns:a="http://schemas.openxmlformats.org/drawingml/2006/main" noGrp="1"/>
          </p:cNvSpPr>
          <p:nvPr/>
        </p:nvSpPr>
        <p:spPr>
          <a:xfrm xmlns:a="http://schemas.openxmlformats.org/drawingml/2006/main">
            <a:off x="609600" y="49815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1">
                <a:solidFill>
                  <a:srgbClr val="087F8C"/>
                </a:solidFill>
                <a:latin typeface="Arial"/>
                <a:ea typeface="Arial"/>
                <a:cs typeface="Arial"/>
              </a:defRPr>
            </a:pPr>
            <a:r>
              <a:rPr sz="2250" b="1">
                <a:solidFill>
                  <a:srgbClr val="087F8C"/>
                </a:solidFill>
                <a:latin typeface="Arial"/>
                <a:ea typeface="Arial"/>
                <a:cs typeface="Arial"/>
              </a:rPr>
              <a:t>3   Explain in one sentence</a:t>
            </a:r>
          </a:p>
        </p:txBody>
      </p:sp>
      <p:sp>
        <p:nvSpPr>
          <p:cNvPr id="8" name="text">
            <a:extLst xmlns:a="http://schemas.openxmlformats.org/drawingml/2006/main">
              <a:ext uri="{FF2B5EF4-FFF2-40B4-BE49-F238E27FC236}">
                <a16:creationId xmlns:a16="http://schemas.microsoft.com/office/drawing/2014/main" id="{202C9400-9B57-4794-AF4E-4C82F544C38E}"/>
              </a:ext>
            </a:extLst>
          </p:cNvPr>
          <p:cNvSpPr>
            <a:spLocks xmlns:a="http://schemas.openxmlformats.org/drawingml/2006/main" noGrp="1"/>
          </p:cNvSpPr>
          <p:nvPr/>
        </p:nvSpPr>
        <p:spPr>
          <a:xfrm xmlns:a="http://schemas.openxmlformats.org/drawingml/2006/main">
            <a:off x="609600" y="557212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263746"/>
                </a:solidFill>
                <a:latin typeface="Arial"/>
                <a:ea typeface="Arial"/>
                <a:cs typeface="Arial"/>
              </a:defRPr>
            </a:pPr>
            <a:r>
              <a:rPr sz="2400" b="0">
                <a:solidFill>
                  <a:srgbClr val="263746"/>
                </a:solidFill>
                <a:latin typeface="Arial"/>
                <a:ea typeface="Arial"/>
                <a:cs typeface="Arial"/>
              </a:rPr>
              <a:t>Why do we need knowledge representation?</a:t>
            </a:r>
          </a:p>
        </p:txBody>
      </p:sp>
    </p:spTree>
    <p:extLst>
      <p:ext uri="{BB962C8B-B14F-4D97-AF65-F5344CB8AC3E}">
        <p14:creationId xmlns:p14="http://schemas.microsoft.com/office/powerpoint/2010/main" val="2573470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2026-09-10T08:47:51.0310000Z</dcterms:created>
  <dcterms:modified xsi:type="dcterms:W3CDTF">2026-09-10T08:47:51.0310000Z</dcterms:modified>
</coreProperties>
</file>