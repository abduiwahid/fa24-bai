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331" r:id="rId3"/>
    <p:sldId id="332" r:id="rId5"/>
    <p:sldId id="333" r:id="rId6"/>
    <p:sldId id="334" r:id="rId7"/>
    <p:sldId id="358" r:id="rId8"/>
    <p:sldId id="335" r:id="rId9"/>
    <p:sldId id="364" r:id="rId10"/>
    <p:sldId id="354" r:id="rId11"/>
    <p:sldId id="371" r:id="rId12"/>
    <p:sldId id="372" r:id="rId13"/>
    <p:sldId id="370" r:id="rId14"/>
    <p:sldId id="355" r:id="rId15"/>
    <p:sldId id="357" r:id="rId16"/>
  </p:sldIdLst>
  <p:sldSz cx="9144000" cy="6858000" type="screen4x3"/>
  <p:notesSz cx="7086600" cy="93726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358"/>
    <p:restoredTop sz="94667"/>
  </p:normalViewPr>
  <p:slideViewPr>
    <p:cSldViewPr snapToGrid="0" showGuides="1">
      <p:cViewPr varScale="1">
        <p:scale>
          <a:sx n="219" d="100"/>
          <a:sy n="219" d="100"/>
        </p:scale>
        <p:origin x="984" y="19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1540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8915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1540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8915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1540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8915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 smtClean="0">
                <a:latin typeface="Helvetica" pitchFamily="-84" charset="0"/>
              </a:defRPr>
            </a:lvl1pPr>
          </a:lstStyle>
          <a:p>
            <a:pPr marL="0" marR="0" lvl="0" indent="0" algn="r" defTabSz="8909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CB4EFF-4A92-4F4F-BA34-F1C62449009F}" type="slidenum"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8A774C-B721-6E43-968F-E2B0393B681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614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024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229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638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6656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6861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706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7270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7475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7885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874" name="Group 3"/>
          <p:cNvGrpSpPr/>
          <p:nvPr/>
        </p:nvGrpSpPr>
        <p:grpSpPr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Silberschatz, Galvin and Gagne ©2018</a:t>
            </a: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Operating System Concepts – 10</a:t>
            </a:r>
            <a:r>
              <a:rPr kumimoji="0" lang="en-US" altLang="en-US" sz="1000" b="1" i="0" u="none" strike="noStrike" kern="1200" cap="none" spc="0" normalizeH="0" baseline="3000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 Edition</a:t>
            </a: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79877" name="Picture 9" descr="dino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38" y="4157663"/>
            <a:ext cx="2062162" cy="1593850"/>
          </a:xfrm>
          <a:prstGeom prst="rect">
            <a:avLst/>
          </a:prstGeom>
          <a:noFill/>
          <a:ln w="76200" cap="flat" cmpd="sng">
            <a:solidFill>
              <a:srgbClr val="336699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dino_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750" y="0"/>
            <a:ext cx="1195388" cy="908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0" name="Line 6"/>
          <p:cNvSpPr/>
          <p:nvPr/>
        </p:nvSpPr>
        <p:spPr>
          <a:xfrm>
            <a:off x="457200" y="860425"/>
            <a:ext cx="8077200" cy="0"/>
          </a:xfrm>
          <a:prstGeom prst="line">
            <a:avLst/>
          </a:prstGeom>
          <a:ln w="19050" cap="flat" cmpd="sng">
            <a:solidFill>
              <a:srgbClr val="3366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17.</a:t>
            </a:r>
            <a:fld id="{00E199A8-3AB4-CE41-9244-E334E7FFE2EA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Silberschatz, Galvin and Gagne ©2018</a:t>
            </a: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Operating System Concepts – 10</a:t>
            </a:r>
            <a:r>
              <a:rPr kumimoji="0" lang="en-US" altLang="en-US" sz="1000" b="1" i="0" u="none" strike="noStrike" kern="1200" cap="none" spc="0" normalizeH="0" baseline="3000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 Edition</a:t>
            </a: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36" name="Picture 12" descr="dino_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3988" y="5849938"/>
            <a:ext cx="1284287" cy="79216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685800" y="817563"/>
            <a:ext cx="7772400" cy="2128837"/>
          </a:xfrm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en-US"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Chapter 17:  Protection</a:t>
            </a:r>
            <a:endParaRPr lang="en-US" altLang="en-US"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/>
          </p:nvPr>
        </p:nvSpPr>
        <p:spPr>
          <a:xfrm>
            <a:off x="968375" y="168275"/>
            <a:ext cx="7718425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Chapter 17: Protection</a:t>
            </a:r>
            <a:endParaRPr lang="en-US" altLang="en-US" b="0"/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858838" y="1135063"/>
            <a:ext cx="7351712" cy="44831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Goals of Protection </a:t>
            </a:r>
            <a:endParaRPr lang="en-US" altLang="en-US"/>
          </a:p>
          <a:p>
            <a:r>
              <a:rPr lang="en-US" altLang="en-US"/>
              <a:t>Principles of Protection</a:t>
            </a:r>
            <a:endParaRPr lang="en-US" altLang="en-US"/>
          </a:p>
          <a:p>
            <a:r>
              <a:rPr lang="en-US" altLang="en-US"/>
              <a:t>Protection Rings</a:t>
            </a:r>
            <a:endParaRPr lang="en-US" altLang="en-US"/>
          </a:p>
          <a:p>
            <a:r>
              <a:rPr lang="en-US" altLang="en-US"/>
              <a:t>Domain of Protection</a:t>
            </a:r>
            <a:endParaRPr lang="en-US" altLang="en-US"/>
          </a:p>
          <a:p>
            <a:r>
              <a:rPr lang="en-US" altLang="en-US"/>
              <a:t>Access Matrix </a:t>
            </a:r>
            <a:endParaRPr lang="en-US" altLang="en-US"/>
          </a:p>
          <a:p>
            <a:r>
              <a:rPr lang="en-US" altLang="en-US"/>
              <a:t>Implementation of Access Matrix </a:t>
            </a:r>
            <a:endParaRPr lang="en-US" altLang="en-US"/>
          </a:p>
          <a:p>
            <a:r>
              <a:rPr lang="en-US" altLang="en-US"/>
              <a:t>Revocation of Access Rights </a:t>
            </a:r>
            <a:endParaRPr lang="en-US" altLang="en-US"/>
          </a:p>
          <a:p>
            <a:r>
              <a:rPr lang="en-US" altLang="en-US"/>
              <a:t>Role-based Access Control</a:t>
            </a:r>
            <a:endParaRPr lang="en-US" altLang="en-US"/>
          </a:p>
          <a:p>
            <a:r>
              <a:rPr lang="en-US" altLang="en-US"/>
              <a:t>Mandatory Access Control (MAC)</a:t>
            </a:r>
            <a:endParaRPr lang="en-US" altLang="en-US"/>
          </a:p>
          <a:p>
            <a:r>
              <a:rPr lang="en-US" altLang="en-US"/>
              <a:t>Capability-Based Systems </a:t>
            </a:r>
            <a:endParaRPr lang="en-US" altLang="en-US"/>
          </a:p>
          <a:p>
            <a:r>
              <a:rPr lang="en-US" altLang="en-US"/>
              <a:t>Other Protection Implementation Methods</a:t>
            </a:r>
            <a:endParaRPr lang="en-US" altLang="en-US"/>
          </a:p>
          <a:p>
            <a:r>
              <a:rPr lang="en-US" altLang="en-US"/>
              <a:t>Language-based Protection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xfrm>
            <a:off x="457200" y="1825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806450" y="1233488"/>
            <a:ext cx="6850063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Discuss the goals and principles of protection in a modern computer system</a:t>
            </a:r>
            <a:endParaRPr lang="en-US" altLang="en-US"/>
          </a:p>
          <a:p>
            <a:r>
              <a:rPr lang="en-US" altLang="en-US"/>
              <a:t>Explain how protection domains combined with an access matrix are used to specify the resources a process may access</a:t>
            </a:r>
            <a:endParaRPr lang="en-US" altLang="en-US"/>
          </a:p>
          <a:p>
            <a:r>
              <a:rPr lang="en-US" altLang="en-US"/>
              <a:t>Examine capability and language-based protection systems</a:t>
            </a:r>
            <a:endParaRPr lang="en-US" altLang="en-US"/>
          </a:p>
          <a:p>
            <a:r>
              <a:rPr lang="en-US" altLang="en-US"/>
              <a:t>Describe how protection mechanisms can mitigate system attacks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1026"/>
          <p:cNvSpPr>
            <a:spLocks noGrp="1"/>
          </p:cNvSpPr>
          <p:nvPr>
            <p:ph type="title"/>
          </p:nvPr>
        </p:nvSpPr>
        <p:spPr>
          <a:xfrm>
            <a:off x="942975" y="182563"/>
            <a:ext cx="7743825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Goals of Protection</a:t>
            </a:r>
            <a:endParaRPr lang="en-US" altLang="en-US"/>
          </a:p>
        </p:txBody>
      </p:sp>
      <p:sp>
        <p:nvSpPr>
          <p:cNvPr id="11266" name="Rectangle 1027"/>
          <p:cNvSpPr>
            <a:spLocks noGrp="1"/>
          </p:cNvSpPr>
          <p:nvPr>
            <p:ph idx="1"/>
          </p:nvPr>
        </p:nvSpPr>
        <p:spPr>
          <a:xfrm>
            <a:off x="806450" y="1233488"/>
            <a:ext cx="6904038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In one protection model,  computer consists of a collection of objects, hardware or software</a:t>
            </a:r>
            <a:endParaRPr lang="en-US" altLang="en-US"/>
          </a:p>
          <a:p>
            <a:r>
              <a:rPr lang="en-US" altLang="en-US"/>
              <a:t>Each object has a unique name and can be accessed through a well-defined set of operations</a:t>
            </a:r>
            <a:endParaRPr lang="en-US" altLang="en-US"/>
          </a:p>
          <a:p>
            <a:r>
              <a:rPr lang="en-US" altLang="en-US"/>
              <a:t>Protection problem - ensure that each object is accessed correctly and only by those processes that are allowed to do so</a:t>
            </a:r>
            <a:endParaRPr lang="en-US" altLang="en-US">
              <a:latin typeface="Courier New" panose="02070309020205020404" pitchFamily="49" charset="0"/>
            </a:endParaRPr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935038" y="141288"/>
            <a:ext cx="7751762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Principles of Protection</a:t>
            </a:r>
            <a:endParaRPr lang="en-US" altLang="en-US"/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847725" y="1069975"/>
            <a:ext cx="6726238" cy="419735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Guiding principle – </a:t>
            </a:r>
            <a:r>
              <a:rPr lang="en-US" altLang="en-US" b="1">
                <a:solidFill>
                  <a:srgbClr val="3366FF"/>
                </a:solidFill>
              </a:rPr>
              <a:t>principle of least privilege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Programs, users and systems should be given just enough </a:t>
            </a:r>
            <a:r>
              <a:rPr lang="en-US" altLang="en-US" b="1">
                <a:solidFill>
                  <a:srgbClr val="3366FF"/>
                </a:solidFill>
              </a:rPr>
              <a:t>privileges </a:t>
            </a:r>
            <a:r>
              <a:rPr lang="en-US" altLang="en-US"/>
              <a:t>to perform their tasks</a:t>
            </a:r>
            <a:endParaRPr lang="en-US" altLang="en-US"/>
          </a:p>
          <a:p>
            <a:pPr lvl="1"/>
            <a:r>
              <a:rPr lang="en-US" altLang="en-US"/>
              <a:t>Properly set </a:t>
            </a:r>
            <a:r>
              <a:rPr lang="en-US" altLang="en-US" b="1">
                <a:solidFill>
                  <a:srgbClr val="3366FF"/>
                </a:solidFill>
              </a:rPr>
              <a:t>permissions</a:t>
            </a:r>
            <a:r>
              <a:rPr lang="en-US" altLang="en-US"/>
              <a:t> can limit damage if entity has a bug, gets abused</a:t>
            </a:r>
            <a:endParaRPr lang="en-US" altLang="en-US"/>
          </a:p>
          <a:p>
            <a:pPr lvl="1"/>
            <a:r>
              <a:rPr lang="en-US" altLang="en-US"/>
              <a:t>Can be static (during life of system, during life of process) </a:t>
            </a:r>
            <a:endParaRPr lang="en-US" altLang="en-US"/>
          </a:p>
          <a:p>
            <a:pPr lvl="1"/>
            <a:r>
              <a:rPr lang="en-US" altLang="en-US"/>
              <a:t>Or dynamic (changed by process as needed) – </a:t>
            </a:r>
            <a:r>
              <a:rPr lang="en-US" altLang="en-US" b="1">
                <a:solidFill>
                  <a:srgbClr val="3366FF"/>
                </a:solidFill>
              </a:rPr>
              <a:t>domain switching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3366FF"/>
                </a:solidFill>
              </a:rPr>
              <a:t>privilege escalation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ja-JP" b="1">
                <a:solidFill>
                  <a:srgbClr val="3366FF"/>
                </a:solidFill>
              </a:rPr>
              <a:t>Compartmentalization</a:t>
            </a:r>
            <a:r>
              <a:rPr lang="en-US" altLang="ja-JP"/>
              <a:t> a derivative concept regarding access to data </a:t>
            </a:r>
            <a:endParaRPr lang="en-US" altLang="ja-JP"/>
          </a:p>
          <a:p>
            <a:pPr lvl="2"/>
            <a:r>
              <a:rPr lang="en-US" altLang="en-US"/>
              <a:t>Process of protecting each individual system component through the use of specific permissions and access restrictions</a:t>
            </a:r>
            <a:endParaRPr lang="en-US" altLang="en-US"/>
          </a:p>
          <a:p>
            <a:pPr lvl="2"/>
            <a:endParaRPr lang="en-US" altLang="en-US"/>
          </a:p>
          <a:p>
            <a:pPr lvl="2">
              <a:buNone/>
            </a:pPr>
            <a:endParaRPr lang="en-US" altLang="en-US"/>
          </a:p>
          <a:p>
            <a:pPr lvl="1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935038" y="168275"/>
            <a:ext cx="7751762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Principles of Protection (Cont.)</a:t>
            </a:r>
            <a:endParaRPr lang="en-US" altLang="en-US"/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833438" y="1069975"/>
            <a:ext cx="6672262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Must consider </a:t>
            </a:r>
            <a:r>
              <a:rPr lang="ja-JP" altLang="en-US"/>
              <a:t>“</a:t>
            </a:r>
            <a:r>
              <a:rPr lang="en-US" altLang="ja-JP"/>
              <a:t>grain</a:t>
            </a:r>
            <a:r>
              <a:rPr lang="ja-JP" altLang="en-US"/>
              <a:t>”</a:t>
            </a:r>
            <a:r>
              <a:rPr lang="en-US" altLang="ja-JP"/>
              <a:t> aspect</a:t>
            </a:r>
            <a:endParaRPr lang="en-US" altLang="ja-JP"/>
          </a:p>
          <a:p>
            <a:pPr lvl="1"/>
            <a:r>
              <a:rPr lang="en-US" altLang="en-US"/>
              <a:t>Rough-grained  privilege management easier, simpler, but least privilege now done in large chunks</a:t>
            </a:r>
            <a:endParaRPr lang="en-US" altLang="en-US"/>
          </a:p>
          <a:p>
            <a:pPr lvl="2"/>
            <a:r>
              <a:rPr lang="en-US" altLang="en-US"/>
              <a:t>For example, traditional Unix processes either have abilities of the associated user, or of root</a:t>
            </a:r>
            <a:endParaRPr lang="en-US" altLang="en-US"/>
          </a:p>
          <a:p>
            <a:pPr lvl="1"/>
            <a:r>
              <a:rPr lang="en-US" altLang="en-US"/>
              <a:t>Fine-grained management more complex, more overhead, but more protective</a:t>
            </a:r>
            <a:endParaRPr lang="en-US" altLang="en-US"/>
          </a:p>
          <a:p>
            <a:pPr lvl="2"/>
            <a:r>
              <a:rPr lang="en-US" altLang="en-US"/>
              <a:t>File ACL lists, RBAC</a:t>
            </a:r>
            <a:endParaRPr lang="en-US" altLang="en-US"/>
          </a:p>
          <a:p>
            <a:r>
              <a:rPr lang="en-US" altLang="en-US"/>
              <a:t>Domain can be user, process, procedure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Audit trail </a:t>
            </a:r>
            <a:r>
              <a:rPr lang="en-US" altLang="en-US"/>
              <a:t>– recording all protection-orientated activities, important to understanding what happened, why, and catching things that shouldn’t</a:t>
            </a:r>
            <a:endParaRPr lang="en-US" altLang="en-US"/>
          </a:p>
          <a:p>
            <a:r>
              <a:rPr lang="en-US" altLang="en-US"/>
              <a:t>No single principle is a panacea for security vulnerabilities – need </a:t>
            </a:r>
            <a:r>
              <a:rPr lang="en-US" altLang="en-US" b="1">
                <a:solidFill>
                  <a:srgbClr val="3366FF"/>
                </a:solidFill>
              </a:rPr>
              <a:t>defense in depth</a:t>
            </a:r>
            <a:endParaRPr lang="en-US" altLang="en-US" b="1">
              <a:solidFill>
                <a:srgbClr val="3366FF"/>
              </a:solidFill>
            </a:endParaRPr>
          </a:p>
          <a:p>
            <a:pPr lvl="2"/>
            <a:endParaRPr lang="en-US" altLang="en-US"/>
          </a:p>
          <a:p>
            <a:pPr lvl="2"/>
            <a:endParaRPr lang="en-US" altLang="en-US"/>
          </a:p>
          <a:p>
            <a:pPr lvl="1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xfrm>
            <a:off x="935038" y="168275"/>
            <a:ext cx="7751762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Protection Rings</a:t>
            </a:r>
            <a:endParaRPr lang="en-US" altLang="en-US"/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833438" y="1069975"/>
            <a:ext cx="6672262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Components ordered by amount of privilege and protected from each other</a:t>
            </a:r>
            <a:endParaRPr lang="en-US" altLang="en-US"/>
          </a:p>
          <a:p>
            <a:pPr lvl="1"/>
            <a:r>
              <a:rPr lang="en-US" altLang="en-US"/>
              <a:t>For example, the kernel is in one ring and user applications in another</a:t>
            </a:r>
            <a:endParaRPr lang="en-US" altLang="en-US"/>
          </a:p>
          <a:p>
            <a:pPr lvl="1"/>
            <a:r>
              <a:rPr lang="en-US" altLang="en-US"/>
              <a:t>This privilege separation requires hardware support</a:t>
            </a:r>
            <a:endParaRPr lang="en-US" altLang="en-US"/>
          </a:p>
          <a:p>
            <a:pPr lvl="1"/>
            <a:r>
              <a:rPr lang="en-US" altLang="en-US"/>
              <a:t>Gates used to transfer between levels, for example the syscall Intel instruction</a:t>
            </a:r>
            <a:endParaRPr lang="en-US" altLang="en-US"/>
          </a:p>
          <a:p>
            <a:pPr lvl="1"/>
            <a:r>
              <a:rPr lang="en-US" altLang="en-US"/>
              <a:t>Also traps and interrupts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Hypervisors</a:t>
            </a:r>
            <a:r>
              <a:rPr lang="en-US" altLang="en-US"/>
              <a:t> introduced the need for yet another ring</a:t>
            </a:r>
            <a:endParaRPr lang="en-US" altLang="en-US"/>
          </a:p>
          <a:p>
            <a:pPr lvl="1"/>
            <a:r>
              <a:rPr lang="en-US" altLang="en-US"/>
              <a:t>ARMv7 processors added </a:t>
            </a:r>
            <a:r>
              <a:rPr lang="en-US" altLang="en-US" b="1">
                <a:solidFill>
                  <a:srgbClr val="3366FF"/>
                </a:solidFill>
              </a:rPr>
              <a:t>TrustZone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TZ</a:t>
            </a:r>
            <a:r>
              <a:rPr lang="en-US" altLang="en-US"/>
              <a:t>) ring to protect crypto functions with access via new </a:t>
            </a:r>
            <a:r>
              <a:rPr lang="en-US" altLang="en-US" b="1">
                <a:solidFill>
                  <a:srgbClr val="3366FF"/>
                </a:solidFill>
              </a:rPr>
              <a:t>Secure Monitor Call</a:t>
            </a:r>
            <a:r>
              <a:rPr lang="en-US" altLang="en-US"/>
              <a:t> (</a:t>
            </a:r>
            <a:r>
              <a:rPr lang="en-US" altLang="en-US" b="1">
                <a:solidFill>
                  <a:srgbClr val="3366FF"/>
                </a:solidFill>
              </a:rPr>
              <a:t>SMC</a:t>
            </a:r>
            <a:r>
              <a:rPr lang="en-US" altLang="en-US"/>
              <a:t>) instruction</a:t>
            </a:r>
            <a:endParaRPr lang="en-US" altLang="en-US"/>
          </a:p>
          <a:p>
            <a:pPr lvl="2"/>
            <a:r>
              <a:rPr lang="en-US" altLang="en-US"/>
              <a:t>Protecting NFC secure element and crypto keys from even the kernel</a:t>
            </a:r>
            <a:endParaRPr lang="en-US" altLang="en-US"/>
          </a:p>
          <a:p>
            <a:pPr lvl="2"/>
            <a:endParaRPr lang="en-US" altLang="en-US"/>
          </a:p>
          <a:p>
            <a:pPr lvl="1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2"/>
          <p:cNvSpPr>
            <a:spLocks noGrp="1"/>
          </p:cNvSpPr>
          <p:nvPr>
            <p:ph type="title"/>
          </p:nvPr>
        </p:nvSpPr>
        <p:spPr>
          <a:xfrm>
            <a:off x="817563" y="155575"/>
            <a:ext cx="7869237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Other Protection Improvement Methods</a:t>
            </a:r>
            <a:endParaRPr lang="en-US" altLang="en-US"/>
          </a:p>
        </p:txBody>
      </p:sp>
      <p:sp>
        <p:nvSpPr>
          <p:cNvPr id="65538" name="Rectangle 3"/>
          <p:cNvSpPr>
            <a:spLocks noGrp="1"/>
          </p:cNvSpPr>
          <p:nvPr>
            <p:ph idx="1"/>
          </p:nvPr>
        </p:nvSpPr>
        <p:spPr>
          <a:xfrm>
            <a:off x="847725" y="1179513"/>
            <a:ext cx="64674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System integrity protection (SIP)</a:t>
            </a:r>
            <a:endParaRPr lang="en-US" altLang="en-US"/>
          </a:p>
          <a:p>
            <a:pPr lvl="1"/>
            <a:r>
              <a:rPr lang="en-US" altLang="en-US"/>
              <a:t>Introduced by Apple in macOS 10.11</a:t>
            </a:r>
            <a:endParaRPr lang="en-US" altLang="en-US"/>
          </a:p>
          <a:p>
            <a:pPr lvl="1"/>
            <a:r>
              <a:rPr lang="en-US" altLang="en-US"/>
              <a:t>Restricts access to system files and resources, even by root</a:t>
            </a:r>
            <a:endParaRPr lang="en-US" altLang="en-US"/>
          </a:p>
          <a:p>
            <a:pPr lvl="1"/>
            <a:r>
              <a:rPr lang="en-US" altLang="en-US"/>
              <a:t>Uses extended file attribs to mark a binary to restrict changes, disable debugging and scrutinizing</a:t>
            </a:r>
            <a:endParaRPr lang="en-US" altLang="en-US"/>
          </a:p>
          <a:p>
            <a:pPr lvl="1"/>
            <a:r>
              <a:rPr lang="en-US" altLang="en-US"/>
              <a:t>Also, only code-signed kernel extensions allowed and configurably only code-signed apps</a:t>
            </a:r>
            <a:endParaRPr lang="en-US" altLang="en-US"/>
          </a:p>
          <a:p>
            <a:r>
              <a:rPr lang="en-US" altLang="en-US"/>
              <a:t>System-call filtering</a:t>
            </a:r>
            <a:endParaRPr lang="en-US" altLang="en-US"/>
          </a:p>
          <a:p>
            <a:pPr lvl="1"/>
            <a:r>
              <a:rPr lang="en-US" altLang="en-US"/>
              <a:t>Like a firewall, for system calls</a:t>
            </a:r>
            <a:endParaRPr lang="en-US" altLang="en-US"/>
          </a:p>
          <a:p>
            <a:pPr lvl="1"/>
            <a:r>
              <a:rPr lang="en-US" altLang="en-US"/>
              <a:t>Can also be deeper –inspecting all system call arguments</a:t>
            </a:r>
            <a:endParaRPr lang="en-US" altLang="en-US"/>
          </a:p>
          <a:p>
            <a:pPr lvl="1"/>
            <a:r>
              <a:rPr lang="en-US" altLang="en-US"/>
              <a:t>Linux implements via SECCOMP-BPF (Berkeley packet filtering)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/>
          </p:nvPr>
        </p:nvSpPr>
        <p:spPr>
          <a:xfrm>
            <a:off x="817563" y="155575"/>
            <a:ext cx="7869237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400"/>
              <a:t>Other Protection Improvement Methods (cont.)</a:t>
            </a:r>
            <a:endParaRPr lang="en-US" altLang="en-US" sz="2400"/>
          </a:p>
        </p:txBody>
      </p:sp>
      <p:sp>
        <p:nvSpPr>
          <p:cNvPr id="67586" name="Rectangle 3"/>
          <p:cNvSpPr>
            <a:spLocks noGrp="1"/>
          </p:cNvSpPr>
          <p:nvPr>
            <p:ph idx="1"/>
          </p:nvPr>
        </p:nvSpPr>
        <p:spPr>
          <a:xfrm>
            <a:off x="847725" y="1179513"/>
            <a:ext cx="64674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Sandboxing</a:t>
            </a:r>
            <a:endParaRPr lang="en-US" altLang="en-US"/>
          </a:p>
          <a:p>
            <a:pPr lvl="1"/>
            <a:r>
              <a:rPr lang="en-US" altLang="en-US"/>
              <a:t>Running process in limited environment</a:t>
            </a:r>
            <a:endParaRPr lang="en-US" altLang="en-US"/>
          </a:p>
          <a:p>
            <a:pPr lvl="1"/>
            <a:r>
              <a:rPr lang="en-US" altLang="en-US"/>
              <a:t>Impose set of irremovable restrictions early in startup of process (before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altLang="en-US"/>
              <a:t>)</a:t>
            </a:r>
            <a:endParaRPr lang="en-US" altLang="en-US"/>
          </a:p>
          <a:p>
            <a:pPr lvl="1"/>
            <a:r>
              <a:rPr lang="en-US" altLang="en-US"/>
              <a:t>Process then unable to access any resources beyond its allowed set</a:t>
            </a:r>
            <a:endParaRPr lang="en-US" altLang="en-US"/>
          </a:p>
          <a:p>
            <a:pPr lvl="1"/>
            <a:r>
              <a:rPr lang="en-US" altLang="en-US"/>
              <a:t>Java and .net implement at a virtual machine level</a:t>
            </a:r>
            <a:endParaRPr lang="en-US" altLang="en-US"/>
          </a:p>
          <a:p>
            <a:pPr lvl="1"/>
            <a:r>
              <a:rPr lang="en-US" altLang="en-US"/>
              <a:t>Other systems use MAC to implement</a:t>
            </a:r>
            <a:endParaRPr lang="en-US" altLang="en-US"/>
          </a:p>
          <a:p>
            <a:pPr lvl="1"/>
            <a:r>
              <a:rPr lang="en-US" altLang="en-US"/>
              <a:t>Apple was an early adopter, from macOS 10.5’s “seatbelt” feature</a:t>
            </a:r>
            <a:endParaRPr lang="en-US" altLang="en-US"/>
          </a:p>
          <a:p>
            <a:pPr lvl="2"/>
            <a:r>
              <a:rPr lang="en-US" altLang="en-US"/>
              <a:t>Dynamic profiles written in the Scheme language, managing system calls even at the argument level</a:t>
            </a:r>
            <a:endParaRPr lang="en-US" altLang="en-US"/>
          </a:p>
          <a:p>
            <a:pPr lvl="2"/>
            <a:r>
              <a:rPr lang="en-US" altLang="en-US"/>
              <a:t>Apple now does SIP, a system-wide platform profile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xfrm>
            <a:off x="817563" y="155575"/>
            <a:ext cx="7869237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400"/>
              <a:t>Other Protection Improvement Methods (cont.)</a:t>
            </a:r>
            <a:endParaRPr lang="en-US" altLang="en-US" sz="2400"/>
          </a:p>
        </p:txBody>
      </p:sp>
      <p:sp>
        <p:nvSpPr>
          <p:cNvPr id="69634" name="Rectangle 3"/>
          <p:cNvSpPr>
            <a:spLocks noGrp="1"/>
          </p:cNvSpPr>
          <p:nvPr>
            <p:ph idx="1"/>
          </p:nvPr>
        </p:nvSpPr>
        <p:spPr>
          <a:xfrm>
            <a:off x="847725" y="1179513"/>
            <a:ext cx="64674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Code signing allows a system to trust a program or script by using crypto hash to have the developer sign the executable</a:t>
            </a:r>
            <a:endParaRPr lang="en-US" altLang="en-US"/>
          </a:p>
          <a:p>
            <a:pPr lvl="1"/>
            <a:r>
              <a:rPr lang="en-US" altLang="en-US"/>
              <a:t>So code as it was compiled by the author</a:t>
            </a:r>
            <a:endParaRPr lang="en-US" altLang="en-US"/>
          </a:p>
          <a:p>
            <a:pPr lvl="1"/>
            <a:r>
              <a:rPr lang="en-US" altLang="en-US"/>
              <a:t>If the code is changed, signature invalid and (some) systems disable execution</a:t>
            </a:r>
            <a:endParaRPr lang="en-US" altLang="en-US"/>
          </a:p>
          <a:p>
            <a:pPr lvl="1"/>
            <a:r>
              <a:rPr lang="en-US" altLang="en-US"/>
              <a:t>Can also be used to disable old programs by the operating system vendor (such as Apple) cosigning apps, and then invaliding those signatures so the code will no longer run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2"/>
          <p:cNvSpPr>
            <a:spLocks noGrp="1"/>
          </p:cNvSpPr>
          <p:nvPr>
            <p:ph type="title"/>
          </p:nvPr>
        </p:nvSpPr>
        <p:spPr>
          <a:xfrm>
            <a:off x="817563" y="155575"/>
            <a:ext cx="7869237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Language-Based Protection</a:t>
            </a:r>
            <a:endParaRPr lang="en-US" altLang="en-US"/>
          </a:p>
        </p:txBody>
      </p:sp>
      <p:sp>
        <p:nvSpPr>
          <p:cNvPr id="71682" name="Rectangle 3"/>
          <p:cNvSpPr>
            <a:spLocks noGrp="1"/>
          </p:cNvSpPr>
          <p:nvPr>
            <p:ph idx="1"/>
          </p:nvPr>
        </p:nvSpPr>
        <p:spPr>
          <a:xfrm>
            <a:off x="847725" y="1179513"/>
            <a:ext cx="64674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Specification of protection in a programming language allows the high-level description of policies for the allocation and use of resources</a:t>
            </a:r>
            <a:endParaRPr lang="en-US" altLang="en-US"/>
          </a:p>
          <a:p>
            <a:r>
              <a:rPr lang="en-US" altLang="en-US"/>
              <a:t>Language implementation can provide software for protection enforcement when automatic hardware-supported checking is unavailable</a:t>
            </a:r>
            <a:endParaRPr lang="en-US" altLang="en-US"/>
          </a:p>
          <a:p>
            <a:r>
              <a:rPr lang="en-US" altLang="en-US"/>
              <a:t>Interpret protection specifications to generate calls on whatever protection system is provided by the hardware and the operating system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2"/>
          <p:cNvSpPr>
            <a:spLocks noGrp="1"/>
          </p:cNvSpPr>
          <p:nvPr>
            <p:ph type="title"/>
          </p:nvPr>
        </p:nvSpPr>
        <p:spPr>
          <a:xfrm>
            <a:off x="641350" y="168275"/>
            <a:ext cx="804545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Protection in Java 2</a:t>
            </a:r>
            <a:endParaRPr lang="en-US" altLang="en-US"/>
          </a:p>
        </p:txBody>
      </p:sp>
      <p:sp>
        <p:nvSpPr>
          <p:cNvPr id="73730" name="Rectangle 3"/>
          <p:cNvSpPr>
            <a:spLocks noGrp="1"/>
          </p:cNvSpPr>
          <p:nvPr>
            <p:ph idx="1"/>
          </p:nvPr>
        </p:nvSpPr>
        <p:spPr>
          <a:xfrm>
            <a:off x="833438" y="1165225"/>
            <a:ext cx="6796087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Protection is handled by the Java Virtual Machine (JVM)</a:t>
            </a:r>
            <a:endParaRPr lang="en-US" altLang="en-US"/>
          </a:p>
          <a:p>
            <a:r>
              <a:rPr lang="en-US" altLang="en-US"/>
              <a:t>A </a:t>
            </a:r>
            <a:r>
              <a:rPr lang="en-US" altLang="en-US" b="1">
                <a:solidFill>
                  <a:srgbClr val="3366FF"/>
                </a:solidFill>
              </a:rPr>
              <a:t>class</a:t>
            </a:r>
            <a:r>
              <a:rPr lang="en-US" altLang="en-US"/>
              <a:t> is assigned a protection domain when it is loaded by the JVM</a:t>
            </a:r>
            <a:endParaRPr lang="en-US" altLang="en-US"/>
          </a:p>
          <a:p>
            <a:r>
              <a:rPr lang="en-US" altLang="en-US"/>
              <a:t>The protection domain indicates what operations the class can (and cannot) perform</a:t>
            </a:r>
            <a:endParaRPr lang="en-US" altLang="en-US"/>
          </a:p>
          <a:p>
            <a:r>
              <a:rPr lang="en-US" altLang="en-US"/>
              <a:t>If a library </a:t>
            </a:r>
            <a:r>
              <a:rPr lang="en-US" altLang="en-US" b="1">
                <a:solidFill>
                  <a:srgbClr val="3366FF"/>
                </a:solidFill>
              </a:rPr>
              <a:t>method</a:t>
            </a:r>
            <a:r>
              <a:rPr lang="en-US" altLang="en-US"/>
              <a:t> is invoked that performs a privileged operation, the stack is </a:t>
            </a:r>
            <a:r>
              <a:rPr lang="en-US" altLang="en-US" b="1">
                <a:solidFill>
                  <a:srgbClr val="3366FF"/>
                </a:solidFill>
              </a:rPr>
              <a:t>inspected</a:t>
            </a:r>
            <a:r>
              <a:rPr lang="en-US" altLang="en-US"/>
              <a:t> to ensure the operation can be performed by the library</a:t>
            </a:r>
            <a:endParaRPr lang="en-US" altLang="en-US"/>
          </a:p>
          <a:p>
            <a:r>
              <a:rPr lang="en-US" altLang="en-US"/>
              <a:t>Generally, Java’s load-time and run-time checks enforce </a:t>
            </a:r>
            <a:r>
              <a:rPr lang="en-US" altLang="en-US" b="1">
                <a:solidFill>
                  <a:srgbClr val="3366FF"/>
                </a:solidFill>
              </a:rPr>
              <a:t>type safety</a:t>
            </a:r>
            <a:endParaRPr lang="en-US" altLang="en-US"/>
          </a:p>
          <a:p>
            <a:r>
              <a:rPr lang="en-US" altLang="en-US"/>
              <a:t>Classes effectively </a:t>
            </a:r>
            <a:r>
              <a:rPr lang="en-US" altLang="en-US" b="1">
                <a:solidFill>
                  <a:srgbClr val="3366FF"/>
                </a:solidFill>
              </a:rPr>
              <a:t>encapsulate</a:t>
            </a:r>
            <a:r>
              <a:rPr lang="en-US" altLang="en-US"/>
              <a:t> and protect data and methods from other classes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262188"/>
          </a:xfrm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en-US"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End of Chapter 17</a:t>
            </a:r>
            <a:endParaRPr lang="en-US" altLang="en-US"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5187</Words>
  <Application>WPS Presentation</Application>
  <PresentationFormat>On-screen Show (4:3)</PresentationFormat>
  <Paragraphs>122</Paragraphs>
  <Slides>13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Verdana</vt:lpstr>
      <vt:lpstr>MS PGothic</vt:lpstr>
      <vt:lpstr>Helvetica</vt:lpstr>
      <vt:lpstr>Monotype Sorts</vt:lpstr>
      <vt:lpstr>Wingdings</vt:lpstr>
      <vt:lpstr>Webdings</vt:lpstr>
      <vt:lpstr>Times New Roman</vt:lpstr>
      <vt:lpstr>Courier New</vt:lpstr>
      <vt:lpstr>Symbol</vt:lpstr>
      <vt:lpstr>MT Extra</vt:lpstr>
      <vt:lpstr>Microsoft YaHei</vt:lpstr>
      <vt:lpstr>Arial Unicode MS</vt:lpstr>
      <vt:lpstr>os-8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Dazy Nam</cp:lastModifiedBy>
  <cp:revision>194</cp:revision>
  <cp:lastPrinted>2013-09-10T17:57:57Z</cp:lastPrinted>
  <dcterms:created xsi:type="dcterms:W3CDTF">2011-01-13T23:43:38Z</dcterms:created>
  <dcterms:modified xsi:type="dcterms:W3CDTF">2026-09-19T11:53:31Z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4531B547D8E54A76A449B12C8708DFDE_13</vt:lpwstr>
  </property>
</Properties>
</file>