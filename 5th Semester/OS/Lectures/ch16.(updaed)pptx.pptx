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5"/>
  </p:handoutMasterIdLst>
  <p:sldIdLst>
    <p:sldId id="331" r:id="rId3"/>
    <p:sldId id="332" r:id="rId5"/>
    <p:sldId id="333" r:id="rId6"/>
    <p:sldId id="334" r:id="rId7"/>
    <p:sldId id="335" r:id="rId8"/>
    <p:sldId id="336" r:id="rId9"/>
    <p:sldId id="338" r:id="rId10"/>
    <p:sldId id="339" r:id="rId11"/>
    <p:sldId id="337" r:id="rId12"/>
    <p:sldId id="340" r:id="rId13"/>
    <p:sldId id="341" r:id="rId14"/>
    <p:sldId id="389" r:id="rId15"/>
    <p:sldId id="342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3" r:id="rId24"/>
    <p:sldId id="354" r:id="rId25"/>
    <p:sldId id="390" r:id="rId26"/>
    <p:sldId id="356" r:id="rId27"/>
    <p:sldId id="358" r:id="rId28"/>
    <p:sldId id="380" r:id="rId29"/>
    <p:sldId id="381" r:id="rId30"/>
    <p:sldId id="382" r:id="rId31"/>
    <p:sldId id="384" r:id="rId32"/>
    <p:sldId id="387" r:id="rId33"/>
    <p:sldId id="385" r:id="rId34"/>
  </p:sldIdLst>
  <p:sldSz cx="9144000" cy="6858000" type="screen4x3"/>
  <p:notesSz cx="7086600" cy="93726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358"/>
    <p:restoredTop sz="94667"/>
  </p:normalViewPr>
  <p:slideViewPr>
    <p:cSldViewPr snapToGrid="0" showGuides="1">
      <p:cViewPr varScale="1">
        <p:scale>
          <a:sx n="219" d="100"/>
          <a:sy n="219" d="100"/>
        </p:scale>
        <p:origin x="984" y="19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154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8915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154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8915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1540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8915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pitchFamily="-84" charset="0"/>
              </a:defRPr>
            </a:lvl1pPr>
          </a:lstStyle>
          <a:p>
            <a:pPr marL="0" marR="0" lvl="0" indent="0" algn="r" defTabSz="8909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DF4A9A-8C44-C74D-BDD5-BBE15612E316}" type="slidenum"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200150" y="704850"/>
            <a:ext cx="4687888" cy="35147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9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F97B96-A31D-BD4B-97E2-21EA33B601F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024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94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9421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9625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9830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054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0752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</a:ln>
        </p:spPr>
        <p:txBody>
          <a:bodyPr wrap="none" lIns="94035" tIns="47017" rIns="94035" bIns="47017" anchor="b" anchorCtr="0"/>
          <a:p>
            <a:pPr lvl="0" algn="r" defTabSz="939800"/>
            <a:fld id="{9A0DB2DC-4C9A-4742-B13C-FB6460FD3503}" type="slidenum">
              <a:rPr lang="en-US" altLang="en-US" sz="1300">
                <a:latin typeface="Helvetica" pitchFamily="-84" charset="0"/>
              </a:rPr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095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/>
          </p:cNvSpPr>
          <p:nvPr>
            <p:ph type="body" idx="1"/>
          </p:nvPr>
        </p:nvSpPr>
        <p:spPr>
          <a:xfrm>
            <a:off x="944563" y="4452938"/>
            <a:ext cx="5197475" cy="4214812"/>
          </a:xfrm>
          <a:ln/>
        </p:spPr>
        <p:txBody>
          <a:bodyPr wrap="none" lIns="94035" tIns="47017" rIns="94035" bIns="47017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3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Silberschatz, Galvin and Gagne ©2018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Operating System Concepts – 10</a:t>
            </a:r>
            <a:r>
              <a:rPr kumimoji="0" lang="en-US" alt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 Edition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10597" name="Picture 9" descr="dino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w="76200" cap="flat" cmpd="sng">
            <a:solidFill>
              <a:srgbClr val="336699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dino_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0" name="Line 6"/>
          <p:cNvSpPr/>
          <p:nvPr/>
        </p:nvSpPr>
        <p:spPr>
          <a:xfrm>
            <a:off x="457200" y="860425"/>
            <a:ext cx="8077200" cy="0"/>
          </a:xfrm>
          <a:prstGeom prst="line">
            <a:avLst/>
          </a:prstGeom>
          <a:ln w="19050" cap="flat" cmpd="sng">
            <a:solidFill>
              <a:srgbClr val="3366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16.</a:t>
            </a:r>
            <a:fld id="{1A08301B-FF3C-1C40-86DA-5AF952D4DA42}" type="slidenum">
              <a:rPr kumimoji="0" lang="en-US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1000" b="1" i="0" u="none" strike="noStrike" kern="1200" cap="none" spc="0" normalizeH="0" baseline="0" noProof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Silberschatz, Galvin and Gagne ©2018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Operating System Concepts – 10</a:t>
            </a:r>
            <a:r>
              <a:rPr kumimoji="0" lang="en-US" altLang="en-US" sz="1000" b="1" i="0" u="none" strike="noStrike" kern="1200" cap="none" spc="0" normalizeH="0" baseline="3000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 Edition</a:t>
            </a:r>
            <a:endParaRPr kumimoji="0" lang="en-US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6" name="Picture 12" descr="dino_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685800" y="806450"/>
            <a:ext cx="7772400" cy="2127250"/>
          </a:xfrm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en-US"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Chapter 16:  Security</a:t>
            </a:r>
            <a:endParaRPr lang="en-US" altLang="en-US"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1026"/>
          <p:cNvSpPr>
            <a:spLocks noGrp="1"/>
          </p:cNvSpPr>
          <p:nvPr>
            <p:ph type="title"/>
          </p:nvPr>
        </p:nvSpPr>
        <p:spPr>
          <a:xfrm>
            <a:off x="457200" y="1952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Chapter 16:  Security</a:t>
            </a:r>
            <a:endParaRPr lang="en-US" altLang="en-US"/>
          </a:p>
        </p:txBody>
      </p:sp>
      <p:sp>
        <p:nvSpPr>
          <p:cNvPr id="7170" name="Rectangle 1027"/>
          <p:cNvSpPr>
            <a:spLocks noGrp="1"/>
          </p:cNvSpPr>
          <p:nvPr>
            <p:ph idx="1"/>
          </p:nvPr>
        </p:nvSpPr>
        <p:spPr>
          <a:xfrm>
            <a:off x="860425" y="1135063"/>
            <a:ext cx="7351713" cy="44831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The Security Problem</a:t>
            </a:r>
            <a:endParaRPr lang="en-US" altLang="en-US"/>
          </a:p>
          <a:p>
            <a:r>
              <a:rPr lang="en-US" altLang="en-US"/>
              <a:t>Program Threats</a:t>
            </a:r>
            <a:endParaRPr lang="en-US" altLang="en-US"/>
          </a:p>
          <a:p>
            <a:r>
              <a:rPr lang="en-US" altLang="en-US"/>
              <a:t>System and Network Threats</a:t>
            </a:r>
            <a:endParaRPr lang="en-US" altLang="en-US"/>
          </a:p>
          <a:p>
            <a:r>
              <a:rPr lang="en-US" altLang="en-US"/>
              <a:t>Cryptography as a Security Tool</a:t>
            </a:r>
            <a:endParaRPr lang="en-US" altLang="en-US"/>
          </a:p>
          <a:p>
            <a:r>
              <a:rPr lang="en-US" altLang="en-US"/>
              <a:t>User Authentication</a:t>
            </a:r>
            <a:endParaRPr lang="en-US" altLang="en-US"/>
          </a:p>
          <a:p>
            <a:r>
              <a:rPr lang="en-US" altLang="en-US"/>
              <a:t>Implementing Security Defenses</a:t>
            </a:r>
            <a:endParaRPr lang="en-US" altLang="en-US"/>
          </a:p>
          <a:p>
            <a:r>
              <a:rPr lang="en-US" altLang="en-US"/>
              <a:t>Firewalling to Protect Systems and Networks</a:t>
            </a:r>
            <a:endParaRPr lang="en-US" altLang="en-US"/>
          </a:p>
          <a:p>
            <a:r>
              <a:rPr lang="en-US" altLang="en-US"/>
              <a:t>Computer-Security Classifications</a:t>
            </a:r>
            <a:endParaRPr lang="en-US" altLang="en-US"/>
          </a:p>
          <a:p>
            <a:r>
              <a:rPr lang="en-US" altLang="en-US"/>
              <a:t>An Example: Windows 7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xfrm>
            <a:off x="457200" y="168275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806450" y="1233488"/>
            <a:ext cx="687705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Discuss security threats and attacks</a:t>
            </a:r>
            <a:endParaRPr lang="en-US" altLang="en-US"/>
          </a:p>
          <a:p>
            <a:r>
              <a:rPr lang="en-US" altLang="en-US"/>
              <a:t>Explain the fundamentals of encryption, authentication, and hashing</a:t>
            </a:r>
            <a:endParaRPr lang="en-US" altLang="en-US"/>
          </a:p>
          <a:p>
            <a:r>
              <a:rPr lang="en-US" altLang="en-US"/>
              <a:t>Examine the uses of cryptography in computing</a:t>
            </a:r>
            <a:endParaRPr lang="en-US" altLang="en-US"/>
          </a:p>
          <a:p>
            <a:r>
              <a:rPr lang="en-US" altLang="en-US"/>
              <a:t>Describe the various countermeasures to security attacks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457200" y="1952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The Security Problem</a:t>
            </a:r>
            <a:endParaRPr lang="en-US" altLang="en-US"/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847725" y="1165225"/>
            <a:ext cx="7123113" cy="485298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System </a:t>
            </a:r>
            <a:r>
              <a:rPr lang="en-US" altLang="en-US" b="1">
                <a:solidFill>
                  <a:srgbClr val="3366FF"/>
                </a:solidFill>
              </a:rPr>
              <a:t>secure</a:t>
            </a:r>
            <a:r>
              <a:rPr lang="en-US" altLang="en-US"/>
              <a:t> if resources used and accessed as intended under all circumstances</a:t>
            </a:r>
            <a:endParaRPr lang="en-US" altLang="en-US"/>
          </a:p>
          <a:p>
            <a:pPr lvl="1"/>
            <a:r>
              <a:rPr lang="en-US" altLang="en-US"/>
              <a:t>Unachievable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Intruders</a:t>
            </a:r>
            <a:r>
              <a:rPr lang="en-US" altLang="en-US"/>
              <a:t> (</a:t>
            </a:r>
            <a:r>
              <a:rPr lang="en-US" altLang="en-US" b="1">
                <a:solidFill>
                  <a:srgbClr val="3366FF"/>
                </a:solidFill>
              </a:rPr>
              <a:t>crackers</a:t>
            </a:r>
            <a:r>
              <a:rPr lang="en-US" altLang="en-US"/>
              <a:t>) attempt to breach security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Threat </a:t>
            </a:r>
            <a:r>
              <a:rPr lang="en-US" altLang="en-US"/>
              <a:t>is potential security violation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Attack</a:t>
            </a:r>
            <a:r>
              <a:rPr lang="en-US" altLang="en-US"/>
              <a:t> is attempt to breach security</a:t>
            </a:r>
            <a:endParaRPr lang="en-US" altLang="en-US"/>
          </a:p>
          <a:p>
            <a:r>
              <a:rPr lang="en-US" altLang="en-US"/>
              <a:t>Attack can be accidental or malicious</a:t>
            </a:r>
            <a:endParaRPr lang="en-US" altLang="en-US"/>
          </a:p>
          <a:p>
            <a:r>
              <a:rPr lang="en-US" altLang="en-US"/>
              <a:t>Easier to protect against accidental than malicious misuse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671513" y="195263"/>
            <a:ext cx="8015287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Security Violation Categories</a:t>
            </a:r>
            <a:endParaRPr lang="en-US" altLang="en-US"/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860425" y="1165225"/>
            <a:ext cx="6700838" cy="503555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b="1"/>
              <a:t>Breach of confidentiality</a:t>
            </a:r>
            <a:endParaRPr lang="en-US" altLang="en-US" b="1"/>
          </a:p>
          <a:p>
            <a:pPr lvl="1"/>
            <a:r>
              <a:rPr lang="en-US" altLang="en-US"/>
              <a:t>Unauthorized reading of data</a:t>
            </a:r>
            <a:endParaRPr lang="en-US" altLang="en-US"/>
          </a:p>
          <a:p>
            <a:r>
              <a:rPr lang="en-US" altLang="en-US" b="1"/>
              <a:t>Breach of integrity</a:t>
            </a:r>
            <a:endParaRPr lang="en-US" altLang="en-US" b="1"/>
          </a:p>
          <a:p>
            <a:pPr lvl="1"/>
            <a:r>
              <a:rPr lang="en-US" altLang="en-US"/>
              <a:t>Unauthorized modification of data</a:t>
            </a:r>
            <a:endParaRPr lang="en-US" altLang="en-US"/>
          </a:p>
          <a:p>
            <a:r>
              <a:rPr lang="en-US" altLang="en-US" b="1"/>
              <a:t>Breach of availability</a:t>
            </a:r>
            <a:endParaRPr lang="en-US" altLang="en-US" b="1"/>
          </a:p>
          <a:p>
            <a:pPr lvl="1"/>
            <a:r>
              <a:rPr lang="en-US" altLang="en-US"/>
              <a:t>Unauthorized destruction of data</a:t>
            </a:r>
            <a:endParaRPr lang="en-US" altLang="en-US"/>
          </a:p>
          <a:p>
            <a:r>
              <a:rPr lang="en-US" altLang="en-US" b="1"/>
              <a:t>Theft of service</a:t>
            </a:r>
            <a:endParaRPr lang="en-US" altLang="en-US" b="1"/>
          </a:p>
          <a:p>
            <a:pPr lvl="1"/>
            <a:r>
              <a:rPr lang="en-US" altLang="en-US"/>
              <a:t>Unauthorized use of resources</a:t>
            </a:r>
            <a:endParaRPr lang="en-US" altLang="en-US"/>
          </a:p>
          <a:p>
            <a:r>
              <a:rPr lang="en-US" altLang="en-US" b="1"/>
              <a:t>Denial of service (</a:t>
            </a:r>
            <a:r>
              <a:rPr lang="en-US" altLang="en-US" b="1">
                <a:solidFill>
                  <a:srgbClr val="3366FF"/>
                </a:solidFill>
              </a:rPr>
              <a:t>DOS</a:t>
            </a:r>
            <a:r>
              <a:rPr lang="en-US" altLang="en-US" b="1"/>
              <a:t>)</a:t>
            </a:r>
            <a:endParaRPr lang="en-US" altLang="en-US" b="1"/>
          </a:p>
          <a:p>
            <a:pPr lvl="1"/>
            <a:r>
              <a:rPr lang="en-US" altLang="en-US"/>
              <a:t>Prevention of legitimate use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71488" y="1952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Security Violation Methods</a:t>
            </a:r>
            <a:endParaRPr lang="en-US" altLang="en-US"/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847725" y="796925"/>
            <a:ext cx="7123113" cy="4530725"/>
          </a:xfrm>
          <a:ln/>
        </p:spPr>
        <p:txBody>
          <a:bodyPr vert="horz" wrap="square" lIns="91440" tIns="45720" rIns="91440" bIns="45720" anchor="t" anchorCtr="0"/>
          <a:p>
            <a:pPr lvl="1"/>
            <a:endParaRPr lang="en-US" altLang="en-US" b="1"/>
          </a:p>
          <a:p>
            <a:r>
              <a:rPr lang="en-US" altLang="en-US" b="1">
                <a:solidFill>
                  <a:srgbClr val="3366FF"/>
                </a:solidFill>
              </a:rPr>
              <a:t>Masquerading </a:t>
            </a:r>
            <a:r>
              <a:rPr lang="en-US" altLang="en-US"/>
              <a:t>(breach </a:t>
            </a:r>
            <a:r>
              <a:rPr lang="en-US" altLang="en-US" b="1">
                <a:solidFill>
                  <a:srgbClr val="3366FF"/>
                </a:solidFill>
              </a:rPr>
              <a:t>authentication</a:t>
            </a:r>
            <a:r>
              <a:rPr lang="en-US" altLang="en-US"/>
              <a:t>)</a:t>
            </a:r>
            <a:endParaRPr lang="en-US" altLang="en-US"/>
          </a:p>
          <a:p>
            <a:pPr lvl="1"/>
            <a:r>
              <a:rPr lang="en-US" altLang="en-US"/>
              <a:t>Pretending to be an authorized user to escalate privileges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Replay attack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As is or with </a:t>
            </a:r>
            <a:r>
              <a:rPr lang="en-US" altLang="en-US" b="1">
                <a:solidFill>
                  <a:srgbClr val="3366FF"/>
                </a:solidFill>
              </a:rPr>
              <a:t>message modification</a:t>
            </a:r>
            <a:endParaRPr lang="en-US" altLang="en-US" b="1">
              <a:solidFill>
                <a:srgbClr val="3366FF"/>
              </a:solidFill>
            </a:endParaRPr>
          </a:p>
          <a:p>
            <a:r>
              <a:rPr lang="en-US" altLang="en-US" b="1">
                <a:solidFill>
                  <a:srgbClr val="3366FF"/>
                </a:solidFill>
              </a:rPr>
              <a:t>Man-in-the-middle attack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Intruder sits in data flow, masquerading as sender to receiver and vice versa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Session hijacking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Intercept an already-established session to bypass authentication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Privilege escalation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Common attack type with access beyond what a user or resource is supposed to have</a:t>
            </a:r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 b="1"/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>
          <a:xfrm>
            <a:off x="865188" y="168275"/>
            <a:ext cx="7821612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Security Measure Levels</a:t>
            </a:r>
            <a:endParaRPr lang="en-US" altLang="en-US"/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>
          <a:xfrm>
            <a:off x="847725" y="1069975"/>
            <a:ext cx="7040563" cy="492125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Impossible to have absolute security, but make cost to perpetrator sufficiently high to deter most intruders</a:t>
            </a:r>
            <a:endParaRPr lang="en-US" altLang="en-US"/>
          </a:p>
          <a:p>
            <a:r>
              <a:rPr lang="en-US" altLang="en-US"/>
              <a:t>Security must occur at four levels to be effective:</a:t>
            </a:r>
            <a:endParaRPr lang="en-US" altLang="en-US"/>
          </a:p>
          <a:p>
            <a:pPr lvl="1"/>
            <a:r>
              <a:rPr lang="en-US" altLang="en-US" b="1"/>
              <a:t>Physical</a:t>
            </a:r>
            <a:endParaRPr lang="en-US" altLang="en-US" b="1"/>
          </a:p>
          <a:p>
            <a:pPr lvl="2"/>
            <a:r>
              <a:rPr lang="en-US" altLang="en-US"/>
              <a:t>Data centers, servers, connected terminals</a:t>
            </a:r>
            <a:endParaRPr lang="en-US" altLang="en-US"/>
          </a:p>
          <a:p>
            <a:pPr lvl="1"/>
            <a:r>
              <a:rPr lang="en-US" altLang="en-US" b="1"/>
              <a:t>Application</a:t>
            </a:r>
            <a:endParaRPr lang="en-US" altLang="en-US" b="1"/>
          </a:p>
          <a:p>
            <a:pPr lvl="2"/>
            <a:r>
              <a:rPr lang="en-US" altLang="en-US"/>
              <a:t>Benign or malicious apps can cause security problems</a:t>
            </a:r>
            <a:endParaRPr lang="en-US" altLang="en-US"/>
          </a:p>
          <a:p>
            <a:pPr lvl="1"/>
            <a:r>
              <a:rPr lang="en-US" altLang="en-US" b="1"/>
              <a:t>Operating System</a:t>
            </a:r>
            <a:endParaRPr lang="en-US" altLang="en-US" b="1"/>
          </a:p>
          <a:p>
            <a:pPr lvl="2"/>
            <a:r>
              <a:rPr lang="en-US" altLang="en-US"/>
              <a:t>Protection mechanisms, debugging</a:t>
            </a:r>
            <a:endParaRPr lang="en-US" altLang="en-US"/>
          </a:p>
          <a:p>
            <a:pPr lvl="1"/>
            <a:r>
              <a:rPr lang="en-US" altLang="en-US" b="1"/>
              <a:t>Network</a:t>
            </a:r>
            <a:endParaRPr lang="en-US" altLang="en-US" b="1"/>
          </a:p>
          <a:p>
            <a:pPr lvl="2"/>
            <a:r>
              <a:rPr lang="en-US" altLang="en-US"/>
              <a:t>Intercepted communications, interruption, DOS</a:t>
            </a:r>
            <a:endParaRPr lang="en-US" altLang="en-US"/>
          </a:p>
          <a:p>
            <a:r>
              <a:rPr lang="en-US" altLang="en-US"/>
              <a:t>Security is as weak as the weakest link in the chain</a:t>
            </a:r>
            <a:endParaRPr lang="en-US" altLang="en-US"/>
          </a:p>
          <a:p>
            <a:r>
              <a:rPr lang="en-US" altLang="en-US"/>
              <a:t>Humans a risk too via </a:t>
            </a:r>
            <a:r>
              <a:rPr lang="en-US" altLang="en-US" b="1">
                <a:solidFill>
                  <a:srgbClr val="3366FF"/>
                </a:solidFill>
              </a:rPr>
              <a:t>phishing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3366FF"/>
                </a:solidFill>
              </a:rPr>
              <a:t>social-engineering</a:t>
            </a:r>
            <a:r>
              <a:rPr lang="en-US" altLang="en-US"/>
              <a:t> attacks</a:t>
            </a:r>
            <a:endParaRPr lang="en-US" altLang="en-US"/>
          </a:p>
          <a:p>
            <a:r>
              <a:rPr lang="en-US" altLang="en-US"/>
              <a:t>But can too much security be a problem?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>
          <a:xfrm>
            <a:off x="484188" y="127000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Program Threats</a:t>
            </a:r>
            <a:endParaRPr lang="en-US" altLang="en-US"/>
          </a:p>
        </p:txBody>
      </p:sp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xfrm>
            <a:off x="847725" y="1082675"/>
            <a:ext cx="7704138" cy="5300663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>
                <a:solidFill>
                  <a:srgbClr val="000000"/>
                </a:solidFill>
              </a:rPr>
              <a:t>Many variations, many names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 b="1">
                <a:solidFill>
                  <a:srgbClr val="3366FF"/>
                </a:solidFill>
              </a:rPr>
              <a:t>Trojan Horse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Code segment that misuses its environment</a:t>
            </a:r>
            <a:endParaRPr lang="en-US" altLang="en-US"/>
          </a:p>
          <a:p>
            <a:pPr lvl="1"/>
            <a:r>
              <a:rPr lang="en-US" altLang="en-US"/>
              <a:t>Exploits mechanisms for allowing programs written by users to be executed by other users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Spyware</a:t>
            </a:r>
            <a:r>
              <a:rPr lang="en-US" altLang="en-US"/>
              <a:t>,</a:t>
            </a:r>
            <a:r>
              <a:rPr lang="en-US" altLang="en-US" b="1">
                <a:solidFill>
                  <a:srgbClr val="3366FF"/>
                </a:solidFill>
              </a:rPr>
              <a:t> pop-up browser windows</a:t>
            </a:r>
            <a:r>
              <a:rPr lang="en-US" altLang="en-US"/>
              <a:t>,</a:t>
            </a:r>
            <a:r>
              <a:rPr lang="en-US" altLang="en-US" b="1">
                <a:solidFill>
                  <a:srgbClr val="3366FF"/>
                </a:solidFill>
              </a:rPr>
              <a:t> covert channels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Up to 80% of spam delivered by spyware-infected systems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Trap Door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Specific user identifier or password that circumvents normal security procedures</a:t>
            </a:r>
            <a:endParaRPr lang="en-US" altLang="en-US"/>
          </a:p>
          <a:p>
            <a:pPr lvl="1"/>
            <a:r>
              <a:rPr lang="en-US" altLang="en-US"/>
              <a:t>Could be included in a compiler</a:t>
            </a:r>
            <a:endParaRPr lang="en-US" altLang="en-US"/>
          </a:p>
          <a:p>
            <a:pPr lvl="1"/>
            <a:r>
              <a:rPr lang="en-US" altLang="en-US"/>
              <a:t>How to detect them?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>
          <a:xfrm>
            <a:off x="681038" y="182563"/>
            <a:ext cx="8005762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Four-layered Model of Security</a:t>
            </a:r>
            <a:endParaRPr lang="en-US" altLang="en-US"/>
          </a:p>
        </p:txBody>
      </p:sp>
      <p:pic>
        <p:nvPicPr>
          <p:cNvPr id="204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538" y="2533650"/>
            <a:ext cx="8640762" cy="1728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Title 1"/>
          <p:cNvSpPr>
            <a:spLocks noGrp="1"/>
          </p:cNvSpPr>
          <p:nvPr>
            <p:ph type="title"/>
          </p:nvPr>
        </p:nvSpPr>
        <p:spPr>
          <a:xfrm>
            <a:off x="1241425" y="114300"/>
            <a:ext cx="7445375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Program Threats (Cont.)</a:t>
            </a:r>
            <a:endParaRPr lang="en-US" altLang="en-US"/>
          </a:p>
        </p:txBody>
      </p:sp>
      <p:sp>
        <p:nvSpPr>
          <p:cNvPr id="2253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74713" y="1069975"/>
            <a:ext cx="7616825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Malware - </a:t>
            </a: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Software designed to exploit, disable, or damage computer</a:t>
            </a: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Trojan Horse </a:t>
            </a: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– Program that acts in a clandestine manner</a:t>
            </a: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Spyware </a:t>
            </a: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– Program frequently installed with legitimate software to display adds, capture user data</a:t>
            </a: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Ransomware</a:t>
            </a: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</a:rPr>
              <a:t> – locks up data via encryption, demanding payment to unlock it</a:t>
            </a: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Others include trap doors, logic </a:t>
            </a:r>
            <a:r>
              <a:rPr kumimoji="1" lang="en-US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boms</a:t>
            </a: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All try to violate the Principle of Least Privilege</a:t>
            </a: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Goal frequently is to leave behind Remote Access Tool (RAT) for repeated access</a:t>
            </a: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2253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425" y="3806825"/>
            <a:ext cx="4495800" cy="1897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1350963" y="155575"/>
            <a:ext cx="7662862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C Program with Buffer-overflow Condition</a:t>
            </a:r>
            <a:endParaRPr lang="en-US" altLang="en-US" sz="2800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1260475" y="955675"/>
            <a:ext cx="6386513" cy="4530725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#include </a:t>
            </a:r>
            <a:r>
              <a:rPr lang="en-US" altLang="en-US" i="1">
                <a:latin typeface="Courier New" panose="02070309020205020404" pitchFamily="49" charset="0"/>
              </a:rPr>
              <a:t>&lt;</a:t>
            </a:r>
            <a:r>
              <a:rPr lang="en-US" altLang="en-US">
                <a:latin typeface="Courier New" panose="02070309020205020404" pitchFamily="49" charset="0"/>
              </a:rPr>
              <a:t>stdio.h</a:t>
            </a:r>
            <a:r>
              <a:rPr lang="en-US" altLang="en-US" i="1">
                <a:latin typeface="Courier New" panose="02070309020205020404" pitchFamily="49" charset="0"/>
              </a:rPr>
              <a:t>&gt;</a:t>
            </a:r>
            <a:endParaRPr lang="en-US" altLang="en-US" i="1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#define BUFFER SIZE 256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int main(int argc, char *argv[])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{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	char buffer[BUFFER SIZE];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	if (argc &lt; 2)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		return -1;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	else {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		strcpy(buffer,argv[1]);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		return 0;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	}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>
                <a:latin typeface="Courier New" panose="02070309020205020404" pitchFamily="49" charset="0"/>
              </a:rPr>
              <a:t>}</a:t>
            </a:r>
            <a:endParaRPr lang="en-US" altLang="en-US">
              <a:latin typeface="Courier New" panose="02070309020205020404" pitchFamily="49" charset="0"/>
            </a:endParaRPr>
          </a:p>
        </p:txBody>
      </p:sp>
      <p:sp>
        <p:nvSpPr>
          <p:cNvPr id="5" name="Content Placeholder 2"/>
          <p:cNvSpPr txBox="1">
            <a:spLocks noChangeArrowheads="1"/>
          </p:cNvSpPr>
          <p:nvPr/>
        </p:nvSpPr>
        <p:spPr bwMode="auto">
          <a:xfrm>
            <a:off x="822325" y="4856163"/>
            <a:ext cx="7616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Code review </a:t>
            </a:r>
            <a:r>
              <a:rPr kumimoji="1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can help – programmers review each other’s code, looking for logic flows, programming flaws</a:t>
            </a: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>
          <a:xfrm>
            <a:off x="841375" y="141288"/>
            <a:ext cx="78994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Code Injection</a:t>
            </a:r>
            <a:endParaRPr lang="en-US" altLang="en-US"/>
          </a:p>
        </p:txBody>
      </p:sp>
      <p:sp>
        <p:nvSpPr>
          <p:cNvPr id="4" name="Content Placeholder 2"/>
          <p:cNvSpPr txBox="1">
            <a:spLocks noChangeArrowheads="1"/>
          </p:cNvSpPr>
          <p:nvPr/>
        </p:nvSpPr>
        <p:spPr>
          <a:xfrm>
            <a:off x="874713" y="1069975"/>
            <a:ext cx="7261225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r>
              <a:rPr kumimoji="1" lang="en-US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Code-injection attack </a:t>
            </a:r>
            <a:r>
              <a:rPr kumimoji="1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occurs when system code is not malicious but has bugs allowing executable code to be added or modified</a:t>
            </a: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r>
              <a:rPr kumimoji="1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Results from poor or insecure programming paradigms, commonly in low level languages like C or C++ which allow for direct memory access through pointers</a:t>
            </a: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r>
              <a:rPr kumimoji="1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Goal is a buffer overflow in which code is placed in a buffer and execution caused by the attack</a:t>
            </a: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r>
              <a:rPr kumimoji="1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Can be run by script kiddies – use tools written but exploit identifiers</a:t>
            </a: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>
          <a:xfrm>
            <a:off x="841375" y="141288"/>
            <a:ext cx="78994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Code Injection (cont.)</a:t>
            </a:r>
            <a:endParaRPr lang="en-US" altLang="en-US"/>
          </a:p>
        </p:txBody>
      </p:sp>
      <p:sp>
        <p:nvSpPr>
          <p:cNvPr id="4" name="Content Placeholder 2"/>
          <p:cNvSpPr txBox="1">
            <a:spLocks noChangeArrowheads="1"/>
          </p:cNvSpPr>
          <p:nvPr/>
        </p:nvSpPr>
        <p:spPr>
          <a:xfrm>
            <a:off x="874713" y="1069975"/>
            <a:ext cx="4919663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r>
              <a:rPr kumimoji="1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Outcomes from code injection include:</a:t>
            </a: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/>
            </a:pPr>
            <a:r>
              <a:rPr kumimoji="1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Frequently use trampoline to code execution to exploit buffer overflow: </a:t>
            </a:r>
            <a:endParaRPr kumimoji="1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kumimoji="1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2765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188" y="1379538"/>
            <a:ext cx="5472112" cy="2682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763" y="4062413"/>
            <a:ext cx="1760537" cy="2003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873125" y="155575"/>
            <a:ext cx="7813675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Great Programming Required?</a:t>
            </a:r>
            <a:endParaRPr lang="en-US" altLang="en-US"/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860425" y="1111250"/>
            <a:ext cx="7218363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For the first step of determining the bug, and second step of writing exploit code, yes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Script kiddies </a:t>
            </a:r>
            <a:r>
              <a:rPr lang="en-US" altLang="en-US"/>
              <a:t>can run pre-written exploit code to attack a given system</a:t>
            </a:r>
            <a:endParaRPr lang="en-US" altLang="en-US"/>
          </a:p>
          <a:p>
            <a:r>
              <a:rPr lang="en-US" altLang="en-US"/>
              <a:t>Attack code can get a shell with the processes</a:t>
            </a:r>
            <a:r>
              <a:rPr lang="ja-JP" altLang="en-US"/>
              <a:t>’</a:t>
            </a:r>
            <a:r>
              <a:rPr lang="en-US" altLang="ja-JP"/>
              <a:t> owner</a:t>
            </a:r>
            <a:r>
              <a:rPr lang="ja-JP" altLang="en-US"/>
              <a:t>’</a:t>
            </a:r>
            <a:r>
              <a:rPr lang="en-US" altLang="ja-JP"/>
              <a:t>s permissions</a:t>
            </a:r>
            <a:endParaRPr lang="en-US" altLang="ja-JP"/>
          </a:p>
          <a:p>
            <a:pPr lvl="1"/>
            <a:r>
              <a:rPr lang="en-US" altLang="en-US"/>
              <a:t>Or open a network port, delete files, download a program, etc</a:t>
            </a:r>
            <a:endParaRPr lang="en-US" altLang="en-US"/>
          </a:p>
          <a:p>
            <a:r>
              <a:rPr lang="en-US" altLang="en-US"/>
              <a:t>Depending on bug, attack can be executed across a network using allowed connections, bypassing firewalls</a:t>
            </a:r>
            <a:endParaRPr lang="en-US" altLang="en-US"/>
          </a:p>
          <a:p>
            <a:r>
              <a:rPr lang="en-US" altLang="en-US"/>
              <a:t>Buffer overflow can be disabled by disabling stack execution or adding bit to page table to indicate </a:t>
            </a:r>
            <a:r>
              <a:rPr lang="ja-JP" altLang="en-US"/>
              <a:t>“</a:t>
            </a:r>
            <a:r>
              <a:rPr lang="en-US" altLang="ja-JP"/>
              <a:t>non-executable</a:t>
            </a:r>
            <a:r>
              <a:rPr lang="ja-JP" altLang="en-US"/>
              <a:t>”</a:t>
            </a:r>
            <a:r>
              <a:rPr lang="en-US" altLang="ja-JP"/>
              <a:t> state</a:t>
            </a:r>
            <a:endParaRPr lang="en-US" altLang="ja-JP"/>
          </a:p>
          <a:p>
            <a:pPr lvl="1"/>
            <a:r>
              <a:rPr lang="en-US" altLang="en-US"/>
              <a:t>Available in SPARC and x86</a:t>
            </a:r>
            <a:endParaRPr lang="en-US" altLang="en-US"/>
          </a:p>
          <a:p>
            <a:pPr lvl="1"/>
            <a:r>
              <a:rPr lang="en-US" altLang="en-US"/>
              <a:t>But still have security exploits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xfrm>
            <a:off x="1020763" y="155575"/>
            <a:ext cx="7666037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Program Threats (Cont.)</a:t>
            </a:r>
            <a:endParaRPr lang="en-US" altLang="en-US"/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785813" y="1150938"/>
            <a:ext cx="8482012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b="1">
                <a:solidFill>
                  <a:srgbClr val="3366FF"/>
                </a:solidFill>
              </a:rPr>
              <a:t>Viruses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Code fragment embedded in legitimate program</a:t>
            </a:r>
            <a:endParaRPr lang="en-US" altLang="en-US"/>
          </a:p>
          <a:p>
            <a:pPr lvl="1"/>
            <a:r>
              <a:rPr lang="en-US" altLang="en-US"/>
              <a:t>Self-replicating, designed to infect other computers</a:t>
            </a:r>
            <a:endParaRPr lang="en-US" altLang="en-US"/>
          </a:p>
          <a:p>
            <a:pPr lvl="1"/>
            <a:r>
              <a:rPr lang="en-US" altLang="en-US"/>
              <a:t>Very specific to CPU architecture, operating system, applications</a:t>
            </a:r>
            <a:endParaRPr lang="en-US" altLang="en-US"/>
          </a:p>
          <a:p>
            <a:pPr lvl="1"/>
            <a:r>
              <a:rPr lang="en-US" altLang="en-US"/>
              <a:t>Usually borne via email or as a macro</a:t>
            </a:r>
            <a:endParaRPr lang="en-US" altLang="en-US"/>
          </a:p>
          <a:p>
            <a:pPr lvl="1"/>
            <a:r>
              <a:rPr lang="en-US" altLang="en-US"/>
              <a:t>Visual Basic Macro to reformat hard drive</a:t>
            </a:r>
            <a:endParaRPr lang="en-US" altLang="en-US"/>
          </a:p>
          <a:p>
            <a:pPr lvl="2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Sub AutoOpen()</a:t>
            </a:r>
            <a:endParaRPr lang="en-US" altLang="en-US" sz="160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Dim oFS</a:t>
            </a:r>
            <a:endParaRPr lang="en-US" altLang="en-US" sz="160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Set oFS = CreateObject(</a:t>
            </a:r>
            <a:r>
              <a:rPr lang="ja-JP" altLang="en-US" sz="1600">
                <a:latin typeface="Courier New" panose="02070309020205020404" pitchFamily="49" charset="0"/>
              </a:rPr>
              <a:t>’’</a:t>
            </a:r>
            <a:r>
              <a:rPr lang="en-US" altLang="ja-JP" sz="1600">
                <a:latin typeface="Courier New" panose="02070309020205020404" pitchFamily="49" charset="0"/>
              </a:rPr>
              <a:t>Scripting.FileSystemObject</a:t>
            </a:r>
            <a:r>
              <a:rPr lang="ja-JP" altLang="en-US" sz="1600">
                <a:latin typeface="Courier New" panose="02070309020205020404" pitchFamily="49" charset="0"/>
              </a:rPr>
              <a:t>’’</a:t>
            </a:r>
            <a:r>
              <a:rPr lang="en-US" altLang="ja-JP" sz="1600">
                <a:latin typeface="Courier New" panose="02070309020205020404" pitchFamily="49" charset="0"/>
              </a:rPr>
              <a:t>)</a:t>
            </a:r>
            <a:endParaRPr lang="en-US" altLang="ja-JP" sz="160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	vs = Shell(</a:t>
            </a:r>
            <a:r>
              <a:rPr lang="ja-JP" altLang="en-US" sz="1600">
                <a:latin typeface="Courier New" panose="02070309020205020404" pitchFamily="49" charset="0"/>
              </a:rPr>
              <a:t>’’</a:t>
            </a:r>
            <a:r>
              <a:rPr lang="en-US" altLang="ja-JP" sz="1600">
                <a:latin typeface="Courier New" panose="02070309020205020404" pitchFamily="49" charset="0"/>
              </a:rPr>
              <a:t>c:command.com /k format c:</a:t>
            </a:r>
            <a:r>
              <a:rPr lang="ja-JP" altLang="en-US" sz="1600">
                <a:latin typeface="Courier New" panose="02070309020205020404" pitchFamily="49" charset="0"/>
              </a:rPr>
              <a:t>’’</a:t>
            </a:r>
            <a:r>
              <a:rPr lang="en-US" altLang="ja-JP" sz="1600">
                <a:latin typeface="Courier New" panose="02070309020205020404" pitchFamily="49" charset="0"/>
              </a:rPr>
              <a:t>,vbHide)</a:t>
            </a:r>
            <a:endParaRPr lang="en-US" altLang="ja-JP" sz="1600">
              <a:latin typeface="Courier New" panose="02070309020205020404" pitchFamily="49" charset="0"/>
            </a:endParaRPr>
          </a:p>
          <a:p>
            <a:pPr lvl="2"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End Sub</a:t>
            </a:r>
            <a:endParaRPr lang="en-US" altLang="en-US" sz="1600">
              <a:latin typeface="Courier New" panose="02070309020205020404" pitchFamily="49" charset="0"/>
            </a:endParaRPr>
          </a:p>
          <a:p>
            <a:pPr lvl="1"/>
            <a:endParaRPr lang="en-US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836613" y="141288"/>
            <a:ext cx="7850187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Program Threats (Cont.)</a:t>
            </a:r>
            <a:endParaRPr lang="en-US" altLang="en-US"/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860425" y="1123950"/>
            <a:ext cx="7559675" cy="4530725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Virus dropper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inserts virus onto the system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Many categories of viruses, literally many thousands of viruses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File / parasitic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Boot / memory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Macro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Source code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Polymorphic to avoid having a </a:t>
            </a:r>
            <a:r>
              <a:rPr lang="en-US" altLang="en-US" b="1">
                <a:solidFill>
                  <a:srgbClr val="3366FF"/>
                </a:solidFill>
              </a:rPr>
              <a:t>virus signature</a:t>
            </a:r>
            <a:endParaRPr lang="en-US" altLang="en-US" b="1">
              <a:solidFill>
                <a:srgbClr val="3366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/>
              <a:t>Encrypted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Stealth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Tunneling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Multipartite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Armored</a:t>
            </a: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787400" y="127000"/>
            <a:ext cx="78994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A Boot-sector Computer Virus</a:t>
            </a:r>
            <a:endParaRPr lang="en-US" altLang="en-US"/>
          </a:p>
        </p:txBody>
      </p:sp>
      <p:pic>
        <p:nvPicPr>
          <p:cNvPr id="3481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600" y="1120775"/>
            <a:ext cx="4953000" cy="5256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Title 1"/>
          <p:cNvSpPr>
            <a:spLocks noGrp="1"/>
          </p:cNvSpPr>
          <p:nvPr>
            <p:ph type="title"/>
          </p:nvPr>
        </p:nvSpPr>
        <p:spPr>
          <a:xfrm>
            <a:off x="457200" y="14128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The Threat Continues</a:t>
            </a:r>
            <a:endParaRPr lang="en-US" altLang="en-US"/>
          </a:p>
        </p:txBody>
      </p:sp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874713" y="1082675"/>
            <a:ext cx="7723187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Attacks still common, still occurring</a:t>
            </a:r>
            <a:endParaRPr lang="en-US" altLang="en-US"/>
          </a:p>
          <a:p>
            <a:r>
              <a:rPr lang="en-US" altLang="en-US"/>
              <a:t>Attacks moved over time from science experiments to tools of organized crime</a:t>
            </a:r>
            <a:endParaRPr lang="en-US" altLang="en-US"/>
          </a:p>
          <a:p>
            <a:pPr lvl="1"/>
            <a:r>
              <a:rPr lang="en-US" altLang="en-US"/>
              <a:t>Targeting specific companies</a:t>
            </a:r>
            <a:endParaRPr lang="en-US" altLang="en-US"/>
          </a:p>
          <a:p>
            <a:pPr lvl="1"/>
            <a:r>
              <a:rPr lang="en-US" altLang="en-US"/>
              <a:t>Creating botnets to use as tool for spam and DDOS delivery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Keystroke logger </a:t>
            </a:r>
            <a:r>
              <a:rPr lang="en-US" altLang="en-US"/>
              <a:t>to grab passwords, credit card numbers</a:t>
            </a:r>
            <a:endParaRPr lang="en-US" altLang="en-US"/>
          </a:p>
          <a:p>
            <a:r>
              <a:rPr lang="en-US" altLang="en-US"/>
              <a:t>Why is Windows the target for most attacks?</a:t>
            </a:r>
            <a:endParaRPr lang="en-US" altLang="en-US"/>
          </a:p>
          <a:p>
            <a:pPr lvl="1"/>
            <a:r>
              <a:rPr lang="en-US" altLang="en-US"/>
              <a:t>Most common</a:t>
            </a:r>
            <a:endParaRPr lang="en-US" altLang="en-US"/>
          </a:p>
          <a:p>
            <a:pPr lvl="1"/>
            <a:r>
              <a:rPr lang="en-US" altLang="en-US"/>
              <a:t>Everyone is an administrator</a:t>
            </a:r>
            <a:endParaRPr lang="en-US" altLang="en-US"/>
          </a:p>
          <a:p>
            <a:pPr lvl="2"/>
            <a:r>
              <a:rPr lang="en-US" altLang="en-US"/>
              <a:t>Licensing required?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Monoculture</a:t>
            </a:r>
            <a:r>
              <a:rPr lang="en-US" altLang="en-US"/>
              <a:t> considered harmful</a:t>
            </a:r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xfrm>
            <a:off x="827088" y="141288"/>
            <a:ext cx="7859712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System and Network Threats</a:t>
            </a:r>
            <a:endParaRPr lang="en-US" altLang="en-US"/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>
          <a:xfrm>
            <a:off x="847725" y="1138238"/>
            <a:ext cx="7313613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>
                <a:solidFill>
                  <a:srgbClr val="000000"/>
                </a:solidFill>
              </a:rPr>
              <a:t>Some systems </a:t>
            </a:r>
            <a:r>
              <a:rPr lang="ja-JP" altLang="en-US">
                <a:solidFill>
                  <a:srgbClr val="000000"/>
                </a:solidFill>
              </a:rPr>
              <a:t>“</a:t>
            </a:r>
            <a:r>
              <a:rPr lang="en-US" altLang="ja-JP">
                <a:solidFill>
                  <a:srgbClr val="000000"/>
                </a:solidFill>
              </a:rPr>
              <a:t>open</a:t>
            </a:r>
            <a:r>
              <a:rPr lang="ja-JP" altLang="en-US">
                <a:solidFill>
                  <a:srgbClr val="000000"/>
                </a:solidFill>
              </a:rPr>
              <a:t>”</a:t>
            </a:r>
            <a:r>
              <a:rPr lang="en-US" altLang="ja-JP">
                <a:solidFill>
                  <a:srgbClr val="000000"/>
                </a:solidFill>
              </a:rPr>
              <a:t> rather than </a:t>
            </a:r>
            <a:r>
              <a:rPr lang="en-US" altLang="ja-JP" b="1">
                <a:solidFill>
                  <a:srgbClr val="3366FF"/>
                </a:solidFill>
              </a:rPr>
              <a:t>secure by default</a:t>
            </a:r>
            <a:endParaRPr lang="en-US" altLang="ja-JP" b="1">
              <a:solidFill>
                <a:srgbClr val="3366FF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Reduce </a:t>
            </a:r>
            <a:r>
              <a:rPr lang="en-US" altLang="en-US" b="1">
                <a:solidFill>
                  <a:srgbClr val="3366FF"/>
                </a:solidFill>
              </a:rPr>
              <a:t>attack surface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But harder to use, more knowledge needed to administer</a:t>
            </a:r>
            <a:endParaRPr lang="en-US" altLang="en-US">
              <a:solidFill>
                <a:srgbClr val="000000"/>
              </a:solidFill>
            </a:endParaRPr>
          </a:p>
          <a:p>
            <a:r>
              <a:rPr lang="en-US" altLang="en-US">
                <a:solidFill>
                  <a:srgbClr val="000000"/>
                </a:solidFill>
              </a:rPr>
              <a:t>Network threats harder to detect, prevent</a:t>
            </a:r>
            <a:endParaRPr lang="en-US" altLang="en-US">
              <a:solidFill>
                <a:srgbClr val="000000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Protection systems weaker</a:t>
            </a:r>
            <a:endParaRPr lang="en-US" altLang="en-US">
              <a:solidFill>
                <a:srgbClr val="000000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More difficult to have a shared secret on which to base access</a:t>
            </a:r>
            <a:endParaRPr lang="en-US" altLang="en-US">
              <a:solidFill>
                <a:srgbClr val="000000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No physical limits once system attached to internet</a:t>
            </a:r>
            <a:endParaRPr lang="en-US" altLang="en-US">
              <a:solidFill>
                <a:srgbClr val="000000"/>
              </a:solidFill>
            </a:endParaRPr>
          </a:p>
          <a:p>
            <a:pPr lvl="2"/>
            <a:r>
              <a:rPr lang="en-US" altLang="en-US">
                <a:solidFill>
                  <a:srgbClr val="000000"/>
                </a:solidFill>
              </a:rPr>
              <a:t>Or on network with system attached to internet</a:t>
            </a:r>
            <a:endParaRPr lang="en-US" altLang="en-US">
              <a:solidFill>
                <a:srgbClr val="000000"/>
              </a:solidFill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Even determining location of connecting system difficult</a:t>
            </a:r>
            <a:endParaRPr lang="en-US" altLang="en-US">
              <a:solidFill>
                <a:srgbClr val="000000"/>
              </a:solidFill>
            </a:endParaRPr>
          </a:p>
          <a:p>
            <a:pPr lvl="2"/>
            <a:r>
              <a:rPr lang="en-US" altLang="en-US">
                <a:solidFill>
                  <a:srgbClr val="000000"/>
                </a:solidFill>
              </a:rPr>
              <a:t>IP address is only knowledge</a:t>
            </a:r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xfrm>
            <a:off x="1404938" y="168275"/>
            <a:ext cx="7513637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System and Network Threats (Cont.)</a:t>
            </a:r>
            <a:endParaRPr lang="en-US" altLang="en-US" sz="2800"/>
          </a:p>
        </p:txBody>
      </p:sp>
      <p:sp>
        <p:nvSpPr>
          <p:cNvPr id="39938" name="Rectangle 3"/>
          <p:cNvSpPr>
            <a:spLocks noGrp="1"/>
          </p:cNvSpPr>
          <p:nvPr>
            <p:ph idx="1"/>
          </p:nvPr>
        </p:nvSpPr>
        <p:spPr>
          <a:xfrm>
            <a:off x="833438" y="1069975"/>
            <a:ext cx="7478712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b="1">
                <a:solidFill>
                  <a:srgbClr val="000000"/>
                </a:solidFill>
              </a:rPr>
              <a:t>Worms</a:t>
            </a:r>
            <a:r>
              <a:rPr lang="en-US" altLang="en-US"/>
              <a:t> – use </a:t>
            </a:r>
            <a:r>
              <a:rPr lang="en-US" altLang="en-US" b="1">
                <a:solidFill>
                  <a:srgbClr val="3366FF"/>
                </a:solidFill>
              </a:rPr>
              <a:t>spawn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mechanism; standalone program</a:t>
            </a:r>
            <a:endParaRPr lang="en-US" altLang="en-US" sz="800"/>
          </a:p>
          <a:p>
            <a:r>
              <a:rPr lang="en-US" altLang="en-US"/>
              <a:t>Internet worm</a:t>
            </a:r>
            <a:endParaRPr lang="en-US" altLang="en-US"/>
          </a:p>
          <a:p>
            <a:pPr lvl="1"/>
            <a:r>
              <a:rPr lang="en-US" altLang="en-US"/>
              <a:t>Exploited UNIX networking features (remote access) and bugs in </a:t>
            </a:r>
            <a:r>
              <a:rPr lang="en-US" altLang="en-US" i="1"/>
              <a:t>finger</a:t>
            </a:r>
            <a:r>
              <a:rPr lang="en-US" altLang="en-US"/>
              <a:t> and </a:t>
            </a:r>
            <a:r>
              <a:rPr lang="en-US" altLang="en-US" i="1"/>
              <a:t>sendmail</a:t>
            </a:r>
            <a:r>
              <a:rPr lang="en-US" altLang="en-US"/>
              <a:t> programs</a:t>
            </a:r>
            <a:endParaRPr lang="en-US" altLang="en-US"/>
          </a:p>
          <a:p>
            <a:pPr lvl="1"/>
            <a:r>
              <a:rPr lang="en-US" altLang="en-US"/>
              <a:t>Exploited trust-relationship mechanism used by </a:t>
            </a:r>
            <a:r>
              <a:rPr lang="en-US" altLang="en-US" i="1"/>
              <a:t>rsh </a:t>
            </a:r>
            <a:r>
              <a:rPr lang="en-US" altLang="en-US"/>
              <a:t>to access friendly systems without use of password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Grappling hook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program uploaded main worm program</a:t>
            </a:r>
            <a:endParaRPr lang="en-US" altLang="en-US"/>
          </a:p>
          <a:p>
            <a:pPr lvl="2"/>
            <a:r>
              <a:rPr lang="en-US" altLang="en-US"/>
              <a:t>99 lines of C code </a:t>
            </a:r>
            <a:endParaRPr lang="en-US" altLang="en-US"/>
          </a:p>
          <a:p>
            <a:pPr lvl="1"/>
            <a:r>
              <a:rPr lang="en-US" altLang="en-US"/>
              <a:t>Hooked system then uploaded main code, tried to attack connected systems</a:t>
            </a:r>
            <a:endParaRPr lang="en-US" altLang="en-US"/>
          </a:p>
          <a:p>
            <a:pPr lvl="1"/>
            <a:r>
              <a:rPr lang="en-US" altLang="en-US"/>
              <a:t>Also tried to break into other users accounts on local system via password guessing</a:t>
            </a:r>
            <a:endParaRPr lang="en-US" altLang="en-US"/>
          </a:p>
          <a:p>
            <a:pPr lvl="1"/>
            <a:r>
              <a:rPr lang="en-US" altLang="en-US"/>
              <a:t>If target system already infected, abort, except for every 7</a:t>
            </a:r>
            <a:r>
              <a:rPr lang="en-US" altLang="en-US" baseline="30000"/>
              <a:t>th</a:t>
            </a:r>
            <a:r>
              <a:rPr lang="en-US" altLang="en-US"/>
              <a:t> time</a:t>
            </a:r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Title 1"/>
          <p:cNvSpPr>
            <a:spLocks noGrp="1"/>
          </p:cNvSpPr>
          <p:nvPr>
            <p:ph type="title"/>
          </p:nvPr>
        </p:nvSpPr>
        <p:spPr>
          <a:xfrm>
            <a:off x="914400" y="127000"/>
            <a:ext cx="7799388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System and Network Threats (Cont.)</a:t>
            </a:r>
            <a:endParaRPr lang="en-US" altLang="en-US" sz="2800"/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889000" y="1096963"/>
            <a:ext cx="687705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b="1"/>
              <a:t>Port scanning</a:t>
            </a:r>
            <a:endParaRPr lang="en-US" altLang="en-US"/>
          </a:p>
          <a:p>
            <a:pPr lvl="1"/>
            <a:r>
              <a:rPr lang="en-US" altLang="en-US"/>
              <a:t>Automated attempt to connect to a range of ports on one or a range of IP addresses</a:t>
            </a:r>
            <a:endParaRPr lang="en-US" altLang="en-US"/>
          </a:p>
          <a:p>
            <a:pPr lvl="1"/>
            <a:r>
              <a:rPr lang="en-US" altLang="en-US"/>
              <a:t>Detection of answering service protocol</a:t>
            </a:r>
            <a:endParaRPr lang="en-US" altLang="en-US"/>
          </a:p>
          <a:p>
            <a:pPr lvl="1"/>
            <a:r>
              <a:rPr lang="en-US" altLang="en-US"/>
              <a:t>Detection of OS and version running on system</a:t>
            </a:r>
            <a:endParaRPr lang="en-US" altLang="en-US"/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nmap </a:t>
            </a:r>
            <a:r>
              <a:rPr lang="en-US" altLang="en-US"/>
              <a:t>scans all ports in a given IP range for a response</a:t>
            </a:r>
            <a:endParaRPr lang="en-US" altLang="en-US"/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nessus</a:t>
            </a:r>
            <a:r>
              <a:rPr lang="en-US" altLang="en-US"/>
              <a:t> has a database of protocols and bugs (and exploits) to apply against a system</a:t>
            </a:r>
            <a:endParaRPr lang="en-US" altLang="en-US"/>
          </a:p>
          <a:p>
            <a:pPr lvl="1"/>
            <a:r>
              <a:rPr lang="en-US" altLang="en-US"/>
              <a:t>Frequently launched from </a:t>
            </a:r>
            <a:r>
              <a:rPr lang="en-US" altLang="en-US" b="1">
                <a:solidFill>
                  <a:srgbClr val="3366FF"/>
                </a:solidFill>
              </a:rPr>
              <a:t>zombie systems</a:t>
            </a:r>
            <a:r>
              <a:rPr lang="en-US" altLang="en-US"/>
              <a:t> </a:t>
            </a:r>
            <a:endParaRPr lang="en-US" altLang="en-US"/>
          </a:p>
          <a:p>
            <a:pPr lvl="2"/>
            <a:r>
              <a:rPr lang="en-US" altLang="en-US"/>
              <a:t>To decrease trace-ability	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Title 1"/>
          <p:cNvSpPr>
            <a:spLocks noGrp="1"/>
          </p:cNvSpPr>
          <p:nvPr>
            <p:ph type="title"/>
          </p:nvPr>
        </p:nvSpPr>
        <p:spPr>
          <a:xfrm>
            <a:off x="982663" y="127000"/>
            <a:ext cx="7704137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System and Network Threats (Cont.)</a:t>
            </a:r>
            <a:endParaRPr lang="en-US" altLang="en-US" sz="2800"/>
          </a:p>
        </p:txBody>
      </p:sp>
      <p:sp>
        <p:nvSpPr>
          <p:cNvPr id="43010" name="Content Placeholder 2"/>
          <p:cNvSpPr>
            <a:spLocks noGrp="1"/>
          </p:cNvSpPr>
          <p:nvPr>
            <p:ph idx="1"/>
          </p:nvPr>
        </p:nvSpPr>
        <p:spPr>
          <a:xfrm>
            <a:off x="828675" y="998538"/>
            <a:ext cx="710882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b="1"/>
              <a:t>Denial of Service</a:t>
            </a:r>
            <a:endParaRPr lang="en-US" altLang="en-US" b="1"/>
          </a:p>
          <a:p>
            <a:pPr lvl="1"/>
            <a:r>
              <a:rPr lang="en-US" altLang="en-US"/>
              <a:t>Overload the targeted computer preventing it from doing any useful work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Distributed Denial-of-Service</a:t>
            </a:r>
            <a:r>
              <a:rPr lang="en-US" altLang="en-US"/>
              <a:t> (</a:t>
            </a:r>
            <a:r>
              <a:rPr lang="en-US" altLang="en-US" b="1">
                <a:solidFill>
                  <a:srgbClr val="3366FF"/>
                </a:solidFill>
              </a:rPr>
              <a:t>DDoS</a:t>
            </a:r>
            <a:r>
              <a:rPr lang="en-US" altLang="en-US"/>
              <a:t>) come from multiple sites at once</a:t>
            </a:r>
            <a:endParaRPr lang="en-US" altLang="en-US"/>
          </a:p>
          <a:p>
            <a:pPr lvl="1"/>
            <a:r>
              <a:rPr lang="en-US" altLang="en-US"/>
              <a:t>Consider the start of the IP-connection handshake (SYN)</a:t>
            </a:r>
            <a:endParaRPr lang="en-US" altLang="en-US"/>
          </a:p>
          <a:p>
            <a:pPr lvl="2"/>
            <a:r>
              <a:rPr lang="en-US" altLang="en-US"/>
              <a:t>How many started-connections can the OS handle?</a:t>
            </a:r>
            <a:endParaRPr lang="en-US" altLang="en-US"/>
          </a:p>
          <a:p>
            <a:pPr lvl="1"/>
            <a:r>
              <a:rPr lang="en-US" altLang="en-US"/>
              <a:t>Consider traffic to a web site</a:t>
            </a:r>
            <a:endParaRPr lang="en-US" altLang="en-US"/>
          </a:p>
          <a:p>
            <a:pPr lvl="2"/>
            <a:r>
              <a:rPr lang="en-US" altLang="en-US"/>
              <a:t>How can you tell the difference between being a target and being really popular?</a:t>
            </a:r>
            <a:endParaRPr lang="en-US" altLang="en-US"/>
          </a:p>
          <a:p>
            <a:pPr lvl="1"/>
            <a:r>
              <a:rPr lang="en-US" altLang="en-US"/>
              <a:t>Accidental – CS students writing bad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/>
              <a:t>code</a:t>
            </a:r>
            <a:endParaRPr lang="en-US" altLang="en-US"/>
          </a:p>
          <a:p>
            <a:pPr lvl="1"/>
            <a:r>
              <a:rPr lang="en-US" altLang="en-US"/>
              <a:t>Purposeful – extortion, punishment</a:t>
            </a:r>
            <a:endParaRPr lang="en-US" altLang="en-US"/>
          </a:p>
          <a:p>
            <a:r>
              <a:rPr lang="en-US" altLang="en-US"/>
              <a:t>Port scanning</a:t>
            </a:r>
            <a:endParaRPr lang="en-US" altLang="en-US"/>
          </a:p>
          <a:p>
            <a:pPr lvl="1"/>
            <a:r>
              <a:rPr lang="en-US" altLang="en-US"/>
              <a:t>Automated tool to look for network ports accepting connections</a:t>
            </a:r>
            <a:endParaRPr lang="en-US" altLang="en-US"/>
          </a:p>
          <a:p>
            <a:pPr lvl="1"/>
            <a:r>
              <a:rPr lang="en-US" altLang="en-US"/>
              <a:t>Used for good and evil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Title 1"/>
          <p:cNvSpPr>
            <a:spLocks noGrp="1"/>
          </p:cNvSpPr>
          <p:nvPr>
            <p:ph type="title"/>
          </p:nvPr>
        </p:nvSpPr>
        <p:spPr>
          <a:xfrm>
            <a:off x="982663" y="127000"/>
            <a:ext cx="7704137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Standard Security Attacks</a:t>
            </a:r>
            <a:endParaRPr lang="en-US" altLang="en-US" sz="2800"/>
          </a:p>
        </p:txBody>
      </p:sp>
      <p:pic>
        <p:nvPicPr>
          <p:cNvPr id="4403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4275" y="1343025"/>
            <a:ext cx="4572000" cy="5092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>
          <a:xfrm>
            <a:off x="855663" y="141288"/>
            <a:ext cx="7967662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Cryptography as a Security Tool</a:t>
            </a:r>
            <a:endParaRPr lang="en-US" altLang="en-US"/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>
          <a:xfrm>
            <a:off x="860425" y="1055688"/>
            <a:ext cx="704215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Broadest security tool available</a:t>
            </a:r>
            <a:endParaRPr lang="en-US" altLang="en-US"/>
          </a:p>
          <a:p>
            <a:pPr lvl="1"/>
            <a:r>
              <a:rPr lang="en-US" altLang="en-US"/>
              <a:t>Internal to a given computer, source and destination of messages can be known and protected</a:t>
            </a:r>
            <a:endParaRPr lang="en-US" altLang="en-US"/>
          </a:p>
          <a:p>
            <a:pPr lvl="2"/>
            <a:r>
              <a:rPr lang="en-US" altLang="en-US"/>
              <a:t>OS creates, manages, protects process IDs, communication ports</a:t>
            </a:r>
            <a:endParaRPr lang="en-US" altLang="en-US"/>
          </a:p>
          <a:p>
            <a:pPr lvl="1"/>
            <a:r>
              <a:rPr lang="en-US" altLang="en-US"/>
              <a:t>Source and destination of messages on network cannot be trusted without cryptography</a:t>
            </a:r>
            <a:endParaRPr lang="en-US" altLang="en-US"/>
          </a:p>
          <a:p>
            <a:pPr lvl="2"/>
            <a:r>
              <a:rPr lang="en-US" altLang="en-US"/>
              <a:t>Local network – IP address?</a:t>
            </a:r>
            <a:endParaRPr lang="en-US" altLang="en-US"/>
          </a:p>
          <a:p>
            <a:pPr lvl="3"/>
            <a:r>
              <a:rPr lang="en-US" altLang="en-US"/>
              <a:t>Consider unauthorized host added</a:t>
            </a:r>
            <a:endParaRPr lang="en-US" altLang="en-US"/>
          </a:p>
          <a:p>
            <a:pPr lvl="2"/>
            <a:r>
              <a:rPr lang="en-US" altLang="en-US"/>
              <a:t>WAN / Internet – how to establish authenticity </a:t>
            </a:r>
            <a:endParaRPr lang="en-US" altLang="en-US"/>
          </a:p>
          <a:p>
            <a:pPr lvl="3"/>
            <a:r>
              <a:rPr lang="en-US" altLang="en-US"/>
              <a:t>Not via IP address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Title 1"/>
          <p:cNvSpPr>
            <a:spLocks noGrp="1"/>
          </p:cNvSpPr>
          <p:nvPr>
            <p:ph type="title"/>
          </p:nvPr>
        </p:nvSpPr>
        <p:spPr>
          <a:xfrm>
            <a:off x="457200" y="127000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Cryptography</a:t>
            </a:r>
            <a:endParaRPr lang="en-US" altLang="en-US"/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820738" y="1138238"/>
            <a:ext cx="6589712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Means to constrain potential senders (</a:t>
            </a:r>
            <a:r>
              <a:rPr lang="en-US" altLang="en-US" i="1"/>
              <a:t>sources</a:t>
            </a:r>
            <a:r>
              <a:rPr lang="en-US" altLang="en-US"/>
              <a:t>) and / or receivers (</a:t>
            </a:r>
            <a:r>
              <a:rPr lang="en-US" altLang="en-US" i="1"/>
              <a:t>destinations</a:t>
            </a:r>
            <a:r>
              <a:rPr lang="en-US" altLang="en-US"/>
              <a:t>) of </a:t>
            </a:r>
            <a:r>
              <a:rPr lang="en-US" altLang="en-US" i="1"/>
              <a:t>messages</a:t>
            </a:r>
            <a:endParaRPr lang="en-US" altLang="en-US" i="1"/>
          </a:p>
          <a:p>
            <a:pPr lvl="1"/>
            <a:r>
              <a:rPr lang="en-US" altLang="en-US"/>
              <a:t>Based on secrets (</a:t>
            </a:r>
            <a:r>
              <a:rPr lang="en-US" altLang="en-US" b="1">
                <a:solidFill>
                  <a:srgbClr val="3366FF"/>
                </a:solidFill>
              </a:rPr>
              <a:t>keys</a:t>
            </a:r>
            <a:r>
              <a:rPr lang="en-US" altLang="en-US"/>
              <a:t>)</a:t>
            </a:r>
            <a:endParaRPr lang="en-US" altLang="en-US"/>
          </a:p>
          <a:p>
            <a:pPr lvl="1"/>
            <a:r>
              <a:rPr lang="en-US" altLang="en-US"/>
              <a:t>Enables</a:t>
            </a:r>
            <a:endParaRPr lang="en-US" altLang="en-US"/>
          </a:p>
          <a:p>
            <a:pPr lvl="2"/>
            <a:r>
              <a:rPr lang="en-US" altLang="en-US"/>
              <a:t>Confirmation of source</a:t>
            </a:r>
            <a:endParaRPr lang="en-US" altLang="en-US"/>
          </a:p>
          <a:p>
            <a:pPr lvl="2"/>
            <a:r>
              <a:rPr lang="en-US" altLang="en-US"/>
              <a:t>Receipt only by certain destination</a:t>
            </a:r>
            <a:endParaRPr lang="en-US" altLang="en-US"/>
          </a:p>
          <a:p>
            <a:pPr lvl="2"/>
            <a:r>
              <a:rPr lang="en-US" altLang="en-US"/>
              <a:t>Trust relationship between sender and receiver</a:t>
            </a:r>
            <a:endParaRPr lang="en-US" altLang="en-US"/>
          </a:p>
          <a:p>
            <a:pPr lvl="2"/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5" name="Rectangle 2"/>
          <p:cNvSpPr>
            <a:spLocks noGrp="1"/>
          </p:cNvSpPr>
          <p:nvPr>
            <p:ph type="title"/>
          </p:nvPr>
        </p:nvSpPr>
        <p:spPr>
          <a:xfrm>
            <a:off x="935038" y="182563"/>
            <a:ext cx="795655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Implementing Security Defenses</a:t>
            </a:r>
            <a:endParaRPr lang="en-US" altLang="en-US"/>
          </a:p>
        </p:txBody>
      </p:sp>
      <p:sp>
        <p:nvSpPr>
          <p:cNvPr id="93186" name="Rectangle 3"/>
          <p:cNvSpPr>
            <a:spLocks noGrp="1"/>
          </p:cNvSpPr>
          <p:nvPr>
            <p:ph idx="1"/>
          </p:nvPr>
        </p:nvSpPr>
        <p:spPr>
          <a:xfrm>
            <a:off x="847725" y="1055688"/>
            <a:ext cx="7750175" cy="48260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1600" b="1">
                <a:solidFill>
                  <a:srgbClr val="3366FF"/>
                </a:solidFill>
              </a:rPr>
              <a:t>Defense in depth</a:t>
            </a:r>
            <a:r>
              <a:rPr lang="en-US" altLang="en-US" sz="1600">
                <a:solidFill>
                  <a:srgbClr val="3366FF"/>
                </a:solidFill>
              </a:rPr>
              <a:t> </a:t>
            </a:r>
            <a:r>
              <a:rPr lang="en-US" altLang="en-US" sz="1600"/>
              <a:t>is most common security theory – multiple layers of security</a:t>
            </a:r>
            <a:endParaRPr lang="en-US" altLang="en-US" sz="1600"/>
          </a:p>
          <a:p>
            <a:r>
              <a:rPr lang="en-US" altLang="en-US" sz="1600" b="1">
                <a:solidFill>
                  <a:srgbClr val="3366FF"/>
                </a:solidFill>
              </a:rPr>
              <a:t>Security policy </a:t>
            </a:r>
            <a:r>
              <a:rPr lang="en-US" altLang="en-US" sz="1600"/>
              <a:t>describes what is being secured</a:t>
            </a:r>
            <a:endParaRPr lang="en-US" altLang="en-US" sz="1600"/>
          </a:p>
          <a:p>
            <a:r>
              <a:rPr lang="en-US" altLang="en-US" sz="1600"/>
              <a:t>Vulnerability assessment compares real state of system / network compared to security policy</a:t>
            </a:r>
            <a:endParaRPr lang="en-US" altLang="en-US" sz="1600"/>
          </a:p>
          <a:p>
            <a:r>
              <a:rPr lang="en-US" altLang="en-US" sz="1600"/>
              <a:t>Intrusion detection endeavors to detect attempted or successful intrusions</a:t>
            </a:r>
            <a:endParaRPr lang="en-US" altLang="en-US" sz="1600"/>
          </a:p>
          <a:p>
            <a:pPr lvl="1"/>
            <a:r>
              <a:rPr lang="en-US" altLang="en-US" sz="1600" b="1">
                <a:solidFill>
                  <a:srgbClr val="3366FF"/>
                </a:solidFill>
              </a:rPr>
              <a:t>Signature-based</a:t>
            </a:r>
            <a:r>
              <a:rPr lang="en-US" altLang="en-US" sz="1600">
                <a:solidFill>
                  <a:srgbClr val="3366FF"/>
                </a:solidFill>
              </a:rPr>
              <a:t> </a:t>
            </a:r>
            <a:r>
              <a:rPr lang="en-US" altLang="en-US" sz="1600"/>
              <a:t>detection spots known bad patterns</a:t>
            </a:r>
            <a:endParaRPr lang="en-US" altLang="en-US" sz="1600"/>
          </a:p>
          <a:p>
            <a:pPr lvl="1"/>
            <a:r>
              <a:rPr lang="en-US" altLang="en-US" sz="1600" b="1">
                <a:solidFill>
                  <a:srgbClr val="3366FF"/>
                </a:solidFill>
              </a:rPr>
              <a:t>Anomaly detection</a:t>
            </a:r>
            <a:r>
              <a:rPr lang="en-US" altLang="en-US" sz="1600">
                <a:solidFill>
                  <a:srgbClr val="3366FF"/>
                </a:solidFill>
              </a:rPr>
              <a:t> </a:t>
            </a:r>
            <a:r>
              <a:rPr lang="en-US" altLang="en-US" sz="1600"/>
              <a:t>spots differences from normal behavior</a:t>
            </a:r>
            <a:endParaRPr lang="en-US" altLang="en-US" sz="1600"/>
          </a:p>
          <a:p>
            <a:pPr lvl="2"/>
            <a:r>
              <a:rPr lang="en-US" altLang="en-US" sz="1600"/>
              <a:t>Can detect </a:t>
            </a:r>
            <a:r>
              <a:rPr lang="en-US" altLang="en-US" sz="1600" b="1">
                <a:solidFill>
                  <a:srgbClr val="3366FF"/>
                </a:solidFill>
              </a:rPr>
              <a:t>zero-day</a:t>
            </a:r>
            <a:r>
              <a:rPr lang="en-US" altLang="en-US" sz="1600">
                <a:solidFill>
                  <a:srgbClr val="3366FF"/>
                </a:solidFill>
              </a:rPr>
              <a:t> </a:t>
            </a:r>
            <a:r>
              <a:rPr lang="en-US" altLang="en-US" sz="1600"/>
              <a:t>attacks</a:t>
            </a:r>
            <a:endParaRPr lang="en-US" altLang="en-US" sz="1600"/>
          </a:p>
          <a:p>
            <a:pPr lvl="1"/>
            <a:r>
              <a:rPr lang="en-US" altLang="en-US" sz="1600" b="1">
                <a:solidFill>
                  <a:srgbClr val="3366FF"/>
                </a:solidFill>
              </a:rPr>
              <a:t>False-positives</a:t>
            </a:r>
            <a:r>
              <a:rPr lang="en-US" altLang="en-US" sz="1600">
                <a:solidFill>
                  <a:srgbClr val="3366FF"/>
                </a:solidFill>
              </a:rPr>
              <a:t> </a:t>
            </a:r>
            <a:r>
              <a:rPr lang="en-US" altLang="en-US" sz="1600"/>
              <a:t>and </a:t>
            </a:r>
            <a:r>
              <a:rPr lang="en-US" altLang="en-US" sz="1600" b="1">
                <a:solidFill>
                  <a:srgbClr val="3366FF"/>
                </a:solidFill>
              </a:rPr>
              <a:t>false-negatives</a:t>
            </a:r>
            <a:r>
              <a:rPr lang="en-US" altLang="en-US" sz="1600">
                <a:solidFill>
                  <a:srgbClr val="3366FF"/>
                </a:solidFill>
              </a:rPr>
              <a:t> </a:t>
            </a:r>
            <a:r>
              <a:rPr lang="en-US" altLang="en-US" sz="1600"/>
              <a:t>a problem</a:t>
            </a:r>
            <a:endParaRPr lang="en-US" altLang="en-US" sz="1600"/>
          </a:p>
          <a:p>
            <a:r>
              <a:rPr lang="en-US" altLang="en-US" sz="1600"/>
              <a:t>Virus protection</a:t>
            </a:r>
            <a:endParaRPr lang="en-US" altLang="en-US" sz="1600"/>
          </a:p>
          <a:p>
            <a:pPr lvl="1"/>
            <a:r>
              <a:rPr lang="en-US" altLang="en-US" sz="1600"/>
              <a:t>Searching all programs or programs at execution for known virus patterns</a:t>
            </a:r>
            <a:endParaRPr lang="en-US" altLang="en-US" sz="1600"/>
          </a:p>
          <a:p>
            <a:pPr lvl="1"/>
            <a:r>
              <a:rPr lang="en-US" altLang="en-US" sz="1600"/>
              <a:t>Or run in </a:t>
            </a:r>
            <a:r>
              <a:rPr lang="en-US" altLang="en-US" sz="1600" b="1">
                <a:solidFill>
                  <a:srgbClr val="3366FF"/>
                </a:solidFill>
              </a:rPr>
              <a:t>sandbox</a:t>
            </a:r>
            <a:r>
              <a:rPr lang="en-US" altLang="en-US" sz="1600"/>
              <a:t> so can’t damage system</a:t>
            </a:r>
            <a:endParaRPr lang="en-US" altLang="en-US" sz="1600"/>
          </a:p>
          <a:p>
            <a:r>
              <a:rPr lang="en-US" altLang="en-US" sz="1600"/>
              <a:t>Auditing, accounting, and logging of all or specific system or network activities</a:t>
            </a:r>
            <a:endParaRPr lang="en-US" altLang="en-US" sz="1600"/>
          </a:p>
          <a:p>
            <a:r>
              <a:rPr lang="en-US" altLang="en-US" sz="1600"/>
              <a:t>Practice </a:t>
            </a:r>
            <a:r>
              <a:rPr lang="en-US" altLang="en-US" sz="1600" b="1">
                <a:solidFill>
                  <a:srgbClr val="3366FF"/>
                </a:solidFill>
              </a:rPr>
              <a:t>safe computing </a:t>
            </a:r>
            <a:r>
              <a:rPr lang="en-US" altLang="en-US" sz="1600"/>
              <a:t>– avoid sources of infection, download from only “good” sites, etc</a:t>
            </a:r>
            <a:endParaRPr lang="en-US" altLang="en-US"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Rectangle 2"/>
          <p:cNvSpPr>
            <a:spLocks noGrp="1"/>
          </p:cNvSpPr>
          <p:nvPr>
            <p:ph type="title"/>
          </p:nvPr>
        </p:nvSpPr>
        <p:spPr>
          <a:xfrm>
            <a:off x="917575" y="190500"/>
            <a:ext cx="8229600" cy="477838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400"/>
              <a:t>Firewalling to Protect Systems and Networks</a:t>
            </a:r>
            <a:endParaRPr lang="en-US" altLang="en-US" sz="2400"/>
          </a:p>
        </p:txBody>
      </p:sp>
      <p:sp>
        <p:nvSpPr>
          <p:cNvPr id="95234" name="Rectangle 3"/>
          <p:cNvSpPr>
            <a:spLocks noGrp="1"/>
          </p:cNvSpPr>
          <p:nvPr>
            <p:ph idx="1"/>
          </p:nvPr>
        </p:nvSpPr>
        <p:spPr>
          <a:xfrm>
            <a:off x="860425" y="1069975"/>
            <a:ext cx="7327900" cy="4910138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en-US"/>
              <a:t>A network </a:t>
            </a:r>
            <a:r>
              <a:rPr lang="en-US" altLang="en-US" b="1">
                <a:solidFill>
                  <a:srgbClr val="3366FF"/>
                </a:solidFill>
              </a:rPr>
              <a:t>firewall</a:t>
            </a:r>
            <a:r>
              <a:rPr lang="en-US" altLang="en-US"/>
              <a:t> is placed between trusted and untrusted hosts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The firewall limits network access between these two </a:t>
            </a:r>
            <a:r>
              <a:rPr lang="en-US" altLang="en-US" b="1">
                <a:solidFill>
                  <a:srgbClr val="3366FF"/>
                </a:solidFill>
              </a:rPr>
              <a:t>security domains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Can be tunneled or spoofed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Tunneling allows disallowed protocol to travel within allowed protocol (i.e., telnet inside of HTTP)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Firewall rules typically based on host name or IP address which can be spoofed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Personal firewall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is software layer on given host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Can monitor / limit traffic to and from the host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Application proxy firewall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understands application protocol and can control them (i.e., SMTP)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System-call firewall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monitors all important system calls and apply rules to them (i.e., this program can execute that system call)</a:t>
            </a: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Rectangle 2"/>
          <p:cNvSpPr>
            <a:spLocks noGrp="1"/>
          </p:cNvSpPr>
          <p:nvPr>
            <p:ph type="title"/>
          </p:nvPr>
        </p:nvSpPr>
        <p:spPr>
          <a:xfrm>
            <a:off x="1163638" y="179388"/>
            <a:ext cx="8034337" cy="457200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000"/>
              <a:t>Network Security Through  Domain Separation Via Firewall</a:t>
            </a:r>
            <a:endParaRPr lang="en-US" altLang="en-US" sz="2000"/>
          </a:p>
        </p:txBody>
      </p:sp>
      <p:pic>
        <p:nvPicPr>
          <p:cNvPr id="972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150" y="1609725"/>
            <a:ext cx="6634163" cy="4044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49" name="Rectangle 2"/>
          <p:cNvSpPr>
            <a:spLocks noGrp="1"/>
          </p:cNvSpPr>
          <p:nvPr>
            <p:ph type="title"/>
          </p:nvPr>
        </p:nvSpPr>
        <p:spPr>
          <a:xfrm>
            <a:off x="484188" y="168275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Example: Windows 10</a:t>
            </a:r>
            <a:endParaRPr lang="en-US" altLang="en-US" sz="2800"/>
          </a:p>
        </p:txBody>
      </p:sp>
      <p:sp>
        <p:nvSpPr>
          <p:cNvPr id="104450" name="Rectangle 3"/>
          <p:cNvSpPr>
            <a:spLocks noGrp="1"/>
          </p:cNvSpPr>
          <p:nvPr>
            <p:ph idx="1"/>
          </p:nvPr>
        </p:nvSpPr>
        <p:spPr>
          <a:xfrm>
            <a:off x="827088" y="1065213"/>
            <a:ext cx="7007225" cy="53435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1600"/>
              <a:t>Security is based on </a:t>
            </a:r>
            <a:r>
              <a:rPr lang="en-US" altLang="en-US" sz="1600" b="1">
                <a:solidFill>
                  <a:srgbClr val="3366FF"/>
                </a:solidFill>
              </a:rPr>
              <a:t>user accounts</a:t>
            </a:r>
            <a:endParaRPr lang="en-US" altLang="en-US" sz="1600" b="1">
              <a:solidFill>
                <a:srgbClr val="3366FF"/>
              </a:solidFill>
            </a:endParaRPr>
          </a:p>
          <a:p>
            <a:pPr lvl="1"/>
            <a:r>
              <a:rPr lang="en-US" altLang="en-US" sz="1600"/>
              <a:t>Each user has unique security ID</a:t>
            </a:r>
            <a:endParaRPr lang="en-US" altLang="en-US" sz="1600"/>
          </a:p>
          <a:p>
            <a:pPr lvl="1"/>
            <a:r>
              <a:rPr lang="en-US" altLang="en-US" sz="1600"/>
              <a:t>Login to ID creates </a:t>
            </a:r>
            <a:r>
              <a:rPr lang="en-US" altLang="en-US" sz="1600" b="1">
                <a:solidFill>
                  <a:srgbClr val="3366FF"/>
                </a:solidFill>
              </a:rPr>
              <a:t>security access token</a:t>
            </a:r>
            <a:endParaRPr lang="en-US" altLang="en-US" sz="1600" b="1">
              <a:solidFill>
                <a:srgbClr val="3366FF"/>
              </a:solidFill>
            </a:endParaRPr>
          </a:p>
          <a:p>
            <a:pPr lvl="2"/>
            <a:r>
              <a:rPr lang="en-US" altLang="en-US" sz="1600"/>
              <a:t>Includes security ID for user, for user</a:t>
            </a:r>
            <a:r>
              <a:rPr lang="ja-JP" altLang="en-US" sz="1600"/>
              <a:t>’</a:t>
            </a:r>
            <a:r>
              <a:rPr lang="en-US" altLang="ja-JP" sz="1600"/>
              <a:t>s groups, and special privileges</a:t>
            </a:r>
            <a:endParaRPr lang="en-US" altLang="ja-JP" sz="1600"/>
          </a:p>
          <a:p>
            <a:pPr lvl="2"/>
            <a:r>
              <a:rPr lang="en-US" altLang="en-US" sz="1600"/>
              <a:t>Every process gets copy of token</a:t>
            </a:r>
            <a:endParaRPr lang="en-US" altLang="en-US" sz="1600"/>
          </a:p>
          <a:p>
            <a:pPr lvl="2"/>
            <a:r>
              <a:rPr lang="en-US" altLang="en-US" sz="1600"/>
              <a:t>System checks token to determine if access allowed or denied</a:t>
            </a:r>
            <a:endParaRPr lang="en-US" altLang="en-US" sz="1600"/>
          </a:p>
          <a:p>
            <a:r>
              <a:rPr lang="en-US" altLang="en-US" sz="1600"/>
              <a:t>Uses a </a:t>
            </a:r>
            <a:r>
              <a:rPr lang="en-US" altLang="en-US" sz="1600" b="1">
                <a:solidFill>
                  <a:srgbClr val="3366FF"/>
                </a:solidFill>
              </a:rPr>
              <a:t>subject</a:t>
            </a:r>
            <a:r>
              <a:rPr lang="en-US" altLang="en-US" sz="1600"/>
              <a:t> model to ensure access security</a:t>
            </a:r>
            <a:endParaRPr lang="en-US" altLang="en-US" sz="1600"/>
          </a:p>
          <a:p>
            <a:pPr lvl="1"/>
            <a:r>
              <a:rPr lang="en-US" altLang="en-US" sz="1600"/>
              <a:t>A subject tracks and manages permissions for each program that a user runs</a:t>
            </a:r>
            <a:endParaRPr lang="en-US" altLang="en-US" sz="1600"/>
          </a:p>
          <a:p>
            <a:r>
              <a:rPr lang="en-US" altLang="en-US" sz="1600"/>
              <a:t>Each object in Windows has a security attribute defined by a security descriptor</a:t>
            </a:r>
            <a:endParaRPr lang="en-US" altLang="en-US" sz="1600"/>
          </a:p>
          <a:p>
            <a:pPr lvl="1"/>
            <a:r>
              <a:rPr lang="en-US" altLang="en-US" sz="1600"/>
              <a:t>For example, a file has a </a:t>
            </a:r>
            <a:r>
              <a:rPr lang="en-US" altLang="en-US" sz="1600" b="1">
                <a:solidFill>
                  <a:srgbClr val="3366FF"/>
                </a:solidFill>
              </a:rPr>
              <a:t>security descriptor </a:t>
            </a:r>
            <a:r>
              <a:rPr lang="en-US" altLang="en-US" sz="1600"/>
              <a:t>that indicates the access permissions for all users</a:t>
            </a:r>
            <a:endParaRPr lang="en-US" altLang="en-US"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Rectangle 2"/>
          <p:cNvSpPr>
            <a:spLocks noGrp="1"/>
          </p:cNvSpPr>
          <p:nvPr>
            <p:ph type="title"/>
          </p:nvPr>
        </p:nvSpPr>
        <p:spPr>
          <a:xfrm>
            <a:off x="484188" y="168275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Example: Windows 7 (Cont.)</a:t>
            </a:r>
            <a:endParaRPr lang="en-US" altLang="en-US" sz="2800"/>
          </a:p>
        </p:txBody>
      </p:sp>
      <p:sp>
        <p:nvSpPr>
          <p:cNvPr id="106498" name="Rectangle 3"/>
          <p:cNvSpPr>
            <a:spLocks noGrp="1"/>
          </p:cNvSpPr>
          <p:nvPr>
            <p:ph idx="1"/>
          </p:nvPr>
        </p:nvSpPr>
        <p:spPr>
          <a:xfrm>
            <a:off x="895350" y="1065213"/>
            <a:ext cx="6856413" cy="53435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Win added mandatory integrity controls – assigns </a:t>
            </a:r>
            <a:r>
              <a:rPr lang="en-US" altLang="en-US" b="1">
                <a:solidFill>
                  <a:srgbClr val="3366FF"/>
                </a:solidFill>
              </a:rPr>
              <a:t>integrity label </a:t>
            </a:r>
            <a:r>
              <a:rPr lang="en-US" altLang="en-US"/>
              <a:t>to each securable object and subject</a:t>
            </a:r>
            <a:endParaRPr lang="en-US" altLang="en-US"/>
          </a:p>
          <a:p>
            <a:pPr lvl="1"/>
            <a:r>
              <a:rPr lang="en-US" altLang="en-US"/>
              <a:t>Subject must have access requested in discretionary access-control list to gain access to object</a:t>
            </a:r>
            <a:endParaRPr lang="en-US" altLang="en-US"/>
          </a:p>
          <a:p>
            <a:r>
              <a:rPr lang="en-US" altLang="en-US"/>
              <a:t>Security attributes described by security descriptor</a:t>
            </a:r>
            <a:endParaRPr lang="en-US" altLang="en-US"/>
          </a:p>
          <a:p>
            <a:pPr lvl="1"/>
            <a:r>
              <a:rPr lang="en-US" altLang="en-US"/>
              <a:t>Owner ID, group security ID, discretionary access-control list, system access-control list</a:t>
            </a:r>
            <a:endParaRPr lang="en-US" altLang="en-US"/>
          </a:p>
          <a:p>
            <a:r>
              <a:rPr lang="en-US" altLang="en-US"/>
              <a:t>Objects are either </a:t>
            </a:r>
            <a:r>
              <a:rPr lang="en-US" altLang="en-US" b="1">
                <a:solidFill>
                  <a:srgbClr val="3366FF"/>
                </a:solidFill>
              </a:rPr>
              <a:t>container objects </a:t>
            </a:r>
            <a:r>
              <a:rPr lang="en-US" altLang="en-US"/>
              <a:t>(containing other objects, for example a file system directory) or </a:t>
            </a:r>
            <a:r>
              <a:rPr lang="en-US" altLang="en-US" b="1">
                <a:solidFill>
                  <a:srgbClr val="3366FF"/>
                </a:solidFill>
              </a:rPr>
              <a:t>noncontainer objects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By default an object created in a container inherits permissions from the parent object</a:t>
            </a:r>
            <a:endParaRPr lang="en-US" altLang="en-US"/>
          </a:p>
          <a:p>
            <a:r>
              <a:rPr lang="en-US" altLang="en-US"/>
              <a:t>Some Win 10 security challenges result from security settings being weak by default, the number of services included in a Win 10 system, and the number of applications typically installed on a Win 10 system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en-US"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End of Chapter 16</a:t>
            </a:r>
            <a:endParaRPr lang="en-US" altLang="en-US"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11306</Words>
  <Application>WPS Presentation</Application>
  <PresentationFormat>On-screen Show (4:3)</PresentationFormat>
  <Paragraphs>343</Paragraphs>
  <Slides>31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6" baseType="lpstr">
      <vt:lpstr>Arial</vt:lpstr>
      <vt:lpstr>SimSun</vt:lpstr>
      <vt:lpstr>Wingdings</vt:lpstr>
      <vt:lpstr>Verdana</vt:lpstr>
      <vt:lpstr>MS PGothic</vt:lpstr>
      <vt:lpstr>Helvetica</vt:lpstr>
      <vt:lpstr>Monotype Sorts</vt:lpstr>
      <vt:lpstr>Wingdings</vt:lpstr>
      <vt:lpstr>Webdings</vt:lpstr>
      <vt:lpstr>Times New Roman</vt:lpstr>
      <vt:lpstr>Courier New</vt:lpstr>
      <vt:lpstr>Symbol</vt:lpstr>
      <vt:lpstr>Microsoft YaHei</vt:lpstr>
      <vt:lpstr>Arial Unicode MS</vt:lpstr>
      <vt:lpstr>os-8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Dazy Nam</cp:lastModifiedBy>
  <cp:revision>198</cp:revision>
  <cp:lastPrinted>2013-09-10T17:57:57Z</cp:lastPrinted>
  <dcterms:created xsi:type="dcterms:W3CDTF">2011-01-13T23:43:38Z</dcterms:created>
  <dcterms:modified xsi:type="dcterms:W3CDTF">2026-09-19T11:51:02Z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DAFBC03147754EB683F2255E0B0C69BB_13</vt:lpwstr>
  </property>
</Properties>
</file>