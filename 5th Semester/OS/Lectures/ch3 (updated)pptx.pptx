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1"/>
  </p:handoutMasterIdLst>
  <p:sldIdLst>
    <p:sldId id="330" r:id="rId3"/>
    <p:sldId id="411" r:id="rId5"/>
    <p:sldId id="412" r:id="rId6"/>
    <p:sldId id="413" r:id="rId7"/>
    <p:sldId id="468" r:id="rId8"/>
    <p:sldId id="414" r:id="rId9"/>
    <p:sldId id="499" r:id="rId10"/>
    <p:sldId id="415" r:id="rId11"/>
    <p:sldId id="416" r:id="rId12"/>
    <p:sldId id="417" r:id="rId13"/>
    <p:sldId id="419" r:id="rId14"/>
    <p:sldId id="469" r:id="rId15"/>
    <p:sldId id="421" r:id="rId16"/>
    <p:sldId id="422" r:id="rId17"/>
    <p:sldId id="423" r:id="rId18"/>
    <p:sldId id="500" r:id="rId19"/>
    <p:sldId id="501" r:id="rId20"/>
    <p:sldId id="426" r:id="rId21"/>
    <p:sldId id="428" r:id="rId22"/>
    <p:sldId id="429" r:id="rId23"/>
    <p:sldId id="430" r:id="rId24"/>
    <p:sldId id="431" r:id="rId25"/>
    <p:sldId id="434" r:id="rId26"/>
    <p:sldId id="471" r:id="rId27"/>
    <p:sldId id="502" r:id="rId28"/>
    <p:sldId id="435" r:id="rId29"/>
    <p:sldId id="467" r:id="rId30"/>
  </p:sldIdLst>
  <p:sldSz cx="9144000" cy="6858000" type="screen4x3"/>
  <p:notesSz cx="7010400" cy="92964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77" userDrawn="1">
          <p15:clr>
            <a:srgbClr val="A4A3A4"/>
          </p15:clr>
        </p15:guide>
        <p15:guide id="2" pos="43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109"/>
    <p:restoredTop sz="94634"/>
  </p:normalViewPr>
  <p:slideViewPr>
    <p:cSldViewPr snapToGrid="0" showGuides="1">
      <p:cViewPr varScale="1">
        <p:scale>
          <a:sx n="146" d="100"/>
          <a:sy n="146" d="100"/>
        </p:scale>
        <p:origin x="1832" y="160"/>
      </p:cViewPr>
      <p:guideLst>
        <p:guide orient="horz" pos="777"/>
        <p:guide pos="4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4" Type="http://schemas.openxmlformats.org/officeDocument/2006/relationships/tableStyles" Target="tableStyles.xml"/><Relationship Id="rId33" Type="http://schemas.openxmlformats.org/officeDocument/2006/relationships/viewProps" Target="viewProps.xml"/><Relationship Id="rId32" Type="http://schemas.openxmlformats.org/officeDocument/2006/relationships/presProps" Target="presProps.xml"/><Relationship Id="rId31" Type="http://schemas.openxmlformats.org/officeDocument/2006/relationships/handoutMaster" Target="handoutMasters/handoutMaster1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54" tIns="44128" rIns="88254" bIns="44128" numCol="1" anchor="ctr" anchorCtr="0" compatLnSpc="1"/>
          <a:lstStyle>
            <a:lvl1pPr defTabSz="883285">
              <a:defRPr sz="1100">
                <a:latin typeface="Helvetica" pitchFamily="-8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l" defTabSz="88328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60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3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54" tIns="44128" rIns="88254" bIns="44128" numCol="1" anchor="ctr" anchorCtr="0" compatLnSpc="1"/>
          <a:lstStyle>
            <a:lvl1pPr algn="r" defTabSz="883285">
              <a:defRPr sz="1100">
                <a:latin typeface="Helvetica" pitchFamily="-8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r" defTabSz="88328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60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54" tIns="44128" rIns="88254" bIns="44128" numCol="1" anchor="b" anchorCtr="0" compatLnSpc="1"/>
          <a:lstStyle>
            <a:lvl1pPr defTabSz="883285">
              <a:defRPr sz="1100">
                <a:latin typeface="Helvetica" pitchFamily="-8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l" defTabSz="88328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60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3" cy="442913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88254" tIns="44128" rIns="88254" bIns="44128" numCol="1" anchor="b" anchorCtr="0" compatLnSpc="1"/>
          <a:lstStyle>
            <a:lvl1pPr algn="r" defTabSz="882650">
              <a:defRPr sz="1100" smtClean="0">
                <a:latin typeface="Helvetica" pitchFamily="-84" charset="0"/>
              </a:defRPr>
            </a:lvl1pPr>
          </a:lstStyle>
          <a:p>
            <a:pPr marL="0" marR="0" lvl="0" indent="0" algn="r" defTabSz="88265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A9AD1C-79B1-294A-B9DE-3A095D034465}" type="slidenum">
              <a:rPr kumimoji="0" lang="en-US" altLang="x-none" sz="11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</a:fld>
            <a:endParaRPr kumimoji="0" lang="en-US" altLang="x-none" sz="11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52" tIns="46576" rIns="93152" bIns="46576" numCol="1" anchor="ctr" anchorCtr="0" compatLnSpc="1"/>
          <a:lstStyle>
            <a:lvl1pPr defTabSz="93091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l" defTabSz="9309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52" tIns="46576" rIns="93152" bIns="46576" numCol="1" anchor="ctr" anchorCtr="0" compatLnSpc="1"/>
          <a:lstStyle>
            <a:lvl1pPr algn="r" defTabSz="93091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r" defTabSz="9309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3076" name="Rectangle 4"/>
          <p:cNvSpPr>
            <a:spLocks noTextEdit="1"/>
          </p:cNvSpPr>
          <p:nvPr>
            <p:ph type="sldImg" idx="2"/>
          </p:nvPr>
        </p:nvSpPr>
        <p:spPr>
          <a:xfrm>
            <a:off x="1182688" y="698500"/>
            <a:ext cx="4646612" cy="34861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52" tIns="46576" rIns="93152" bIns="46576" numCol="1" anchor="ctr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rPr>
              <a:t>Click to edit Master text styles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52" tIns="46576" rIns="93152" bIns="46576" numCol="1" anchor="b" anchorCtr="0" compatLnSpc="1"/>
          <a:lstStyle>
            <a:lvl1pPr defTabSz="930910">
              <a:defRPr sz="1200">
                <a:latin typeface="Times New Roman" panose="02020603050405020304" pitchFamily="18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</a:lstStyle>
          <a:p>
            <a:pPr marL="0" marR="0" lvl="0" indent="0" algn="l" defTabSz="93091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none" lIns="93152" tIns="46576" rIns="93152" bIns="46576" numCol="1" anchor="b" anchorCtr="0" compatLnSpc="1"/>
          <a:lstStyle>
            <a:lvl1pPr algn="r" defTabSz="930275">
              <a:defRPr sz="1200" smtClean="0">
                <a:latin typeface="Times New Roman" panose="02020603050405020304" pitchFamily="18" charset="0"/>
              </a:defRPr>
            </a:lvl1pPr>
          </a:lstStyle>
          <a:p>
            <a:pPr marL="0" marR="0" lvl="0" indent="0" algn="r" defTabSz="930275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3B26BB7-61CF-334D-826C-16EB9A81DCBE}" type="slidenum">
              <a:rPr kumimoji="0" lang="en-US" altLang="x-none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MS PGothic" panose="020B0600070205080204" pitchFamily="34" charset="-128"/>
                <a:cs typeface="+mn-cs"/>
              </a:rPr>
            </a:fld>
            <a:endParaRPr kumimoji="0" lang="en-US" altLang="x-none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MS PGothic" panose="020B0600070205080204" pitchFamily="3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5" name="Rectangle 7"/>
          <p:cNvSpPr txBox="1">
            <a:spLocks noGrp="1"/>
          </p:cNvSpPr>
          <p:nvPr>
            <p:ph type="sldNum" sz="quarter"/>
          </p:nvPr>
        </p:nvSpPr>
        <p:spPr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</a:ln>
        </p:spPr>
        <p:txBody>
          <a:bodyPr wrap="none" lIns="93152" tIns="46576" rIns="93152" bIns="46576" anchor="b" anchorCtr="0"/>
          <a:p>
            <a:pPr lvl="0" algn="r" defTabSz="929005"/>
            <a:fld id="{9A0DB2DC-4C9A-4742-B13C-FB6460FD3503}" type="slidenum">
              <a:rPr lang="en-US" altLang="en-US" sz="1200">
                <a:latin typeface="Times New Roman" panose="02020603050405020304" pitchFamily="18" charset="0"/>
              </a:rPr>
            </a:fld>
            <a:endParaRPr lang="en-US" altLang="en-US" sz="1200">
              <a:latin typeface="Times New Roman" panose="02020603050405020304" pitchFamily="18" charset="0"/>
            </a:endParaRPr>
          </a:p>
        </p:txBody>
      </p:sp>
      <p:sp>
        <p:nvSpPr>
          <p:cNvPr id="6146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819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1024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8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1229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1433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1638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1945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2150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2355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2560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2867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072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6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277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481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686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891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096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0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301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505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710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4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325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529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6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837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414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13414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none" lIns="93152" tIns="46576" rIns="93152" bIns="46576" anchor="ctr" anchorCtr="0"/>
          <a:p>
            <a:pPr lvl="0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170" name="Group 3"/>
          <p:cNvGrpSpPr/>
          <p:nvPr/>
        </p:nvGrpSpPr>
        <p:grpSpPr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14" name="Rectangle 4"/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x-none" altLang="x-none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5" name="Rectangle 5"/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x-none" altLang="x-none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sp>
          <p:nvSpPr>
            <p:cNvPr id="16" name="Rectangle 6"/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x-none" altLang="x-none" sz="18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Verdan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</p:grpSp>
      <p:sp>
        <p:nvSpPr>
          <p:cNvPr id="17" name="Text Box 7"/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Silberschatz, Galvin and Gagne ©2018</a:t>
            </a:r>
            <a:endParaRPr kumimoji="0" lang="en-US" sz="1000" b="1" i="0" u="none" strike="noStrike" kern="1200" cap="none" spc="0" normalizeH="0" baseline="0" noProof="0" dirty="0" smtClean="0">
              <a:ln>
                <a:noFill/>
              </a:ln>
              <a:solidFill>
                <a:srgbClr val="336699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8" name="Text Box 8"/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Operating System Concepts – 10</a:t>
            </a:r>
            <a:r>
              <a:rPr kumimoji="0" lang="en-US" sz="1000" b="1" i="0" u="none" strike="noStrike" kern="1200" cap="none" spc="0" normalizeH="0" baseline="30000" noProof="0" dirty="0" smtClean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th</a:t>
            </a:r>
            <a:r>
              <a:rPr kumimoji="0" lang="en-US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33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 Edition</a:t>
            </a:r>
            <a:endParaRPr kumimoji="0" lang="en-US" sz="1000" b="1" i="0" u="none" strike="noStrike" kern="1200" cap="none" spc="0" normalizeH="0" baseline="0" noProof="0" dirty="0" smtClean="0">
              <a:ln>
                <a:noFill/>
              </a:ln>
              <a:solidFill>
                <a:srgbClr val="336699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35173" name="Picture 9" descr="dino_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0738" y="4157663"/>
            <a:ext cx="2062162" cy="1593850"/>
          </a:xfrm>
          <a:prstGeom prst="rect">
            <a:avLst/>
          </a:prstGeom>
          <a:noFill/>
          <a:ln w="76200" cap="flat" cmpd="sng">
            <a:solidFill>
              <a:srgbClr val="336699"/>
            </a:solidFill>
            <a:prstDash val="solid"/>
            <a:miter/>
            <a:headEnd type="none" w="med" len="med"/>
            <a:tailEnd type="none" w="med" len="med"/>
          </a:ln>
        </p:spPr>
      </p:pic>
      <p:sp>
        <p:nvSpPr>
          <p:cNvPr id="20" name="Rectangle 10"/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x-none" altLang="x-none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Verdan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None/>
              <a:defRPr/>
            </a:pPr>
            <a:endParaRPr kumimoji="1" lang="en-US" sz="3200" b="0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3.jpeg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2" descr="dino_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85750" y="0"/>
            <a:ext cx="1195388" cy="908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76262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806450" y="1233488"/>
            <a:ext cx="8229600" cy="453072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  <a:p>
            <a:pPr lvl="2"/>
            <a:r>
              <a:rPr lang="en-US" altLang="en-US"/>
              <a:t>Third level</a:t>
            </a:r>
            <a:endParaRPr lang="en-US" altLang="en-US"/>
          </a:p>
          <a:p>
            <a:pPr lvl="3"/>
            <a:r>
              <a:rPr lang="en-US" altLang="en-US"/>
              <a:t>Fourth level</a:t>
            </a:r>
            <a:endParaRPr lang="en-US" altLang="en-US"/>
          </a:p>
          <a:p>
            <a:pPr lvl="4"/>
            <a:r>
              <a:rPr lang="en-US" altLang="en-US"/>
              <a:t>Fifth level</a:t>
            </a:r>
            <a:endParaRPr lang="en-US" altLang="en-US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x-none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0" name="Line 6"/>
          <p:cNvSpPr/>
          <p:nvPr/>
        </p:nvSpPr>
        <p:spPr>
          <a:xfrm>
            <a:off x="457200" y="860425"/>
            <a:ext cx="8077200" cy="0"/>
          </a:xfrm>
          <a:prstGeom prst="line">
            <a:avLst/>
          </a:prstGeom>
          <a:ln w="19050" cap="flat" cmpd="sng">
            <a:solidFill>
              <a:srgbClr val="336699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1031" name="Rectangle 7"/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x-none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2" name="Rectangle 8"/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x-none" altLang="x-none" sz="24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3" name="Text Box 9"/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x-none" sz="1000" b="1" i="0" u="none" strike="noStrike" kern="1200" cap="none" spc="0" normalizeH="0" baseline="0" noProof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3.</a:t>
            </a:r>
            <a:fld id="{B510D172-2899-D841-9E38-43B6E9738599}" type="slidenum">
              <a:rPr kumimoji="0" lang="en-US" altLang="x-none" sz="1000" b="1" i="0" u="none" strike="noStrike" kern="1200" cap="none" spc="0" normalizeH="0" baseline="0" noProof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</a:fld>
            <a:endParaRPr kumimoji="0" lang="en-US" altLang="x-none" sz="1000" b="1" i="0" u="none" strike="noStrike" kern="1200" cap="none" spc="0" normalizeH="0" baseline="0" noProof="0" smtClean="0">
              <a:ln>
                <a:noFill/>
              </a:ln>
              <a:solidFill>
                <a:srgbClr val="006699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4" name="Text Box 10"/>
          <p:cNvSpPr txBox="1">
            <a:spLocks noChangeArrowheads="1"/>
          </p:cNvSpPr>
          <p:nvPr/>
        </p:nvSpPr>
        <p:spPr bwMode="auto">
          <a:xfrm>
            <a:off x="6430963" y="66135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Silberschatz, Galvin and Gagne ©2018</a:t>
            </a:r>
            <a:endParaRPr kumimoji="0" lang="en-US" sz="1000" b="1" i="0" u="none" strike="noStrike" kern="1200" cap="none" spc="0" normalizeH="0" baseline="0" noProof="0" dirty="0" smtClean="0">
              <a:ln>
                <a:noFill/>
              </a:ln>
              <a:solidFill>
                <a:srgbClr val="006699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35" name="Text Box 11"/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Operating System Concepts – 10</a:t>
            </a:r>
            <a:r>
              <a:rPr kumimoji="0" lang="en-US" sz="1000" b="1" i="0" u="none" strike="noStrike" kern="1200" cap="none" spc="0" normalizeH="0" baseline="30000" noProof="0" dirty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th</a:t>
            </a:r>
            <a:r>
              <a:rPr kumimoji="0" lang="en-US" sz="10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6699"/>
                </a:solidFill>
                <a:effectLst/>
                <a:uLnTx/>
                <a:uFillTx/>
                <a:latin typeface="Helvetica" pitchFamily="-84" charset="0"/>
                <a:ea typeface="MS PGothic" panose="020B0600070205080204" pitchFamily="34" charset="-128"/>
                <a:cs typeface="+mn-cs"/>
              </a:rPr>
              <a:t> Edition</a:t>
            </a:r>
            <a:endParaRPr kumimoji="0" lang="en-US" sz="1000" b="1" i="0" u="none" strike="noStrike" kern="1200" cap="none" spc="0" normalizeH="0" baseline="0" noProof="0" dirty="0" smtClean="0">
              <a:ln>
                <a:noFill/>
              </a:ln>
              <a:solidFill>
                <a:srgbClr val="006699"/>
              </a:solidFill>
              <a:effectLst/>
              <a:uLnTx/>
              <a:uFillTx/>
              <a:latin typeface="Helvetica" pitchFamily="-84" charset="0"/>
              <a:ea typeface="MS PGothic" panose="020B0600070205080204" pitchFamily="34" charset="-128"/>
              <a:cs typeface="+mn-cs"/>
            </a:endParaRPr>
          </a:p>
        </p:txBody>
      </p:sp>
      <p:pic>
        <p:nvPicPr>
          <p:cNvPr id="1036" name="Picture 12" descr="dino_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73988" y="5849938"/>
            <a:ext cx="1284287" cy="792162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anose="020B0600070205080204" pitchFamily="34" charset="-128"/>
          <a:cs typeface="MS PGothic" panose="020B0600070205080204" pitchFamily="34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  <a:ea typeface="MS PGothic" panose="020B0600070205080204" pitchFamily="34" charset="-128"/>
          <a:cs typeface="MS PGothic" panose="020B0600070205080204" pitchFamily="34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-84" charset="2"/>
        <a:buChar char="n"/>
        <a:defRPr kumimoji="1">
          <a:solidFill>
            <a:schemeClr val="tx1"/>
          </a:solidFill>
          <a:latin typeface="+mn-lt"/>
          <a:ea typeface="MS PGothic" panose="020B0600070205080204" pitchFamily="34" charset="-128"/>
          <a:cs typeface="MS PGothic" panose="020B0600070205080204" pitchFamily="34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-84" charset="2"/>
        <a:buChar char="l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anose="020B0600070205080204" pitchFamily="34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1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2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1" name="Rectangle 4"/>
          <p:cNvSpPr>
            <a:spLocks noGrp="1"/>
          </p:cNvSpPr>
          <p:nvPr>
            <p:ph type="ctrTitle"/>
          </p:nvPr>
        </p:nvSpPr>
        <p:spPr>
          <a:xfrm>
            <a:off x="371475" y="1831975"/>
            <a:ext cx="8458200" cy="1143000"/>
          </a:xfrm>
          <a:ln/>
        </p:spPr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lang="en-US" altLang="en-US"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Chapter 3:  Processes</a:t>
            </a:r>
            <a:endParaRPr lang="en-US" altLang="en-US"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9" name="Rectangle 2"/>
          <p:cNvSpPr>
            <a:spLocks noGrp="1"/>
          </p:cNvSpPr>
          <p:nvPr>
            <p:ph type="title"/>
          </p:nvPr>
        </p:nvSpPr>
        <p:spPr>
          <a:xfrm>
            <a:off x="1644650" y="182563"/>
            <a:ext cx="6380163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Chapter 3:  Processes</a:t>
            </a:r>
            <a:endParaRPr lang="en-US" altLang="en-US"/>
          </a:p>
        </p:txBody>
      </p:sp>
      <p:sp>
        <p:nvSpPr>
          <p:cNvPr id="7170" name="Rectangle 3"/>
          <p:cNvSpPr>
            <a:spLocks noGrp="1"/>
          </p:cNvSpPr>
          <p:nvPr>
            <p:ph idx="1"/>
          </p:nvPr>
        </p:nvSpPr>
        <p:spPr>
          <a:xfrm>
            <a:off x="806450" y="1120775"/>
            <a:ext cx="7370763" cy="3822700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Process Concept</a:t>
            </a:r>
            <a:endParaRPr lang="en-US" altLang="en-US"/>
          </a:p>
          <a:p>
            <a:r>
              <a:rPr lang="en-US" altLang="en-US"/>
              <a:t>Process Scheduling</a:t>
            </a:r>
            <a:endParaRPr lang="en-US" altLang="en-US"/>
          </a:p>
          <a:p>
            <a:r>
              <a:rPr lang="en-US" altLang="en-US"/>
              <a:t>Operations on Processes</a:t>
            </a:r>
            <a:endParaRPr lang="en-US" altLang="en-US"/>
          </a:p>
          <a:p>
            <a:r>
              <a:rPr lang="en-US" altLang="en-US"/>
              <a:t>Interprocess Communication</a:t>
            </a:r>
            <a:endParaRPr lang="en-US" altLang="en-US"/>
          </a:p>
          <a:p>
            <a:r>
              <a:rPr lang="en-US" altLang="en-US"/>
              <a:t>IPC in Shared-Memory Systems</a:t>
            </a:r>
            <a:endParaRPr lang="en-US" altLang="en-US"/>
          </a:p>
          <a:p>
            <a:r>
              <a:rPr lang="en-US" altLang="en-US"/>
              <a:t>IPC in Message-Passing Systems</a:t>
            </a:r>
            <a:endParaRPr lang="en-US" altLang="en-US"/>
          </a:p>
          <a:p>
            <a:r>
              <a:rPr lang="en-US" altLang="en-US"/>
              <a:t>Examples of IPC Systems</a:t>
            </a:r>
            <a:endParaRPr lang="en-US" altLang="en-US"/>
          </a:p>
          <a:p>
            <a:r>
              <a:rPr lang="en-US" altLang="en-US"/>
              <a:t>Communication in Client-Server Systems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7" name="Title 1"/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Objectives</a:t>
            </a:r>
            <a:endParaRPr lang="en-US" altLang="en-US"/>
          </a:p>
        </p:txBody>
      </p:sp>
      <p:sp>
        <p:nvSpPr>
          <p:cNvPr id="9218" name="Content Placeholder 2"/>
          <p:cNvSpPr>
            <a:spLocks noGrp="1"/>
          </p:cNvSpPr>
          <p:nvPr>
            <p:ph idx="1"/>
          </p:nvPr>
        </p:nvSpPr>
        <p:spPr>
          <a:xfrm>
            <a:off x="838200" y="1138238"/>
            <a:ext cx="6823075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Identify the separate components of a process and illustrate how they are represented and scheduled in an operating system.</a:t>
            </a:r>
            <a:endParaRPr lang="en-US" altLang="en-US"/>
          </a:p>
          <a:p>
            <a:r>
              <a:rPr lang="en-US" altLang="en-US"/>
              <a:t>Describe how processes are created and terminated in an operating system, including developing programs using the appropriate system calls that perform these operations.</a:t>
            </a:r>
            <a:endParaRPr lang="en-US" altLang="en-US"/>
          </a:p>
          <a:p>
            <a:r>
              <a:rPr lang="en-US" altLang="en-US"/>
              <a:t>Describe and contrast interprocess communication using shared memory and message passing.</a:t>
            </a:r>
            <a:endParaRPr lang="en-US" altLang="en-US"/>
          </a:p>
          <a:p>
            <a:r>
              <a:rPr lang="en-US" altLang="en-US"/>
              <a:t>Design programs that uses pipes and POSIX shared memory to perform interprocess communication.</a:t>
            </a:r>
            <a:endParaRPr lang="en-US" altLang="en-US"/>
          </a:p>
          <a:p>
            <a:r>
              <a:rPr lang="en-US" altLang="en-US"/>
              <a:t>Describe client-server communication using sockets and remote procedure calls.</a:t>
            </a:r>
            <a:endParaRPr lang="en-US" altLang="en-US"/>
          </a:p>
          <a:p>
            <a:r>
              <a:rPr lang="en-US" altLang="en-US"/>
              <a:t>Design kernel modules that interact with the Linux operating system.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5" name="Rectangle 2"/>
          <p:cNvSpPr>
            <a:spLocks noGrp="1"/>
          </p:cNvSpPr>
          <p:nvPr>
            <p:ph type="title"/>
          </p:nvPr>
        </p:nvSpPr>
        <p:spPr>
          <a:xfrm>
            <a:off x="1576388" y="166688"/>
            <a:ext cx="6107112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Process Concept</a:t>
            </a:r>
            <a:endParaRPr lang="en-US" altLang="en-US"/>
          </a:p>
        </p:txBody>
      </p:sp>
      <p:sp>
        <p:nvSpPr>
          <p:cNvPr id="11266" name="Rectangle 3"/>
          <p:cNvSpPr>
            <a:spLocks noGrp="1"/>
          </p:cNvSpPr>
          <p:nvPr>
            <p:ph idx="1"/>
          </p:nvPr>
        </p:nvSpPr>
        <p:spPr>
          <a:xfrm>
            <a:off x="928688" y="1177925"/>
            <a:ext cx="7370762" cy="4786313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90000"/>
              </a:lnSpc>
            </a:pPr>
            <a:r>
              <a:rPr lang="en-US" altLang="en-US"/>
              <a:t>An operating system executes a variety of programs that run as a process.</a:t>
            </a:r>
            <a:endParaRPr lang="en-US" altLang="en-US"/>
          </a:p>
          <a:p>
            <a:pPr>
              <a:lnSpc>
                <a:spcPct val="90000"/>
              </a:lnSpc>
            </a:pPr>
            <a:r>
              <a:rPr lang="en-US" altLang="en-US" b="1">
                <a:solidFill>
                  <a:srgbClr val="3366FF"/>
                </a:solidFill>
              </a:rPr>
              <a:t>Process</a:t>
            </a:r>
            <a:r>
              <a:rPr lang="en-US" altLang="en-US"/>
              <a:t> – a program in execution; process execution must progress in sequential fashion</a:t>
            </a:r>
            <a:endParaRPr lang="en-US" altLang="en-US"/>
          </a:p>
          <a:p>
            <a:r>
              <a:rPr lang="en-US" altLang="en-US"/>
              <a:t>Multiple parts</a:t>
            </a:r>
            <a:endParaRPr lang="en-US" altLang="en-US"/>
          </a:p>
          <a:p>
            <a:pPr lvl="1"/>
            <a:r>
              <a:rPr lang="en-US" altLang="en-US"/>
              <a:t>The program code, also called </a:t>
            </a:r>
            <a:r>
              <a:rPr lang="en-US" altLang="en-US" b="1">
                <a:solidFill>
                  <a:srgbClr val="3366FF"/>
                </a:solidFill>
              </a:rPr>
              <a:t>text section</a:t>
            </a:r>
            <a:endParaRPr lang="en-US" altLang="en-US" b="1">
              <a:solidFill>
                <a:srgbClr val="3366FF"/>
              </a:solidFill>
            </a:endParaRPr>
          </a:p>
          <a:p>
            <a:pPr lvl="1"/>
            <a:r>
              <a:rPr lang="en-US" altLang="en-US"/>
              <a:t>Current activity including</a:t>
            </a:r>
            <a:r>
              <a:rPr lang="en-US" altLang="en-US" b="1">
                <a:solidFill>
                  <a:srgbClr val="3366FF"/>
                </a:solidFill>
              </a:rPr>
              <a:t> program</a:t>
            </a:r>
            <a:r>
              <a:rPr lang="en-US" altLang="en-US" b="1"/>
              <a:t> </a:t>
            </a:r>
            <a:r>
              <a:rPr lang="en-US" altLang="en-US" b="1">
                <a:solidFill>
                  <a:srgbClr val="3366FF"/>
                </a:solidFill>
              </a:rPr>
              <a:t>counter</a:t>
            </a:r>
            <a:r>
              <a:rPr lang="en-US" altLang="en-US"/>
              <a:t>, processor registers</a:t>
            </a:r>
            <a:endParaRPr lang="en-US" altLang="en-US"/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Stack</a:t>
            </a:r>
            <a:r>
              <a:rPr lang="en-US" altLang="en-US" b="1"/>
              <a:t> </a:t>
            </a:r>
            <a:r>
              <a:rPr lang="en-US" altLang="en-US"/>
              <a:t>containing temporary data</a:t>
            </a:r>
            <a:endParaRPr lang="en-US" altLang="en-US"/>
          </a:p>
          <a:p>
            <a:pPr lvl="2"/>
            <a:r>
              <a:rPr lang="en-US" altLang="en-US"/>
              <a:t>Function parameters, return addresses, local variables</a:t>
            </a:r>
            <a:endParaRPr lang="en-US" altLang="en-US"/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Data section</a:t>
            </a:r>
            <a:r>
              <a:rPr lang="en-US" altLang="en-US" b="1"/>
              <a:t> </a:t>
            </a:r>
            <a:r>
              <a:rPr lang="en-US" altLang="en-US"/>
              <a:t>containing global variables</a:t>
            </a:r>
            <a:endParaRPr lang="en-US" altLang="en-US"/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Heap</a:t>
            </a:r>
            <a:r>
              <a:rPr lang="en-US" altLang="en-US" b="1"/>
              <a:t> </a:t>
            </a:r>
            <a:r>
              <a:rPr lang="en-US" altLang="en-US"/>
              <a:t>containing memory dynamically allocated during run time</a:t>
            </a:r>
            <a:endParaRPr lang="en-US" altLang="en-US"/>
          </a:p>
          <a:p>
            <a:pPr>
              <a:lnSpc>
                <a:spcPct val="90000"/>
              </a:lnSpc>
              <a:buNone/>
            </a:pPr>
            <a:endParaRPr lang="en-US" altLang="en-US"/>
          </a:p>
          <a:p>
            <a:pPr>
              <a:lnSpc>
                <a:spcPct val="90000"/>
              </a:lnSpc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3" name="Rectangle 2"/>
          <p:cNvSpPr>
            <a:spLocks noGrp="1"/>
          </p:cNvSpPr>
          <p:nvPr>
            <p:ph type="title"/>
          </p:nvPr>
        </p:nvSpPr>
        <p:spPr>
          <a:xfrm>
            <a:off x="1576388" y="155575"/>
            <a:ext cx="6107112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Process Concept (Cont.)</a:t>
            </a:r>
            <a:endParaRPr lang="en-US" altLang="en-US"/>
          </a:p>
        </p:txBody>
      </p:sp>
      <p:sp>
        <p:nvSpPr>
          <p:cNvPr id="13314" name="Rectangle 3"/>
          <p:cNvSpPr>
            <a:spLocks noGrp="1"/>
          </p:cNvSpPr>
          <p:nvPr>
            <p:ph idx="1"/>
          </p:nvPr>
        </p:nvSpPr>
        <p:spPr>
          <a:xfrm>
            <a:off x="933450" y="1041400"/>
            <a:ext cx="7164388" cy="4786313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Program is </a:t>
            </a:r>
            <a:r>
              <a:rPr lang="en-US" altLang="en-US" b="1" i="1"/>
              <a:t>passive</a:t>
            </a:r>
            <a:r>
              <a:rPr lang="en-US" altLang="en-US"/>
              <a:t> entity stored on disk (</a:t>
            </a:r>
            <a:r>
              <a:rPr lang="en-US" altLang="en-US" b="1">
                <a:solidFill>
                  <a:srgbClr val="3366FF"/>
                </a:solidFill>
              </a:rPr>
              <a:t>executable file</a:t>
            </a:r>
            <a:r>
              <a:rPr lang="en-US" altLang="en-US"/>
              <a:t>); process is </a:t>
            </a:r>
            <a:r>
              <a:rPr lang="en-US" altLang="en-US" b="1" i="1"/>
              <a:t>active </a:t>
            </a:r>
            <a:endParaRPr lang="en-US" altLang="en-US" b="1" i="1"/>
          </a:p>
          <a:p>
            <a:pPr lvl="1"/>
            <a:r>
              <a:rPr lang="en-US" altLang="en-US"/>
              <a:t>Program becomes process when executable file loaded into memory</a:t>
            </a:r>
            <a:endParaRPr lang="en-US" altLang="en-US"/>
          </a:p>
          <a:p>
            <a:r>
              <a:rPr lang="en-US" altLang="en-US"/>
              <a:t>Execution of program started via GUI mouse clicks, command line entry of its name, etc</a:t>
            </a:r>
            <a:endParaRPr lang="en-US" altLang="en-US"/>
          </a:p>
          <a:p>
            <a:r>
              <a:rPr lang="en-US" altLang="en-US"/>
              <a:t>One program can be several processes</a:t>
            </a:r>
            <a:endParaRPr lang="en-US" altLang="en-US"/>
          </a:p>
          <a:p>
            <a:pPr lvl="1"/>
            <a:r>
              <a:rPr lang="en-US" altLang="en-US"/>
              <a:t>Consider multiple users executing the same program</a:t>
            </a:r>
            <a:endParaRPr lang="en-US" altLang="en-US"/>
          </a:p>
          <a:p>
            <a:pPr>
              <a:lnSpc>
                <a:spcPct val="90000"/>
              </a:lnSpc>
            </a:pPr>
            <a:endParaRPr lang="en-US" altLang="en-US"/>
          </a:p>
          <a:p>
            <a:pPr>
              <a:lnSpc>
                <a:spcPct val="90000"/>
              </a:lnSpc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1" name="Rectangle 2"/>
          <p:cNvSpPr>
            <a:spLocks noGrp="1"/>
          </p:cNvSpPr>
          <p:nvPr>
            <p:ph type="title"/>
          </p:nvPr>
        </p:nvSpPr>
        <p:spPr>
          <a:xfrm>
            <a:off x="457200" y="166688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Process in Memory</a:t>
            </a:r>
            <a:endParaRPr lang="en-US" altLang="en-US"/>
          </a:p>
        </p:txBody>
      </p:sp>
      <p:pic>
        <p:nvPicPr>
          <p:cNvPr id="1536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7550" y="1595438"/>
            <a:ext cx="2655888" cy="42497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t>Memory Layout of a C Program</a:t>
            </a:r>
          </a:p>
        </p:txBody>
      </p:sp>
      <p:pic>
        <p:nvPicPr>
          <p:cNvPr id="17410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2500" y="1701800"/>
            <a:ext cx="7227888" cy="34337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3" name="Rectangle 2"/>
          <p:cNvSpPr>
            <a:spLocks noGrp="1"/>
          </p:cNvSpPr>
          <p:nvPr>
            <p:ph type="title"/>
          </p:nvPr>
        </p:nvSpPr>
        <p:spPr>
          <a:xfrm>
            <a:off x="1360488" y="182563"/>
            <a:ext cx="6251575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Process State</a:t>
            </a:r>
            <a:endParaRPr lang="en-US" altLang="en-US"/>
          </a:p>
        </p:txBody>
      </p:sp>
      <p:sp>
        <p:nvSpPr>
          <p:cNvPr id="18434" name="Rectangle 3"/>
          <p:cNvSpPr>
            <a:spLocks noGrp="1"/>
          </p:cNvSpPr>
          <p:nvPr>
            <p:ph idx="1"/>
          </p:nvPr>
        </p:nvSpPr>
        <p:spPr>
          <a:xfrm>
            <a:off x="806450" y="1246188"/>
            <a:ext cx="7370763" cy="325437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As a process executes, it changes </a:t>
            </a:r>
            <a:r>
              <a:rPr lang="en-US" altLang="en-US" b="1">
                <a:solidFill>
                  <a:srgbClr val="3366FF"/>
                </a:solidFill>
              </a:rPr>
              <a:t>state</a:t>
            </a:r>
            <a:endParaRPr lang="en-US" altLang="en-US" b="1">
              <a:solidFill>
                <a:srgbClr val="3366FF"/>
              </a:solidFill>
            </a:endParaRPr>
          </a:p>
          <a:p>
            <a:pPr lvl="1"/>
            <a:r>
              <a:rPr lang="en-US" altLang="en-US" b="1"/>
              <a:t>New</a:t>
            </a:r>
            <a:r>
              <a:rPr lang="en-US" altLang="en-US"/>
              <a:t>:  The process is being created</a:t>
            </a:r>
            <a:endParaRPr lang="en-US" altLang="en-US"/>
          </a:p>
          <a:p>
            <a:pPr lvl="1"/>
            <a:r>
              <a:rPr lang="en-US" altLang="en-US" b="1"/>
              <a:t>Running</a:t>
            </a:r>
            <a:r>
              <a:rPr lang="en-US" altLang="en-US"/>
              <a:t>:  Instructions are being executed</a:t>
            </a:r>
            <a:endParaRPr lang="en-US" altLang="en-US"/>
          </a:p>
          <a:p>
            <a:pPr lvl="1"/>
            <a:r>
              <a:rPr lang="en-US" altLang="en-US" b="1"/>
              <a:t>Waiting</a:t>
            </a:r>
            <a:r>
              <a:rPr lang="en-US" altLang="en-US"/>
              <a:t>:  The process is waiting for some event to occur</a:t>
            </a:r>
            <a:endParaRPr lang="en-US" altLang="en-US"/>
          </a:p>
          <a:p>
            <a:pPr lvl="1"/>
            <a:r>
              <a:rPr lang="en-US" altLang="en-US" b="1"/>
              <a:t>Ready</a:t>
            </a:r>
            <a:r>
              <a:rPr lang="en-US" altLang="en-US"/>
              <a:t>:  The process is waiting to be assigned to a processor</a:t>
            </a:r>
            <a:endParaRPr lang="en-US" altLang="en-US"/>
          </a:p>
          <a:p>
            <a:pPr lvl="1"/>
            <a:r>
              <a:rPr lang="en-US" altLang="en-US" b="1"/>
              <a:t>Terminated</a:t>
            </a:r>
            <a:r>
              <a:rPr lang="en-US" altLang="en-US"/>
              <a:t>:  The process has finished execution</a:t>
            </a:r>
            <a:endParaRPr lang="en-US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1" name="Rectangle 2"/>
          <p:cNvSpPr>
            <a:spLocks noGrp="1"/>
          </p:cNvSpPr>
          <p:nvPr>
            <p:ph type="title"/>
          </p:nvPr>
        </p:nvSpPr>
        <p:spPr>
          <a:xfrm>
            <a:off x="739775" y="182563"/>
            <a:ext cx="7947025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Diagram of Process State</a:t>
            </a:r>
            <a:endParaRPr lang="en-US" altLang="en-US"/>
          </a:p>
        </p:txBody>
      </p:sp>
      <p:pic>
        <p:nvPicPr>
          <p:cNvPr id="2048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913" y="2238375"/>
            <a:ext cx="5591175" cy="217963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29" name="Rectangle 2"/>
          <p:cNvSpPr>
            <a:spLocks noGrp="1"/>
          </p:cNvSpPr>
          <p:nvPr>
            <p:ph type="title"/>
          </p:nvPr>
        </p:nvSpPr>
        <p:spPr>
          <a:xfrm>
            <a:off x="1166813" y="136525"/>
            <a:ext cx="7519987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Process Control Block (PCB)</a:t>
            </a:r>
            <a:endParaRPr lang="en-US" altLang="en-US"/>
          </a:p>
        </p:txBody>
      </p:sp>
      <p:sp>
        <p:nvSpPr>
          <p:cNvPr id="22530" name="Rectangle 3"/>
          <p:cNvSpPr>
            <a:spLocks noGrp="1"/>
          </p:cNvSpPr>
          <p:nvPr>
            <p:ph idx="1"/>
          </p:nvPr>
        </p:nvSpPr>
        <p:spPr>
          <a:xfrm>
            <a:off x="806450" y="1041400"/>
            <a:ext cx="4579938" cy="4772025"/>
          </a:xfrm>
          <a:ln/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en-US"/>
              <a:t>Information associated with each process </a:t>
            </a:r>
            <a:endParaRPr lang="en-US" altLang="en-US"/>
          </a:p>
          <a:p>
            <a:pPr>
              <a:buNone/>
            </a:pPr>
            <a:r>
              <a:rPr lang="en-US" altLang="en-US"/>
              <a:t>(also called </a:t>
            </a:r>
            <a:r>
              <a:rPr lang="en-US" altLang="en-US" b="1">
                <a:solidFill>
                  <a:srgbClr val="3366FF"/>
                </a:solidFill>
              </a:rPr>
              <a:t>task control block</a:t>
            </a:r>
            <a:r>
              <a:rPr lang="en-US" altLang="en-US"/>
              <a:t>)</a:t>
            </a:r>
            <a:endParaRPr lang="en-US" altLang="en-US"/>
          </a:p>
          <a:p>
            <a:r>
              <a:rPr lang="en-US" altLang="en-US"/>
              <a:t>Process state – running, waiting, etc</a:t>
            </a:r>
            <a:endParaRPr lang="en-US" altLang="en-US"/>
          </a:p>
          <a:p>
            <a:r>
              <a:rPr lang="en-US" altLang="en-US"/>
              <a:t>Program counter – location of instruction to next execute</a:t>
            </a:r>
            <a:endParaRPr lang="en-US" altLang="en-US"/>
          </a:p>
          <a:p>
            <a:r>
              <a:rPr lang="en-US" altLang="en-US"/>
              <a:t>CPU registers – contents of all process-centric registers</a:t>
            </a:r>
            <a:endParaRPr lang="en-US" altLang="en-US"/>
          </a:p>
          <a:p>
            <a:r>
              <a:rPr lang="en-US" altLang="en-US"/>
              <a:t>CPU scheduling information- priorities, scheduling queue pointers</a:t>
            </a:r>
            <a:endParaRPr lang="en-US" altLang="en-US"/>
          </a:p>
          <a:p>
            <a:r>
              <a:rPr lang="en-US" altLang="en-US"/>
              <a:t>Memory-management information – memory allocated to the process</a:t>
            </a:r>
            <a:endParaRPr lang="en-US" altLang="en-US"/>
          </a:p>
          <a:p>
            <a:r>
              <a:rPr lang="en-US" altLang="en-US"/>
              <a:t>Accounting information – CPU used, clock time elapsed since start, time limits</a:t>
            </a:r>
            <a:endParaRPr lang="en-US" altLang="en-US"/>
          </a:p>
          <a:p>
            <a:r>
              <a:rPr lang="en-US" altLang="en-US"/>
              <a:t>I/O status information – I/O devices allocated to process, list of open files</a:t>
            </a:r>
            <a:endParaRPr lang="en-US" altLang="en-US"/>
          </a:p>
          <a:p>
            <a:endParaRPr lang="en-US" altLang="en-US"/>
          </a:p>
        </p:txBody>
      </p:sp>
      <p:pic>
        <p:nvPicPr>
          <p:cNvPr id="22531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8588" y="1954213"/>
            <a:ext cx="1854200" cy="301307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7" name="Rectangle 2"/>
          <p:cNvSpPr>
            <a:spLocks noGrp="1"/>
          </p:cNvSpPr>
          <p:nvPr>
            <p:ph type="title"/>
          </p:nvPr>
        </p:nvSpPr>
        <p:spPr>
          <a:xfrm>
            <a:off x="1041400" y="136525"/>
            <a:ext cx="7645400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Threads</a:t>
            </a:r>
            <a:endParaRPr lang="en-US" altLang="en-US"/>
          </a:p>
        </p:txBody>
      </p:sp>
      <p:sp>
        <p:nvSpPr>
          <p:cNvPr id="24578" name="Rectangle 3"/>
          <p:cNvSpPr>
            <a:spLocks noGrp="1"/>
          </p:cNvSpPr>
          <p:nvPr>
            <p:ph idx="1"/>
          </p:nvPr>
        </p:nvSpPr>
        <p:spPr>
          <a:xfrm>
            <a:off x="987425" y="1093788"/>
            <a:ext cx="6975475" cy="3983037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So far, process has a single thread of execution</a:t>
            </a:r>
            <a:endParaRPr lang="en-US" altLang="en-US"/>
          </a:p>
          <a:p>
            <a:r>
              <a:rPr lang="en-US" altLang="en-US"/>
              <a:t>Consider having multiple program counters per process</a:t>
            </a:r>
            <a:endParaRPr lang="en-US" altLang="en-US"/>
          </a:p>
          <a:p>
            <a:pPr lvl="1"/>
            <a:r>
              <a:rPr lang="en-US" altLang="en-US"/>
              <a:t>Multiple locations can execute at once</a:t>
            </a:r>
            <a:endParaRPr lang="en-US" altLang="en-US"/>
          </a:p>
          <a:p>
            <a:pPr lvl="2"/>
            <a:r>
              <a:rPr lang="en-US" altLang="en-US"/>
              <a:t>Multiple threads of control -&gt; </a:t>
            </a:r>
            <a:r>
              <a:rPr lang="en-US" altLang="en-US" b="1">
                <a:solidFill>
                  <a:srgbClr val="3366FF"/>
                </a:solidFill>
              </a:rPr>
              <a:t>threads</a:t>
            </a:r>
            <a:endParaRPr lang="en-US" altLang="en-US" b="1">
              <a:solidFill>
                <a:srgbClr val="3366FF"/>
              </a:solidFill>
            </a:endParaRPr>
          </a:p>
          <a:p>
            <a:r>
              <a:rPr lang="en-US" altLang="en-US"/>
              <a:t>Must then have storage for thread details, multiple program counters in PCB</a:t>
            </a:r>
            <a:endParaRPr lang="en-US" altLang="en-US"/>
          </a:p>
          <a:p>
            <a:r>
              <a:rPr lang="en-US" altLang="en-US"/>
              <a:t>Explore in detail in Chapter 4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5" name="Title 1"/>
          <p:cNvSpPr>
            <a:spLocks noGrp="1"/>
          </p:cNvSpPr>
          <p:nvPr>
            <p:ph type="title"/>
          </p:nvPr>
        </p:nvSpPr>
        <p:spPr>
          <a:xfrm>
            <a:off x="960438" y="144463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en-US"/>
              <a:t>Process Representation in Linux</a:t>
            </a:r>
            <a:endParaRPr lang="en-US" altLang="en-US"/>
          </a:p>
        </p:txBody>
      </p:sp>
      <p:sp>
        <p:nvSpPr>
          <p:cNvPr id="26626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>
              <a:buNone/>
            </a:pPr>
            <a:r>
              <a:rPr lang="en-US" altLang="en-US"/>
              <a:t>Represented by the C structure </a:t>
            </a:r>
            <a:r>
              <a:rPr lang="en-US" altLang="en-US">
                <a:latin typeface="Courier New" panose="02070309020205020404" pitchFamily="49" charset="0"/>
              </a:rPr>
              <a:t>task_struct</a:t>
            </a:r>
            <a:endParaRPr lang="en-US" altLang="en-US">
              <a:latin typeface="Courier New" panose="02070309020205020404" pitchFamily="49" charset="0"/>
            </a:endParaRPr>
          </a:p>
          <a:p>
            <a:pPr>
              <a:buNone/>
            </a:pPr>
            <a:br>
              <a:rPr lang="en-US" altLang="en-US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pid t_pid; 			/* process identifier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long state; 			/* state of the process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unsigned int time_slice 	/* scheduling information */ </a:t>
            </a:r>
            <a:br>
              <a:rPr lang="en-US" altLang="en-US" sz="1600">
                <a:latin typeface="Courier New" panose="02070309020205020404" pitchFamily="49" charset="0"/>
              </a:rPr>
            </a:br>
            <a:r>
              <a:rPr lang="en-US" altLang="en-US" sz="1600">
                <a:latin typeface="Courier New" panose="02070309020205020404" pitchFamily="49" charset="0"/>
              </a:rPr>
              <a:t>struct task_struct *parent;/* this process</a:t>
            </a:r>
            <a:r>
              <a:rPr lang="ja-JP" altLang="en-US" sz="1600">
                <a:latin typeface="Courier New" panose="02070309020205020404" pitchFamily="49" charset="0"/>
              </a:rPr>
              <a:t>’</a:t>
            </a:r>
            <a:r>
              <a:rPr lang="en-US" altLang="ja-JP" sz="1600">
                <a:latin typeface="Courier New" panose="02070309020205020404" pitchFamily="49" charset="0"/>
              </a:rPr>
              <a:t>s parent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list_head children; /* this process</a:t>
            </a:r>
            <a:r>
              <a:rPr lang="ja-JP" altLang="en-US" sz="1600">
                <a:latin typeface="Courier New" panose="02070309020205020404" pitchFamily="49" charset="0"/>
              </a:rPr>
              <a:t>’</a:t>
            </a:r>
            <a:r>
              <a:rPr lang="en-US" altLang="ja-JP" sz="1600">
                <a:latin typeface="Courier New" panose="02070309020205020404" pitchFamily="49" charset="0"/>
              </a:rPr>
              <a:t>s children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files_struct *files;/* list of open files */ </a:t>
            </a:r>
            <a:br>
              <a:rPr lang="en-US" altLang="ja-JP" sz="1600">
                <a:latin typeface="Courier New" panose="02070309020205020404" pitchFamily="49" charset="0"/>
              </a:rPr>
            </a:br>
            <a:r>
              <a:rPr lang="en-US" altLang="ja-JP" sz="1600">
                <a:latin typeface="Courier New" panose="02070309020205020404" pitchFamily="49" charset="0"/>
              </a:rPr>
              <a:t>struct mm_struct *mm; 	/* address space of this process */</a:t>
            </a:r>
            <a:endParaRPr lang="en-US" altLang="en-US" sz="1600">
              <a:latin typeface="Courier New" panose="02070309020205020404" pitchFamily="49" charset="0"/>
            </a:endParaRPr>
          </a:p>
        </p:txBody>
      </p:sp>
      <p:pic>
        <p:nvPicPr>
          <p:cNvPr id="26627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3325" y="4075113"/>
            <a:ext cx="4578350" cy="157638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49" name="Rectangle 2"/>
          <p:cNvSpPr>
            <a:spLocks noGrp="1"/>
          </p:cNvSpPr>
          <p:nvPr>
            <p:ph type="title"/>
          </p:nvPr>
        </p:nvSpPr>
        <p:spPr>
          <a:xfrm>
            <a:off x="1041400" y="136525"/>
            <a:ext cx="7645400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Process Scheduling</a:t>
            </a:r>
            <a:endParaRPr lang="en-US" altLang="en-US"/>
          </a:p>
        </p:txBody>
      </p:sp>
      <p:sp>
        <p:nvSpPr>
          <p:cNvPr id="27650" name="Rectangle 3"/>
          <p:cNvSpPr>
            <a:spLocks noGrp="1"/>
          </p:cNvSpPr>
          <p:nvPr>
            <p:ph idx="1"/>
          </p:nvPr>
        </p:nvSpPr>
        <p:spPr>
          <a:xfrm>
            <a:off x="887413" y="1168400"/>
            <a:ext cx="6975475" cy="398303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Maximize CPU use, quickly switch processes onto CPU core</a:t>
            </a: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Process scheduler </a:t>
            </a:r>
            <a:r>
              <a:rPr lang="en-US" altLang="en-US"/>
              <a:t>selects among available processes for next execution on CPU core</a:t>
            </a:r>
            <a:endParaRPr lang="en-US" altLang="en-US"/>
          </a:p>
          <a:p>
            <a:r>
              <a:rPr lang="en-US" altLang="en-US"/>
              <a:t>Maintains </a:t>
            </a:r>
            <a:r>
              <a:rPr lang="en-US" altLang="en-US" b="1">
                <a:solidFill>
                  <a:srgbClr val="3366FF"/>
                </a:solidFill>
              </a:rPr>
              <a:t>scheduling queues </a:t>
            </a:r>
            <a:r>
              <a:rPr lang="en-US" altLang="en-US"/>
              <a:t>of processes</a:t>
            </a:r>
            <a:endParaRPr lang="en-US" altLang="en-US"/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Ready queue </a:t>
            </a:r>
            <a:r>
              <a:rPr lang="en-US" altLang="en-US"/>
              <a:t>– set of all processes residing in main memory, ready and waiting to execute</a:t>
            </a:r>
            <a:endParaRPr lang="en-US" altLang="en-US"/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Wait queues </a:t>
            </a:r>
            <a:r>
              <a:rPr lang="en-US" altLang="en-US"/>
              <a:t>– set of processes waiting for an event (i.e. I/O)</a:t>
            </a:r>
            <a:endParaRPr lang="en-US" altLang="en-US"/>
          </a:p>
          <a:p>
            <a:pPr lvl="1"/>
            <a:r>
              <a:rPr lang="en-US" altLang="en-US"/>
              <a:t>Processes migrate among the various queues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7" name="Rectangle 2"/>
          <p:cNvSpPr>
            <a:spLocks noGrp="1"/>
          </p:cNvSpPr>
          <p:nvPr>
            <p:ph type="title"/>
          </p:nvPr>
        </p:nvSpPr>
        <p:spPr>
          <a:xfrm>
            <a:off x="974725" y="236538"/>
            <a:ext cx="7983538" cy="457200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 sz="2400"/>
              <a:t>Ready and Wait Queues</a:t>
            </a:r>
            <a:endParaRPr lang="en-US" altLang="en-US" sz="2400"/>
          </a:p>
        </p:txBody>
      </p:sp>
      <p:pic>
        <p:nvPicPr>
          <p:cNvPr id="29698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14575" y="1863725"/>
            <a:ext cx="4897438" cy="291306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5" name="Rectangle 2"/>
          <p:cNvSpPr>
            <a:spLocks noGrp="1"/>
          </p:cNvSpPr>
          <p:nvPr>
            <p:ph type="title"/>
          </p:nvPr>
        </p:nvSpPr>
        <p:spPr>
          <a:xfrm>
            <a:off x="971550" y="152400"/>
            <a:ext cx="8229600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 sz="2800"/>
              <a:t>Representation of Process Scheduling</a:t>
            </a:r>
            <a:endParaRPr lang="en-US" altLang="en-US" sz="2800"/>
          </a:p>
        </p:txBody>
      </p:sp>
      <p:pic>
        <p:nvPicPr>
          <p:cNvPr id="317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51063" y="1897063"/>
            <a:ext cx="5229225" cy="30178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3" name="Rectangle 2"/>
          <p:cNvSpPr>
            <a:spLocks noGrp="1"/>
          </p:cNvSpPr>
          <p:nvPr>
            <p:ph type="title"/>
          </p:nvPr>
        </p:nvSpPr>
        <p:spPr>
          <a:xfrm>
            <a:off x="982663" y="182563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CPU Switch From Process to Process</a:t>
            </a:r>
            <a:endParaRPr lang="en-US" altLang="en-US"/>
          </a:p>
        </p:txBody>
      </p:sp>
      <p:sp>
        <p:nvSpPr>
          <p:cNvPr id="33794" name="TextBox 1"/>
          <p:cNvSpPr txBox="1"/>
          <p:nvPr/>
        </p:nvSpPr>
        <p:spPr>
          <a:xfrm>
            <a:off x="1958975" y="979488"/>
            <a:ext cx="4943475" cy="646112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marL="742950" indent="-28575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2pPr>
            <a:lvl3pPr marL="10858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3pPr>
            <a:lvl4pPr marL="14287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771650" indent="-228600" algn="l" rtl="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>
                <a:latin typeface="Verdana" panose="020B0604030504040204" pitchFamily="34" charset="0"/>
              </a:rPr>
              <a:t>A </a:t>
            </a:r>
            <a:r>
              <a:rPr b="1">
                <a:latin typeface="Verdana" panose="020B0604030504040204" pitchFamily="34" charset="0"/>
              </a:rPr>
              <a:t>context switch </a:t>
            </a:r>
            <a:r>
              <a:rPr>
                <a:latin typeface="Verdana" panose="020B0604030504040204" pitchFamily="34" charset="0"/>
              </a:rPr>
              <a:t>occurs when the CPU </a:t>
            </a:r>
            <a:endParaRPr>
              <a:latin typeface="Verdana" panose="020B0604030504040204" pitchFamily="34" charset="0"/>
            </a:endParaRPr>
          </a:p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>
                <a:latin typeface="Verdana" panose="020B0604030504040204" pitchFamily="34" charset="0"/>
              </a:rPr>
              <a:t>switches from one process to another.</a:t>
            </a:r>
            <a:endParaRPr>
              <a:latin typeface="Verdana" panose="020B0604030504040204" pitchFamily="34" charset="0"/>
            </a:endParaRPr>
          </a:p>
        </p:txBody>
      </p:sp>
      <p:pic>
        <p:nvPicPr>
          <p:cNvPr id="33795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16200" y="1828800"/>
            <a:ext cx="5126038" cy="41894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1" name="Rectangle 2"/>
          <p:cNvSpPr>
            <a:spLocks noGrp="1"/>
          </p:cNvSpPr>
          <p:nvPr>
            <p:ph type="title"/>
          </p:nvPr>
        </p:nvSpPr>
        <p:spPr>
          <a:xfrm>
            <a:off x="457200" y="166688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Context Switch</a:t>
            </a:r>
            <a:endParaRPr lang="en-US" altLang="en-US"/>
          </a:p>
        </p:txBody>
      </p:sp>
      <p:sp>
        <p:nvSpPr>
          <p:cNvPr id="35842" name="Rectangle 3"/>
          <p:cNvSpPr>
            <a:spLocks noGrp="1"/>
          </p:cNvSpPr>
          <p:nvPr>
            <p:ph idx="1"/>
          </p:nvPr>
        </p:nvSpPr>
        <p:spPr>
          <a:xfrm>
            <a:off x="854075" y="1108075"/>
            <a:ext cx="6997700" cy="444817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When CPU switches to another process, the system must </a:t>
            </a:r>
            <a:r>
              <a:rPr lang="en-US" altLang="en-US" b="1">
                <a:solidFill>
                  <a:srgbClr val="3366FF"/>
                </a:solidFill>
              </a:rPr>
              <a:t>save the state </a:t>
            </a:r>
            <a:r>
              <a:rPr lang="en-US" altLang="en-US"/>
              <a:t>of the old process and load the </a:t>
            </a:r>
            <a:r>
              <a:rPr lang="en-US" altLang="en-US" b="1">
                <a:solidFill>
                  <a:srgbClr val="3366FF"/>
                </a:solidFill>
              </a:rPr>
              <a:t>saved state </a:t>
            </a:r>
            <a:r>
              <a:rPr lang="en-US" altLang="en-US"/>
              <a:t>for the new process via a </a:t>
            </a:r>
            <a:r>
              <a:rPr lang="en-US" altLang="en-US" b="1">
                <a:solidFill>
                  <a:srgbClr val="3366FF"/>
                </a:solidFill>
              </a:rPr>
              <a:t>context switch</a:t>
            </a:r>
            <a:endParaRPr lang="en-US" altLang="en-US"/>
          </a:p>
          <a:p>
            <a:r>
              <a:rPr lang="en-US" altLang="en-US" b="1">
                <a:solidFill>
                  <a:srgbClr val="3366FF"/>
                </a:solidFill>
              </a:rPr>
              <a:t>Context </a:t>
            </a:r>
            <a:r>
              <a:rPr lang="en-US" altLang="en-US"/>
              <a:t>of a process represented in the PCB</a:t>
            </a:r>
            <a:endParaRPr lang="en-US" altLang="en-US"/>
          </a:p>
          <a:p>
            <a:r>
              <a:rPr lang="en-US" altLang="en-US"/>
              <a:t>Context-switch time is overhead; the system does no useful work while switching</a:t>
            </a:r>
            <a:endParaRPr lang="en-US" altLang="en-US"/>
          </a:p>
          <a:p>
            <a:pPr lvl="1"/>
            <a:r>
              <a:rPr lang="en-US" altLang="en-US"/>
              <a:t>The more complex the OS and the PCB </a:t>
            </a:r>
            <a:r>
              <a:rPr lang="en-US" altLang="en-US">
                <a:sym typeface="Wingdings" panose="05000000000000000000" pitchFamily="2" charset="2"/>
              </a:rPr>
              <a:t> the </a:t>
            </a:r>
            <a:r>
              <a:rPr lang="en-US" altLang="en-US"/>
              <a:t>longer the context switch</a:t>
            </a:r>
            <a:endParaRPr lang="en-US" altLang="en-US"/>
          </a:p>
          <a:p>
            <a:r>
              <a:rPr lang="en-US" altLang="en-US"/>
              <a:t>Time dependent on hardware support</a:t>
            </a:r>
            <a:endParaRPr lang="en-US" altLang="en-US"/>
          </a:p>
          <a:p>
            <a:pPr lvl="1"/>
            <a:r>
              <a:rPr lang="en-US" altLang="en-US"/>
              <a:t>Some hardware provides multiple sets of registers per CPU </a:t>
            </a:r>
            <a:r>
              <a:rPr lang="en-US" altLang="en-US">
                <a:sym typeface="Wingdings" panose="05000000000000000000" pitchFamily="2" charset="2"/>
              </a:rPr>
              <a:t></a:t>
            </a:r>
            <a:r>
              <a:rPr lang="en-US" altLang="en-US"/>
              <a:t> multiple contexts loaded at once</a:t>
            </a:r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89" name="Rectangle 2"/>
          <p:cNvSpPr>
            <a:spLocks noGrp="1"/>
          </p:cNvSpPr>
          <p:nvPr>
            <p:ph type="title"/>
          </p:nvPr>
        </p:nvSpPr>
        <p:spPr>
          <a:xfrm>
            <a:off x="819150" y="182563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Multitasking in Mobile Systems</a:t>
            </a:r>
            <a:endParaRPr lang="en-US" altLang="en-US"/>
          </a:p>
        </p:txBody>
      </p:sp>
      <p:sp>
        <p:nvSpPr>
          <p:cNvPr id="37890" name="Rectangle 3"/>
          <p:cNvSpPr>
            <a:spLocks noGrp="1"/>
          </p:cNvSpPr>
          <p:nvPr>
            <p:ph idx="1"/>
          </p:nvPr>
        </p:nvSpPr>
        <p:spPr>
          <a:xfrm>
            <a:off x="838200" y="1122363"/>
            <a:ext cx="7359650" cy="444817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Some mobile systems (e.g., early version of iOS)  allow only one process to run, others suspended</a:t>
            </a:r>
            <a:endParaRPr lang="en-US" altLang="en-US"/>
          </a:p>
          <a:p>
            <a:r>
              <a:rPr lang="en-US" altLang="en-US"/>
              <a:t>Due to screen real estate, user interface limits iOS provides for a </a:t>
            </a:r>
            <a:endParaRPr lang="en-US" altLang="en-US"/>
          </a:p>
          <a:p>
            <a:pPr lvl="1"/>
            <a:r>
              <a:rPr lang="en-US" altLang="en-US"/>
              <a:t>Single </a:t>
            </a:r>
            <a:r>
              <a:rPr lang="en-US" altLang="en-US" b="1">
                <a:solidFill>
                  <a:srgbClr val="3366FF"/>
                </a:solidFill>
              </a:rPr>
              <a:t>foreground</a:t>
            </a:r>
            <a:r>
              <a:rPr lang="en-US" altLang="en-US"/>
              <a:t> process- controlled via user interface</a:t>
            </a:r>
            <a:endParaRPr lang="en-US" altLang="en-US"/>
          </a:p>
          <a:p>
            <a:pPr lvl="1"/>
            <a:r>
              <a:rPr lang="en-US" altLang="en-US"/>
              <a:t>Multiple </a:t>
            </a:r>
            <a:r>
              <a:rPr lang="en-US" altLang="en-US" b="1">
                <a:solidFill>
                  <a:srgbClr val="3366FF"/>
                </a:solidFill>
              </a:rPr>
              <a:t>background</a:t>
            </a:r>
            <a:r>
              <a:rPr lang="en-US" altLang="en-US"/>
              <a:t> processes– in memory, running, but not on the display, and with limits</a:t>
            </a:r>
            <a:endParaRPr lang="en-US" altLang="en-US"/>
          </a:p>
          <a:p>
            <a:pPr lvl="1"/>
            <a:r>
              <a:rPr lang="en-US" altLang="en-US"/>
              <a:t>Limits include single, short task, receiving notification of events, specific long-running tasks like audio playback</a:t>
            </a:r>
            <a:endParaRPr lang="en-US" altLang="en-US"/>
          </a:p>
          <a:p>
            <a:r>
              <a:rPr lang="en-US" altLang="en-US"/>
              <a:t>Android runs foreground and background, with fewer limits</a:t>
            </a:r>
            <a:endParaRPr lang="en-US" altLang="en-US"/>
          </a:p>
          <a:p>
            <a:pPr lvl="1"/>
            <a:r>
              <a:rPr lang="en-US" altLang="en-US"/>
              <a:t>Background process uses a </a:t>
            </a:r>
            <a:r>
              <a:rPr lang="en-US" altLang="en-US" b="1">
                <a:solidFill>
                  <a:srgbClr val="3366FF"/>
                </a:solidFill>
              </a:rPr>
              <a:t>service</a:t>
            </a:r>
            <a:r>
              <a:rPr lang="en-US" altLang="en-US"/>
              <a:t> to perform tasks</a:t>
            </a:r>
            <a:endParaRPr lang="en-US" altLang="en-US"/>
          </a:p>
          <a:p>
            <a:pPr lvl="1"/>
            <a:r>
              <a:rPr lang="en-US" altLang="en-US"/>
              <a:t>Service can keep running even if background process is suspended</a:t>
            </a:r>
            <a:endParaRPr lang="en-US" altLang="en-US"/>
          </a:p>
          <a:p>
            <a:pPr lvl="1"/>
            <a:r>
              <a:rPr lang="en-US" altLang="en-US"/>
              <a:t>Service has no user interface, small memory use</a:t>
            </a:r>
            <a:endParaRPr lang="en-US" altLang="en-US"/>
          </a:p>
          <a:p>
            <a:pPr lvl="1"/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7" name="Rectangle 2"/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Operations on Processes</a:t>
            </a:r>
            <a:endParaRPr lang="en-US" altLang="en-US"/>
          </a:p>
        </p:txBody>
      </p:sp>
      <p:sp>
        <p:nvSpPr>
          <p:cNvPr id="39938" name="Rectangle 3"/>
          <p:cNvSpPr>
            <a:spLocks noGrp="1"/>
          </p:cNvSpPr>
          <p:nvPr>
            <p:ph idx="1"/>
          </p:nvPr>
        </p:nvSpPr>
        <p:spPr>
          <a:xfrm>
            <a:off x="806450" y="1233488"/>
            <a:ext cx="7480300" cy="444817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System must provide mechanisms for:</a:t>
            </a:r>
            <a:endParaRPr lang="en-US" altLang="en-US"/>
          </a:p>
          <a:p>
            <a:pPr lvl="1"/>
            <a:r>
              <a:rPr lang="en-US" altLang="en-US"/>
              <a:t> process creation</a:t>
            </a:r>
            <a:endParaRPr lang="en-US" altLang="en-US"/>
          </a:p>
          <a:p>
            <a:pPr lvl="1"/>
            <a:r>
              <a:rPr lang="en-US" altLang="en-US"/>
              <a:t> process termination</a:t>
            </a:r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5" name="Rectangle 2"/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Process Creation</a:t>
            </a:r>
            <a:endParaRPr lang="en-US" altLang="en-US"/>
          </a:p>
        </p:txBody>
      </p:sp>
      <p:sp>
        <p:nvSpPr>
          <p:cNvPr id="41986" name="Rectangle 3"/>
          <p:cNvSpPr>
            <a:spLocks noGrp="1"/>
          </p:cNvSpPr>
          <p:nvPr>
            <p:ph idx="1"/>
          </p:nvPr>
        </p:nvSpPr>
        <p:spPr>
          <a:xfrm>
            <a:off x="854075" y="1169988"/>
            <a:ext cx="6918325" cy="50768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 b="1">
                <a:solidFill>
                  <a:srgbClr val="3366FF"/>
                </a:solidFill>
              </a:rPr>
              <a:t>Parent</a:t>
            </a:r>
            <a:r>
              <a:rPr lang="en-US" altLang="en-US" b="1"/>
              <a:t> </a:t>
            </a:r>
            <a:r>
              <a:rPr lang="en-US" altLang="en-US"/>
              <a:t>process create </a:t>
            </a:r>
            <a:r>
              <a:rPr lang="en-US" altLang="en-US" b="1">
                <a:solidFill>
                  <a:srgbClr val="3366FF"/>
                </a:solidFill>
              </a:rPr>
              <a:t>children</a:t>
            </a:r>
            <a:r>
              <a:rPr lang="en-US" altLang="en-US" b="1"/>
              <a:t> </a:t>
            </a:r>
            <a:r>
              <a:rPr lang="en-US" altLang="en-US"/>
              <a:t>processes, which, in turn create other processes, forming a </a:t>
            </a:r>
            <a:r>
              <a:rPr lang="en-US" altLang="en-US" b="1">
                <a:solidFill>
                  <a:srgbClr val="3366FF"/>
                </a:solidFill>
              </a:rPr>
              <a:t>tree</a:t>
            </a:r>
            <a:r>
              <a:rPr lang="en-US" altLang="en-US"/>
              <a:t> of processes</a:t>
            </a:r>
            <a:endParaRPr lang="en-US" altLang="en-US" sz="800"/>
          </a:p>
          <a:p>
            <a:r>
              <a:rPr lang="en-US" altLang="en-US"/>
              <a:t>Generally, process identified and managed via a</a:t>
            </a:r>
            <a:r>
              <a:rPr lang="en-US" altLang="en-US" b="1"/>
              <a:t> </a:t>
            </a:r>
            <a:r>
              <a:rPr lang="en-US" altLang="en-US" b="1">
                <a:solidFill>
                  <a:srgbClr val="3366FF"/>
                </a:solidFill>
              </a:rPr>
              <a:t>process identifier </a:t>
            </a:r>
            <a:r>
              <a:rPr lang="en-US" altLang="en-US"/>
              <a:t>(</a:t>
            </a:r>
            <a:r>
              <a:rPr lang="en-US" altLang="en-US" b="1">
                <a:solidFill>
                  <a:srgbClr val="3366FF"/>
                </a:solidFill>
              </a:rPr>
              <a:t>pid</a:t>
            </a:r>
            <a:r>
              <a:rPr lang="en-US" altLang="en-US"/>
              <a:t>)</a:t>
            </a:r>
            <a:endParaRPr lang="en-US" altLang="en-US" sz="800"/>
          </a:p>
          <a:p>
            <a:r>
              <a:rPr lang="en-US" altLang="en-US"/>
              <a:t>Resource sharing options</a:t>
            </a:r>
            <a:endParaRPr lang="en-US" altLang="en-US"/>
          </a:p>
          <a:p>
            <a:pPr lvl="1"/>
            <a:r>
              <a:rPr lang="en-US" altLang="en-US"/>
              <a:t>Parent and children share all resources</a:t>
            </a:r>
            <a:endParaRPr lang="en-US" altLang="en-US"/>
          </a:p>
          <a:p>
            <a:pPr lvl="1"/>
            <a:r>
              <a:rPr lang="en-US" altLang="en-US"/>
              <a:t>Children share subset of parent</a:t>
            </a:r>
            <a:r>
              <a:rPr lang="ja-JP" altLang="en-US"/>
              <a:t>’</a:t>
            </a:r>
            <a:r>
              <a:rPr lang="en-US" altLang="ja-JP"/>
              <a:t>s resources</a:t>
            </a:r>
            <a:endParaRPr lang="en-US" altLang="ja-JP"/>
          </a:p>
          <a:p>
            <a:pPr lvl="1"/>
            <a:r>
              <a:rPr lang="en-US" altLang="en-US"/>
              <a:t>Parent and child share no resources</a:t>
            </a:r>
            <a:endParaRPr lang="en-US" altLang="en-US" sz="800"/>
          </a:p>
          <a:p>
            <a:r>
              <a:rPr lang="en-US" altLang="en-US"/>
              <a:t>Execution options</a:t>
            </a:r>
            <a:endParaRPr lang="en-US" altLang="en-US"/>
          </a:p>
          <a:p>
            <a:pPr lvl="1"/>
            <a:r>
              <a:rPr lang="en-US" altLang="en-US"/>
              <a:t>Parent and children execute concurrently</a:t>
            </a:r>
            <a:endParaRPr lang="en-US" altLang="en-US"/>
          </a:p>
          <a:p>
            <a:pPr lvl="1"/>
            <a:r>
              <a:rPr lang="en-US" altLang="en-US"/>
              <a:t>Parent waits until children terminate</a:t>
            </a:r>
            <a:endParaRPr lang="en-US" altLang="en-US"/>
          </a:p>
          <a:p>
            <a:pPr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3" name="Rectangle 2"/>
          <p:cNvSpPr>
            <a:spLocks noGrp="1"/>
          </p:cNvSpPr>
          <p:nvPr>
            <p:ph type="title"/>
          </p:nvPr>
        </p:nvSpPr>
        <p:spPr>
          <a:xfrm>
            <a:off x="1042988" y="277813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A Tree of Processes in Linux</a:t>
            </a:r>
            <a:endParaRPr lang="en-US" altLang="en-US"/>
          </a:p>
        </p:txBody>
      </p:sp>
      <p:pic>
        <p:nvPicPr>
          <p:cNvPr id="44034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701800"/>
            <a:ext cx="7985125" cy="3430588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1" name="Rectangle 2"/>
          <p:cNvSpPr>
            <a:spLocks noGrp="1"/>
          </p:cNvSpPr>
          <p:nvPr>
            <p:ph type="title"/>
          </p:nvPr>
        </p:nvSpPr>
        <p:spPr>
          <a:xfrm>
            <a:off x="1069975" y="152400"/>
            <a:ext cx="7616825" cy="576263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Process Creation (Cont.)</a:t>
            </a:r>
            <a:endParaRPr lang="en-US" altLang="en-US"/>
          </a:p>
        </p:txBody>
      </p:sp>
      <p:sp>
        <p:nvSpPr>
          <p:cNvPr id="46082" name="Rectangle 3"/>
          <p:cNvSpPr>
            <a:spLocks noGrp="1"/>
          </p:cNvSpPr>
          <p:nvPr>
            <p:ph idx="1"/>
          </p:nvPr>
        </p:nvSpPr>
        <p:spPr>
          <a:xfrm>
            <a:off x="869950" y="1060450"/>
            <a:ext cx="7154863" cy="5627688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Address space</a:t>
            </a:r>
            <a:endParaRPr lang="en-US" altLang="en-US"/>
          </a:p>
          <a:p>
            <a:pPr lvl="1"/>
            <a:r>
              <a:rPr lang="en-US" altLang="en-US"/>
              <a:t>Child duplicate of parent</a:t>
            </a:r>
            <a:endParaRPr lang="en-US" altLang="en-US"/>
          </a:p>
          <a:p>
            <a:pPr lvl="1"/>
            <a:r>
              <a:rPr lang="en-US" altLang="en-US"/>
              <a:t>Child has a program loaded into it</a:t>
            </a:r>
            <a:endParaRPr lang="en-US" altLang="en-US"/>
          </a:p>
          <a:p>
            <a:r>
              <a:rPr lang="en-US" altLang="en-US"/>
              <a:t>UNIX examples</a:t>
            </a:r>
            <a:endParaRPr lang="en-US" altLang="en-US"/>
          </a:p>
          <a:p>
            <a:pPr lvl="1"/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>
                <a:solidFill>
                  <a:srgbClr val="000000"/>
                </a:solidFill>
              </a:rPr>
              <a:t> </a:t>
            </a:r>
            <a:r>
              <a:rPr lang="en-US" altLang="en-US"/>
              <a:t>system call creates new process</a:t>
            </a:r>
            <a:endParaRPr lang="en-US" altLang="en-US"/>
          </a:p>
          <a:p>
            <a:pPr lvl="1"/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</a:rPr>
              <a:t>exec()</a:t>
            </a:r>
            <a:r>
              <a:rPr lang="en-US" altLang="en-US"/>
              <a:t> system call used after a </a:t>
            </a:r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</a:rPr>
              <a:t>fork()</a:t>
            </a:r>
            <a:r>
              <a:rPr lang="en-US" altLang="en-US"/>
              <a:t> to replace the process</a:t>
            </a:r>
            <a:r>
              <a:rPr lang="ja-JP" altLang="en-US"/>
              <a:t>’</a:t>
            </a:r>
            <a:r>
              <a:rPr lang="en-US" altLang="ja-JP"/>
              <a:t> memory space with a new program</a:t>
            </a:r>
            <a:endParaRPr lang="en-US" altLang="ja-JP"/>
          </a:p>
          <a:p>
            <a:pPr lvl="1"/>
            <a:r>
              <a:rPr lang="en-US" altLang="en-US"/>
              <a:t>Parent process calls </a:t>
            </a:r>
            <a:r>
              <a:rPr lang="en-US" altLang="en-US" b="1">
                <a:latin typeface="Courier New" panose="02070309020205020404" pitchFamily="49" charset="0"/>
              </a:rPr>
              <a:t>wait() </a:t>
            </a:r>
            <a:r>
              <a:rPr lang="en-US" altLang="en-US"/>
              <a:t>for the child to terminate</a:t>
            </a:r>
            <a:endParaRPr lang="en-US" altLang="en-US"/>
          </a:p>
        </p:txBody>
      </p:sp>
      <p:pic>
        <p:nvPicPr>
          <p:cNvPr id="46083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5013" y="4392613"/>
            <a:ext cx="5746750" cy="9461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5" name="Rectangle 2"/>
          <p:cNvSpPr>
            <a:spLocks noGrp="1"/>
          </p:cNvSpPr>
          <p:nvPr>
            <p:ph type="title"/>
          </p:nvPr>
        </p:nvSpPr>
        <p:spPr>
          <a:xfrm>
            <a:off x="457200" y="198438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Process Termination</a:t>
            </a:r>
            <a:endParaRPr lang="en-US" altLang="en-US"/>
          </a:p>
        </p:txBody>
      </p:sp>
      <p:sp>
        <p:nvSpPr>
          <p:cNvPr id="52226" name="Rectangle 3"/>
          <p:cNvSpPr>
            <a:spLocks noGrp="1"/>
          </p:cNvSpPr>
          <p:nvPr>
            <p:ph idx="1"/>
          </p:nvPr>
        </p:nvSpPr>
        <p:spPr>
          <a:xfrm>
            <a:off x="806450" y="1233488"/>
            <a:ext cx="7170738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Process executes last statement and then asks the operating system to delete it using the </a:t>
            </a:r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</a:rPr>
              <a:t>exit()</a:t>
            </a:r>
            <a:r>
              <a:rPr lang="en-US" altLang="en-US"/>
              <a:t> system call.</a:t>
            </a:r>
            <a:endParaRPr lang="en-US" altLang="en-US"/>
          </a:p>
          <a:p>
            <a:pPr lvl="1"/>
            <a:r>
              <a:rPr lang="en-US" altLang="en-US"/>
              <a:t>Returns  status data from child to parent (via </a:t>
            </a:r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/>
              <a:t>)</a:t>
            </a:r>
            <a:endParaRPr lang="en-US" altLang="en-US"/>
          </a:p>
          <a:p>
            <a:pPr lvl="1"/>
            <a:r>
              <a:rPr lang="en-US" altLang="en-US"/>
              <a:t>Process</a:t>
            </a:r>
            <a:r>
              <a:rPr lang="ja-JP" altLang="en-US"/>
              <a:t>’</a:t>
            </a:r>
            <a:r>
              <a:rPr lang="en-US" altLang="ja-JP"/>
              <a:t> resources are deallocated by operating system</a:t>
            </a:r>
            <a:endParaRPr lang="en-US" altLang="en-US"/>
          </a:p>
          <a:p>
            <a:r>
              <a:rPr lang="en-US" altLang="en-US"/>
              <a:t>Parent may terminate the execution of children processes  using the </a:t>
            </a:r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</a:rPr>
              <a:t>abort()</a:t>
            </a:r>
            <a:r>
              <a:rPr lang="en-US" altLang="en-US"/>
              <a:t> system call.  Some reasons for doing so:</a:t>
            </a:r>
            <a:endParaRPr lang="en-US" altLang="en-US"/>
          </a:p>
          <a:p>
            <a:pPr lvl="1"/>
            <a:r>
              <a:rPr lang="en-US" altLang="en-US"/>
              <a:t>Child has exceeded allocated resources</a:t>
            </a:r>
            <a:endParaRPr lang="en-US" altLang="en-US"/>
          </a:p>
          <a:p>
            <a:pPr lvl="1"/>
            <a:r>
              <a:rPr lang="en-US" altLang="en-US"/>
              <a:t>Task assigned to child is no longer required</a:t>
            </a:r>
            <a:endParaRPr lang="en-US" altLang="en-US"/>
          </a:p>
          <a:p>
            <a:pPr lvl="1"/>
            <a:r>
              <a:rPr lang="en-US" altLang="en-US"/>
              <a:t>The parent is exiting and the operating systems does not allow  a child to continue if its parent terminates</a:t>
            </a:r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3" name="Rectangle 2"/>
          <p:cNvSpPr>
            <a:spLocks noGrp="1"/>
          </p:cNvSpPr>
          <p:nvPr>
            <p:ph type="title"/>
          </p:nvPr>
        </p:nvSpPr>
        <p:spPr>
          <a:xfrm>
            <a:off x="457200" y="182563"/>
            <a:ext cx="8229600" cy="576262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en-US" altLang="en-US"/>
              <a:t>Process Termination</a:t>
            </a:r>
            <a:endParaRPr lang="en-US" altLang="en-US"/>
          </a:p>
        </p:txBody>
      </p:sp>
      <p:sp>
        <p:nvSpPr>
          <p:cNvPr id="54274" name="Rectangle 3"/>
          <p:cNvSpPr>
            <a:spLocks noGrp="1"/>
          </p:cNvSpPr>
          <p:nvPr>
            <p:ph idx="1"/>
          </p:nvPr>
        </p:nvSpPr>
        <p:spPr>
          <a:xfrm>
            <a:off x="957263" y="1042988"/>
            <a:ext cx="7369175" cy="4530725"/>
          </a:xfrm>
          <a:ln/>
        </p:spPr>
        <p:txBody>
          <a:bodyPr vert="horz" wrap="square" lIns="91440" tIns="45720" rIns="91440" bIns="45720" anchor="t" anchorCtr="0"/>
          <a:p>
            <a:pPr lvl="1"/>
            <a:endParaRPr lang="en-US" altLang="en-US" sz="800"/>
          </a:p>
          <a:p>
            <a:r>
              <a:rPr lang="en-US" altLang="en-US"/>
              <a:t>Some operating systems do not allow child to exists if its parent has terminated.  If a process terminates, then all its children must also be terminated.</a:t>
            </a:r>
            <a:endParaRPr lang="en-US" altLang="en-US"/>
          </a:p>
          <a:p>
            <a:pPr lvl="1"/>
            <a:r>
              <a:rPr lang="en-US" altLang="en-US" b="1"/>
              <a:t>cascading termination.  </a:t>
            </a:r>
            <a:r>
              <a:rPr lang="en-US" altLang="en-US"/>
              <a:t>All children, grandchildren, etc.  are  terminated.</a:t>
            </a:r>
            <a:endParaRPr lang="en-US" altLang="en-US" b="1"/>
          </a:p>
          <a:p>
            <a:pPr lvl="1"/>
            <a:r>
              <a:rPr lang="en-US" altLang="en-US"/>
              <a:t>The termination is initiated by the operating system.</a:t>
            </a:r>
            <a:endParaRPr lang="en-US" altLang="en-US" b="1"/>
          </a:p>
          <a:p>
            <a:r>
              <a:rPr lang="en-US" altLang="en-US"/>
              <a:t>The parent process may wait for termination of a child process by using the </a:t>
            </a:r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/>
              <a:t>system call</a:t>
            </a:r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</a:rPr>
              <a:t>. </a:t>
            </a:r>
            <a:r>
              <a:rPr lang="en-US" altLang="en-US"/>
              <a:t>The call returns status information and the pid of the terminated process</a:t>
            </a:r>
            <a:endParaRPr lang="en-US" altLang="en-US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pPr>
              <a:buNone/>
            </a:pPr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</a:rPr>
              <a:t>      pid = wait(&amp;status); </a:t>
            </a:r>
            <a:endParaRPr lang="en-US" altLang="en-US" b="1">
              <a:solidFill>
                <a:srgbClr val="000000"/>
              </a:solidFill>
              <a:latin typeface="Courier New" panose="02070309020205020404" pitchFamily="49" charset="0"/>
            </a:endParaRPr>
          </a:p>
          <a:p>
            <a:r>
              <a:rPr lang="en-US" altLang="en-US"/>
              <a:t>If no parent waiting (did not invoke </a:t>
            </a:r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</a:rPr>
              <a:t>wait()</a:t>
            </a:r>
            <a:r>
              <a:rPr lang="en-US" altLang="en-US"/>
              <a:t>) process is a </a:t>
            </a:r>
            <a:r>
              <a:rPr lang="en-US" altLang="en-US" b="1">
                <a:solidFill>
                  <a:srgbClr val="3366FF"/>
                </a:solidFill>
              </a:rPr>
              <a:t>zombie</a:t>
            </a:r>
            <a:endParaRPr lang="en-US" altLang="en-US" b="1">
              <a:solidFill>
                <a:srgbClr val="3366FF"/>
              </a:solidFill>
            </a:endParaRPr>
          </a:p>
          <a:p>
            <a:r>
              <a:rPr lang="en-US" altLang="en-US"/>
              <a:t>If parent terminated without invoking</a:t>
            </a:r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</a:rPr>
              <a:t> wait</a:t>
            </a:r>
            <a:r>
              <a:rPr lang="en-US" altLang="en-US"/>
              <a:t> , process is an </a:t>
            </a:r>
            <a:r>
              <a:rPr lang="en-US" altLang="en-US" b="1">
                <a:solidFill>
                  <a:srgbClr val="3366FF"/>
                </a:solidFill>
              </a:rPr>
              <a:t>orphan</a:t>
            </a:r>
            <a:endParaRPr lang="en-US" altLang="en-US" b="1">
              <a:solidFill>
                <a:srgbClr val="3366FF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1" name="Title 1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r>
              <a:t>Android Process Importance Hierarchy</a:t>
            </a:r>
          </a:p>
        </p:txBody>
      </p:sp>
      <p:sp>
        <p:nvSpPr>
          <p:cNvPr id="56322" name="Content Placeholder 2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r>
              <a:t>Mobile operating systems often have to terminate processes to reclaim system resources such as memory. From </a:t>
            </a:r>
            <a:r>
              <a:rPr b="1"/>
              <a:t>most</a:t>
            </a:r>
            <a:r>
              <a:t> to </a:t>
            </a:r>
            <a:r>
              <a:rPr b="1"/>
              <a:t>least</a:t>
            </a:r>
            <a:r>
              <a:t> important:</a:t>
            </a:r>
          </a:p>
          <a:p>
            <a:pPr>
              <a:buFont typeface="Courier New" panose="02070309020205020404" pitchFamily="49" charset="0"/>
              <a:buChar char="o"/>
            </a:pPr>
            <a:r>
              <a:t>Foreground process</a:t>
            </a:r>
          </a:p>
          <a:p>
            <a:pPr>
              <a:buFont typeface="Courier New" panose="02070309020205020404" pitchFamily="49" charset="0"/>
              <a:buChar char="o"/>
            </a:pPr>
            <a:r>
              <a:t>Visible process</a:t>
            </a:r>
          </a:p>
          <a:p>
            <a:pPr>
              <a:buFont typeface="Courier New" panose="02070309020205020404" pitchFamily="49" charset="0"/>
              <a:buChar char="o"/>
            </a:pPr>
            <a:r>
              <a:t>Service process</a:t>
            </a:r>
          </a:p>
          <a:p>
            <a:pPr>
              <a:buFont typeface="Courier New" panose="02070309020205020404" pitchFamily="49" charset="0"/>
              <a:buChar char="o"/>
            </a:pPr>
            <a:r>
              <a:t>Background process</a:t>
            </a:r>
          </a:p>
          <a:p>
            <a:pPr>
              <a:buFont typeface="Courier New" panose="02070309020205020404" pitchFamily="49" charset="0"/>
              <a:buChar char="o"/>
            </a:pPr>
            <a:r>
              <a:t>Empty process</a:t>
            </a:r>
          </a:p>
          <a:p>
            <a:r>
              <a:t>Android will begin terminating processes that are least important.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5" name="Title 1"/>
          <p:cNvSpPr>
            <a:spLocks noGrp="1"/>
          </p:cNvSpPr>
          <p:nvPr>
            <p:ph type="title"/>
          </p:nvPr>
        </p:nvSpPr>
        <p:spPr>
          <a:xfrm>
            <a:off x="1225550" y="150813"/>
            <a:ext cx="7997825" cy="576262"/>
          </a:xfrm>
          <a:ln/>
        </p:spPr>
        <p:txBody>
          <a:bodyPr vert="horz" wrap="square" lIns="91440" tIns="45720" rIns="91440" bIns="45720" anchor="b" anchorCtr="0"/>
          <a:p>
            <a:r>
              <a:rPr lang="en-US" altLang="en-US" sz="2800"/>
              <a:t>Multiprocess Architecture – Chrome Browser</a:t>
            </a:r>
            <a:endParaRPr lang="en-US" altLang="en-US" sz="2800"/>
          </a:p>
        </p:txBody>
      </p:sp>
      <p:sp>
        <p:nvSpPr>
          <p:cNvPr id="57346" name="Content Placeholder 2"/>
          <p:cNvSpPr>
            <a:spLocks noGrp="1"/>
          </p:cNvSpPr>
          <p:nvPr>
            <p:ph idx="1"/>
          </p:nvPr>
        </p:nvSpPr>
        <p:spPr>
          <a:xfrm>
            <a:off x="806450" y="1233488"/>
            <a:ext cx="7512050" cy="4530725"/>
          </a:xfrm>
          <a:ln/>
        </p:spPr>
        <p:txBody>
          <a:bodyPr vert="horz" wrap="square" lIns="91440" tIns="45720" rIns="91440" bIns="45720" anchor="t" anchorCtr="0"/>
          <a:p>
            <a:r>
              <a:rPr lang="en-US" altLang="en-US"/>
              <a:t>Many web browsers ran as single process (some still do)</a:t>
            </a:r>
            <a:endParaRPr lang="en-US" altLang="en-US"/>
          </a:p>
          <a:p>
            <a:pPr lvl="1"/>
            <a:r>
              <a:rPr lang="en-US" altLang="en-US"/>
              <a:t>If one web site causes trouble, entire browser can hang or crash</a:t>
            </a:r>
            <a:endParaRPr lang="en-US" altLang="en-US"/>
          </a:p>
          <a:p>
            <a:r>
              <a:rPr lang="en-US" altLang="en-US"/>
              <a:t>Google Chrome Browser is multiprocess with 3 different types of processes: </a:t>
            </a:r>
            <a:endParaRPr lang="en-US" altLang="en-US"/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Browser</a:t>
            </a:r>
            <a:r>
              <a:rPr lang="en-US" altLang="en-US"/>
              <a:t> process manages user interface, disk and network I/O</a:t>
            </a:r>
            <a:endParaRPr lang="en-US" altLang="en-US"/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Renderer</a:t>
            </a:r>
            <a:r>
              <a:rPr lang="en-US" altLang="en-US"/>
              <a:t> process renders web pages, deals with HTML, Javascript. A new renderer created for each website opened</a:t>
            </a:r>
            <a:endParaRPr lang="en-US" altLang="en-US"/>
          </a:p>
          <a:p>
            <a:pPr lvl="2"/>
            <a:r>
              <a:rPr lang="en-US" altLang="en-US"/>
              <a:t>Runs in </a:t>
            </a:r>
            <a:r>
              <a:rPr lang="en-US" altLang="en-US" b="1">
                <a:solidFill>
                  <a:srgbClr val="3366FF"/>
                </a:solidFill>
              </a:rPr>
              <a:t>sandbox</a:t>
            </a:r>
            <a:r>
              <a:rPr lang="en-US" altLang="en-US"/>
              <a:t> restricting disk and network I/O, minimizing effect of security exploits</a:t>
            </a:r>
            <a:endParaRPr lang="en-US" altLang="en-US"/>
          </a:p>
          <a:p>
            <a:pPr lvl="1"/>
            <a:r>
              <a:rPr lang="en-US" altLang="en-US" b="1">
                <a:solidFill>
                  <a:srgbClr val="3366FF"/>
                </a:solidFill>
              </a:rPr>
              <a:t>Plug-in </a:t>
            </a:r>
            <a:r>
              <a:rPr lang="en-US" altLang="en-US"/>
              <a:t>process for each type of plug-in</a:t>
            </a:r>
            <a:endParaRPr lang="en-US" altLang="en-US"/>
          </a:p>
          <a:p>
            <a:pPr lvl="1"/>
            <a:endParaRPr lang="en-US" altLang="en-US"/>
          </a:p>
          <a:p>
            <a:pPr lvl="1"/>
            <a:endParaRPr lang="en-US" altLang="en-US"/>
          </a:p>
          <a:p>
            <a:pPr lvl="1"/>
            <a:endParaRPr lang="en-US" altLang="en-US"/>
          </a:p>
        </p:txBody>
      </p:sp>
      <p:pic>
        <p:nvPicPr>
          <p:cNvPr id="57347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8925" y="4856163"/>
            <a:ext cx="6278563" cy="126682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21" name="Rectangle 2"/>
          <p:cNvSpPr>
            <a:spLocks noGrp="1"/>
          </p:cNvSpPr>
          <p:nvPr>
            <p:ph type="ctr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eaLnBrk="1" hangingPunct="1">
              <a:buClrTx/>
              <a:buSzTx/>
              <a:buFontTx/>
            </a:pPr>
            <a:r>
              <a:rPr lang="en-US" altLang="en-US">
                <a:latin typeface="+mj-lt"/>
                <a:ea typeface="MS PGothic" panose="020B0600070205080204" pitchFamily="34" charset="-128"/>
                <a:cs typeface="MS PGothic" panose="020B0600070205080204" pitchFamily="34" charset="-128"/>
              </a:rPr>
              <a:t>End of Chapter 3(Week-3)</a:t>
            </a:r>
            <a:endParaRPr lang="en-US" altLang="en-US">
              <a:latin typeface="+mj-lt"/>
              <a:ea typeface="MS PGothic" panose="020B0600070205080204" pitchFamily="34" charset="-128"/>
              <a:cs typeface="MS PGothic" panose="020B0600070205080204" pitchFamily="3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panose="020B0604030504040204" pitchFamily="34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0</TotalTime>
  <Words>7907</Words>
  <Application>WPS Presentation</Application>
  <PresentationFormat/>
  <Paragraphs>205</Paragraphs>
  <Slides>27</Slides>
  <Notes>59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44" baseType="lpstr">
      <vt:lpstr>Arial</vt:lpstr>
      <vt:lpstr>SimSun</vt:lpstr>
      <vt:lpstr>Wingdings</vt:lpstr>
      <vt:lpstr>Verdana</vt:lpstr>
      <vt:lpstr>MS PGothic</vt:lpstr>
      <vt:lpstr>Helvetica</vt:lpstr>
      <vt:lpstr>Monotype Sorts</vt:lpstr>
      <vt:lpstr>Wingdings</vt:lpstr>
      <vt:lpstr>Webdings</vt:lpstr>
      <vt:lpstr>Times New Roman</vt:lpstr>
      <vt:lpstr>Courier New</vt:lpstr>
      <vt:lpstr>Monaco</vt:lpstr>
      <vt:lpstr>Segoe Print</vt:lpstr>
      <vt:lpstr>Microsoft YaHei</vt:lpstr>
      <vt:lpstr>Arial Unicode MS</vt:lpstr>
      <vt:lpstr>Monotype Sorts</vt:lpstr>
      <vt:lpstr>os-8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Dazy Nam</cp:lastModifiedBy>
  <cp:revision>301</cp:revision>
  <cp:lastPrinted>2013-10-02T18:16:40Z</cp:lastPrinted>
  <dcterms:created xsi:type="dcterms:W3CDTF">2011-01-13T23:43:38Z</dcterms:created>
  <dcterms:modified xsi:type="dcterms:W3CDTF">2026-09-19T11:57:42Z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87DED176900B45748B709737DF71E6ED_13</vt:lpwstr>
  </property>
</Properties>
</file>