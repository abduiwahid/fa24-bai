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330" r:id="rId3"/>
    <p:sldId id="347" r:id="rId5"/>
    <p:sldId id="348" r:id="rId6"/>
    <p:sldId id="350" r:id="rId7"/>
    <p:sldId id="411" r:id="rId8"/>
    <p:sldId id="352" r:id="rId9"/>
    <p:sldId id="353" r:id="rId10"/>
    <p:sldId id="354" r:id="rId11"/>
    <p:sldId id="356" r:id="rId12"/>
    <p:sldId id="357" r:id="rId13"/>
    <p:sldId id="358" r:id="rId14"/>
    <p:sldId id="360" r:id="rId15"/>
    <p:sldId id="355" r:id="rId16"/>
    <p:sldId id="359" r:id="rId17"/>
    <p:sldId id="413" r:id="rId18"/>
    <p:sldId id="361" r:id="rId19"/>
    <p:sldId id="363" r:id="rId20"/>
    <p:sldId id="393" r:id="rId21"/>
    <p:sldId id="364" r:id="rId22"/>
    <p:sldId id="408" r:id="rId23"/>
    <p:sldId id="404" r:id="rId24"/>
    <p:sldId id="403" r:id="rId25"/>
    <p:sldId id="367" r:id="rId26"/>
    <p:sldId id="369" r:id="rId27"/>
    <p:sldId id="370" r:id="rId28"/>
    <p:sldId id="414" r:id="rId29"/>
    <p:sldId id="371" r:id="rId30"/>
    <p:sldId id="372" r:id="rId31"/>
    <p:sldId id="415" r:id="rId32"/>
    <p:sldId id="375" r:id="rId33"/>
    <p:sldId id="373" r:id="rId34"/>
    <p:sldId id="374" r:id="rId35"/>
    <p:sldId id="410" r:id="rId36"/>
    <p:sldId id="376" r:id="rId37"/>
    <p:sldId id="381" r:id="rId38"/>
    <p:sldId id="366" r:id="rId39"/>
    <p:sldId id="382" r:id="rId40"/>
    <p:sldId id="407" r:id="rId41"/>
    <p:sldId id="386" r:id="rId42"/>
    <p:sldId id="398" r:id="rId43"/>
    <p:sldId id="389" r:id="rId44"/>
    <p:sldId id="390" r:id="rId45"/>
    <p:sldId id="401" r:id="rId46"/>
    <p:sldId id="402" r:id="rId47"/>
    <p:sldId id="387" r:id="rId48"/>
    <p:sldId id="392" r:id="rId49"/>
    <p:sldId id="412" r:id="rId50"/>
    <p:sldId id="331" r:id="rId51"/>
  </p:sldIdLst>
  <p:sldSz cx="9144000" cy="6858000" type="screen4x3"/>
  <p:notesSz cx="688213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33"/>
    <p:restoredTop sz="94667"/>
  </p:normalViewPr>
  <p:slideViewPr>
    <p:cSldViewPr snapToGrid="0" showGuides="1">
      <p:cViewPr varScale="1">
        <p:scale>
          <a:sx n="219" d="100"/>
          <a:sy n="219" d="100"/>
        </p:scale>
        <p:origin x="1288" y="192"/>
      </p:cViewPr>
      <p:guideLst>
        <p:guide orient="horz" pos="777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763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8763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763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-84" charset="0"/>
              </a:defRPr>
            </a:lvl1pPr>
          </a:lstStyle>
          <a:p>
            <a:pPr marL="0" marR="0" lvl="0" indent="0" algn="r" defTabSz="8763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FB533-18C0-6247-95AE-24E47A3057BB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239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239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17600" y="698500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239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239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263101-6D5C-3D44-9BB2-8FFADE09E2C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2436" tIns="46217" rIns="92436" bIns="46217" anchor="b" anchorCtr="0"/>
          <a:p>
            <a:pPr lvl="0" algn="r" defTabSz="923925"/>
            <a:fld id="{9A0DB2DC-4C9A-4742-B13C-FB6460FD3503}" type="slidenum">
              <a:rPr lang="en-US" altLang="en-US" sz="1200">
                <a:latin typeface="Times New Roman" panose="02020603050405020304" pitchFamily="18" charset="0"/>
              </a:rPr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2436" tIns="46217" rIns="92436" bIns="462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19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229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433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741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945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355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765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969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174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379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584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301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505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710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915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120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325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632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041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451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7885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0898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499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3426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5474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752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957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12642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Rectangle 2"/>
          <p:cNvSpPr>
            <a:spLocks noRot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14690" name="Rectangle 3"/>
          <p:cNvSpPr>
            <a:spLocks noGrp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ln/>
        </p:spPr>
        <p:txBody>
          <a:bodyPr wrap="square" lIns="92438" tIns="46219" rIns="92438" bIns="46219" anchor="t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2436" tIns="46217" rIns="92436" bIns="46217" anchor="b" anchorCtr="0"/>
          <a:p>
            <a:pPr lvl="0" algn="r" defTabSz="923925"/>
            <a:fld id="{9A0DB2DC-4C9A-4742-B13C-FB6460FD3503}" type="slidenum">
              <a:rPr lang="en-US" altLang="en-US" sz="1200">
                <a:latin typeface="Times New Roman" panose="02020603050405020304" pitchFamily="18" charset="0"/>
              </a:rPr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8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2436" tIns="46217" rIns="92436" bIns="462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3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h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17765" name="Picture 9" descr="dino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w="76200" cap="flat" cmpd="sng">
            <a:solidFill>
              <a:srgbClr val="3366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dino_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0" name="Line 6"/>
          <p:cNvSpPr/>
          <p:nvPr/>
        </p:nvSpPr>
        <p:spPr>
          <a:xfrm>
            <a:off x="457200" y="860425"/>
            <a:ext cx="8077200" cy="0"/>
          </a:xfrm>
          <a:prstGeom prst="line">
            <a:avLst/>
          </a:prstGeom>
          <a:ln w="19050" cap="flat" cmpd="sng">
            <a:solidFill>
              <a:srgbClr val="3366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1.</a:t>
            </a:r>
            <a:fld id="{33FA28F7-E5B3-7646-BD3A-DD4B551606C2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6" name="Picture 12" descr="dino_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://gnu.org/philosophy/open-source-misses-the-point.html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4"/>
          <p:cNvSpPr>
            <a:spLocks noGrp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Chapter 1:  Introduction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Chapter 1: Introduction</a:t>
            </a:r>
            <a:endParaRPr lang="en-US" altLang="en-US"/>
          </a:p>
        </p:txBody>
      </p:sp>
      <p:sp>
        <p:nvSpPr>
          <p:cNvPr id="7170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What Operating Systems Do</a:t>
            </a:r>
            <a:endParaRPr lang="en-US" altLang="en-US"/>
          </a:p>
          <a:p>
            <a:r>
              <a:rPr lang="en-US" altLang="en-US"/>
              <a:t>Computer-System Organization</a:t>
            </a:r>
            <a:endParaRPr lang="en-US" altLang="en-US"/>
          </a:p>
          <a:p>
            <a:r>
              <a:rPr lang="en-US" altLang="en-US"/>
              <a:t>Computer-System Architecture</a:t>
            </a:r>
            <a:endParaRPr lang="en-US" altLang="en-US"/>
          </a:p>
          <a:p>
            <a:r>
              <a:rPr lang="en-US" altLang="en-US"/>
              <a:t>Operating-System Operations</a:t>
            </a:r>
            <a:endParaRPr lang="en-US" altLang="en-US"/>
          </a:p>
          <a:p>
            <a:r>
              <a:rPr lang="en-US" altLang="en-US"/>
              <a:t>Resource Management</a:t>
            </a:r>
            <a:endParaRPr lang="en-US" altLang="en-US"/>
          </a:p>
          <a:p>
            <a:r>
              <a:rPr lang="en-US" altLang="en-US"/>
              <a:t>Security and Protection</a:t>
            </a:r>
            <a:endParaRPr lang="en-US" altLang="en-US"/>
          </a:p>
          <a:p>
            <a:r>
              <a:rPr lang="en-US" altLang="en-US"/>
              <a:t>Virtualization</a:t>
            </a:r>
            <a:endParaRPr lang="en-US" altLang="en-US"/>
          </a:p>
          <a:p>
            <a:r>
              <a:rPr lang="en-US" altLang="en-US"/>
              <a:t>Distributed Systems</a:t>
            </a:r>
            <a:endParaRPr lang="en-US" altLang="en-US"/>
          </a:p>
          <a:p>
            <a:r>
              <a:rPr lang="en-US" altLang="en-US"/>
              <a:t>Kernel Data Structures</a:t>
            </a:r>
            <a:endParaRPr lang="en-US" altLang="en-US"/>
          </a:p>
          <a:p>
            <a:r>
              <a:rPr lang="en-US" altLang="en-US"/>
              <a:t>Computing Environments</a:t>
            </a:r>
            <a:endParaRPr lang="en-US" altLang="en-US"/>
          </a:p>
          <a:p>
            <a:r>
              <a:rPr lang="en-US" altLang="en-US"/>
              <a:t>Free/Libre and Open-Source Operating Systems</a:t>
            </a:r>
            <a:endParaRPr lang="en-US" altLang="en-US"/>
          </a:p>
          <a:p>
            <a:pPr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666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8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4928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Describe the general organization of a computer system and the role of interrupts</a:t>
            </a:r>
            <a:endParaRPr lang="en-US" altLang="en-US"/>
          </a:p>
          <a:p>
            <a:r>
              <a:rPr lang="en-US" altLang="en-US"/>
              <a:t>Describe the components in a modern, multiprocessor computer system</a:t>
            </a:r>
            <a:endParaRPr lang="en-US" altLang="en-US"/>
          </a:p>
          <a:p>
            <a:r>
              <a:rPr lang="en-US" altLang="en-US"/>
              <a:t>Illustrate the transition from user mode to kernel mode</a:t>
            </a:r>
            <a:endParaRPr lang="en-US" altLang="en-US"/>
          </a:p>
          <a:p>
            <a:r>
              <a:rPr lang="en-US" altLang="en-US"/>
              <a:t>Discuss how operating systems are used in various computing environments</a:t>
            </a:r>
            <a:endParaRPr lang="en-US" altLang="en-US"/>
          </a:p>
          <a:p>
            <a:r>
              <a:rPr lang="en-US" altLang="en-US"/>
              <a:t>Provide examples of free and open-source operating systems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Computer System Structure</a:t>
            </a:r>
            <a:endParaRPr lang="en-US" altLang="en-US"/>
          </a:p>
        </p:txBody>
      </p:sp>
      <p:sp>
        <p:nvSpPr>
          <p:cNvPr id="11266" name="Rectangle 3"/>
          <p:cNvSpPr>
            <a:spLocks noGrp="1"/>
          </p:cNvSpPr>
          <p:nvPr>
            <p:ph type="body" idx="4294967295"/>
          </p:nvPr>
        </p:nvSpPr>
        <p:spPr>
          <a:xfrm>
            <a:off x="890588" y="1204913"/>
            <a:ext cx="7351712" cy="44831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Computer system can be divided into four components:</a:t>
            </a:r>
            <a:endParaRPr lang="en-US" altLang="en-US"/>
          </a:p>
          <a:p>
            <a:pPr lvl="1"/>
            <a:r>
              <a:rPr lang="en-US" altLang="en-US"/>
              <a:t>Hardware – provides basic computing resources</a:t>
            </a:r>
            <a:endParaRPr lang="en-US" altLang="en-US"/>
          </a:p>
          <a:p>
            <a:pPr lvl="2"/>
            <a:r>
              <a:rPr lang="en-US" altLang="en-US"/>
              <a:t>CPU, memory, I/O devices</a:t>
            </a:r>
            <a:endParaRPr lang="en-US" altLang="en-US"/>
          </a:p>
          <a:p>
            <a:pPr lvl="1"/>
            <a:r>
              <a:rPr lang="en-US" altLang="en-US"/>
              <a:t>Operating system</a:t>
            </a:r>
            <a:endParaRPr lang="en-US" altLang="en-US"/>
          </a:p>
          <a:p>
            <a:pPr lvl="2"/>
            <a:r>
              <a:rPr lang="en-US" altLang="en-US"/>
              <a:t>Controls and coordinates use of hardware among various applications and users</a:t>
            </a:r>
            <a:endParaRPr lang="en-US" altLang="en-US"/>
          </a:p>
          <a:p>
            <a:pPr lvl="1"/>
            <a:r>
              <a:rPr lang="en-US" altLang="en-US"/>
              <a:t>Application programs – define the ways in which the system resources are used to solve the computing problems of the users</a:t>
            </a:r>
            <a:endParaRPr lang="en-US" altLang="en-US"/>
          </a:p>
          <a:p>
            <a:pPr lvl="2"/>
            <a:r>
              <a:rPr lang="en-US" altLang="en-US"/>
              <a:t>Word processors, compilers, web browsers, database systems, video games</a:t>
            </a:r>
            <a:endParaRPr lang="en-US" altLang="en-US"/>
          </a:p>
          <a:p>
            <a:pPr lvl="1"/>
            <a:r>
              <a:rPr lang="en-US" altLang="en-US"/>
              <a:t>Users</a:t>
            </a:r>
            <a:endParaRPr lang="en-US" altLang="en-US"/>
          </a:p>
          <a:p>
            <a:pPr lvl="2"/>
            <a:r>
              <a:rPr lang="en-US" altLang="en-US"/>
              <a:t>People, machines, other computers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Abstract View of Components of Computer</a:t>
            </a:r>
            <a:endParaRPr lang="en-US" altLang="en-US" sz="2800"/>
          </a:p>
        </p:txBody>
      </p:sp>
      <p:pic>
        <p:nvPicPr>
          <p:cNvPr id="1331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288" y="1871663"/>
            <a:ext cx="4621212" cy="327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What Operating Systems Do</a:t>
            </a:r>
            <a:endParaRPr lang="en-US" altLang="en-US"/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746125" y="1120775"/>
            <a:ext cx="79406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Depends on the point of view</a:t>
            </a:r>
            <a:endParaRPr lang="en-US" altLang="en-US"/>
          </a:p>
          <a:p>
            <a:r>
              <a:rPr lang="en-US" altLang="en-US"/>
              <a:t>Users want convenience, </a:t>
            </a:r>
            <a:r>
              <a:rPr lang="en-US" altLang="en-US" b="1">
                <a:solidFill>
                  <a:srgbClr val="3366FF"/>
                </a:solidFill>
              </a:rPr>
              <a:t>ease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of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use </a:t>
            </a:r>
            <a:r>
              <a:rPr lang="en-US" altLang="en-US"/>
              <a:t>and</a:t>
            </a:r>
            <a:r>
              <a:rPr lang="en-US" altLang="en-US" b="1">
                <a:solidFill>
                  <a:srgbClr val="3366FF"/>
                </a:solidFill>
              </a:rPr>
              <a:t> good performance 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Don</a:t>
            </a:r>
            <a:r>
              <a:rPr lang="ja-JP" altLang="en-US"/>
              <a:t>’</a:t>
            </a:r>
            <a:r>
              <a:rPr lang="en-US" altLang="ja-JP"/>
              <a:t>t care about </a:t>
            </a:r>
            <a:r>
              <a:rPr lang="en-US" altLang="ja-JP" b="1">
                <a:solidFill>
                  <a:srgbClr val="3366FF"/>
                </a:solidFill>
              </a:rPr>
              <a:t>resource</a:t>
            </a:r>
            <a:r>
              <a:rPr lang="en-US" altLang="ja-JP">
                <a:solidFill>
                  <a:srgbClr val="3366FF"/>
                </a:solidFill>
              </a:rPr>
              <a:t> </a:t>
            </a:r>
            <a:r>
              <a:rPr lang="en-US" altLang="ja-JP" b="1">
                <a:solidFill>
                  <a:srgbClr val="3366FF"/>
                </a:solidFill>
              </a:rPr>
              <a:t>utilization</a:t>
            </a:r>
            <a:endParaRPr lang="en-US" altLang="ja-JP" b="1">
              <a:solidFill>
                <a:srgbClr val="3366FF"/>
              </a:solidFill>
            </a:endParaRPr>
          </a:p>
          <a:p>
            <a:r>
              <a:rPr lang="en-US" altLang="en-US"/>
              <a:t>But shared computer such as </a:t>
            </a:r>
            <a:r>
              <a:rPr lang="en-US" altLang="en-US" b="1">
                <a:solidFill>
                  <a:srgbClr val="3366FF"/>
                </a:solidFill>
              </a:rPr>
              <a:t>mainframe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minicomputer</a:t>
            </a:r>
            <a:r>
              <a:rPr lang="en-US" altLang="en-US"/>
              <a:t> must keep all users happy</a:t>
            </a:r>
            <a:endParaRPr lang="en-US" altLang="en-US"/>
          </a:p>
          <a:p>
            <a:pPr lvl="1"/>
            <a:r>
              <a:rPr lang="en-US" altLang="en-US"/>
              <a:t>Operating system is a </a:t>
            </a:r>
            <a:r>
              <a:rPr lang="en-US" altLang="en-US" b="1">
                <a:solidFill>
                  <a:srgbClr val="3366FF"/>
                </a:solidFill>
              </a:rPr>
              <a:t>resource allocator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3366FF"/>
                </a:solidFill>
              </a:rPr>
              <a:t>control program </a:t>
            </a:r>
            <a:r>
              <a:rPr lang="en-US" altLang="en-US"/>
              <a:t>making efficient use of HW and managing execution of user programs</a:t>
            </a:r>
            <a:endParaRPr lang="en-US" altLang="en-US"/>
          </a:p>
          <a:p>
            <a:r>
              <a:rPr lang="en-US" altLang="en-US"/>
              <a:t>Users of dedicate systems such as </a:t>
            </a:r>
            <a:r>
              <a:rPr lang="en-US" altLang="en-US" b="1">
                <a:solidFill>
                  <a:srgbClr val="3366FF"/>
                </a:solidFill>
              </a:rPr>
              <a:t>workstations</a:t>
            </a:r>
            <a:r>
              <a:rPr lang="en-US" altLang="en-US"/>
              <a:t> have dedicated resources but frequently use shared resources from </a:t>
            </a:r>
            <a:r>
              <a:rPr lang="en-US" altLang="en-US" b="1">
                <a:solidFill>
                  <a:srgbClr val="3366FF"/>
                </a:solidFill>
              </a:rPr>
              <a:t>servers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Mobile user interfaces such as touch screens, voice recognition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Run primarily without user intervention</a:t>
            </a: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 idx="4294967295"/>
          </p:nvPr>
        </p:nvSpPr>
        <p:spPr>
          <a:xfrm>
            <a:off x="1176338" y="166688"/>
            <a:ext cx="751046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Defining Operating Systems</a:t>
            </a:r>
            <a:endParaRPr lang="en-US" altLang="en-US"/>
          </a:p>
        </p:txBody>
      </p:sp>
      <p:sp>
        <p:nvSpPr>
          <p:cNvPr id="16386" name="Rectangle 3"/>
          <p:cNvSpPr>
            <a:spLocks noGrp="1"/>
          </p:cNvSpPr>
          <p:nvPr>
            <p:ph type="body" idx="4294967295"/>
          </p:nvPr>
        </p:nvSpPr>
        <p:spPr>
          <a:xfrm>
            <a:off x="827088" y="1028700"/>
            <a:ext cx="6638925" cy="4265613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endParaRPr lang="en-US" altLang="en-US"/>
          </a:p>
          <a:p>
            <a:r>
              <a:rPr lang="en-US" altLang="en-US"/>
              <a:t>Term OS covers many roles</a:t>
            </a:r>
            <a:endParaRPr lang="en-US" altLang="en-US"/>
          </a:p>
          <a:p>
            <a:pPr lvl="1"/>
            <a:r>
              <a:rPr lang="en-US" altLang="en-US"/>
              <a:t>Because of myriad designs and uses of OSes</a:t>
            </a:r>
            <a:endParaRPr lang="en-US" altLang="en-US"/>
          </a:p>
          <a:p>
            <a:pPr lvl="1"/>
            <a:r>
              <a:rPr lang="en-US" altLang="en-US"/>
              <a:t>Present in toasters through ships, spacecraft, game machines, TVs and industrial control systems</a:t>
            </a:r>
            <a:endParaRPr lang="en-US" altLang="en-US"/>
          </a:p>
          <a:p>
            <a:pPr lvl="1"/>
            <a:r>
              <a:rPr lang="en-US" altLang="en-US"/>
              <a:t>Born when fixed use computers for military became more general purpose and needed resource management and program control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 idx="4294967295"/>
          </p:nvPr>
        </p:nvSpPr>
        <p:spPr>
          <a:xfrm>
            <a:off x="1033463" y="198438"/>
            <a:ext cx="802481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Operating System Definition (Cont.)</a:t>
            </a:r>
            <a:endParaRPr lang="en-US" altLang="en-US"/>
          </a:p>
        </p:txBody>
      </p:sp>
      <p:sp>
        <p:nvSpPr>
          <p:cNvPr id="18434" name="Rectangle 3"/>
          <p:cNvSpPr>
            <a:spLocks noGrp="1"/>
          </p:cNvSpPr>
          <p:nvPr>
            <p:ph type="body" idx="4294967295"/>
          </p:nvPr>
        </p:nvSpPr>
        <p:spPr>
          <a:xfrm>
            <a:off x="893763" y="1247775"/>
            <a:ext cx="6808787" cy="454501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No universally accepted definition</a:t>
            </a:r>
            <a:endParaRPr lang="en-US" altLang="en-US"/>
          </a:p>
          <a:p>
            <a:r>
              <a:rPr lang="ja-JP" altLang="en-US"/>
              <a:t>“</a:t>
            </a:r>
            <a:r>
              <a:rPr lang="en-US" altLang="ja-JP"/>
              <a:t>Everything a vendor ships when you order an operating system</a:t>
            </a:r>
            <a:r>
              <a:rPr lang="ja-JP" altLang="en-US"/>
              <a:t>”</a:t>
            </a:r>
            <a:r>
              <a:rPr lang="en-US" altLang="ja-JP"/>
              <a:t> is a good approximation</a:t>
            </a:r>
            <a:endParaRPr lang="en-US" altLang="ja-JP"/>
          </a:p>
          <a:p>
            <a:pPr lvl="1"/>
            <a:r>
              <a:rPr lang="en-US" altLang="en-US"/>
              <a:t>But varies wildly</a:t>
            </a:r>
            <a:endParaRPr lang="en-US" altLang="en-US"/>
          </a:p>
          <a:p>
            <a:r>
              <a:rPr lang="ja-JP" altLang="en-US"/>
              <a:t>“</a:t>
            </a:r>
            <a:r>
              <a:rPr lang="en-US" altLang="ja-JP"/>
              <a:t>The one program running at all times on the computer</a:t>
            </a:r>
            <a:r>
              <a:rPr lang="ja-JP" altLang="en-US"/>
              <a:t>”</a:t>
            </a:r>
            <a:r>
              <a:rPr lang="en-US" altLang="ja-JP"/>
              <a:t> is the </a:t>
            </a:r>
            <a:r>
              <a:rPr lang="en-US" altLang="ja-JP" b="1">
                <a:solidFill>
                  <a:srgbClr val="3366FF"/>
                </a:solidFill>
              </a:rPr>
              <a:t>kernel, </a:t>
            </a:r>
            <a:r>
              <a:rPr lang="en-US" altLang="ja-JP"/>
              <a:t>part of the operating system</a:t>
            </a:r>
            <a:endParaRPr lang="en-US" altLang="ja-JP"/>
          </a:p>
          <a:p>
            <a:r>
              <a:rPr lang="en-US" altLang="ja-JP"/>
              <a:t>Everything else is either</a:t>
            </a:r>
            <a:endParaRPr lang="en-US" altLang="ja-JP"/>
          </a:p>
          <a:p>
            <a:pPr lvl="1"/>
            <a:r>
              <a:rPr lang="en-US" altLang="ja-JP"/>
              <a:t>a </a:t>
            </a:r>
            <a:r>
              <a:rPr lang="en-US" altLang="ja-JP" b="1">
                <a:solidFill>
                  <a:srgbClr val="3366FF"/>
                </a:solidFill>
              </a:rPr>
              <a:t>system program </a:t>
            </a:r>
            <a:r>
              <a:rPr lang="en-US" altLang="ja-JP"/>
              <a:t>(ships with the operating system, but not part of the kernel) , or</a:t>
            </a:r>
            <a:endParaRPr lang="en-US" altLang="ja-JP"/>
          </a:p>
          <a:p>
            <a:pPr lvl="1"/>
            <a:r>
              <a:rPr lang="en-US" altLang="ja-JP"/>
              <a:t>an </a:t>
            </a:r>
            <a:r>
              <a:rPr lang="en-US" altLang="ja-JP" b="1">
                <a:solidFill>
                  <a:srgbClr val="3366FF"/>
                </a:solidFill>
              </a:rPr>
              <a:t>application program</a:t>
            </a:r>
            <a:r>
              <a:rPr lang="en-US" altLang="ja-JP"/>
              <a:t>, all programs not associated with the operating system</a:t>
            </a:r>
            <a:endParaRPr lang="en-US" altLang="ja-JP"/>
          </a:p>
          <a:p>
            <a:r>
              <a:rPr lang="en-US" altLang="en-US"/>
              <a:t>Today’s OSes for general purpose and mobile computing also include </a:t>
            </a:r>
            <a:r>
              <a:rPr lang="en-US" altLang="en-US" b="1">
                <a:solidFill>
                  <a:srgbClr val="3366FF"/>
                </a:solidFill>
              </a:rPr>
              <a:t>middleware</a:t>
            </a:r>
            <a:r>
              <a:rPr lang="en-US" altLang="en-US"/>
              <a:t> – a set of software frameworks that provide addition services to application developers such as databases, multimedia, graphics 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Computer System Organization</a:t>
            </a:r>
            <a:endParaRPr lang="en-US" altLang="en-US"/>
          </a:p>
        </p:txBody>
      </p:sp>
      <p:sp>
        <p:nvSpPr>
          <p:cNvPr id="20482" name="Rectangle 3"/>
          <p:cNvSpPr>
            <a:spLocks noGrp="1"/>
          </p:cNvSpPr>
          <p:nvPr>
            <p:ph type="body" idx="4294967295"/>
          </p:nvPr>
        </p:nvSpPr>
        <p:spPr>
          <a:xfrm>
            <a:off x="815975" y="1233488"/>
            <a:ext cx="75977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Computer-system operation</a:t>
            </a:r>
            <a:endParaRPr lang="en-US" altLang="en-US"/>
          </a:p>
          <a:p>
            <a:pPr lvl="1"/>
            <a:r>
              <a:rPr lang="en-US" altLang="en-US"/>
              <a:t>One or more CPUs, device controllers connect through common </a:t>
            </a:r>
            <a:r>
              <a:rPr lang="en-US" altLang="en-US" b="1">
                <a:solidFill>
                  <a:srgbClr val="3366FF"/>
                </a:solidFill>
              </a:rPr>
              <a:t>bus</a:t>
            </a:r>
            <a:r>
              <a:rPr lang="en-US" altLang="en-US"/>
              <a:t> providing access to shared memory</a:t>
            </a:r>
            <a:endParaRPr lang="en-US" altLang="en-US"/>
          </a:p>
          <a:p>
            <a:pPr lvl="1"/>
            <a:r>
              <a:rPr lang="en-US" altLang="en-US"/>
              <a:t>Concurrent execution of CPUs and devices competing for memory cycles</a:t>
            </a:r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2048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088" y="3098800"/>
            <a:ext cx="6216650" cy="3032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Computer-System Operation</a:t>
            </a:r>
            <a:endParaRPr lang="en-US" altLang="en-US"/>
          </a:p>
        </p:txBody>
      </p:sp>
      <p:sp>
        <p:nvSpPr>
          <p:cNvPr id="22530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745288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I/O devices and the CPU can execute concurrently</a:t>
            </a:r>
            <a:endParaRPr lang="en-US" altLang="en-US" sz="800"/>
          </a:p>
          <a:p>
            <a:r>
              <a:rPr lang="en-US" altLang="en-US"/>
              <a:t>Each device controller is in charge of a particular device type</a:t>
            </a:r>
            <a:endParaRPr lang="en-US" altLang="en-US" sz="800"/>
          </a:p>
          <a:p>
            <a:r>
              <a:rPr lang="en-US" altLang="en-US"/>
              <a:t>Each device controller has a local buffer</a:t>
            </a:r>
            <a:endParaRPr lang="en-US" altLang="en-US"/>
          </a:p>
          <a:p>
            <a:r>
              <a:rPr lang="en-US" altLang="en-US"/>
              <a:t>Each device controller type has an operating system </a:t>
            </a:r>
            <a:r>
              <a:rPr lang="en-US" altLang="en-US" b="1">
                <a:solidFill>
                  <a:srgbClr val="3366FF"/>
                </a:solidFill>
              </a:rPr>
              <a:t>device driver</a:t>
            </a:r>
            <a:r>
              <a:rPr lang="en-US" altLang="en-US"/>
              <a:t> to manage it</a:t>
            </a:r>
            <a:endParaRPr lang="en-US" altLang="en-US" sz="800"/>
          </a:p>
          <a:p>
            <a:r>
              <a:rPr lang="en-US" altLang="en-US"/>
              <a:t>CPU moves data from/to main memory to/from local buffers</a:t>
            </a:r>
            <a:endParaRPr lang="en-US" altLang="en-US" sz="800"/>
          </a:p>
          <a:p>
            <a:r>
              <a:rPr lang="en-US" altLang="en-US"/>
              <a:t>I/O is from the device to local buffer of controller</a:t>
            </a:r>
            <a:endParaRPr lang="en-US" altLang="en-US" sz="800"/>
          </a:p>
          <a:p>
            <a:r>
              <a:rPr lang="en-US" altLang="en-US"/>
              <a:t>Device controller informs CPU that it has finished its operation by causing an </a:t>
            </a:r>
            <a:r>
              <a:rPr lang="en-US" altLang="en-US" b="1">
                <a:solidFill>
                  <a:srgbClr val="3366FF"/>
                </a:solidFill>
              </a:rPr>
              <a:t>interrupt</a:t>
            </a:r>
            <a:endParaRPr lang="en-US" alt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>
          <a:xfrm>
            <a:off x="946150" y="1666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Common Functions of Interrupts</a:t>
            </a:r>
            <a:endParaRPr lang="en-US" altLang="en-US"/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5722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Interrupt transfers control to the interrupt service routine generally, through the </a:t>
            </a:r>
            <a:r>
              <a:rPr lang="en-US" altLang="en-US" b="1">
                <a:solidFill>
                  <a:srgbClr val="3366FF"/>
                </a:solidFill>
              </a:rPr>
              <a:t>interrupt</a:t>
            </a:r>
            <a:r>
              <a:rPr lang="en-US" altLang="en-US" i="1"/>
              <a:t> </a:t>
            </a:r>
            <a:r>
              <a:rPr lang="en-US" altLang="en-US" b="1">
                <a:solidFill>
                  <a:srgbClr val="3366FF"/>
                </a:solidFill>
              </a:rPr>
              <a:t>vector</a:t>
            </a:r>
            <a:r>
              <a:rPr lang="en-US" altLang="en-US"/>
              <a:t>, which contains the addresses of all the service routines</a:t>
            </a:r>
            <a:endParaRPr lang="en-US" altLang="en-US" sz="800"/>
          </a:p>
          <a:p>
            <a:r>
              <a:rPr lang="en-US" altLang="en-US"/>
              <a:t>Interrupt architecture must save the address of the interrupted instruction</a:t>
            </a:r>
            <a:endParaRPr lang="en-US" altLang="en-US" sz="800" i="1"/>
          </a:p>
          <a:p>
            <a:r>
              <a:rPr lang="en-US" altLang="en-US"/>
              <a:t>A </a:t>
            </a:r>
            <a:r>
              <a:rPr lang="en-US" altLang="en-US" b="1">
                <a:solidFill>
                  <a:srgbClr val="3366FF"/>
                </a:solidFill>
              </a:rPr>
              <a:t>trap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exception</a:t>
            </a:r>
            <a:r>
              <a:rPr lang="en-US" altLang="en-US"/>
              <a:t> is a software-generated interrupt caused either by an error or a user request</a:t>
            </a:r>
            <a:endParaRPr lang="en-US" altLang="en-US" sz="800"/>
          </a:p>
          <a:p>
            <a:r>
              <a:rPr lang="en-US" altLang="en-US"/>
              <a:t>An operating system is </a:t>
            </a:r>
            <a:r>
              <a:rPr lang="en-US" altLang="en-US" b="1">
                <a:solidFill>
                  <a:srgbClr val="3366FF"/>
                </a:solidFill>
              </a:rPr>
              <a:t>interrupt driven</a:t>
            </a:r>
            <a:endParaRPr lang="en-US" alt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Interrupt Timeline</a:t>
            </a:r>
            <a:endParaRPr lang="en-US" altLang="en-US"/>
          </a:p>
        </p:txBody>
      </p:sp>
      <p:pic>
        <p:nvPicPr>
          <p:cNvPr id="266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563" y="1908175"/>
            <a:ext cx="8355012" cy="3648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Computer Startup</a:t>
            </a:r>
            <a:endParaRPr lang="en-US" altLang="en-US"/>
          </a:p>
        </p:txBody>
      </p:sp>
      <p:sp>
        <p:nvSpPr>
          <p:cNvPr id="28674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3182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>
                <a:solidFill>
                  <a:srgbClr val="3366FF"/>
                </a:solidFill>
              </a:rPr>
              <a:t>bootstrap program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loaded at power-up or reboot</a:t>
            </a:r>
            <a:endParaRPr lang="en-US" altLang="en-US"/>
          </a:p>
          <a:p>
            <a:pPr lvl="1"/>
            <a:r>
              <a:rPr lang="en-US" altLang="en-US"/>
              <a:t>Typically stored in ROM or EPROM, generally known as </a:t>
            </a:r>
            <a:r>
              <a:rPr lang="en-US" altLang="en-US" b="1">
                <a:solidFill>
                  <a:srgbClr val="3366FF"/>
                </a:solidFill>
              </a:rPr>
              <a:t>firmware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Initializes all aspects of system</a:t>
            </a:r>
            <a:endParaRPr lang="en-US" altLang="en-US"/>
          </a:p>
          <a:p>
            <a:pPr lvl="1"/>
            <a:r>
              <a:rPr lang="en-US" altLang="en-US"/>
              <a:t>Loads operating system kernel and starts execution</a:t>
            </a:r>
            <a:endParaRPr lang="en-US" altLang="en-US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 idx="4294967295"/>
          </p:nvPr>
        </p:nvSpPr>
        <p:spPr>
          <a:xfrm>
            <a:off x="1063625" y="-95250"/>
            <a:ext cx="7772400" cy="84455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Interrupt Handling</a:t>
            </a:r>
            <a:endParaRPr lang="en-US" altLang="en-US"/>
          </a:p>
        </p:txBody>
      </p:sp>
      <p:sp>
        <p:nvSpPr>
          <p:cNvPr id="30722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6198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The operating system preserves the state of the CPU by storing registers and the program counter</a:t>
            </a:r>
            <a:endParaRPr lang="en-US" altLang="en-US"/>
          </a:p>
          <a:p>
            <a:r>
              <a:rPr lang="en-US" altLang="en-US"/>
              <a:t>Determines which type of interrupt has occurred: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polling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vectored</a:t>
            </a:r>
            <a:r>
              <a:rPr lang="en-US" altLang="en-US"/>
              <a:t> interrupt system</a:t>
            </a:r>
            <a:endParaRPr lang="en-US" altLang="en-US"/>
          </a:p>
          <a:p>
            <a:r>
              <a:rPr lang="en-US" altLang="en-US"/>
              <a:t>Separate segments of code determine what action should be taken for each type of interrupt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143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Interrupt-drive I/O Cycle</a:t>
            </a:r>
            <a:endParaRPr lang="en-US" altLang="en-US"/>
          </a:p>
        </p:txBody>
      </p:sp>
      <p:pic>
        <p:nvPicPr>
          <p:cNvPr id="3277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738" y="1179513"/>
            <a:ext cx="5084762" cy="5011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I/O Structure</a:t>
            </a:r>
            <a:endParaRPr lang="en-US" altLang="en-US"/>
          </a:p>
        </p:txBody>
      </p:sp>
      <p:sp>
        <p:nvSpPr>
          <p:cNvPr id="34818" name="Rectangle 3"/>
          <p:cNvSpPr>
            <a:spLocks noGrp="1"/>
          </p:cNvSpPr>
          <p:nvPr>
            <p:ph type="body" idx="4294967295"/>
          </p:nvPr>
        </p:nvSpPr>
        <p:spPr>
          <a:xfrm>
            <a:off x="895350" y="1244600"/>
            <a:ext cx="6845300" cy="458311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/>
              <a:t>After I/O starts, control returns to user program only upon I/O completion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Wait instruction idles the CPU until the next interrupt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Wait loop (contention for memory access)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At most one I/O request is outstanding at a time, no simultaneous I/O processing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After I/O starts, control returns to user program without waiting for I/O completion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System call </a:t>
            </a:r>
            <a:r>
              <a:rPr lang="en-US" altLang="en-US"/>
              <a:t>– request to the OS to allow user to wait for I/O completion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Device-status table </a:t>
            </a:r>
            <a:r>
              <a:rPr lang="en-US" altLang="en-US"/>
              <a:t>contains entry for each I/O device indicating its type, address, and state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OS indexes into I/O device table to determine device status and to modify table entry to include interrupt</a:t>
            </a: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Storage Structure</a:t>
            </a:r>
            <a:endParaRPr lang="en-US" altLang="en-US"/>
          </a:p>
        </p:txBody>
      </p:sp>
      <p:sp>
        <p:nvSpPr>
          <p:cNvPr id="36866" name="Rectangle 3"/>
          <p:cNvSpPr>
            <a:spLocks noGrp="1"/>
          </p:cNvSpPr>
          <p:nvPr>
            <p:ph type="body" idx="4294967295"/>
          </p:nvPr>
        </p:nvSpPr>
        <p:spPr>
          <a:xfrm>
            <a:off x="584200" y="1138238"/>
            <a:ext cx="8102600" cy="4805362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Main memory – only large storage media that the CPU can access directly</a:t>
            </a:r>
            <a:endParaRPr lang="en-US" altLang="en-US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Random</a:t>
            </a:r>
            <a:r>
              <a:rPr lang="en-US" altLang="en-US" sz="1600">
                <a:solidFill>
                  <a:srgbClr val="0000FF"/>
                </a:solidFill>
              </a:rPr>
              <a:t> </a:t>
            </a:r>
            <a:r>
              <a:rPr lang="en-US" altLang="en-US" sz="1600" b="1">
                <a:solidFill>
                  <a:srgbClr val="3366FF"/>
                </a:solidFill>
              </a:rPr>
              <a:t>access</a:t>
            </a:r>
            <a:endParaRPr lang="en-US" altLang="en-US" sz="1600" b="1">
              <a:solidFill>
                <a:srgbClr val="3366FF"/>
              </a:solidFill>
            </a:endParaRPr>
          </a:p>
          <a:p>
            <a:pPr lvl="1"/>
            <a:r>
              <a:rPr lang="en-US" altLang="en-US" sz="1600"/>
              <a:t>Typically </a:t>
            </a:r>
            <a:r>
              <a:rPr lang="en-US" altLang="en-US" sz="1600" b="1">
                <a:solidFill>
                  <a:srgbClr val="3366FF"/>
                </a:solidFill>
              </a:rPr>
              <a:t>volatile</a:t>
            </a:r>
            <a:endParaRPr lang="en-US" altLang="en-US" sz="1600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Typically</a:t>
            </a:r>
            <a:r>
              <a:rPr lang="en-US" altLang="en-US" sz="1600" b="1">
                <a:solidFill>
                  <a:srgbClr val="3366FF"/>
                </a:solidFill>
              </a:rPr>
              <a:t> random-access memory </a:t>
            </a:r>
            <a:r>
              <a:rPr lang="en-US" altLang="en-US"/>
              <a:t>in the form of </a:t>
            </a:r>
            <a:r>
              <a:rPr lang="en-US" altLang="en-US" sz="1600" b="1">
                <a:solidFill>
                  <a:srgbClr val="3366FF"/>
                </a:solidFill>
              </a:rPr>
              <a:t>Dynamic Random-access Memory (DRAM)</a:t>
            </a:r>
            <a:endParaRPr lang="en-US" altLang="en-US" sz="1600" b="1">
              <a:solidFill>
                <a:srgbClr val="3366FF"/>
              </a:solidFill>
            </a:endParaRPr>
          </a:p>
          <a:p>
            <a:r>
              <a:rPr lang="en-US" altLang="en-US"/>
              <a:t>Secondary storage – extension of main memory that provides large </a:t>
            </a:r>
            <a:r>
              <a:rPr lang="en-US" altLang="en-US" b="1">
                <a:solidFill>
                  <a:srgbClr val="3366FF"/>
                </a:solidFill>
              </a:rPr>
              <a:t>nonvolatile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/>
              <a:t>storage capacity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Hard Disk Drives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HDD</a:t>
            </a:r>
            <a:r>
              <a:rPr lang="en-US" altLang="en-US"/>
              <a:t>) – rigid metal or glass platters covered with magnetic recording material </a:t>
            </a:r>
            <a:endParaRPr lang="en-US" altLang="en-US"/>
          </a:p>
          <a:p>
            <a:pPr lvl="1"/>
            <a:r>
              <a:rPr lang="en-US" altLang="en-US" sz="1600"/>
              <a:t>Disk surface is logically divided into </a:t>
            </a:r>
            <a:r>
              <a:rPr lang="en-US" altLang="en-US" sz="1600" b="1">
                <a:solidFill>
                  <a:srgbClr val="3366FF"/>
                </a:solidFill>
              </a:rPr>
              <a:t>tracks</a:t>
            </a:r>
            <a:r>
              <a:rPr lang="en-US" altLang="en-US" sz="1600"/>
              <a:t>, which are subdivided into </a:t>
            </a:r>
            <a:r>
              <a:rPr lang="en-US" altLang="en-US" sz="1600" b="1">
                <a:solidFill>
                  <a:srgbClr val="3366FF"/>
                </a:solidFill>
              </a:rPr>
              <a:t>sectors</a:t>
            </a:r>
            <a:endParaRPr lang="en-US" altLang="en-US" sz="1600" b="1">
              <a:solidFill>
                <a:srgbClr val="3366FF"/>
              </a:solidFill>
            </a:endParaRPr>
          </a:p>
          <a:p>
            <a:pPr lvl="1"/>
            <a:r>
              <a:rPr lang="en-US" altLang="en-US" sz="1600"/>
              <a:t>The </a:t>
            </a:r>
            <a:r>
              <a:rPr lang="en-US" altLang="en-US" sz="1600" b="1">
                <a:solidFill>
                  <a:srgbClr val="3366FF"/>
                </a:solidFill>
              </a:rPr>
              <a:t>disk controller </a:t>
            </a:r>
            <a:r>
              <a:rPr lang="en-US" altLang="en-US" sz="1600"/>
              <a:t>determines the logical interaction between the device and the computer </a:t>
            </a:r>
            <a:endParaRPr lang="en-US" altLang="en-US" sz="1600"/>
          </a:p>
          <a:p>
            <a:r>
              <a:rPr lang="en-US" altLang="en-US" b="1">
                <a:solidFill>
                  <a:srgbClr val="3366FF"/>
                </a:solidFill>
              </a:rPr>
              <a:t>Non-volatile memory (NVM) </a:t>
            </a:r>
            <a:r>
              <a:rPr lang="en-US" altLang="en-US"/>
              <a:t>devices– faster than hard disks, nonvolatile</a:t>
            </a:r>
            <a:endParaRPr lang="en-US" altLang="en-US"/>
          </a:p>
          <a:p>
            <a:pPr lvl="1"/>
            <a:r>
              <a:rPr lang="en-US" altLang="en-US" sz="1600"/>
              <a:t>Various technologies</a:t>
            </a:r>
            <a:endParaRPr lang="en-US" altLang="en-US" sz="1600"/>
          </a:p>
          <a:p>
            <a:pPr lvl="1"/>
            <a:r>
              <a:rPr lang="en-US" altLang="en-US" sz="1600"/>
              <a:t>Becoming more popular as capacity and performance increases, price drops</a:t>
            </a:r>
            <a:endParaRPr lang="en-US" alt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Title 3"/>
          <p:cNvSpPr>
            <a:spLocks noGrp="1"/>
          </p:cNvSpPr>
          <p:nvPr>
            <p:ph type="title"/>
          </p:nvPr>
        </p:nvSpPr>
        <p:spPr>
          <a:xfrm>
            <a:off x="1287463" y="277813"/>
            <a:ext cx="7399337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Storage Definitions and Notation Review</a:t>
            </a:r>
            <a:endParaRPr lang="en-US" altLang="en-US" sz="2800"/>
          </a:p>
        </p:txBody>
      </p:sp>
      <p:pic>
        <p:nvPicPr>
          <p:cNvPr id="3891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38" y="1079500"/>
            <a:ext cx="7353300" cy="495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1"/>
          <p:cNvSpPr/>
          <p:nvPr/>
        </p:nvSpPr>
        <p:spPr bwMode="auto">
          <a:xfrm>
            <a:off x="760413" y="1079500"/>
            <a:ext cx="8039100" cy="4953000"/>
          </a:xfrm>
          <a:prstGeom prst="rect">
            <a:avLst/>
          </a:prstGeom>
          <a:solidFill>
            <a:srgbClr val="CEEB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 The basic unit of computer storage is the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bit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. A bit can contain one of two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values, 0 and 1. All other storage in a computer is based on collections of bits.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Given enough bits, it is amazing how many things a computer can represent: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numbers, letters, images, movies, sounds, documents, and programs, to name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a few.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 is 8 bits, and on most computers it is the smallest convenient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chunk of storage. For example, most computers don’t have an instruction to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move a bit but do have one to move a byte. A less common term is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word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which is a given computer architecture’s native unit of data. A word is made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up of one or more bytes. For example, a computer that has 64-bit registers and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64-bit memory addressing typically has 64-bit (8-byte) words. A computer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executes many operations in its native word size rather than a byte at a time.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Computer storage, along with most computer throughput, is generally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measured and manipulated in bytes and collections of bytes.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kilobyte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KB , is 1,024 bytes;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megabyte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or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MB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is 1,024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  bytes;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gigabyte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or GB , 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1,024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  bytes;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terabyte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or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TB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is 1,024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  bytes; and a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petabyte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or </a:t>
            </a:r>
            <a:r>
              <a:rPr kumimoji="1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PB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 , is 1,024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5</a:t>
            </a:r>
            <a:endParaRPr kumimoji="0" lang="en-US" sz="1400" b="0" i="0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bytes. Computer manufacturers often round off these numbers and say that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a megabyte is 1 million bytes and a gigabyte is 1 billion bytes. Networking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measurements are an exception to this general rule; they are given in bits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(because networks move data a bit at a time).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 idx="4294967295"/>
          </p:nvPr>
        </p:nvSpPr>
        <p:spPr>
          <a:xfrm>
            <a:off x="876300" y="182563"/>
            <a:ext cx="78105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Storage Hierarchy</a:t>
            </a:r>
            <a:endParaRPr lang="en-US" altLang="en-US"/>
          </a:p>
        </p:txBody>
      </p:sp>
      <p:sp>
        <p:nvSpPr>
          <p:cNvPr id="39938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4928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Storage systems organized in hierarchy</a:t>
            </a:r>
            <a:endParaRPr lang="en-US" altLang="en-US"/>
          </a:p>
          <a:p>
            <a:pPr lvl="1"/>
            <a:r>
              <a:rPr lang="en-US" altLang="en-US"/>
              <a:t>Speed</a:t>
            </a:r>
            <a:endParaRPr lang="en-US" altLang="en-US"/>
          </a:p>
          <a:p>
            <a:pPr lvl="1"/>
            <a:r>
              <a:rPr lang="en-US" altLang="en-US"/>
              <a:t>Cost</a:t>
            </a:r>
            <a:endParaRPr lang="en-US" altLang="en-US"/>
          </a:p>
          <a:p>
            <a:pPr lvl="1"/>
            <a:r>
              <a:rPr lang="en-US" altLang="en-US"/>
              <a:t>Volatility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Caching</a:t>
            </a:r>
            <a:r>
              <a:rPr lang="en-US" altLang="en-US"/>
              <a:t> – copying information into faster storage system; main memory can be viewed as a cache for secondary storage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Device Driver </a:t>
            </a:r>
            <a:r>
              <a:rPr lang="en-US" altLang="en-US"/>
              <a:t>for each device controller to manage I/O</a:t>
            </a:r>
            <a:endParaRPr lang="en-US" altLang="en-US"/>
          </a:p>
          <a:p>
            <a:pPr lvl="1"/>
            <a:r>
              <a:rPr lang="en-US" altLang="en-US"/>
              <a:t>Provides uniform interface between controller and kernel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Storage-Device Hierarchy</a:t>
            </a:r>
            <a:endParaRPr lang="en-US" altLang="en-US"/>
          </a:p>
        </p:txBody>
      </p:sp>
      <p:pic>
        <p:nvPicPr>
          <p:cNvPr id="419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613" y="1455738"/>
            <a:ext cx="7483475" cy="4344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Title 1"/>
          <p:cNvSpPr>
            <a:spLocks noGrp="1"/>
          </p:cNvSpPr>
          <p:nvPr>
            <p:ph type="title" idx="4294967295"/>
          </p:nvPr>
        </p:nvSpPr>
        <p:spPr>
          <a:xfrm>
            <a:off x="835025" y="1666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How a Modern Computer Works</a:t>
            </a:r>
            <a:endParaRPr lang="en-US" altLang="en-US"/>
          </a:p>
        </p:txBody>
      </p:sp>
      <p:sp>
        <p:nvSpPr>
          <p:cNvPr id="44034" name="TextBox 3"/>
          <p:cNvSpPr txBox="1"/>
          <p:nvPr/>
        </p:nvSpPr>
        <p:spPr>
          <a:xfrm>
            <a:off x="4787900" y="5637213"/>
            <a:ext cx="2874963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i="1">
                <a:latin typeface="Verdana" panose="020B0604030504040204" pitchFamily="34" charset="0"/>
              </a:rPr>
              <a:t>A von Neumann architecture</a:t>
            </a:r>
            <a:endParaRPr lang="en-US" altLang="en-US" sz="1400" i="1">
              <a:latin typeface="Verdana" panose="020B0604030504040204" pitchFamily="34" charset="0"/>
            </a:endParaRPr>
          </a:p>
        </p:txBody>
      </p:sp>
      <p:pic>
        <p:nvPicPr>
          <p:cNvPr id="440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025" y="1352550"/>
            <a:ext cx="5122863" cy="4086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 idx="4294967295"/>
          </p:nvPr>
        </p:nvSpPr>
        <p:spPr>
          <a:xfrm>
            <a:off x="1020763" y="166688"/>
            <a:ext cx="7666037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Direct Memory Access Structure</a:t>
            </a:r>
            <a:endParaRPr lang="en-US" altLang="en-US"/>
          </a:p>
        </p:txBody>
      </p:sp>
      <p:sp>
        <p:nvSpPr>
          <p:cNvPr id="46082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20871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Used for high-speed I/O devices able to transmit information at close to memory speeds</a:t>
            </a:r>
            <a:endParaRPr lang="en-US" altLang="en-US"/>
          </a:p>
          <a:p>
            <a:r>
              <a:rPr lang="en-US" altLang="en-US"/>
              <a:t>Device controller transfers blocks of data from buffer storage directly to main memory without CPU intervention</a:t>
            </a:r>
            <a:endParaRPr lang="en-US" altLang="en-US"/>
          </a:p>
          <a:p>
            <a:r>
              <a:rPr lang="en-US" altLang="en-US"/>
              <a:t>Only one interrupt is generated per block, rather than the one interrupt per byte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Title 1"/>
          <p:cNvSpPr>
            <a:spLocks noGrp="1"/>
          </p:cNvSpPr>
          <p:nvPr>
            <p:ph type="title" idx="4294967295"/>
          </p:nvPr>
        </p:nvSpPr>
        <p:spPr>
          <a:xfrm>
            <a:off x="1100138" y="198438"/>
            <a:ext cx="7586662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Computer-System Architecture</a:t>
            </a:r>
            <a:endParaRPr lang="en-US" altLang="en-US"/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337550" cy="48672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Most systems use a single general-purpose processor</a:t>
            </a:r>
            <a:endParaRPr lang="en-US" altLang="en-US"/>
          </a:p>
          <a:p>
            <a:pPr lvl="1"/>
            <a:r>
              <a:rPr lang="en-US" altLang="en-US"/>
              <a:t>Most systems have special-purpose processors as well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Multiprocessors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systems growing in use and importance</a:t>
            </a:r>
            <a:endParaRPr lang="en-US" altLang="en-US"/>
          </a:p>
          <a:p>
            <a:pPr lvl="1"/>
            <a:r>
              <a:rPr lang="en-US" altLang="en-US"/>
              <a:t>Also known as </a:t>
            </a:r>
            <a:r>
              <a:rPr lang="en-US" altLang="en-US" b="1">
                <a:solidFill>
                  <a:srgbClr val="3366FF"/>
                </a:solidFill>
              </a:rPr>
              <a:t>parallel systems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tightly-coupled systems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Advantages include:</a:t>
            </a:r>
            <a:endParaRPr lang="en-US" altLang="en-US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Increased throughput</a:t>
            </a:r>
            <a:endParaRPr lang="en-US" altLang="en-US" b="1">
              <a:solidFill>
                <a:srgbClr val="3366FF"/>
              </a:solidFill>
            </a:endParaRP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Economy of scale</a:t>
            </a:r>
            <a:endParaRPr lang="en-US" altLang="en-US" b="1">
              <a:solidFill>
                <a:srgbClr val="3366FF"/>
              </a:solidFill>
            </a:endParaRP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Increased reliability </a:t>
            </a:r>
            <a:r>
              <a:rPr lang="en-US" altLang="en-US"/>
              <a:t>– graceful degradation or fault tolerance</a:t>
            </a:r>
            <a:endParaRPr lang="en-US" altLang="en-US"/>
          </a:p>
          <a:p>
            <a:pPr lvl="1"/>
            <a:r>
              <a:rPr lang="en-US" altLang="en-US"/>
              <a:t>Two types:</a:t>
            </a:r>
            <a:endParaRPr lang="en-US" altLang="en-US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Asymmetric Multiprocessing </a:t>
            </a:r>
            <a:r>
              <a:rPr lang="en-US" altLang="en-US"/>
              <a:t>– each processor is assigned a specie task.</a:t>
            </a:r>
            <a:endParaRPr lang="en-US" altLang="en-US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>
                <a:solidFill>
                  <a:srgbClr val="3366FF"/>
                </a:solidFill>
              </a:rPr>
              <a:t>Symmetric Multiprocessing </a:t>
            </a:r>
            <a:r>
              <a:rPr lang="en-US" altLang="en-US"/>
              <a:t>– each processor performs all tasks</a:t>
            </a:r>
            <a:endParaRPr lang="en-US" altLang="en-US"/>
          </a:p>
          <a:p>
            <a:pPr marL="1200150" lvl="2" indent="-342900">
              <a:buNone/>
            </a:pPr>
            <a:endParaRPr lang="en-US" altLang="en-US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Title 1"/>
          <p:cNvSpPr>
            <a:spLocks noGrp="1"/>
          </p:cNvSpPr>
          <p:nvPr>
            <p:ph type="title" idx="4294967295"/>
          </p:nvPr>
        </p:nvSpPr>
        <p:spPr>
          <a:xfrm>
            <a:off x="939800" y="1524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Symmetric Multiprocessing Architecture</a:t>
            </a:r>
            <a:endParaRPr lang="en-US" altLang="en-US" sz="2800"/>
          </a:p>
        </p:txBody>
      </p:sp>
      <p:pic>
        <p:nvPicPr>
          <p:cNvPr id="501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938" y="1822450"/>
            <a:ext cx="5051425" cy="3824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A Dual-Core Design</a:t>
            </a:r>
            <a:endParaRPr lang="en-US" altLang="en-US"/>
          </a:p>
        </p:txBody>
      </p:sp>
      <p:sp>
        <p:nvSpPr>
          <p:cNvPr id="52226" name="Content Placeholder 1"/>
          <p:cNvSpPr>
            <a:spLocks noGrp="1"/>
          </p:cNvSpPr>
          <p:nvPr>
            <p:ph sz="half" idx="1"/>
          </p:nvPr>
        </p:nvSpPr>
        <p:spPr>
          <a:xfrm>
            <a:off x="854075" y="1108075"/>
            <a:ext cx="7108825" cy="2682875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rgbClr val="993300"/>
              </a:buClr>
              <a:buSzPct val="90000"/>
            </a:pPr>
            <a:r>
              <a:rPr kumimoji="1" lang="en-US" altLang="en-US" sz="1800"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Multi-chip and </a:t>
            </a:r>
            <a:r>
              <a:rPr kumimoji="1" lang="en-US" altLang="en-US" sz="1800" b="1">
                <a:solidFill>
                  <a:srgbClr val="3366FF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multicore</a:t>
            </a:r>
            <a:endParaRPr kumimoji="1" lang="en-US" altLang="en-US" sz="1800" b="1">
              <a:solidFill>
                <a:srgbClr val="3366FF"/>
              </a:solidFill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Clr>
                <a:srgbClr val="993300"/>
              </a:buClr>
              <a:buSzPct val="90000"/>
            </a:pPr>
            <a:r>
              <a:rPr kumimoji="1" lang="en-US" altLang="en-US" sz="1800"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Systems containing all  chips</a:t>
            </a:r>
            <a:endParaRPr kumimoji="1" lang="en-US" altLang="en-US" sz="1800" b="1">
              <a:solidFill>
                <a:srgbClr val="3366FF"/>
              </a:solidFill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lvl="1">
              <a:buClr>
                <a:srgbClr val="CC6600"/>
              </a:buClr>
              <a:buSzPct val="80000"/>
            </a:pPr>
            <a:r>
              <a:rPr kumimoji="1" lang="en-US" altLang="en-US" sz="1800">
                <a:latin typeface="+mn-lt"/>
                <a:ea typeface="MS PGothic" panose="020B0600070205080204" pitchFamily="34" charset="-128"/>
              </a:rPr>
              <a:t>Chassis containing multiple separate systems</a:t>
            </a:r>
            <a:endParaRPr kumimoji="1" lang="en-US" altLang="en-US" sz="1800">
              <a:latin typeface="+mn-lt"/>
              <a:ea typeface="MS PGothic" panose="020B0600070205080204" pitchFamily="34" charset="-128"/>
            </a:endParaRPr>
          </a:p>
          <a:p>
            <a:pPr lvl="1">
              <a:buClr>
                <a:srgbClr val="CC6600"/>
              </a:buClr>
              <a:buSzPct val="80000"/>
            </a:pPr>
            <a:endParaRPr kumimoji="1" lang="en-US" altLang="en-US">
              <a:latin typeface="+mn-lt"/>
              <a:ea typeface="MS PGothic" panose="020B0600070205080204" pitchFamily="34" charset="-128"/>
            </a:endParaRPr>
          </a:p>
        </p:txBody>
      </p:sp>
      <p:pic>
        <p:nvPicPr>
          <p:cNvPr id="522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425" y="2432050"/>
            <a:ext cx="4405313" cy="392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730250" y="2778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Non-Uniform Memory Access System</a:t>
            </a:r>
            <a:endParaRPr lang="en-US" altLang="en-US"/>
          </a:p>
        </p:txBody>
      </p:sp>
      <p:pic>
        <p:nvPicPr>
          <p:cNvPr id="542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0" y="1482725"/>
            <a:ext cx="4440238" cy="4200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Title 1"/>
          <p:cNvSpPr>
            <a:spLocks noGrp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Clustered Systems</a:t>
            </a:r>
            <a:endParaRPr lang="en-US" altLang="en-US"/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Like multiprocessor systems, but multiple systems working together</a:t>
            </a:r>
            <a:endParaRPr lang="en-US" altLang="en-US"/>
          </a:p>
          <a:p>
            <a:pPr lvl="1"/>
            <a:r>
              <a:rPr lang="en-US" altLang="en-US"/>
              <a:t>Usually sharing storage via a </a:t>
            </a:r>
            <a:r>
              <a:rPr lang="en-US" altLang="en-US" b="1">
                <a:solidFill>
                  <a:srgbClr val="3366FF"/>
                </a:solidFill>
              </a:rPr>
              <a:t>storage-area network (SAN)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Provides a </a:t>
            </a:r>
            <a:r>
              <a:rPr lang="en-US" altLang="en-US" b="1">
                <a:solidFill>
                  <a:srgbClr val="3366FF"/>
                </a:solidFill>
              </a:rPr>
              <a:t>high-availability</a:t>
            </a:r>
            <a:r>
              <a:rPr lang="en-US" altLang="en-US" b="1"/>
              <a:t> </a:t>
            </a:r>
            <a:r>
              <a:rPr lang="en-US" altLang="en-US"/>
              <a:t>service which survives failures</a:t>
            </a:r>
            <a:endParaRPr lang="en-US" altLang="en-US"/>
          </a:p>
          <a:p>
            <a:pPr lvl="2"/>
            <a:r>
              <a:rPr lang="en-US" altLang="en-US" b="1">
                <a:solidFill>
                  <a:srgbClr val="3366FF"/>
                </a:solidFill>
              </a:rPr>
              <a:t>Asymmetric clustering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has one machine in hot-standby mode</a:t>
            </a:r>
            <a:endParaRPr lang="en-US" altLang="en-US"/>
          </a:p>
          <a:p>
            <a:pPr lvl="2"/>
            <a:r>
              <a:rPr lang="en-US" altLang="en-US" b="1">
                <a:solidFill>
                  <a:srgbClr val="3366FF"/>
                </a:solidFill>
              </a:rPr>
              <a:t>Symmetric clustering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has multiple nodes running applications, monitoring each other</a:t>
            </a:r>
            <a:endParaRPr lang="en-US" altLang="en-US"/>
          </a:p>
          <a:p>
            <a:pPr lvl="1"/>
            <a:r>
              <a:rPr lang="en-US" altLang="en-US"/>
              <a:t>Some clusters are for </a:t>
            </a:r>
            <a:r>
              <a:rPr lang="en-US" altLang="en-US" b="1">
                <a:solidFill>
                  <a:srgbClr val="3366FF"/>
                </a:solidFill>
              </a:rPr>
              <a:t>high-performance computing (HPC)</a:t>
            </a:r>
            <a:endParaRPr lang="en-US" altLang="en-US" b="1">
              <a:solidFill>
                <a:srgbClr val="3366FF"/>
              </a:solidFill>
            </a:endParaRPr>
          </a:p>
          <a:p>
            <a:pPr lvl="2"/>
            <a:r>
              <a:rPr lang="en-US" altLang="en-US"/>
              <a:t>Applications must be written to use </a:t>
            </a:r>
            <a:r>
              <a:rPr lang="en-US" altLang="en-US" b="1">
                <a:solidFill>
                  <a:srgbClr val="3366FF"/>
                </a:solidFill>
              </a:rPr>
              <a:t>parallelization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Some have</a:t>
            </a:r>
            <a:r>
              <a:rPr lang="en-US" altLang="en-US" b="1">
                <a:solidFill>
                  <a:srgbClr val="3366FF"/>
                </a:solidFill>
              </a:rPr>
              <a:t> distributed lock manager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DLM</a:t>
            </a:r>
            <a:r>
              <a:rPr lang="en-US" altLang="en-US"/>
              <a:t>) to avoid conflicting operations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Title 1"/>
          <p:cNvSpPr>
            <a:spLocks noGrp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Clustered Systems</a:t>
            </a:r>
            <a:endParaRPr lang="en-US" altLang="en-US"/>
          </a:p>
        </p:txBody>
      </p:sp>
      <p:pic>
        <p:nvPicPr>
          <p:cNvPr id="573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75" y="2058988"/>
            <a:ext cx="5148263" cy="264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itle 1"/>
          <p:cNvSpPr txBox="1">
            <a:spLocks noChangeArrowheads="1"/>
          </p:cNvSpPr>
          <p:nvPr/>
        </p:nvSpPr>
        <p:spPr bwMode="auto">
          <a:xfrm>
            <a:off x="457200" y="198438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PC Motherboard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583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950" y="962025"/>
            <a:ext cx="6203950" cy="5521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 idx="4294967295"/>
          </p:nvPr>
        </p:nvSpPr>
        <p:spPr>
          <a:xfrm>
            <a:off x="895350" y="166688"/>
            <a:ext cx="779145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Operating-System Operations</a:t>
            </a:r>
            <a:endParaRPr lang="en-US" altLang="en-US"/>
          </a:p>
        </p:txBody>
      </p:sp>
      <p:sp>
        <p:nvSpPr>
          <p:cNvPr id="59394" name="Rectangle 3"/>
          <p:cNvSpPr>
            <a:spLocks noGrp="1"/>
          </p:cNvSpPr>
          <p:nvPr>
            <p:ph type="body" idx="4294967295"/>
          </p:nvPr>
        </p:nvSpPr>
        <p:spPr>
          <a:xfrm>
            <a:off x="838200" y="1154113"/>
            <a:ext cx="6886575" cy="493871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/>
              <a:t>Bootstrap program – simple code to initialize the system, load the kernel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Kernel loads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Starts </a:t>
            </a:r>
            <a:r>
              <a:rPr lang="en-US" altLang="en-US" b="1">
                <a:solidFill>
                  <a:srgbClr val="3366FF"/>
                </a:solidFill>
              </a:rPr>
              <a:t>system daemons </a:t>
            </a:r>
            <a:r>
              <a:rPr lang="en-US" altLang="en-US"/>
              <a:t>(services provided outside of the kernel)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Kernel</a:t>
            </a:r>
            <a:r>
              <a:rPr lang="en-US" altLang="en-US" b="1">
                <a:solidFill>
                  <a:srgbClr val="3366FF"/>
                </a:solidFill>
              </a:rPr>
              <a:t> interrupt driven </a:t>
            </a:r>
            <a:r>
              <a:rPr lang="en-US" altLang="en-US"/>
              <a:t>(hardware and software)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Hardware interrupt by one of the devices 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Software interrupt (</a:t>
            </a:r>
            <a:r>
              <a:rPr lang="en-US" altLang="en-US" b="1">
                <a:solidFill>
                  <a:srgbClr val="3366FF"/>
                </a:solidFill>
              </a:rPr>
              <a:t>exception </a:t>
            </a:r>
            <a:r>
              <a:rPr lang="en-US" altLang="en-US"/>
              <a:t>or </a:t>
            </a:r>
            <a:r>
              <a:rPr lang="en-US" altLang="en-US" b="1">
                <a:solidFill>
                  <a:srgbClr val="3366FF"/>
                </a:solidFill>
              </a:rPr>
              <a:t>trap):</a:t>
            </a:r>
            <a:endParaRPr lang="en-US" altLang="en-US" b="1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Software error (e.g., division by zero)</a:t>
            </a:r>
            <a:endParaRPr lang="en-US" altLang="en-US" b="1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Request for operating system service – </a:t>
            </a:r>
            <a:r>
              <a:rPr lang="en-US" altLang="en-US" b="1">
                <a:solidFill>
                  <a:srgbClr val="3366FF"/>
                </a:solidFill>
              </a:rPr>
              <a:t>system call</a:t>
            </a:r>
            <a:endParaRPr lang="en-US" altLang="en-US" b="1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Other process problems include infinite loop, processes modifying each other or the operating system</a:t>
            </a: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 idx="4294967295"/>
          </p:nvPr>
        </p:nvSpPr>
        <p:spPr>
          <a:xfrm>
            <a:off x="1069975" y="166688"/>
            <a:ext cx="7616825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Multiprogramming and Multitasking</a:t>
            </a:r>
            <a:endParaRPr lang="en-US" altLang="en-US"/>
          </a:p>
        </p:txBody>
      </p:sp>
      <p:sp>
        <p:nvSpPr>
          <p:cNvPr id="61442" name="Rectangle 3"/>
          <p:cNvSpPr>
            <a:spLocks noGrp="1"/>
          </p:cNvSpPr>
          <p:nvPr>
            <p:ph type="body" idx="4294967295"/>
          </p:nvPr>
        </p:nvSpPr>
        <p:spPr>
          <a:xfrm>
            <a:off x="827088" y="835025"/>
            <a:ext cx="7832725" cy="546258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None/>
            </a:pPr>
            <a:endParaRPr lang="en-US" altLang="en-US" sz="16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Multiprogramming</a:t>
            </a:r>
            <a:r>
              <a:rPr lang="en-US" altLang="en-US" sz="1600"/>
              <a:t> (</a:t>
            </a:r>
            <a:r>
              <a:rPr lang="en-US" altLang="en-US" b="1">
                <a:solidFill>
                  <a:srgbClr val="3366FF"/>
                </a:solidFill>
              </a:rPr>
              <a:t>Batch system</a:t>
            </a:r>
            <a:r>
              <a:rPr lang="en-US" altLang="en-US" sz="1600"/>
              <a:t>) needed for efficiency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Single user cannot keep CPU and I/O devices busy at all times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Multiprogramming organizes jobs (code and data) so CPU always has one to execute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A subset of total jobs in system is kept in memory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One job selected and run via </a:t>
            </a:r>
            <a:r>
              <a:rPr lang="en-US" altLang="en-US" b="1">
                <a:solidFill>
                  <a:srgbClr val="3366FF"/>
                </a:solidFill>
              </a:rPr>
              <a:t>job scheduling</a:t>
            </a:r>
            <a:endParaRPr lang="en-US" altLang="en-US" b="1">
              <a:solidFill>
                <a:srgbClr val="3366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1600"/>
              <a:t>When it has to wait (for I/O for example), OS switches to another job</a:t>
            </a:r>
            <a:endParaRPr lang="en-US" altLang="en-US" sz="1600"/>
          </a:p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Timesharing </a:t>
            </a:r>
            <a:r>
              <a:rPr lang="en-US" altLang="en-US" sz="1600"/>
              <a:t>(</a:t>
            </a:r>
            <a:r>
              <a:rPr lang="en-US" altLang="en-US" b="1">
                <a:solidFill>
                  <a:srgbClr val="3366FF"/>
                </a:solidFill>
              </a:rPr>
              <a:t>multitasking</a:t>
            </a:r>
            <a:r>
              <a:rPr lang="en-US" altLang="en-US" sz="1600"/>
              <a:t>)</a:t>
            </a:r>
            <a:r>
              <a:rPr lang="en-US" altLang="en-US" b="1">
                <a:solidFill>
                  <a:srgbClr val="3366FF"/>
                </a:solidFill>
              </a:rPr>
              <a:t> </a:t>
            </a:r>
            <a:r>
              <a:rPr lang="en-US" altLang="en-US" sz="1600"/>
              <a:t>is logical extension in which CPU switches jobs so frequently that users can interact with each job while it is running, creating </a:t>
            </a:r>
            <a:r>
              <a:rPr lang="en-US" altLang="en-US" b="1">
                <a:solidFill>
                  <a:srgbClr val="3366FF"/>
                </a:solidFill>
              </a:rPr>
              <a:t>interactive</a:t>
            </a:r>
            <a:r>
              <a:rPr lang="en-US" altLang="en-US" sz="1600"/>
              <a:t> computing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Response time </a:t>
            </a:r>
            <a:r>
              <a:rPr lang="en-US" altLang="en-US" sz="1600"/>
              <a:t>should be &lt; 1 second</a:t>
            </a:r>
            <a:endParaRPr lang="en-US" altLang="en-US" sz="1600"/>
          </a:p>
          <a:p>
            <a:pPr lvl="1">
              <a:lnSpc>
                <a:spcPct val="90000"/>
              </a:lnSpc>
            </a:pPr>
            <a:r>
              <a:rPr lang="en-US" altLang="en-US" sz="1600"/>
              <a:t>Each user has at least one program executing in memory </a:t>
            </a:r>
            <a:r>
              <a:rPr lang="en-US" altLang="en-US" sz="1600">
                <a:sym typeface="Wingdings 3" panose="05040102010807070707" pitchFamily="18" charset="2"/>
              </a:rPr>
              <a:t></a:t>
            </a: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process</a:t>
            </a:r>
            <a:endParaRPr lang="en-US" altLang="en-US" b="1">
              <a:solidFill>
                <a:srgbClr val="3366FF"/>
              </a:solidFill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CPU scheduling</a:t>
            </a:r>
            <a:endParaRPr lang="en-US" altLang="en-US" b="1">
              <a:solidFill>
                <a:srgbClr val="3366FF"/>
              </a:solidFill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600">
                <a:sym typeface="Wingdings 3" panose="05040102010807070707" pitchFamily="18" charset="2"/>
              </a:rPr>
              <a:t>If processes don</a:t>
            </a:r>
            <a:r>
              <a:rPr lang="ja-JP" altLang="en-US" sz="1600">
                <a:sym typeface="Wingdings 3" panose="05040102010807070707" pitchFamily="18" charset="2"/>
              </a:rPr>
              <a:t>’</a:t>
            </a:r>
            <a:r>
              <a:rPr lang="en-US" altLang="ja-JP" sz="1600">
                <a:sym typeface="Wingdings 3" panose="05040102010807070707" pitchFamily="18" charset="2"/>
              </a:rPr>
              <a:t>t fit in memory, </a:t>
            </a:r>
            <a:r>
              <a:rPr lang="en-US" altLang="ja-JP" b="1">
                <a:solidFill>
                  <a:srgbClr val="3366FF"/>
                </a:solidFill>
                <a:sym typeface="Wingdings 3" panose="05040102010807070707" pitchFamily="18" charset="2"/>
              </a:rPr>
              <a:t>swapping</a:t>
            </a:r>
            <a:r>
              <a:rPr lang="en-US" altLang="ja-JP" sz="1600">
                <a:sym typeface="Wingdings 3" panose="05040102010807070707" pitchFamily="18" charset="2"/>
              </a:rPr>
              <a:t> moves them in and out to run</a:t>
            </a:r>
            <a:endParaRPr lang="en-US" altLang="ja-JP" sz="1600"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  <a:sym typeface="Wingdings 3" panose="05040102010807070707" pitchFamily="18" charset="2"/>
              </a:rPr>
              <a:t>Virtual memory </a:t>
            </a:r>
            <a:r>
              <a:rPr lang="en-US" altLang="en-US" sz="1600">
                <a:sym typeface="Wingdings 3" panose="05040102010807070707" pitchFamily="18" charset="2"/>
              </a:rPr>
              <a:t>allows execution of processes not completely in memory</a:t>
            </a:r>
            <a:endParaRPr lang="en-US" altLang="en-US" sz="1600">
              <a:sym typeface="Wingdings 3" panose="05040102010807070707" pitchFamily="18" charset="2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Memory Layout for Multiprogrammed System</a:t>
            </a:r>
            <a:endParaRPr lang="en-US" altLang="en-US" sz="2800"/>
          </a:p>
        </p:txBody>
      </p:sp>
      <p:pic>
        <p:nvPicPr>
          <p:cNvPr id="634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5488" y="1958975"/>
            <a:ext cx="2270125" cy="3589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Dual-mode and Multimode Operation</a:t>
            </a:r>
            <a:endParaRPr lang="en-US" altLang="en-US"/>
          </a:p>
        </p:txBody>
      </p:sp>
      <p:sp>
        <p:nvSpPr>
          <p:cNvPr id="65538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7297738" cy="493871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Dual-mode </a:t>
            </a:r>
            <a:r>
              <a:rPr lang="en-US" altLang="en-US"/>
              <a:t>operation allows OS to protect itself and other system components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User mode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3366FF"/>
                </a:solidFill>
              </a:rPr>
              <a:t>kernel mode </a:t>
            </a:r>
            <a:endParaRPr lang="en-US" altLang="en-US" b="1">
              <a:solidFill>
                <a:srgbClr val="3366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Mode bit </a:t>
            </a:r>
            <a:r>
              <a:rPr lang="en-US" altLang="en-US"/>
              <a:t>provided by hardware</a:t>
            </a:r>
            <a:endParaRPr lang="en-US" altLang="en-US"/>
          </a:p>
          <a:p>
            <a:pPr lvl="2">
              <a:lnSpc>
                <a:spcPct val="90000"/>
              </a:lnSpc>
            </a:pPr>
            <a:r>
              <a:rPr lang="en-US" altLang="en-US"/>
              <a:t>Provides ability to distinguish when system is running user code or kernel code</a:t>
            </a:r>
            <a:endParaRPr lang="en-US" altLang="en-US"/>
          </a:p>
          <a:p>
            <a:pPr lvl="2">
              <a:lnSpc>
                <a:spcPct val="90000"/>
              </a:lnSpc>
            </a:pPr>
            <a:r>
              <a:rPr lang="en-US" altLang="en-US"/>
              <a:t>Some instructions designated as </a:t>
            </a:r>
            <a:r>
              <a:rPr lang="en-US" altLang="en-US" b="1">
                <a:solidFill>
                  <a:srgbClr val="3366FF"/>
                </a:solidFill>
              </a:rPr>
              <a:t>privileged</a:t>
            </a:r>
            <a:r>
              <a:rPr lang="en-US" altLang="en-US"/>
              <a:t>, only executable in kernel mode</a:t>
            </a:r>
            <a:endParaRPr lang="en-US" altLang="en-US"/>
          </a:p>
          <a:p>
            <a:pPr lvl="2">
              <a:lnSpc>
                <a:spcPct val="90000"/>
              </a:lnSpc>
            </a:pPr>
            <a:r>
              <a:rPr lang="en-US" altLang="en-US"/>
              <a:t>System call changes mode to kernel, return from call resets it to user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Increasingly CPUs support multi-mode operations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i.e. </a:t>
            </a:r>
            <a:r>
              <a:rPr lang="en-US" altLang="en-US" b="1">
                <a:solidFill>
                  <a:srgbClr val="3366FF"/>
                </a:solidFill>
              </a:rPr>
              <a:t>virtual machine manager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VMM</a:t>
            </a:r>
            <a:r>
              <a:rPr lang="en-US" altLang="en-US"/>
              <a:t>) mode for guest </a:t>
            </a:r>
            <a:r>
              <a:rPr lang="en-US" altLang="en-US" b="1">
                <a:solidFill>
                  <a:srgbClr val="3366FF"/>
                </a:solidFill>
              </a:rPr>
              <a:t>VMs</a:t>
            </a:r>
            <a:endParaRPr lang="en-US" altLang="en-US" b="1">
              <a:solidFill>
                <a:srgbClr val="3366FF"/>
              </a:solidFill>
            </a:endParaRPr>
          </a:p>
          <a:p>
            <a:pPr lvl="1">
              <a:lnSpc>
                <a:spcPct val="90000"/>
              </a:lnSpc>
            </a:pPr>
            <a:endParaRPr lang="en-US" altLang="en-US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 idx="4294967295"/>
          </p:nvPr>
        </p:nvSpPr>
        <p:spPr>
          <a:xfrm>
            <a:off x="882650" y="136525"/>
            <a:ext cx="8415338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Transition from User to Kernel Mode</a:t>
            </a:r>
            <a:endParaRPr lang="en-US" altLang="en-US"/>
          </a:p>
        </p:txBody>
      </p:sp>
      <p:sp>
        <p:nvSpPr>
          <p:cNvPr id="67586" name="Rectangle 4"/>
          <p:cNvSpPr>
            <a:spLocks noGrp="1"/>
          </p:cNvSpPr>
          <p:nvPr>
            <p:ph type="body" idx="4294967295"/>
          </p:nvPr>
        </p:nvSpPr>
        <p:spPr>
          <a:xfrm>
            <a:off x="822325" y="1060450"/>
            <a:ext cx="7753350" cy="281781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Timer to prevent infinite loop / process hogging resources</a:t>
            </a:r>
            <a:endParaRPr lang="en-US" altLang="en-US"/>
          </a:p>
          <a:p>
            <a:pPr lvl="1"/>
            <a:r>
              <a:rPr lang="en-US" altLang="en-US"/>
              <a:t>Timer is set to interrupt the computer after some time period</a:t>
            </a:r>
            <a:endParaRPr lang="en-US" altLang="en-US"/>
          </a:p>
          <a:p>
            <a:pPr lvl="1"/>
            <a:r>
              <a:rPr lang="en-US" altLang="en-US"/>
              <a:t>Keep a counter that is decremented by the physical clock</a:t>
            </a:r>
            <a:endParaRPr lang="en-US" altLang="en-US"/>
          </a:p>
          <a:p>
            <a:pPr lvl="1"/>
            <a:r>
              <a:rPr lang="en-US" altLang="en-US"/>
              <a:t>Operating system set the counter (privileged instruction)</a:t>
            </a:r>
            <a:endParaRPr lang="en-US" altLang="en-US"/>
          </a:p>
          <a:p>
            <a:pPr lvl="1"/>
            <a:r>
              <a:rPr lang="en-US" altLang="en-US"/>
              <a:t>When counter zero generate an interrupt</a:t>
            </a:r>
            <a:endParaRPr lang="en-US" altLang="en-US"/>
          </a:p>
          <a:p>
            <a:pPr lvl="1"/>
            <a:r>
              <a:rPr lang="en-US" altLang="en-US"/>
              <a:t>Set up before scheduling process to regain control or terminate program that exceeds allotted time</a:t>
            </a:r>
            <a:endParaRPr lang="en-US" altLang="en-US"/>
          </a:p>
        </p:txBody>
      </p:sp>
      <p:pic>
        <p:nvPicPr>
          <p:cNvPr id="6758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13" y="3878263"/>
            <a:ext cx="7053262" cy="20939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 idx="4294967295"/>
          </p:nvPr>
        </p:nvSpPr>
        <p:spPr>
          <a:xfrm>
            <a:off x="1331913" y="277813"/>
            <a:ext cx="7354887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Mass-Storage Management</a:t>
            </a:r>
            <a:endParaRPr lang="en-US" altLang="en-US"/>
          </a:p>
        </p:txBody>
      </p:sp>
      <p:sp>
        <p:nvSpPr>
          <p:cNvPr id="77826" name="Rectangle 3"/>
          <p:cNvSpPr>
            <a:spLocks noGrp="1"/>
          </p:cNvSpPr>
          <p:nvPr>
            <p:ph type="body" idx="4294967295"/>
          </p:nvPr>
        </p:nvSpPr>
        <p:spPr>
          <a:xfrm>
            <a:off x="528638" y="854075"/>
            <a:ext cx="7888287" cy="493871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Usually disks used to store data that does not fit in main memory or data that must be kept for a </a:t>
            </a:r>
            <a:r>
              <a:rPr lang="ja-JP" altLang="en-US"/>
              <a:t>“</a:t>
            </a:r>
            <a:r>
              <a:rPr lang="en-US" altLang="ja-JP"/>
              <a:t>long</a:t>
            </a:r>
            <a:r>
              <a:rPr lang="ja-JP" altLang="en-US"/>
              <a:t>”</a:t>
            </a:r>
            <a:r>
              <a:rPr lang="en-US" altLang="ja-JP"/>
              <a:t> period of time</a:t>
            </a:r>
            <a:endParaRPr lang="en-US" altLang="ja-JP"/>
          </a:p>
          <a:p>
            <a:r>
              <a:rPr lang="en-US" altLang="en-US"/>
              <a:t>Proper management is of central importance</a:t>
            </a:r>
            <a:endParaRPr lang="en-US" altLang="en-US"/>
          </a:p>
          <a:p>
            <a:r>
              <a:rPr lang="en-US" altLang="en-US"/>
              <a:t>Entire speed of computer operation hinges on disk subsystem and its algorithms</a:t>
            </a:r>
            <a:endParaRPr lang="en-US" altLang="en-US"/>
          </a:p>
          <a:p>
            <a:r>
              <a:rPr lang="en-US" altLang="en-US"/>
              <a:t>OS activities</a:t>
            </a:r>
            <a:endParaRPr lang="en-US" altLang="en-US"/>
          </a:p>
          <a:p>
            <a:pPr lvl="1"/>
            <a:r>
              <a:rPr lang="en-US" altLang="en-US"/>
              <a:t>Mounting and unmounting</a:t>
            </a:r>
            <a:endParaRPr lang="en-US" altLang="en-US"/>
          </a:p>
          <a:p>
            <a:pPr lvl="1"/>
            <a:r>
              <a:rPr lang="en-US" altLang="en-US"/>
              <a:t>Free-space management</a:t>
            </a:r>
            <a:endParaRPr lang="en-US" altLang="en-US"/>
          </a:p>
          <a:p>
            <a:pPr lvl="1"/>
            <a:r>
              <a:rPr lang="en-US" altLang="en-US"/>
              <a:t>Storage allocation</a:t>
            </a:r>
            <a:endParaRPr lang="en-US" altLang="en-US"/>
          </a:p>
          <a:p>
            <a:pPr lvl="1"/>
            <a:r>
              <a:rPr lang="en-US" altLang="en-US"/>
              <a:t>Disk scheduling</a:t>
            </a:r>
            <a:endParaRPr lang="en-US" altLang="en-US"/>
          </a:p>
          <a:p>
            <a:pPr lvl="1"/>
            <a:r>
              <a:rPr lang="en-US" altLang="en-US"/>
              <a:t>Partitioning</a:t>
            </a:r>
            <a:endParaRPr lang="en-US" altLang="en-US"/>
          </a:p>
          <a:p>
            <a:pPr lvl="1"/>
            <a:r>
              <a:rPr lang="en-US" altLang="en-US"/>
              <a:t>Protection</a:t>
            </a:r>
            <a:endParaRPr lang="en-US" altLang="en-US"/>
          </a:p>
          <a:p>
            <a:r>
              <a:rPr lang="en-US" altLang="en-US"/>
              <a:t>Some storage need not be fast</a:t>
            </a:r>
            <a:endParaRPr lang="en-US" altLang="en-US"/>
          </a:p>
          <a:p>
            <a:pPr lvl="1"/>
            <a:r>
              <a:rPr lang="en-US" altLang="en-US"/>
              <a:t>Tertiary storage includes optical storage, magnetic tape</a:t>
            </a:r>
            <a:endParaRPr lang="en-US" altLang="en-US"/>
          </a:p>
          <a:p>
            <a:pPr lvl="1"/>
            <a:r>
              <a:rPr lang="en-US" altLang="en-US"/>
              <a:t>Still must be managed – by OS or applications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Caching</a:t>
            </a:r>
            <a:endParaRPr lang="en-US" altLang="en-US"/>
          </a:p>
        </p:txBody>
      </p:sp>
      <p:sp>
        <p:nvSpPr>
          <p:cNvPr id="79874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6665913" cy="49101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Important principle, performed at many levels in a computer (in hardware, operating system, software)</a:t>
            </a:r>
            <a:endParaRPr lang="en-US" altLang="en-US" sz="800"/>
          </a:p>
          <a:p>
            <a:r>
              <a:rPr lang="en-US" altLang="en-US"/>
              <a:t>Information in use copied from slower to faster storage temporarily</a:t>
            </a:r>
            <a:endParaRPr lang="en-US" altLang="en-US" sz="800"/>
          </a:p>
          <a:p>
            <a:r>
              <a:rPr lang="en-US" altLang="en-US"/>
              <a:t>Faster storage (cache) checked first to determine if information is there</a:t>
            </a:r>
            <a:endParaRPr lang="en-US" altLang="en-US"/>
          </a:p>
          <a:p>
            <a:pPr lvl="1"/>
            <a:r>
              <a:rPr lang="en-US" altLang="en-US"/>
              <a:t>If it is, information used directly from the cache (fast)</a:t>
            </a:r>
            <a:endParaRPr lang="en-US" altLang="en-US"/>
          </a:p>
          <a:p>
            <a:pPr lvl="1"/>
            <a:r>
              <a:rPr lang="en-US" altLang="en-US"/>
              <a:t>If not, data copied to cache and used there</a:t>
            </a:r>
            <a:endParaRPr lang="en-US" altLang="en-US" sz="800"/>
          </a:p>
          <a:p>
            <a:r>
              <a:rPr lang="en-US" altLang="en-US"/>
              <a:t>Cache smaller than storage being cached</a:t>
            </a:r>
            <a:endParaRPr lang="en-US" altLang="en-US"/>
          </a:p>
          <a:p>
            <a:pPr lvl="1"/>
            <a:r>
              <a:rPr lang="en-US" altLang="en-US"/>
              <a:t>Cache management important design problem</a:t>
            </a:r>
            <a:endParaRPr lang="en-US" altLang="en-US"/>
          </a:p>
          <a:p>
            <a:pPr lvl="1"/>
            <a:r>
              <a:rPr lang="en-US" altLang="en-US"/>
              <a:t>Cache size and replacement policy</a:t>
            </a:r>
            <a:endParaRPr lang="en-US" altLang="en-US"/>
          </a:p>
          <a:p>
            <a:pPr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2"/>
          <p:cNvSpPr>
            <a:spLocks noGrp="1"/>
          </p:cNvSpPr>
          <p:nvPr>
            <p:ph type="title" idx="4294967295"/>
          </p:nvPr>
        </p:nvSpPr>
        <p:spPr>
          <a:xfrm>
            <a:off x="833438" y="182563"/>
            <a:ext cx="8531225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Characteristics of Various Types of Storage</a:t>
            </a:r>
            <a:endParaRPr lang="en-US" altLang="en-US" sz="280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07313" cy="4521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None/>
              <a:defRPr/>
            </a:pP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    Movement between levels of storage hierarchy can be explicit or implicit</a:t>
            </a:r>
            <a:endParaRPr kumimoji="1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8192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463" y="1139825"/>
            <a:ext cx="8054975" cy="3381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 idx="4294967295"/>
          </p:nvPr>
        </p:nvSpPr>
        <p:spPr>
          <a:xfrm>
            <a:off x="1135063" y="136525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Migration of data “A” from Disk to Register</a:t>
            </a:r>
            <a:endParaRPr lang="en-US" altLang="en-US" sz="2800"/>
          </a:p>
        </p:txBody>
      </p:sp>
      <p:sp>
        <p:nvSpPr>
          <p:cNvPr id="83970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739140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Multitasking environments must be careful to use most recent value, no matter where it is stored in the storage hierarchy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Multiprocessor environment must provide </a:t>
            </a:r>
            <a:r>
              <a:rPr lang="en-US" altLang="en-US" b="1">
                <a:solidFill>
                  <a:srgbClr val="3366FF"/>
                </a:solidFill>
              </a:rPr>
              <a:t>cache coherency </a:t>
            </a:r>
            <a:r>
              <a:rPr lang="en-US" altLang="en-US"/>
              <a:t>in hardware such that all CPUs have the most recent value in their cache</a:t>
            </a:r>
            <a:endParaRPr lang="en-US" altLang="en-US" sz="800"/>
          </a:p>
          <a:p>
            <a:r>
              <a:rPr lang="en-US" altLang="en-US"/>
              <a:t>Distributed environment situation even more complex</a:t>
            </a:r>
            <a:endParaRPr lang="en-US" altLang="en-US"/>
          </a:p>
          <a:p>
            <a:pPr lvl="1"/>
            <a:r>
              <a:rPr lang="en-US" altLang="en-US"/>
              <a:t>Several copies of a datum can exist</a:t>
            </a:r>
            <a:endParaRPr lang="en-US" altLang="en-US"/>
          </a:p>
          <a:p>
            <a:pPr lvl="1"/>
            <a:r>
              <a:rPr lang="en-US" altLang="en-US"/>
              <a:t>Various solutions covered in Chapter 19</a:t>
            </a:r>
            <a:endParaRPr lang="en-US" altLang="en-US"/>
          </a:p>
        </p:txBody>
      </p:sp>
      <p:pic>
        <p:nvPicPr>
          <p:cNvPr id="8397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" y="2154238"/>
            <a:ext cx="7805738" cy="957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Title 1"/>
          <p:cNvSpPr>
            <a:spLocks noGrp="1"/>
          </p:cNvSpPr>
          <p:nvPr>
            <p:ph type="title" idx="4294967295"/>
          </p:nvPr>
        </p:nvSpPr>
        <p:spPr>
          <a:xfrm>
            <a:off x="819150" y="1524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Computing Environments - Traditional</a:t>
            </a:r>
            <a:endParaRPr lang="en-US" altLang="en-US" sz="2800"/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>
          <a:xfrm>
            <a:off x="854075" y="1138238"/>
            <a:ext cx="65722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Stand-alone general purpose machines</a:t>
            </a:r>
            <a:endParaRPr lang="en-US" altLang="en-US"/>
          </a:p>
          <a:p>
            <a:r>
              <a:rPr lang="en-US" altLang="en-US"/>
              <a:t>But blurred as most systems interconnect with others (i.e., the Internet)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Portals</a:t>
            </a:r>
            <a:r>
              <a:rPr lang="en-US" altLang="en-US"/>
              <a:t> provide web access to internal systems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Network computers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thin clients</a:t>
            </a:r>
            <a:r>
              <a:rPr lang="en-US" altLang="en-US"/>
              <a:t>) are like Web terminals</a:t>
            </a:r>
            <a:endParaRPr lang="en-US" altLang="en-US"/>
          </a:p>
          <a:p>
            <a:r>
              <a:rPr lang="en-US" altLang="en-US"/>
              <a:t>Mobile computers interconnect via </a:t>
            </a:r>
            <a:r>
              <a:rPr lang="en-US" altLang="en-US" b="1">
                <a:solidFill>
                  <a:srgbClr val="3366FF"/>
                </a:solidFill>
              </a:rPr>
              <a:t>wireless networks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/>
              <a:t>Networking becoming ubiquitous – even home systems use </a:t>
            </a:r>
            <a:r>
              <a:rPr lang="en-US" altLang="en-US" b="1">
                <a:solidFill>
                  <a:srgbClr val="3366FF"/>
                </a:solidFill>
              </a:rPr>
              <a:t>firewalls</a:t>
            </a:r>
            <a:r>
              <a:rPr lang="en-US" altLang="en-US"/>
              <a:t> to protect home computers from Internet attacks</a:t>
            </a: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Title 1"/>
          <p:cNvSpPr>
            <a:spLocks noGrp="1"/>
          </p:cNvSpPr>
          <p:nvPr>
            <p:ph type="title" idx="4294967295"/>
          </p:nvPr>
        </p:nvSpPr>
        <p:spPr>
          <a:xfrm>
            <a:off x="457200" y="1524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Computing Environments - Mobile</a:t>
            </a:r>
            <a:endParaRPr lang="en-US" altLang="en-US" sz="2800"/>
          </a:p>
        </p:txBody>
      </p:sp>
      <p:sp>
        <p:nvSpPr>
          <p:cNvPr id="101378" name="Content Placeholder 2"/>
          <p:cNvSpPr>
            <a:spLocks noGrp="1"/>
          </p:cNvSpPr>
          <p:nvPr>
            <p:ph idx="1"/>
          </p:nvPr>
        </p:nvSpPr>
        <p:spPr>
          <a:xfrm>
            <a:off x="854075" y="1122363"/>
            <a:ext cx="679291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Handheld smartphones, tablets, etc</a:t>
            </a:r>
            <a:endParaRPr lang="en-US" altLang="en-US"/>
          </a:p>
          <a:p>
            <a:r>
              <a:rPr lang="en-US" altLang="en-US"/>
              <a:t>What is the functional difference between them and a “traditional” laptop?</a:t>
            </a:r>
            <a:endParaRPr lang="en-US" altLang="en-US"/>
          </a:p>
          <a:p>
            <a:r>
              <a:rPr lang="en-US" altLang="en-US"/>
              <a:t>Extra feature – more OS features (GPS, gyroscope)</a:t>
            </a:r>
            <a:endParaRPr lang="en-US" altLang="en-US"/>
          </a:p>
          <a:p>
            <a:r>
              <a:rPr lang="en-US" altLang="en-US"/>
              <a:t>Allows new types of apps like </a:t>
            </a:r>
            <a:r>
              <a:rPr lang="en-US" altLang="en-US" b="1" i="1"/>
              <a:t>augmented reality</a:t>
            </a:r>
            <a:endParaRPr lang="en-US" altLang="en-US" b="1" i="1"/>
          </a:p>
          <a:p>
            <a:r>
              <a:rPr lang="en-US" altLang="en-US"/>
              <a:t>Use IEEE 802.11 wireless, or cellular data networks for connectivity</a:t>
            </a:r>
            <a:endParaRPr lang="en-US" altLang="en-US"/>
          </a:p>
          <a:p>
            <a:r>
              <a:rPr lang="en-US" altLang="en-US"/>
              <a:t>Leaders are </a:t>
            </a:r>
            <a:r>
              <a:rPr lang="en-US" altLang="en-US" b="1">
                <a:solidFill>
                  <a:srgbClr val="3366FF"/>
                </a:solidFill>
              </a:rPr>
              <a:t>Apple iOS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3366FF"/>
                </a:solidFill>
              </a:rPr>
              <a:t>Google Android</a:t>
            </a:r>
            <a:endParaRPr lang="en-US" alt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Rectangle 2"/>
          <p:cNvSpPr>
            <a:spLocks noGrp="1"/>
          </p:cNvSpPr>
          <p:nvPr>
            <p:ph type="title" idx="4294967295"/>
          </p:nvPr>
        </p:nvSpPr>
        <p:spPr>
          <a:xfrm>
            <a:off x="1296988" y="152400"/>
            <a:ext cx="76152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Computing Environments – Client-Server</a:t>
            </a:r>
            <a:endParaRPr lang="en-US" altLang="en-US" sz="2800"/>
          </a:p>
        </p:txBody>
      </p:sp>
      <p:sp>
        <p:nvSpPr>
          <p:cNvPr id="102402" name="Rectangle 4"/>
          <p:cNvSpPr/>
          <p:nvPr/>
        </p:nvSpPr>
        <p:spPr>
          <a:xfrm>
            <a:off x="874713" y="1166813"/>
            <a:ext cx="7351712" cy="467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342900" lvl="0" indent="-342900">
              <a:lnSpc>
                <a:spcPct val="90000"/>
              </a:lnSpc>
            </a:pPr>
            <a:r>
              <a:rPr lang="en-US" altLang="en-US"/>
              <a:t>Client-Server Computing</a:t>
            </a:r>
            <a:endParaRPr lang="en-US" altLang="en-US"/>
          </a:p>
          <a:p>
            <a:pPr marL="742950" lvl="1" indent="-285750">
              <a:lnSpc>
                <a:spcPct val="90000"/>
              </a:lnSpc>
            </a:pPr>
            <a:r>
              <a:rPr lang="en-US" altLang="en-US"/>
              <a:t>Dumb terminals supplanted by smart PCs</a:t>
            </a:r>
            <a:endParaRPr lang="en-US" altLang="en-US"/>
          </a:p>
          <a:p>
            <a:pPr marL="742950" lvl="1" indent="-285750">
              <a:lnSpc>
                <a:spcPct val="90000"/>
              </a:lnSpc>
            </a:pPr>
            <a:r>
              <a:rPr lang="en-US" altLang="en-US"/>
              <a:t>Many systems now </a:t>
            </a:r>
            <a:r>
              <a:rPr lang="en-US" altLang="en-US" b="1">
                <a:solidFill>
                  <a:srgbClr val="3366FF"/>
                </a:solidFill>
              </a:rPr>
              <a:t>servers</a:t>
            </a:r>
            <a:r>
              <a:rPr lang="en-US" altLang="en-US"/>
              <a:t>, responding to requests generated by </a:t>
            </a:r>
            <a:r>
              <a:rPr lang="en-US" altLang="en-US" b="1">
                <a:solidFill>
                  <a:srgbClr val="3366FF"/>
                </a:solidFill>
              </a:rPr>
              <a:t>clients</a:t>
            </a:r>
            <a:endParaRPr lang="en-US" altLang="en-US" b="1">
              <a:solidFill>
                <a:srgbClr val="3366FF"/>
              </a:solidFill>
            </a:endParaRPr>
          </a:p>
          <a:p>
            <a:pPr marL="1085850" lvl="2" indent="-228600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Compute-server system </a:t>
            </a:r>
            <a:r>
              <a:rPr lang="en-US" altLang="en-US"/>
              <a:t>provides an interface to client to request services (i.e., database)</a:t>
            </a:r>
            <a:endParaRPr lang="en-US" altLang="en-US"/>
          </a:p>
          <a:p>
            <a:pPr marL="1085850" lvl="2" indent="-228600"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File-server system </a:t>
            </a:r>
            <a:r>
              <a:rPr lang="en-US" altLang="en-US"/>
              <a:t>provides interface for clients to store and retrieve files</a:t>
            </a:r>
            <a:endParaRPr lang="en-US" altLang="en-US"/>
          </a:p>
        </p:txBody>
      </p:sp>
      <p:pic>
        <p:nvPicPr>
          <p:cNvPr id="102403" name="Picture 1" descr="1_18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213" y="3805238"/>
            <a:ext cx="4610100" cy="2005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Rectangle 2"/>
          <p:cNvSpPr>
            <a:spLocks noGrp="1"/>
          </p:cNvSpPr>
          <p:nvPr>
            <p:ph type="title" idx="4294967295"/>
          </p:nvPr>
        </p:nvSpPr>
        <p:spPr>
          <a:xfrm>
            <a:off x="1152525" y="166688"/>
            <a:ext cx="76454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Computing Environments - Peer-to-Peer</a:t>
            </a:r>
            <a:endParaRPr lang="en-US" altLang="en-US" sz="2800"/>
          </a:p>
        </p:txBody>
      </p:sp>
      <p:sp>
        <p:nvSpPr>
          <p:cNvPr id="104450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233488"/>
            <a:ext cx="50577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Another model of distributed system</a:t>
            </a:r>
            <a:endParaRPr lang="en-US" altLang="en-US"/>
          </a:p>
          <a:p>
            <a:r>
              <a:rPr lang="en-US" altLang="en-US"/>
              <a:t>P2P does not distinguish clients and servers</a:t>
            </a:r>
            <a:endParaRPr lang="en-US" altLang="en-US"/>
          </a:p>
          <a:p>
            <a:pPr lvl="1"/>
            <a:r>
              <a:rPr lang="en-US" altLang="en-US"/>
              <a:t>Instead all nodes are considered peers</a:t>
            </a:r>
            <a:endParaRPr lang="en-US" altLang="en-US"/>
          </a:p>
          <a:p>
            <a:pPr lvl="1"/>
            <a:r>
              <a:rPr lang="en-US" altLang="en-US"/>
              <a:t>May each act as client, server or both</a:t>
            </a:r>
            <a:endParaRPr lang="en-US" altLang="en-US"/>
          </a:p>
          <a:p>
            <a:pPr lvl="1"/>
            <a:r>
              <a:rPr lang="en-US" altLang="en-US"/>
              <a:t>Node must join P2P network</a:t>
            </a:r>
            <a:endParaRPr lang="en-US" altLang="en-US"/>
          </a:p>
          <a:p>
            <a:pPr lvl="2"/>
            <a:r>
              <a:rPr lang="en-US" altLang="en-US"/>
              <a:t>Registers its service with central lookup service on network, or</a:t>
            </a:r>
            <a:endParaRPr lang="en-US" altLang="en-US"/>
          </a:p>
          <a:p>
            <a:pPr lvl="2"/>
            <a:r>
              <a:rPr lang="en-US" altLang="en-US"/>
              <a:t>Broadcast request for service and respond to requests for service via </a:t>
            </a:r>
            <a:r>
              <a:rPr lang="en-US" altLang="en-US" b="1" i="1"/>
              <a:t>discovery protocol</a:t>
            </a:r>
            <a:endParaRPr lang="en-US" altLang="en-US" b="1" i="1"/>
          </a:p>
          <a:p>
            <a:pPr lvl="1"/>
            <a:r>
              <a:rPr lang="en-US" altLang="en-US"/>
              <a:t>Examples include</a:t>
            </a:r>
            <a:r>
              <a:rPr lang="en-US" altLang="en-US" i="1"/>
              <a:t> </a:t>
            </a:r>
            <a:r>
              <a:rPr lang="en-US" altLang="en-US"/>
              <a:t>Napster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</a:t>
            </a:r>
            <a:r>
              <a:rPr lang="en-US" altLang="en-US"/>
              <a:t>Gnutella</a:t>
            </a:r>
            <a:r>
              <a:rPr lang="en-US" altLang="en-US" i="1"/>
              <a:t>, </a:t>
            </a:r>
            <a:r>
              <a:rPr lang="en-US" altLang="en-US" b="1">
                <a:solidFill>
                  <a:srgbClr val="3366FF"/>
                </a:solidFill>
              </a:rPr>
              <a:t>Voice over IP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VoIP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such as Skype </a:t>
            </a:r>
            <a:endParaRPr lang="en-US" altLang="en-US"/>
          </a:p>
        </p:txBody>
      </p:sp>
      <p:pic>
        <p:nvPicPr>
          <p:cNvPr id="104451" name="Picture 1" descr="1_19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9488" y="1984375"/>
            <a:ext cx="2668587" cy="20272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2"/>
          <p:cNvSpPr>
            <a:spLocks noGrp="1"/>
          </p:cNvSpPr>
          <p:nvPr>
            <p:ph type="title" idx="4294967295"/>
          </p:nvPr>
        </p:nvSpPr>
        <p:spPr>
          <a:xfrm>
            <a:off x="1123950" y="114300"/>
            <a:ext cx="76454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Computing Environments – Cloud Computing</a:t>
            </a:r>
            <a:endParaRPr lang="en-US" altLang="en-US" sz="2400"/>
          </a:p>
        </p:txBody>
      </p:sp>
      <p:sp>
        <p:nvSpPr>
          <p:cNvPr id="106498" name="Rectangle 3"/>
          <p:cNvSpPr>
            <a:spLocks noGrp="1"/>
          </p:cNvSpPr>
          <p:nvPr>
            <p:ph type="body" idx="4294967295"/>
          </p:nvPr>
        </p:nvSpPr>
        <p:spPr>
          <a:xfrm>
            <a:off x="806450" y="1060450"/>
            <a:ext cx="7439025" cy="510381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1600"/>
              <a:t>Delivers computing, storage, even apps as a service across a network</a:t>
            </a:r>
            <a:endParaRPr lang="en-US" altLang="en-US" sz="1600"/>
          </a:p>
          <a:p>
            <a:r>
              <a:rPr lang="en-US" altLang="en-US" sz="1600"/>
              <a:t>Logical extension of virtualization because it uses virtualization as the base for it functionality.</a:t>
            </a:r>
            <a:endParaRPr lang="en-US" altLang="en-US" sz="1600"/>
          </a:p>
          <a:p>
            <a:pPr lvl="1"/>
            <a:r>
              <a:rPr lang="en-US" altLang="en-US" sz="1600"/>
              <a:t>Amazon </a:t>
            </a:r>
            <a:r>
              <a:rPr lang="en-US" altLang="en-US" sz="1600" b="1">
                <a:solidFill>
                  <a:srgbClr val="3366FF"/>
                </a:solidFill>
              </a:rPr>
              <a:t>EC2</a:t>
            </a:r>
            <a:r>
              <a:rPr lang="en-US" altLang="en-US" sz="1600"/>
              <a:t>  has thousands of servers, millions of virtual machines, petabytes of storage available across the Internet, pay based on usage</a:t>
            </a:r>
            <a:endParaRPr lang="en-US" altLang="en-US" sz="1600"/>
          </a:p>
          <a:p>
            <a:r>
              <a:rPr lang="en-US" altLang="en-US" sz="1600"/>
              <a:t>Many types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Public cloud </a:t>
            </a:r>
            <a:r>
              <a:rPr lang="en-US" altLang="en-US" sz="1600"/>
              <a:t>– available via Internet to anyone willing to pay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Private cloud </a:t>
            </a:r>
            <a:r>
              <a:rPr lang="en-US" altLang="en-US" sz="1600"/>
              <a:t>– run by a company for the company’s own use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Hybrid cloud </a:t>
            </a:r>
            <a:r>
              <a:rPr lang="en-US" altLang="en-US" sz="1600"/>
              <a:t>– includes both public and private cloud components</a:t>
            </a:r>
            <a:endParaRPr lang="en-US" altLang="en-US" sz="1600"/>
          </a:p>
          <a:p>
            <a:pPr lvl="1"/>
            <a:r>
              <a:rPr lang="en-US" altLang="en-US" sz="1600"/>
              <a:t>Software as a Service (</a:t>
            </a:r>
            <a:r>
              <a:rPr lang="en-US" altLang="en-US" sz="1600" b="1">
                <a:solidFill>
                  <a:srgbClr val="3366FF"/>
                </a:solidFill>
              </a:rPr>
              <a:t>SaaS</a:t>
            </a:r>
            <a:r>
              <a:rPr lang="en-US" altLang="en-US" sz="1600"/>
              <a:t>) – one or more applications available via the Internet (i.e., word processor)</a:t>
            </a:r>
            <a:endParaRPr lang="en-US" altLang="en-US" sz="1600"/>
          </a:p>
          <a:p>
            <a:pPr lvl="1"/>
            <a:r>
              <a:rPr lang="en-US" altLang="en-US" sz="1600"/>
              <a:t>Platform as a Service (</a:t>
            </a:r>
            <a:r>
              <a:rPr lang="en-US" altLang="en-US" sz="1600" b="1">
                <a:solidFill>
                  <a:srgbClr val="3366FF"/>
                </a:solidFill>
              </a:rPr>
              <a:t>PaaS</a:t>
            </a:r>
            <a:r>
              <a:rPr lang="en-US" altLang="en-US" sz="1600"/>
              <a:t>) – software stack ready for application use via the Internet (i.e., a database server)</a:t>
            </a:r>
            <a:endParaRPr lang="en-US" altLang="en-US" sz="1600"/>
          </a:p>
          <a:p>
            <a:pPr lvl="1"/>
            <a:r>
              <a:rPr lang="en-US" altLang="en-US" sz="1600"/>
              <a:t>Infrastructure as a Service (</a:t>
            </a:r>
            <a:r>
              <a:rPr lang="en-US" altLang="en-US" sz="1600" b="1">
                <a:solidFill>
                  <a:srgbClr val="3366FF"/>
                </a:solidFill>
              </a:rPr>
              <a:t>IaaS</a:t>
            </a:r>
            <a:r>
              <a:rPr lang="en-US" altLang="en-US" sz="1600"/>
              <a:t>) – servers or storage available over Internet (i.e., storage available for backup use)</a:t>
            </a:r>
            <a:endParaRPr lang="en-US" altLang="en-US" sz="1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Rectangle 2"/>
          <p:cNvSpPr>
            <a:spLocks noGrp="1"/>
          </p:cNvSpPr>
          <p:nvPr>
            <p:ph type="title" idx="4294967295"/>
          </p:nvPr>
        </p:nvSpPr>
        <p:spPr>
          <a:xfrm>
            <a:off x="1109663" y="73025"/>
            <a:ext cx="76454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Computing Environments – Cloud Computing</a:t>
            </a:r>
            <a:endParaRPr lang="en-US" altLang="en-US" sz="2400"/>
          </a:p>
        </p:txBody>
      </p:sp>
      <p:sp>
        <p:nvSpPr>
          <p:cNvPr id="108546" name="Rectangle 3"/>
          <p:cNvSpPr>
            <a:spLocks noGrp="1"/>
          </p:cNvSpPr>
          <p:nvPr>
            <p:ph type="body" idx="4294967295"/>
          </p:nvPr>
        </p:nvSpPr>
        <p:spPr>
          <a:xfrm>
            <a:off x="854075" y="1092200"/>
            <a:ext cx="7154863" cy="15716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Cloud computing environments composed of traditional OSes, plus VMMs, plus cloud management tools</a:t>
            </a:r>
            <a:endParaRPr lang="en-US" altLang="en-US"/>
          </a:p>
          <a:p>
            <a:pPr lvl="1"/>
            <a:r>
              <a:rPr lang="en-US" altLang="en-US"/>
              <a:t>Internet connectivity requires security like firewalls</a:t>
            </a:r>
            <a:endParaRPr lang="en-US" altLang="en-US" sz="800"/>
          </a:p>
          <a:p>
            <a:pPr lvl="1"/>
            <a:r>
              <a:rPr lang="en-US" altLang="en-US"/>
              <a:t>Load balancers spread traffic across multiple applications</a:t>
            </a:r>
            <a:endParaRPr lang="en-US" altLang="en-US"/>
          </a:p>
        </p:txBody>
      </p:sp>
      <p:pic>
        <p:nvPicPr>
          <p:cNvPr id="108547" name="Picture 1" descr="1_21.p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288" y="2800350"/>
            <a:ext cx="4119562" cy="3260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Title 1"/>
          <p:cNvSpPr>
            <a:spLocks noGrp="1"/>
          </p:cNvSpPr>
          <p:nvPr>
            <p:ph type="title" idx="4294967295"/>
          </p:nvPr>
        </p:nvSpPr>
        <p:spPr>
          <a:xfrm>
            <a:off x="1058863" y="73025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000"/>
              <a:t>Computing Environments – Real-Time Embedded Systems</a:t>
            </a:r>
            <a:endParaRPr lang="en-US" altLang="en-US" sz="2000"/>
          </a:p>
        </p:txBody>
      </p:sp>
      <p:sp>
        <p:nvSpPr>
          <p:cNvPr id="110594" name="Content Placeholder 2"/>
          <p:cNvSpPr>
            <a:spLocks noGrp="1"/>
          </p:cNvSpPr>
          <p:nvPr>
            <p:ph idx="1"/>
          </p:nvPr>
        </p:nvSpPr>
        <p:spPr>
          <a:xfrm>
            <a:off x="854075" y="1154113"/>
            <a:ext cx="72453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Real-time embedded systems most prevalent form of computers</a:t>
            </a:r>
            <a:endParaRPr lang="en-US" altLang="en-US"/>
          </a:p>
          <a:p>
            <a:pPr lvl="1"/>
            <a:r>
              <a:rPr lang="en-US" altLang="en-US"/>
              <a:t>Vary considerable, special purpose, limited purpose OS,    </a:t>
            </a:r>
            <a:r>
              <a:rPr lang="en-US" altLang="en-US" b="1">
                <a:solidFill>
                  <a:srgbClr val="3366FF"/>
                </a:solidFill>
              </a:rPr>
              <a:t>real-time OS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Use expanding</a:t>
            </a:r>
            <a:endParaRPr lang="en-US" altLang="en-US"/>
          </a:p>
          <a:p>
            <a:r>
              <a:rPr lang="en-US" altLang="en-US"/>
              <a:t>Many other special computing environments as well</a:t>
            </a:r>
            <a:endParaRPr lang="en-US" altLang="en-US"/>
          </a:p>
          <a:p>
            <a:pPr lvl="1"/>
            <a:r>
              <a:rPr lang="en-US" altLang="en-US"/>
              <a:t>Some have OSes, some perform tasks without an OS</a:t>
            </a:r>
            <a:endParaRPr lang="en-US" altLang="en-US"/>
          </a:p>
          <a:p>
            <a:r>
              <a:rPr lang="en-US" altLang="en-US"/>
              <a:t>Real-time OS has well-defined fixed time constraints</a:t>
            </a:r>
            <a:endParaRPr lang="en-US" altLang="en-US"/>
          </a:p>
          <a:p>
            <a:pPr lvl="1"/>
            <a:r>
              <a:rPr lang="en-US" altLang="en-US"/>
              <a:t>Processing </a:t>
            </a:r>
            <a:r>
              <a:rPr lang="en-US" altLang="en-US" b="1" i="1"/>
              <a:t>must</a:t>
            </a:r>
            <a:r>
              <a:rPr lang="en-US" altLang="en-US"/>
              <a:t> be done within constraint</a:t>
            </a:r>
            <a:endParaRPr lang="en-US" altLang="en-US"/>
          </a:p>
          <a:p>
            <a:pPr lvl="1"/>
            <a:r>
              <a:rPr lang="en-US" altLang="en-US"/>
              <a:t>Correct operation only if constraints met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Title 1"/>
          <p:cNvSpPr>
            <a:spLocks noGrp="1"/>
          </p:cNvSpPr>
          <p:nvPr>
            <p:ph type="title" idx="4294967295"/>
          </p:nvPr>
        </p:nvSpPr>
        <p:spPr>
          <a:xfrm>
            <a:off x="982663" y="127000"/>
            <a:ext cx="7704137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Free and Open-Source Operating Systems</a:t>
            </a:r>
            <a:endParaRPr lang="en-US" altLang="en-US" sz="2800"/>
          </a:p>
        </p:txBody>
      </p:sp>
      <p:sp>
        <p:nvSpPr>
          <p:cNvPr id="111618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18661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Operating systems made available in source-code format rather than just binary </a:t>
            </a:r>
            <a:r>
              <a:rPr lang="en-US" altLang="en-US" b="1">
                <a:solidFill>
                  <a:srgbClr val="3366FF"/>
                </a:solidFill>
              </a:rPr>
              <a:t>closed-source </a:t>
            </a:r>
            <a:r>
              <a:rPr lang="en-US" altLang="en-US"/>
              <a:t>and</a:t>
            </a:r>
            <a:r>
              <a:rPr lang="en-US" altLang="en-US" b="1">
                <a:solidFill>
                  <a:srgbClr val="3366FF"/>
                </a:solidFill>
              </a:rPr>
              <a:t> proprietary</a:t>
            </a:r>
            <a:endParaRPr lang="en-US" altLang="en-US" sz="800" b="1">
              <a:solidFill>
                <a:srgbClr val="3366FF"/>
              </a:solidFill>
            </a:endParaRPr>
          </a:p>
          <a:p>
            <a:r>
              <a:rPr lang="en-US" altLang="en-US"/>
              <a:t>Counter to the </a:t>
            </a:r>
            <a:r>
              <a:rPr lang="en-US" altLang="en-US" b="1">
                <a:solidFill>
                  <a:srgbClr val="3366FF"/>
                </a:solidFill>
              </a:rPr>
              <a:t>copy protection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olidFill>
                  <a:srgbClr val="000000"/>
                </a:solidFill>
              </a:rPr>
              <a:t>and </a:t>
            </a:r>
            <a:r>
              <a:rPr lang="en-US" altLang="en-US" b="1">
                <a:solidFill>
                  <a:srgbClr val="3366FF"/>
                </a:solidFill>
              </a:rPr>
              <a:t>Digital Rights Management (DRM)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olidFill>
                  <a:srgbClr val="000000"/>
                </a:solidFill>
              </a:rPr>
              <a:t>movement</a:t>
            </a:r>
            <a:endParaRPr lang="en-US" altLang="en-US" sz="800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Started by </a:t>
            </a:r>
            <a:r>
              <a:rPr lang="en-US" altLang="en-US" b="1">
                <a:solidFill>
                  <a:srgbClr val="3366FF"/>
                </a:solidFill>
              </a:rPr>
              <a:t>Free Software Foundation (FSF)</a:t>
            </a:r>
            <a:r>
              <a:rPr lang="en-US" altLang="en-US">
                <a:solidFill>
                  <a:srgbClr val="000000"/>
                </a:solidFill>
              </a:rPr>
              <a:t>, which has </a:t>
            </a:r>
            <a:r>
              <a:rPr lang="ja-JP" altLang="en-US">
                <a:solidFill>
                  <a:srgbClr val="000000"/>
                </a:solidFill>
              </a:rPr>
              <a:t>“</a:t>
            </a:r>
            <a:r>
              <a:rPr lang="en-US" altLang="ja-JP">
                <a:solidFill>
                  <a:srgbClr val="000000"/>
                </a:solidFill>
              </a:rPr>
              <a:t>copyleft</a:t>
            </a:r>
            <a:r>
              <a:rPr lang="ja-JP" altLang="en-US">
                <a:solidFill>
                  <a:srgbClr val="000000"/>
                </a:solidFill>
              </a:rPr>
              <a:t>”</a:t>
            </a:r>
            <a:r>
              <a:rPr lang="en-US" altLang="ja-JP">
                <a:solidFill>
                  <a:srgbClr val="000000"/>
                </a:solidFill>
              </a:rPr>
              <a:t> </a:t>
            </a:r>
            <a:r>
              <a:rPr lang="en-US" altLang="ja-JP" b="1">
                <a:solidFill>
                  <a:srgbClr val="3366FF"/>
                </a:solidFill>
              </a:rPr>
              <a:t>GNU Public License (GPL)</a:t>
            </a:r>
            <a:endParaRPr lang="en-US" altLang="ja-JP" b="1">
              <a:solidFill>
                <a:srgbClr val="3366FF"/>
              </a:solidFill>
            </a:endParaRPr>
          </a:p>
          <a:p>
            <a:pPr lvl="1"/>
            <a:r>
              <a:rPr lang="en-US" altLang="en-US" sz="1600"/>
              <a:t>Free software and open-source software are two different ideas championed by different groups of people</a:t>
            </a:r>
            <a:endParaRPr lang="en-US" altLang="en-US" sz="1600"/>
          </a:p>
          <a:p>
            <a:pPr lvl="2"/>
            <a:r>
              <a:rPr lang="en-US" altLang="en-US" sz="1600">
                <a:hlinkClick r:id="rId1"/>
              </a:rPr>
              <a:t>http://gnu.org/philosophy/open-source-misses-the-point.html/</a:t>
            </a:r>
            <a:r>
              <a:rPr lang="en-US" altLang="en-US" sz="1600"/>
              <a:t> </a:t>
            </a:r>
            <a:endParaRPr lang="en-US" altLang="en-US" sz="1600" b="1">
              <a:solidFill>
                <a:srgbClr val="3366FF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Examples include </a:t>
            </a:r>
            <a:r>
              <a:rPr lang="en-US" altLang="en-US" b="1">
                <a:solidFill>
                  <a:srgbClr val="3366FF"/>
                </a:solidFill>
              </a:rPr>
              <a:t>GNU/Linux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3366FF"/>
                </a:solidFill>
              </a:rPr>
              <a:t>BSD UNIX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olidFill>
                  <a:srgbClr val="000000"/>
                </a:solidFill>
              </a:rPr>
              <a:t>(including core of </a:t>
            </a:r>
            <a:r>
              <a:rPr lang="en-US" altLang="en-US" b="1">
                <a:solidFill>
                  <a:srgbClr val="3366FF"/>
                </a:solidFill>
              </a:rPr>
              <a:t>Mac OS X</a:t>
            </a:r>
            <a:r>
              <a:rPr lang="en-US" altLang="en-US">
                <a:solidFill>
                  <a:srgbClr val="000000"/>
                </a:solidFill>
              </a:rPr>
              <a:t>), and many more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Can use VMM like VMware Player (Free on Windows), Virtualbox (open source and free on many platforms - </a:t>
            </a:r>
            <a:r>
              <a:rPr lang="en-US" altLang="en-US"/>
              <a:t>http://www.virtualbox.com) </a:t>
            </a:r>
            <a:endParaRPr lang="en-US" altLang="en-US"/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Use to run guest operating systems for exploration</a:t>
            </a: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2"/>
          <p:cNvSpPr>
            <a:spLocks noGrp="1"/>
          </p:cNvSpPr>
          <p:nvPr>
            <p:ph type="title" idx="4294967295"/>
          </p:nvPr>
        </p:nvSpPr>
        <p:spPr>
          <a:xfrm>
            <a:off x="1033463" y="198438"/>
            <a:ext cx="802481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The Study of Operating Systems</a:t>
            </a:r>
            <a:endParaRPr lang="en-US" altLang="en-US"/>
          </a:p>
        </p:txBody>
      </p:sp>
      <p:sp>
        <p:nvSpPr>
          <p:cNvPr id="113666" name="Rectangle 1"/>
          <p:cNvSpPr/>
          <p:nvPr/>
        </p:nvSpPr>
        <p:spPr>
          <a:xfrm>
            <a:off x="647700" y="1222375"/>
            <a:ext cx="7920038" cy="4703763"/>
          </a:xfrm>
          <a:prstGeom prst="rect">
            <a:avLst/>
          </a:prstGeom>
          <a:solidFill>
            <a:srgbClr val="CEEBFA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There has never been a more interesting time to study operating systems, and it has never been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easier. The open-source movement has overtaken operating systems, causing many of them to be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made available in both source and binary (executable) format. The list of operating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systems available in both formats includes Linux, BUSD UNIX, Solaris, and part of macOS.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The availability of source code allows us to study operating systems from the inside out.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Questions that we could once answer only by looking at documentation or the behavior of an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operating system we can now answer by examining the code itself.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Operating systems that are no longer commercially viable have been open-sourced as well, enabling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us to study how systems operated in a time of fewer CPU, memory, and storage resources.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An extensive but incomplete list of open-source operating-system projects is available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from http://dmoz.org/Computers/Software/Operating_Systems/Open_Source/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In addition, the rise of virtualization as a mainstream (and frequently free) computer function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makes it possible to run many operating systems on top of one core system. For example, VMware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(http://www.vmware.com) providesa free “player” for Windows on which hundreds of free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“virtual appliances” can run. Virtualbox (http://www.virtualbox.com) provides a free, open-source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virtual machine manager on many operating systems. Using such tools, students can try out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hundreds of operating systems without dedicated hardware.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The advent of open-source operating systems has also made it easier to make the move from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student to operating-system developer. With some knowledge, some effort, and an Internet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connection, a student can even create a new operating-system distribution. Just a few years ago, 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it was difficult or impossible to get access to source code. Now, such access is limited only by</a:t>
            </a:r>
            <a:endParaRPr lang="en-US" altLang="en-US" sz="1200"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how much interest, time, and disk space a student has.</a:t>
            </a:r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 of Chapter 1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18781</Words>
  <Application>WPS Presentation</Application>
  <PresentationFormat>On-screen Show (4:3)</PresentationFormat>
  <Paragraphs>436</Paragraphs>
  <Slides>48</Slides>
  <Notes>49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4" baseType="lpstr">
      <vt:lpstr>Arial</vt:lpstr>
      <vt:lpstr>SimSun</vt:lpstr>
      <vt:lpstr>Wingdings</vt:lpstr>
      <vt:lpstr>Verdana</vt:lpstr>
      <vt:lpstr>MS PGothic</vt:lpstr>
      <vt:lpstr>Helvetica</vt:lpstr>
      <vt:lpstr>Monotype Sorts</vt:lpstr>
      <vt:lpstr>Wingdings</vt:lpstr>
      <vt:lpstr>Webdings</vt:lpstr>
      <vt:lpstr>Times New Roman</vt:lpstr>
      <vt:lpstr>Wingdings 3</vt:lpstr>
      <vt:lpstr>Courier New</vt:lpstr>
      <vt:lpstr>Microsoft YaHei</vt:lpstr>
      <vt:lpstr>Arial Unicode MS</vt:lpstr>
      <vt:lpstr>Monotype Sorts</vt:lpstr>
      <vt:lpstr>os-8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Dazy Nam</cp:lastModifiedBy>
  <cp:revision>200</cp:revision>
  <cp:lastPrinted>2001-06-14T13:58:17Z</cp:lastPrinted>
  <dcterms:created xsi:type="dcterms:W3CDTF">2011-01-13T23:43:38Z</dcterms:created>
  <dcterms:modified xsi:type="dcterms:W3CDTF">2026-09-05T10:41:02Z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4DA20CD647BB4B6BA272D6EB342B0408_13</vt:lpwstr>
  </property>
</Properties>
</file>