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8" r:id="rId3"/>
    <p:sldId id="284" r:id="rId4"/>
    <p:sldId id="285" r:id="rId5"/>
    <p:sldId id="290" r:id="rId6"/>
    <p:sldId id="300" r:id="rId7"/>
    <p:sldId id="291" r:id="rId8"/>
    <p:sldId id="303" r:id="rId9"/>
    <p:sldId id="292" r:id="rId10"/>
    <p:sldId id="304" r:id="rId11"/>
    <p:sldId id="305" r:id="rId12"/>
    <p:sldId id="295" r:id="rId13"/>
    <p:sldId id="302" r:id="rId14"/>
    <p:sldId id="296" r:id="rId15"/>
    <p:sldId id="301" r:id="rId16"/>
    <p:sldId id="306" r:id="rId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fld id="{8973D73F-7E20-4D14-80F3-1F3056A969E5}"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0354" name="Rectangle 2"/>
          <p:cNvSpPr>
            <a:spLocks noGrp="1" noChangeArrowheads="1"/>
          </p:cNvSpPr>
          <p:nvPr>
            <p:ph type="ctrTitle" sz="quarter"/>
          </p:nvPr>
        </p:nvSpPr>
        <p:spPr>
          <a:xfrm>
            <a:off x="685800" y="1676400"/>
            <a:ext cx="7772400" cy="1828800"/>
          </a:xfrm>
        </p:spPr>
        <p:txBody>
          <a:bodyPr/>
          <a:lstStyle>
            <a:lvl1pPr>
              <a:defRPr/>
            </a:lvl1pPr>
          </a:lstStyle>
          <a:p>
            <a:pPr lvl="0"/>
            <a:r>
              <a:rPr lang="en-US" noProof="0" smtClean="0"/>
              <a:t>Click to edit Master title style</a:t>
            </a:r>
            <a:endParaRPr lang="en-US" noProof="0" smtClean="0"/>
          </a:p>
        </p:txBody>
      </p:sp>
      <p:sp>
        <p:nvSpPr>
          <p:cNvPr id="100355" name="Rectangle 3"/>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noProof="0" smtClean="0"/>
              <a:t>Click to edit Master subtitle style</a:t>
            </a:r>
            <a:endParaRPr 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B6D990C4-D010-430B-8897-A6336D1F14D6}"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90D522BF-A555-47E6-98FE-6B95607DDBEC}"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2B414AC8-2133-49C8-BE04-EE627A5E4363}"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F5CA1F74-6797-498D-9101-95FC59EEF26F}"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C82591D5-5A09-4435-8EBA-A96CDBEC2FC1}"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1813DED7-BC70-4DB4-B555-C982A04D710A}"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0A24F41D-AAA4-4BAE-BA6C-BBAB1048ECFA}"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0C4D9A9D-B885-4474-8C99-0E5261A03B56}"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D35614C1-AB93-4D3B-B1F2-5F86CFABCBDD}"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DD4417D1-174E-442E-852D-5A747E996FB2}"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A65BBF6C-FED0-4E39-8BD4-4A8F6A77CC5F}"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cstate="print">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bwMode="auto">
          <a:xfrm>
            <a:off x="457200" y="381000"/>
            <a:ext cx="8229600" cy="1371600"/>
          </a:xfrm>
          <a:prstGeom prst="rect">
            <a:avLst/>
          </a:prstGeom>
          <a:noFill/>
          <a:ln>
            <a:noFill/>
          </a:ln>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99331" name="Rectangle 3"/>
          <p:cNvSpPr>
            <a:spLocks noGrp="1" noChangeArrowheads="1"/>
          </p:cNvSpPr>
          <p:nvPr>
            <p:ph type="body" idx="1"/>
          </p:nvPr>
        </p:nvSpPr>
        <p:spPr bwMode="auto">
          <a:xfrm>
            <a:off x="457200" y="1981200"/>
            <a:ext cx="8229600" cy="4114800"/>
          </a:xfrm>
          <a:prstGeom prst="rect">
            <a:avLst/>
          </a:prstGeom>
          <a:noFill/>
          <a:ln>
            <a:noFill/>
          </a:ln>
          <a:effec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99332"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lstStyle>
            <a:lvl1pPr eaLnBrk="1" hangingPunct="1">
              <a:defRPr sz="1400">
                <a:effectLst>
                  <a:outerShdw blurRad="38100" dist="38100" dir="2700000" algn="tl">
                    <a:srgbClr val="000000"/>
                  </a:outerShdw>
                </a:effectLst>
                <a:latin typeface="Arial" panose="020B0604020202020204" pitchFamily="34" charset="0"/>
              </a:defRPr>
            </a:lvl1pPr>
          </a:lstStyle>
          <a:p>
            <a:pPr>
              <a:defRPr/>
            </a:pPr>
            <a:endParaRPr lang="en-US"/>
          </a:p>
        </p:txBody>
      </p:sp>
      <p:sp>
        <p:nvSpPr>
          <p:cNvPr id="99333"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b" anchorCtr="0" compatLnSpc="1"/>
          <a:lstStyle>
            <a:lvl1pPr algn="ctr" eaLnBrk="1" hangingPunct="1">
              <a:defRPr sz="1400">
                <a:effectLst>
                  <a:outerShdw blurRad="38100" dist="38100" dir="2700000" algn="tl">
                    <a:srgbClr val="000000"/>
                  </a:outerShdw>
                </a:effectLst>
                <a:latin typeface="Arial" panose="020B0604020202020204" pitchFamily="34" charset="0"/>
              </a:defRPr>
            </a:lvl1pPr>
          </a:lstStyle>
          <a:p>
            <a:pPr>
              <a:defRPr/>
            </a:pPr>
            <a:endParaRPr lang="en-US"/>
          </a:p>
        </p:txBody>
      </p:sp>
      <p:sp>
        <p:nvSpPr>
          <p:cNvPr id="99334"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b" anchorCtr="0" compatLnSpc="1"/>
          <a:lstStyle>
            <a:lvl1pPr algn="r" eaLnBrk="1" hangingPunct="1">
              <a:defRPr sz="1400">
                <a:effectLst>
                  <a:outerShdw blurRad="38100" dist="38100" dir="2700000" algn="tl">
                    <a:srgbClr val="000000"/>
                  </a:outerShdw>
                </a:effectLst>
                <a:latin typeface="Arial" panose="020B0604020202020204" pitchFamily="34" charset="0"/>
              </a:defRPr>
            </a:lvl1pPr>
          </a:lstStyle>
          <a:p>
            <a:fld id="{D67E8521-31BD-4E7A-A7BA-523D33BD64E4}" type="slidenum">
              <a:rPr lang="en-US"/>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9pPr>
    </p:titleStyle>
    <p:body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eaLnBrk="1" hangingPunct="1">
              <a:defRPr/>
            </a:pPr>
            <a:r>
              <a:rPr lang="en-US" smtClean="0"/>
              <a:t>Operating Systems</a:t>
            </a:r>
            <a:endParaRPr lang="en-US" smtClean="0"/>
          </a:p>
        </p:txBody>
      </p:sp>
      <p:sp>
        <p:nvSpPr>
          <p:cNvPr id="4099" name="Rectangle 3"/>
          <p:cNvSpPr>
            <a:spLocks noGrp="1" noChangeArrowheads="1"/>
          </p:cNvSpPr>
          <p:nvPr>
            <p:ph type="subTitle" idx="1"/>
          </p:nvPr>
        </p:nvSpPr>
        <p:spPr/>
        <p:txBody>
          <a:bodyPr/>
          <a:lstStyle/>
          <a:p>
            <a:pPr eaLnBrk="1" hangingPunct="1">
              <a:defRPr/>
            </a:pP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en-US" dirty="0" smtClean="0"/>
              <a:t>Operating System Environments</a:t>
            </a:r>
            <a:endParaRPr lang="en-US" dirty="0" smtClean="0"/>
          </a:p>
        </p:txBody>
      </p:sp>
      <p:sp>
        <p:nvSpPr>
          <p:cNvPr id="28675" name="Rectangle 3"/>
          <p:cNvSpPr>
            <a:spLocks noGrp="1" noChangeArrowheads="1"/>
          </p:cNvSpPr>
          <p:nvPr>
            <p:ph type="body" idx="1"/>
          </p:nvPr>
        </p:nvSpPr>
        <p:spPr>
          <a:xfrm>
            <a:off x="457200" y="1600200"/>
            <a:ext cx="8229600" cy="4114800"/>
          </a:xfrm>
        </p:spPr>
        <p:txBody>
          <a:bodyPr/>
          <a:lstStyle/>
          <a:p>
            <a:pPr eaLnBrk="1" hangingPunct="1">
              <a:lnSpc>
                <a:spcPct val="90000"/>
              </a:lnSpc>
              <a:defRPr/>
            </a:pPr>
            <a:r>
              <a:rPr lang="en-US" sz="2800" dirty="0" smtClean="0"/>
              <a:t>Virtual machines (VMs)</a:t>
            </a:r>
            <a:endParaRPr lang="en-US" sz="2800" dirty="0" smtClean="0"/>
          </a:p>
          <a:p>
            <a:pPr lvl="1" eaLnBrk="1" hangingPunct="1">
              <a:lnSpc>
                <a:spcPct val="90000"/>
              </a:lnSpc>
              <a:defRPr/>
            </a:pPr>
            <a:r>
              <a:rPr lang="en-US" sz="2400" dirty="0" smtClean="0"/>
              <a:t>Software abstraction of a computer </a:t>
            </a:r>
            <a:endParaRPr lang="en-US" sz="2400" dirty="0" smtClean="0"/>
          </a:p>
          <a:p>
            <a:pPr lvl="1" eaLnBrk="1" hangingPunct="1">
              <a:lnSpc>
                <a:spcPct val="90000"/>
              </a:lnSpc>
              <a:defRPr/>
            </a:pPr>
            <a:r>
              <a:rPr lang="en-US" sz="2400" dirty="0" smtClean="0"/>
              <a:t>Often executes on top of native operating system</a:t>
            </a:r>
            <a:endParaRPr lang="en-US" sz="2400" dirty="0" smtClean="0"/>
          </a:p>
          <a:p>
            <a:pPr eaLnBrk="1" hangingPunct="1">
              <a:lnSpc>
                <a:spcPct val="90000"/>
              </a:lnSpc>
              <a:defRPr/>
            </a:pPr>
            <a:r>
              <a:rPr lang="en-US" sz="2800" dirty="0" smtClean="0"/>
              <a:t>Virtual machine operating system</a:t>
            </a:r>
            <a:endParaRPr lang="en-US" sz="2800" dirty="0" smtClean="0"/>
          </a:p>
          <a:p>
            <a:pPr lvl="1" eaLnBrk="1" hangingPunct="1">
              <a:lnSpc>
                <a:spcPct val="90000"/>
              </a:lnSpc>
              <a:defRPr/>
            </a:pPr>
            <a:r>
              <a:rPr lang="en-US" sz="2400" dirty="0" smtClean="0"/>
              <a:t>Manages resources provided by virtual machine</a:t>
            </a:r>
            <a:endParaRPr lang="en-US" sz="2400" dirty="0" smtClean="0"/>
          </a:p>
          <a:p>
            <a:pPr eaLnBrk="1" hangingPunct="1">
              <a:lnSpc>
                <a:spcPct val="90000"/>
              </a:lnSpc>
              <a:defRPr/>
            </a:pPr>
            <a:r>
              <a:rPr lang="en-US" sz="2800" dirty="0" smtClean="0"/>
              <a:t>Applications of virtual machines</a:t>
            </a:r>
            <a:endParaRPr lang="en-US" sz="2800" dirty="0" smtClean="0"/>
          </a:p>
          <a:p>
            <a:pPr lvl="1" eaLnBrk="1" hangingPunct="1">
              <a:lnSpc>
                <a:spcPct val="90000"/>
              </a:lnSpc>
              <a:defRPr/>
            </a:pPr>
            <a:r>
              <a:rPr lang="en-US" sz="2400" dirty="0" smtClean="0"/>
              <a:t>Allow multiple instances of an operating system to execute concurrently</a:t>
            </a:r>
            <a:endParaRPr lang="en-US" sz="2400" dirty="0" smtClean="0"/>
          </a:p>
          <a:p>
            <a:pPr lvl="1" eaLnBrk="1" hangingPunct="1">
              <a:lnSpc>
                <a:spcPct val="90000"/>
              </a:lnSpc>
              <a:defRPr/>
            </a:pPr>
            <a:r>
              <a:rPr lang="en-US" sz="2400" dirty="0" smtClean="0"/>
              <a:t>Emulation</a:t>
            </a:r>
            <a:endParaRPr lang="en-US" sz="2400" dirty="0" smtClean="0"/>
          </a:p>
          <a:p>
            <a:pPr lvl="2" eaLnBrk="1" hangingPunct="1">
              <a:lnSpc>
                <a:spcPct val="90000"/>
              </a:lnSpc>
              <a:defRPr/>
            </a:pPr>
            <a:r>
              <a:rPr lang="en-US" sz="2000" dirty="0" smtClean="0"/>
              <a:t>Software or hardware mimics functionality of hardware or software not present in system</a:t>
            </a:r>
            <a:endParaRPr lang="en-US" sz="2000" dirty="0" smtClean="0"/>
          </a:p>
          <a:p>
            <a:pPr lvl="1" eaLnBrk="1" hangingPunct="1">
              <a:lnSpc>
                <a:spcPct val="90000"/>
              </a:lnSpc>
              <a:defRPr/>
            </a:pPr>
            <a:r>
              <a:rPr lang="en-US" sz="2400" dirty="0" smtClean="0"/>
              <a:t>Promote portability</a:t>
            </a:r>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3" descr="Fig 1-2"/>
          <p:cNvPicPr>
            <a:picLocks noChangeAspect="1" noChangeArrowheads="1"/>
          </p:cNvPicPr>
          <p:nvPr/>
        </p:nvPicPr>
        <p:blipFill>
          <a:blip r:embed="rId1" cstate="print"/>
          <a:srcRect/>
          <a:stretch>
            <a:fillRect/>
          </a:stretch>
        </p:blipFill>
        <p:spPr bwMode="auto">
          <a:xfrm>
            <a:off x="1066800" y="1524000"/>
            <a:ext cx="7010400" cy="5003800"/>
          </a:xfrm>
          <a:prstGeom prst="rect">
            <a:avLst/>
          </a:prstGeom>
          <a:noFill/>
          <a:ln w="9525">
            <a:noFill/>
            <a:miter lim="800000"/>
            <a:headEnd/>
            <a:tailEnd/>
          </a:ln>
        </p:spPr>
      </p:pic>
      <p:sp>
        <p:nvSpPr>
          <p:cNvPr id="5123" name="Rectangle 4"/>
          <p:cNvSpPr>
            <a:spLocks noChangeArrowheads="1"/>
          </p:cNvSpPr>
          <p:nvPr/>
        </p:nvSpPr>
        <p:spPr bwMode="auto">
          <a:xfrm>
            <a:off x="304800" y="1219200"/>
            <a:ext cx="8534400" cy="336550"/>
          </a:xfrm>
          <a:prstGeom prst="rect">
            <a:avLst/>
          </a:prstGeom>
          <a:noFill/>
          <a:ln w="9525">
            <a:noFill/>
            <a:miter lim="800000"/>
          </a:ln>
        </p:spPr>
        <p:txBody>
          <a:bodyPr>
            <a:spAutoFit/>
          </a:bodyPr>
          <a:lstStyle/>
          <a:p>
            <a:pPr algn="ctr">
              <a:spcBef>
                <a:spcPct val="50000"/>
              </a:spcBef>
            </a:pPr>
            <a:r>
              <a:rPr lang="en-US" sz="1600" b="1">
                <a:latin typeface="Arial" panose="020B0604020202020204" pitchFamily="34" charset="0"/>
                <a:cs typeface="Times New Roman" panose="02020603050405020304" pitchFamily="18" charset="0"/>
              </a:rPr>
              <a:t>Figure 2</a:t>
            </a:r>
            <a:r>
              <a:rPr lang="en-US" sz="1600">
                <a:latin typeface="Arial" panose="020B0604020202020204" pitchFamily="34" charset="0"/>
                <a:cs typeface="Times New Roman" panose="02020603050405020304" pitchFamily="18" charset="0"/>
              </a:rPr>
              <a:t> Schematic of a virtual machine.</a:t>
            </a:r>
            <a:endParaRPr lang="en-US" sz="1600">
              <a:latin typeface="Arial" panose="020B0604020202020204" pitchFamily="34" charset="0"/>
              <a:cs typeface="Times New Roman" panose="02020603050405020304" pitchFamily="18" charset="0"/>
            </a:endParaRPr>
          </a:p>
        </p:txBody>
      </p:sp>
      <p:sp>
        <p:nvSpPr>
          <p:cNvPr id="29700" name="Rectangle 9"/>
          <p:cNvSpPr>
            <a:spLocks noGrp="1" noChangeArrowheads="1"/>
          </p:cNvSpPr>
          <p:nvPr>
            <p:ph type="title"/>
          </p:nvPr>
        </p:nvSpPr>
        <p:spPr>
          <a:xfrm>
            <a:off x="457200" y="381000"/>
            <a:ext cx="8229600" cy="762000"/>
          </a:xfrm>
        </p:spPr>
        <p:txBody>
          <a:bodyPr/>
          <a:lstStyle/>
          <a:p>
            <a:pPr eaLnBrk="1" hangingPunct="1">
              <a:defRPr/>
            </a:pPr>
            <a:r>
              <a:rPr lang="en-US" dirty="0" smtClean="0"/>
              <a:t>Operating System Environments</a:t>
            </a:r>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defRPr/>
            </a:pPr>
            <a:r>
              <a:rPr lang="en-US" dirty="0" smtClean="0"/>
              <a:t>Operating System Architectures</a:t>
            </a:r>
            <a:endParaRPr lang="en-US" dirty="0" smtClean="0"/>
          </a:p>
        </p:txBody>
      </p:sp>
      <p:sp>
        <p:nvSpPr>
          <p:cNvPr id="34819" name="Rectangle 3"/>
          <p:cNvSpPr>
            <a:spLocks noGrp="1" noChangeArrowheads="1"/>
          </p:cNvSpPr>
          <p:nvPr>
            <p:ph type="body" idx="1"/>
          </p:nvPr>
        </p:nvSpPr>
        <p:spPr/>
        <p:txBody>
          <a:bodyPr/>
          <a:lstStyle/>
          <a:p>
            <a:pPr eaLnBrk="1" hangingPunct="1">
              <a:defRPr/>
            </a:pPr>
            <a:r>
              <a:rPr lang="en-US" dirty="0" smtClean="0"/>
              <a:t>Today’s operating systems tend to be complex</a:t>
            </a:r>
            <a:endParaRPr lang="en-US" dirty="0" smtClean="0"/>
          </a:p>
          <a:p>
            <a:pPr lvl="1" eaLnBrk="1" hangingPunct="1">
              <a:defRPr/>
            </a:pPr>
            <a:r>
              <a:rPr lang="en-US" dirty="0" smtClean="0"/>
              <a:t>Provide many services </a:t>
            </a:r>
            <a:endParaRPr lang="en-US" dirty="0" smtClean="0"/>
          </a:p>
          <a:p>
            <a:pPr lvl="1" eaLnBrk="1" hangingPunct="1">
              <a:defRPr/>
            </a:pPr>
            <a:r>
              <a:rPr lang="en-US" dirty="0" smtClean="0"/>
              <a:t>Support variety of hardware and software</a:t>
            </a:r>
            <a:endParaRPr lang="en-US" dirty="0" smtClean="0"/>
          </a:p>
          <a:p>
            <a:pPr lvl="1" eaLnBrk="1" hangingPunct="1">
              <a:defRPr/>
            </a:pPr>
            <a:r>
              <a:rPr lang="en-US" dirty="0" smtClean="0"/>
              <a:t>Operating system architectures help manage this complexity</a:t>
            </a:r>
            <a:endParaRPr lang="en-US" dirty="0" smtClean="0"/>
          </a:p>
          <a:p>
            <a:pPr lvl="2" eaLnBrk="1" hangingPunct="1">
              <a:defRPr/>
            </a:pPr>
            <a:r>
              <a:rPr lang="en-US" dirty="0" smtClean="0"/>
              <a:t>Organize operating </a:t>
            </a:r>
            <a:r>
              <a:rPr lang="en-US" smtClean="0"/>
              <a:t>system components</a:t>
            </a:r>
            <a:endParaRPr lang="en-US"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KERNAL</a:t>
            </a:r>
            <a:endParaRPr lang="en-US" dirty="0"/>
          </a:p>
        </p:txBody>
      </p:sp>
      <p:sp>
        <p:nvSpPr>
          <p:cNvPr id="3" name="Content Placeholder 2"/>
          <p:cNvSpPr>
            <a:spLocks noGrp="1"/>
          </p:cNvSpPr>
          <p:nvPr>
            <p:ph idx="1"/>
          </p:nvPr>
        </p:nvSpPr>
        <p:spPr>
          <a:xfrm>
            <a:off x="457200" y="1600200"/>
            <a:ext cx="8229600" cy="4114800"/>
          </a:xfrm>
        </p:spPr>
        <p:txBody>
          <a:bodyPr/>
          <a:lstStyle/>
          <a:p>
            <a:pPr>
              <a:defRPr/>
            </a:pPr>
            <a:r>
              <a:rPr lang="en-US" sz="2800" dirty="0" smtClean="0"/>
              <a:t>Kernel is the core part of an operating system; it manages the system resources. Kernel is like a bridge between application and hardware of the computer. The Kernel can be classified further into two categories, Microkernel and Monolithic Kernel. Microkernel is the one in which user services and kernel services are kept in separate address space. However, in Monolithic kernel user services and kernel services both are kept in the same address space</a:t>
            </a:r>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defRPr/>
            </a:pPr>
            <a:r>
              <a:rPr lang="en-US" dirty="0" smtClean="0"/>
              <a:t>Monolithic Architecture</a:t>
            </a:r>
            <a:endParaRPr lang="en-US" dirty="0" smtClean="0"/>
          </a:p>
        </p:txBody>
      </p:sp>
      <p:sp>
        <p:nvSpPr>
          <p:cNvPr id="35843" name="Rectangle 3"/>
          <p:cNvSpPr>
            <a:spLocks noGrp="1" noChangeArrowheads="1"/>
          </p:cNvSpPr>
          <p:nvPr>
            <p:ph type="body" idx="1"/>
          </p:nvPr>
        </p:nvSpPr>
        <p:spPr/>
        <p:txBody>
          <a:bodyPr/>
          <a:lstStyle/>
          <a:p>
            <a:pPr eaLnBrk="1" hangingPunct="1">
              <a:defRPr/>
            </a:pPr>
            <a:r>
              <a:rPr lang="en-US" dirty="0" smtClean="0"/>
              <a:t>Monolithic operating system</a:t>
            </a:r>
            <a:endParaRPr lang="en-US" dirty="0" smtClean="0"/>
          </a:p>
          <a:p>
            <a:pPr lvl="1" eaLnBrk="1" hangingPunct="1">
              <a:defRPr/>
            </a:pPr>
            <a:r>
              <a:rPr lang="en-US" dirty="0" smtClean="0"/>
              <a:t>Every component contained in kernel</a:t>
            </a:r>
            <a:endParaRPr lang="en-US" dirty="0" smtClean="0"/>
          </a:p>
          <a:p>
            <a:pPr lvl="2" eaLnBrk="1" hangingPunct="1">
              <a:defRPr/>
            </a:pPr>
            <a:r>
              <a:rPr lang="en-US" dirty="0" smtClean="0"/>
              <a:t>Any component can directly communicate with any other</a:t>
            </a:r>
            <a:endParaRPr lang="en-US" dirty="0" smtClean="0"/>
          </a:p>
          <a:p>
            <a:pPr lvl="1" eaLnBrk="1" hangingPunct="1">
              <a:defRPr/>
            </a:pPr>
            <a:r>
              <a:rPr lang="en-US" dirty="0" smtClean="0"/>
              <a:t>Tend to be highly efficient</a:t>
            </a: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defRPr/>
            </a:pPr>
            <a:r>
              <a:rPr lang="en-US" sz="2000" dirty="0">
                <a:effectLst/>
              </a:rPr>
              <a:t>The entire O.S. is placed inside the kernel</a:t>
            </a:r>
            <a:endParaRPr lang="en-US" sz="2000" dirty="0">
              <a:effectLst/>
            </a:endParaRPr>
          </a:p>
          <a:p>
            <a:pPr>
              <a:defRPr/>
            </a:pPr>
            <a:r>
              <a:rPr lang="en-US" sz="2000" dirty="0">
                <a:effectLst/>
              </a:rPr>
              <a:t>It runs as a single large process</a:t>
            </a:r>
            <a:endParaRPr lang="en-US" sz="2000" dirty="0">
              <a:effectLst/>
            </a:endParaRPr>
          </a:p>
          <a:p>
            <a:pPr>
              <a:defRPr/>
            </a:pPr>
            <a:r>
              <a:rPr lang="en-US" sz="2000" dirty="0">
                <a:effectLst/>
              </a:rPr>
              <a:t>As all the services are placed inside the kernel, they have a single address space</a:t>
            </a:r>
            <a:endParaRPr lang="en-US" sz="2000" dirty="0">
              <a:effectLst/>
            </a:endParaRPr>
          </a:p>
          <a:p>
            <a:pPr>
              <a:defRPr/>
            </a:pPr>
            <a:r>
              <a:rPr lang="en-US" sz="2000" dirty="0">
                <a:effectLst/>
              </a:rPr>
              <a:t>It is bigger in size</a:t>
            </a:r>
            <a:endParaRPr lang="en-US" sz="2000" dirty="0">
              <a:effectLst/>
            </a:endParaRPr>
          </a:p>
          <a:p>
            <a:pPr>
              <a:defRPr/>
            </a:pPr>
            <a:r>
              <a:rPr lang="en-US" sz="2000" dirty="0">
                <a:effectLst/>
              </a:rPr>
              <a:t>It is easy to implement/code</a:t>
            </a:r>
            <a:endParaRPr lang="en-US" sz="2000" dirty="0">
              <a:effectLst/>
            </a:endParaRPr>
          </a:p>
          <a:p>
            <a:pPr>
              <a:defRPr/>
            </a:pPr>
            <a:r>
              <a:rPr lang="en-US" sz="2000" dirty="0">
                <a:effectLst/>
              </a:rPr>
              <a:t>Performance is high (As kernel can invoke any function directly as everything is placed in the kernel)</a:t>
            </a:r>
            <a:endParaRPr lang="en-US" sz="2000" dirty="0">
              <a:effectLst/>
            </a:endParaRPr>
          </a:p>
          <a:p>
            <a:pPr>
              <a:defRPr/>
            </a:pPr>
            <a:r>
              <a:rPr lang="en-US" sz="2000" dirty="0">
                <a:effectLst/>
              </a:rPr>
              <a:t>Less Secure (If one service fails, entire system crashes)</a:t>
            </a:r>
            <a:endParaRPr lang="en-US" sz="2000" dirty="0">
              <a:effectLst/>
            </a:endParaRPr>
          </a:p>
          <a:p>
            <a:pPr>
              <a:defRP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3" descr="Fig 1-3"/>
          <p:cNvPicPr>
            <a:picLocks noChangeAspect="1" noChangeArrowheads="1"/>
          </p:cNvPicPr>
          <p:nvPr/>
        </p:nvPicPr>
        <p:blipFill>
          <a:blip r:embed="rId1" cstate="print"/>
          <a:srcRect/>
          <a:stretch>
            <a:fillRect/>
          </a:stretch>
        </p:blipFill>
        <p:spPr bwMode="auto">
          <a:xfrm>
            <a:off x="381000" y="1981200"/>
            <a:ext cx="8458200" cy="4119563"/>
          </a:xfrm>
          <a:prstGeom prst="rect">
            <a:avLst/>
          </a:prstGeom>
          <a:noFill/>
          <a:ln w="9525">
            <a:noFill/>
            <a:miter lim="800000"/>
            <a:headEnd/>
            <a:tailEnd/>
          </a:ln>
        </p:spPr>
      </p:pic>
      <p:sp>
        <p:nvSpPr>
          <p:cNvPr id="10243" name="Rectangle 4"/>
          <p:cNvSpPr>
            <a:spLocks noChangeArrowheads="1"/>
          </p:cNvSpPr>
          <p:nvPr/>
        </p:nvSpPr>
        <p:spPr bwMode="auto">
          <a:xfrm>
            <a:off x="304800" y="1219200"/>
            <a:ext cx="8534400" cy="336550"/>
          </a:xfrm>
          <a:prstGeom prst="rect">
            <a:avLst/>
          </a:prstGeom>
          <a:noFill/>
          <a:ln w="9525">
            <a:noFill/>
            <a:miter lim="800000"/>
          </a:ln>
        </p:spPr>
        <p:txBody>
          <a:bodyPr>
            <a:spAutoFit/>
          </a:bodyPr>
          <a:lstStyle/>
          <a:p>
            <a:pPr algn="ctr">
              <a:spcBef>
                <a:spcPct val="50000"/>
              </a:spcBef>
            </a:pPr>
            <a:r>
              <a:rPr lang="en-US" sz="1600" b="1">
                <a:latin typeface="Arial" panose="020B0604020202020204" pitchFamily="34" charset="0"/>
                <a:cs typeface="Times New Roman" panose="02020603050405020304" pitchFamily="18" charset="0"/>
              </a:rPr>
              <a:t>Figure 3 </a:t>
            </a:r>
            <a:r>
              <a:rPr lang="en-US" sz="1600">
                <a:latin typeface="Arial" panose="020B0604020202020204" pitchFamily="34" charset="0"/>
                <a:cs typeface="Times New Roman" panose="02020603050405020304" pitchFamily="18" charset="0"/>
              </a:rPr>
              <a:t>Monolithic operating system kernel architecture.</a:t>
            </a:r>
            <a:endParaRPr lang="en-US" sz="1600">
              <a:latin typeface="Arial" panose="020B0604020202020204" pitchFamily="34" charset="0"/>
              <a:cs typeface="Times New Roman" panose="02020603050405020304" pitchFamily="18" charset="0"/>
            </a:endParaRPr>
          </a:p>
        </p:txBody>
      </p:sp>
      <p:sp>
        <p:nvSpPr>
          <p:cNvPr id="36868" name="Rectangle 10"/>
          <p:cNvSpPr>
            <a:spLocks noGrp="1" noChangeArrowheads="1"/>
          </p:cNvSpPr>
          <p:nvPr>
            <p:ph type="title"/>
          </p:nvPr>
        </p:nvSpPr>
        <p:spPr>
          <a:xfrm>
            <a:off x="457200" y="381000"/>
            <a:ext cx="8229600" cy="990600"/>
          </a:xfrm>
        </p:spPr>
        <p:txBody>
          <a:bodyPr/>
          <a:lstStyle/>
          <a:p>
            <a:pPr eaLnBrk="1" hangingPunct="1">
              <a:defRPr/>
            </a:pPr>
            <a:r>
              <a:rPr lang="en-US" dirty="0" smtClean="0"/>
              <a:t>Monolithic Architecture</a:t>
            </a: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defRPr/>
            </a:pPr>
            <a:r>
              <a:rPr lang="en-US" dirty="0"/>
              <a:t>Layered Architecture</a:t>
            </a:r>
            <a:endParaRPr lang="en-US" dirty="0"/>
          </a:p>
        </p:txBody>
      </p:sp>
      <p:sp>
        <p:nvSpPr>
          <p:cNvPr id="37891" name="Rectangle 3"/>
          <p:cNvSpPr>
            <a:spLocks noGrp="1" noChangeArrowheads="1"/>
          </p:cNvSpPr>
          <p:nvPr>
            <p:ph type="body" idx="1"/>
          </p:nvPr>
        </p:nvSpPr>
        <p:spPr>
          <a:xfrm>
            <a:off x="457200" y="1524000"/>
            <a:ext cx="8229600" cy="4114800"/>
          </a:xfrm>
        </p:spPr>
        <p:txBody>
          <a:bodyPr/>
          <a:lstStyle/>
          <a:p>
            <a:pPr eaLnBrk="1" hangingPunct="1">
              <a:defRPr/>
            </a:pPr>
            <a:r>
              <a:rPr lang="en-US" dirty="0"/>
              <a:t>Layered approach to operating systems</a:t>
            </a:r>
            <a:endParaRPr lang="en-US" dirty="0"/>
          </a:p>
          <a:p>
            <a:pPr lvl="1" eaLnBrk="1" hangingPunct="1">
              <a:defRPr/>
            </a:pPr>
            <a:r>
              <a:rPr lang="en-US" dirty="0"/>
              <a:t>Tries to improve on monolithic kernel designs</a:t>
            </a:r>
            <a:endParaRPr lang="en-US" dirty="0"/>
          </a:p>
          <a:p>
            <a:pPr lvl="2" eaLnBrk="1" hangingPunct="1">
              <a:defRPr/>
            </a:pPr>
            <a:r>
              <a:rPr lang="en-US" dirty="0"/>
              <a:t>Groups components that perform similar functions into layers</a:t>
            </a:r>
            <a:endParaRPr lang="en-US" dirty="0"/>
          </a:p>
          <a:p>
            <a:pPr lvl="1" eaLnBrk="1" hangingPunct="1">
              <a:defRPr/>
            </a:pPr>
            <a:r>
              <a:rPr lang="en-US" sz="2400" dirty="0"/>
              <a:t>Each layer communicates only with layers immediately above and below it</a:t>
            </a:r>
            <a:endParaRPr lang="en-US" sz="2400" dirty="0"/>
          </a:p>
          <a:p>
            <a:pPr lvl="1" eaLnBrk="1" hangingPunct="1">
              <a:defRPr/>
            </a:pPr>
            <a:r>
              <a:rPr lang="en-US" sz="2400" dirty="0"/>
              <a:t>Processes’ requests might pass through many layers before completion</a:t>
            </a:r>
            <a:endParaRPr lang="en-US" sz="2400" dirty="0"/>
          </a:p>
          <a:p>
            <a:pPr lvl="1" eaLnBrk="1" hangingPunct="1">
              <a:defRPr/>
            </a:pPr>
            <a:r>
              <a:rPr lang="en-US" dirty="0"/>
              <a:t>System throughput can be less than monolithic kernels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descr="Fig 1-4"/>
          <p:cNvPicPr>
            <a:picLocks noChangeAspect="1" noChangeArrowheads="1"/>
          </p:cNvPicPr>
          <p:nvPr/>
        </p:nvPicPr>
        <p:blipFill>
          <a:blip r:embed="rId1" cstate="print"/>
          <a:srcRect/>
          <a:stretch>
            <a:fillRect/>
          </a:stretch>
        </p:blipFill>
        <p:spPr bwMode="auto">
          <a:xfrm>
            <a:off x="381000" y="1905000"/>
            <a:ext cx="8410575" cy="4456113"/>
          </a:xfrm>
          <a:prstGeom prst="rect">
            <a:avLst/>
          </a:prstGeom>
          <a:noFill/>
          <a:ln w="9525">
            <a:noFill/>
            <a:miter lim="800000"/>
            <a:headEnd/>
            <a:tailEnd/>
          </a:ln>
        </p:spPr>
      </p:pic>
      <p:sp>
        <p:nvSpPr>
          <p:cNvPr id="14339" name="Rectangle 4"/>
          <p:cNvSpPr>
            <a:spLocks noChangeArrowheads="1"/>
          </p:cNvSpPr>
          <p:nvPr/>
        </p:nvSpPr>
        <p:spPr bwMode="auto">
          <a:xfrm>
            <a:off x="304800" y="1219200"/>
            <a:ext cx="8534400" cy="336550"/>
          </a:xfrm>
          <a:prstGeom prst="rect">
            <a:avLst/>
          </a:prstGeom>
          <a:noFill/>
          <a:ln w="9525">
            <a:noFill/>
            <a:miter lim="800000"/>
          </a:ln>
        </p:spPr>
        <p:txBody>
          <a:bodyPr>
            <a:spAutoFit/>
          </a:bodyPr>
          <a:lstStyle/>
          <a:p>
            <a:pPr algn="ctr">
              <a:spcBef>
                <a:spcPct val="50000"/>
              </a:spcBef>
            </a:pPr>
            <a:r>
              <a:rPr lang="en-US" sz="1600" b="1">
                <a:latin typeface="Arial" panose="020B0604020202020204" pitchFamily="34" charset="0"/>
                <a:cs typeface="Times New Roman" panose="02020603050405020304" pitchFamily="18" charset="0"/>
              </a:rPr>
              <a:t>Figure 4</a:t>
            </a:r>
            <a:r>
              <a:rPr lang="en-US" sz="1600">
                <a:latin typeface="Arial" panose="020B0604020202020204" pitchFamily="34" charset="0"/>
                <a:cs typeface="Times New Roman" panose="02020603050405020304" pitchFamily="18" charset="0"/>
              </a:rPr>
              <a:t> Layers of the operating system.</a:t>
            </a:r>
            <a:endParaRPr lang="en-US" sz="1600">
              <a:latin typeface="Arial" panose="020B0604020202020204" pitchFamily="34" charset="0"/>
              <a:cs typeface="Times New Roman" panose="02020603050405020304" pitchFamily="18" charset="0"/>
            </a:endParaRPr>
          </a:p>
        </p:txBody>
      </p:sp>
      <p:sp>
        <p:nvSpPr>
          <p:cNvPr id="38916" name="Rectangle 8"/>
          <p:cNvSpPr>
            <a:spLocks noGrp="1" noChangeArrowheads="1"/>
          </p:cNvSpPr>
          <p:nvPr>
            <p:ph type="title"/>
          </p:nvPr>
        </p:nvSpPr>
        <p:spPr>
          <a:xfrm>
            <a:off x="457200" y="381000"/>
            <a:ext cx="8229600" cy="914400"/>
          </a:xfrm>
        </p:spPr>
        <p:txBody>
          <a:bodyPr/>
          <a:lstStyle/>
          <a:p>
            <a:pPr eaLnBrk="1" hangingPunct="1">
              <a:defRPr/>
            </a:pPr>
            <a:r>
              <a:rPr lang="en-US" dirty="0"/>
              <a:t>Layered Architecture</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defRPr/>
            </a:pPr>
            <a:r>
              <a:rPr lang="en-US" dirty="0" smtClean="0"/>
              <a:t>Microkernel Architecture</a:t>
            </a:r>
            <a:endParaRPr lang="en-US" dirty="0" smtClean="0"/>
          </a:p>
        </p:txBody>
      </p:sp>
      <p:sp>
        <p:nvSpPr>
          <p:cNvPr id="39939" name="Rectangle 3"/>
          <p:cNvSpPr>
            <a:spLocks noGrp="1" noChangeArrowheads="1"/>
          </p:cNvSpPr>
          <p:nvPr>
            <p:ph type="body" idx="1"/>
          </p:nvPr>
        </p:nvSpPr>
        <p:spPr>
          <a:xfrm>
            <a:off x="457200" y="1600200"/>
            <a:ext cx="8229600" cy="4495800"/>
          </a:xfrm>
        </p:spPr>
        <p:txBody>
          <a:bodyPr/>
          <a:lstStyle/>
          <a:p>
            <a:pPr eaLnBrk="1" hangingPunct="1">
              <a:defRPr/>
            </a:pPr>
            <a:r>
              <a:rPr lang="en-US" dirty="0" smtClean="0"/>
              <a:t>Microkernel operating system architecture</a:t>
            </a:r>
            <a:endParaRPr lang="en-US" dirty="0" smtClean="0"/>
          </a:p>
          <a:p>
            <a:pPr lvl="1" eaLnBrk="1" hangingPunct="1">
              <a:defRPr/>
            </a:pPr>
            <a:r>
              <a:rPr lang="en-US" dirty="0" smtClean="0"/>
              <a:t>Provides only small number of services</a:t>
            </a:r>
            <a:endParaRPr lang="en-US" dirty="0" smtClean="0"/>
          </a:p>
          <a:p>
            <a:pPr lvl="2" eaLnBrk="1" hangingPunct="1">
              <a:defRPr/>
            </a:pPr>
            <a:r>
              <a:rPr lang="en-US" dirty="0" smtClean="0"/>
              <a:t>Attempt to keep kernel small and scalable</a:t>
            </a: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867400"/>
          </a:xfrm>
        </p:spPr>
        <p:txBody>
          <a:bodyPr/>
          <a:lstStyle/>
          <a:p>
            <a:pPr>
              <a:defRPr/>
            </a:pPr>
            <a:r>
              <a:rPr lang="en-US" sz="2000" dirty="0">
                <a:effectLst/>
              </a:rPr>
              <a:t>Only bare minimum code is placed inside the kernel (only basic memory management and Inter Process Communication code)</a:t>
            </a:r>
            <a:endParaRPr lang="en-US" sz="2000" dirty="0">
              <a:effectLst/>
            </a:endParaRPr>
          </a:p>
          <a:p>
            <a:pPr>
              <a:defRPr/>
            </a:pPr>
            <a:r>
              <a:rPr lang="en-US" sz="2000" dirty="0">
                <a:effectLst/>
              </a:rPr>
              <a:t>Here the kernel is broken down into processes called as servers</a:t>
            </a:r>
            <a:endParaRPr lang="en-US" sz="2000" dirty="0">
              <a:effectLst/>
            </a:endParaRPr>
          </a:p>
          <a:p>
            <a:pPr>
              <a:defRPr/>
            </a:pPr>
            <a:r>
              <a:rPr lang="en-US" sz="2000" dirty="0">
                <a:effectLst/>
              </a:rPr>
              <a:t>As services(Servers provide services) are separated they have different address spaces</a:t>
            </a:r>
            <a:endParaRPr lang="en-US" sz="2000" dirty="0">
              <a:effectLst/>
            </a:endParaRPr>
          </a:p>
          <a:p>
            <a:pPr>
              <a:defRPr/>
            </a:pPr>
            <a:r>
              <a:rPr lang="en-US" sz="2000" dirty="0">
                <a:effectLst/>
              </a:rPr>
              <a:t>It is smaller in size</a:t>
            </a:r>
            <a:endParaRPr lang="en-US" sz="2000" dirty="0">
              <a:effectLst/>
            </a:endParaRPr>
          </a:p>
          <a:p>
            <a:pPr>
              <a:defRPr/>
            </a:pPr>
            <a:r>
              <a:rPr lang="en-US" sz="2000" dirty="0">
                <a:effectLst/>
              </a:rPr>
              <a:t>It is tough to implement/code</a:t>
            </a:r>
            <a:endParaRPr lang="en-US" sz="2000" dirty="0">
              <a:effectLst/>
            </a:endParaRPr>
          </a:p>
          <a:p>
            <a:pPr>
              <a:defRPr/>
            </a:pPr>
            <a:r>
              <a:rPr lang="en-US" sz="2000" dirty="0">
                <a:effectLst/>
              </a:rPr>
              <a:t>Performance is low (As servers are separated, so to invoke services from other servers IPC(Inter Process Communication) is needed which requires kernel's permission and thus increases access time and lowers the performance)</a:t>
            </a:r>
            <a:endParaRPr lang="en-US" sz="2000" dirty="0">
              <a:effectLst/>
            </a:endParaRPr>
          </a:p>
          <a:p>
            <a:pPr>
              <a:defRPr/>
            </a:pPr>
            <a:r>
              <a:rPr lang="en-US" sz="2000" dirty="0">
                <a:effectLst/>
              </a:rPr>
              <a:t>More Secure (Even if one service crashes, others can function properly because of separation)</a:t>
            </a:r>
            <a:endParaRPr lang="en-US" sz="2000" dirty="0">
              <a:effectLst/>
            </a:endParaRPr>
          </a:p>
          <a:p>
            <a:pP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descr="Fig 1-5"/>
          <p:cNvPicPr>
            <a:picLocks noChangeAspect="1" noChangeArrowheads="1"/>
          </p:cNvPicPr>
          <p:nvPr/>
        </p:nvPicPr>
        <p:blipFill>
          <a:blip r:embed="rId1" cstate="print"/>
          <a:srcRect/>
          <a:stretch>
            <a:fillRect/>
          </a:stretch>
        </p:blipFill>
        <p:spPr bwMode="auto">
          <a:xfrm>
            <a:off x="1143000" y="1600200"/>
            <a:ext cx="7010400" cy="4852988"/>
          </a:xfrm>
          <a:prstGeom prst="rect">
            <a:avLst/>
          </a:prstGeom>
          <a:noFill/>
          <a:ln w="9525">
            <a:noFill/>
            <a:miter lim="800000"/>
            <a:headEnd/>
            <a:tailEnd/>
          </a:ln>
        </p:spPr>
      </p:pic>
      <p:sp>
        <p:nvSpPr>
          <p:cNvPr id="13315" name="Rectangle 4"/>
          <p:cNvSpPr>
            <a:spLocks noChangeArrowheads="1"/>
          </p:cNvSpPr>
          <p:nvPr/>
        </p:nvSpPr>
        <p:spPr bwMode="auto">
          <a:xfrm>
            <a:off x="304800" y="1219200"/>
            <a:ext cx="8534400" cy="336550"/>
          </a:xfrm>
          <a:prstGeom prst="rect">
            <a:avLst/>
          </a:prstGeom>
          <a:noFill/>
          <a:ln w="9525">
            <a:noFill/>
            <a:miter lim="800000"/>
          </a:ln>
        </p:spPr>
        <p:txBody>
          <a:bodyPr>
            <a:spAutoFit/>
          </a:bodyPr>
          <a:lstStyle/>
          <a:p>
            <a:pPr algn="ctr">
              <a:spcBef>
                <a:spcPct val="50000"/>
              </a:spcBef>
            </a:pPr>
            <a:r>
              <a:rPr lang="en-US" sz="1600" b="1">
                <a:latin typeface="Arial" panose="020B0604020202020204" pitchFamily="34" charset="0"/>
                <a:cs typeface="Times New Roman" panose="02020603050405020304" pitchFamily="18" charset="0"/>
              </a:rPr>
              <a:t>Figure 5</a:t>
            </a:r>
            <a:r>
              <a:rPr lang="en-US" sz="1600">
                <a:latin typeface="Arial" panose="020B0604020202020204" pitchFamily="34" charset="0"/>
                <a:cs typeface="Times New Roman" panose="02020603050405020304" pitchFamily="18" charset="0"/>
              </a:rPr>
              <a:t> Microkernel operating system architecture.</a:t>
            </a:r>
            <a:endParaRPr lang="en-US" sz="1600">
              <a:latin typeface="Arial" panose="020B0604020202020204" pitchFamily="34" charset="0"/>
              <a:cs typeface="Times New Roman" panose="02020603050405020304" pitchFamily="18" charset="0"/>
            </a:endParaRPr>
          </a:p>
        </p:txBody>
      </p:sp>
      <p:sp>
        <p:nvSpPr>
          <p:cNvPr id="40964" name="Rectangle 8"/>
          <p:cNvSpPr>
            <a:spLocks noGrp="1" noChangeArrowheads="1"/>
          </p:cNvSpPr>
          <p:nvPr>
            <p:ph type="title"/>
          </p:nvPr>
        </p:nvSpPr>
        <p:spPr>
          <a:xfrm>
            <a:off x="457200" y="381000"/>
            <a:ext cx="8229600" cy="762000"/>
          </a:xfrm>
        </p:spPr>
        <p:txBody>
          <a:bodyPr/>
          <a:lstStyle/>
          <a:p>
            <a:pPr eaLnBrk="1" hangingPunct="1">
              <a:defRPr/>
            </a:pPr>
            <a:r>
              <a:rPr lang="en-US" dirty="0" smtClean="0"/>
              <a:t>Microkernel Architecture</a:t>
            </a:r>
            <a:endParaRPr 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1" cstate="print"/>
          <a:srcRect/>
          <a:stretch>
            <a:fillRect/>
          </a:stretch>
        </p:blipFill>
        <p:spPr>
          <a:xfrm>
            <a:off x="1828800" y="609600"/>
            <a:ext cx="5280025" cy="5410200"/>
          </a:xfrm>
          <a:noFill/>
        </p:spPr>
      </p:pic>
      <p:pic>
        <p:nvPicPr>
          <p:cNvPr id="14339" name="Picture 4"/>
          <p:cNvPicPr>
            <a:picLocks noChangeAspect="1" noChangeArrowheads="1"/>
          </p:cNvPicPr>
          <p:nvPr/>
        </p:nvPicPr>
        <p:blipFill>
          <a:blip r:embed="rId2" cstate="print"/>
          <a:srcRect/>
          <a:stretch>
            <a:fillRect/>
          </a:stretch>
        </p:blipFill>
        <p:spPr bwMode="auto">
          <a:xfrm>
            <a:off x="1295400" y="6019800"/>
            <a:ext cx="6343650" cy="638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3"/>
          <p:cNvPicPr>
            <a:picLocks noGrp="1" noChangeAspect="1" noChangeArrowheads="1"/>
          </p:cNvPicPr>
          <p:nvPr>
            <p:ph idx="1"/>
          </p:nvPr>
        </p:nvPicPr>
        <p:blipFill>
          <a:blip r:embed="rId1" cstate="print"/>
          <a:srcRect/>
          <a:stretch>
            <a:fillRect/>
          </a:stretch>
        </p:blipFill>
        <p:spPr>
          <a:xfrm>
            <a:off x="228600" y="338138"/>
            <a:ext cx="8732838" cy="6215062"/>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BAA3008CE47742AAFAA8659B8CA2F6" ma:contentTypeVersion="3" ma:contentTypeDescription="Create a new document." ma:contentTypeScope="" ma:versionID="00ce1c7fa73b5e6b021b55dbb64e0998">
  <xsd:schema xmlns:xsd="http://www.w3.org/2001/XMLSchema" xmlns:xs="http://www.w3.org/2001/XMLSchema" xmlns:p="http://schemas.microsoft.com/office/2006/metadata/properties" xmlns:ns2="3437065b-3fcc-43d9-aebd-c5556defd9c6" targetNamespace="http://schemas.microsoft.com/office/2006/metadata/properties" ma:root="true" ma:fieldsID="51550712aaac9a6cff15b5cc7a839892" ns2:_="">
    <xsd:import namespace="3437065b-3fcc-43d9-aebd-c5556defd9c6"/>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37065b-3fcc-43d9-aebd-c5556defd9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783577-01D0-485E-829D-374136A4836F}">
  <ds:schemaRefs/>
</ds:datastoreItem>
</file>

<file path=customXml/itemProps2.xml><?xml version="1.0" encoding="utf-8"?>
<ds:datastoreItem xmlns:ds="http://schemas.openxmlformats.org/officeDocument/2006/customXml" ds:itemID="{6B5547E3-9387-4769-9927-CBB3AD5B818A}">
  <ds:schemaRefs/>
</ds:datastoreItem>
</file>

<file path=customXml/itemProps3.xml><?xml version="1.0" encoding="utf-8"?>
<ds:datastoreItem xmlns:ds="http://schemas.openxmlformats.org/officeDocument/2006/customXml" ds:itemID="{48727035-6FCD-4B6E-998C-3225D060B186}">
  <ds:schemaRefs/>
</ds:datastoreItem>
</file>

<file path=docProps/app.xml><?xml version="1.0" encoding="utf-8"?>
<Properties xmlns="http://schemas.openxmlformats.org/officeDocument/2006/extended-properties" xmlns:vt="http://schemas.openxmlformats.org/officeDocument/2006/docPropsVTypes">
  <Template>Textured</Template>
  <TotalTime>0</TotalTime>
  <Words>3080</Words>
  <Application>WPS Presentation</Application>
  <PresentationFormat>On-screen Show (4:3)</PresentationFormat>
  <Paragraphs>83</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Tahoma</vt:lpstr>
      <vt:lpstr>Times New Roman</vt:lpstr>
      <vt:lpstr>Microsoft YaHei</vt:lpstr>
      <vt:lpstr>Arial Unicode MS</vt:lpstr>
      <vt:lpstr>Textured</vt:lpstr>
      <vt:lpstr>Operating Systems</vt:lpstr>
      <vt:lpstr>Operating System Environments</vt:lpstr>
      <vt:lpstr>Operating System Environments</vt:lpstr>
      <vt:lpstr>Operating System Architectures</vt:lpstr>
      <vt:lpstr>KERNAL</vt:lpstr>
      <vt:lpstr>Monolithic Architecture</vt:lpstr>
      <vt:lpstr>PowerPoint 演示文稿</vt:lpstr>
      <vt:lpstr>Monolithic Architecture</vt:lpstr>
      <vt:lpstr>Layered Architecture</vt:lpstr>
      <vt:lpstr>Layered Architecture</vt:lpstr>
      <vt:lpstr>Microkernel Architecture</vt:lpstr>
      <vt:lpstr>PowerPoint 演示文稿</vt:lpstr>
      <vt:lpstr>Microkernel Architecture</vt:lpstr>
      <vt:lpstr>PowerPoint 演示文稿</vt:lpstr>
      <vt:lpstr>PowerPoint 演示文稿</vt:lpstr>
    </vt:vector>
  </TitlesOfParts>
  <Company>AUP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IBMS</dc:creator>
  <cp:lastModifiedBy>Dazy Nam</cp:lastModifiedBy>
  <cp:revision>85</cp:revision>
  <dcterms:created xsi:type="dcterms:W3CDTF">2013-09-08T22:07:00Z</dcterms:created>
  <dcterms:modified xsi:type="dcterms:W3CDTF">2026-09-19T11:41:40Z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0x01010053BAA3008CE47742AAFAA8659B8CA2F6</vt:lpwstr>
  </property>
  <property fmtid="{D5CDD505-2E9C-101B-9397-08002B2CF9AE}" pid="3" name="ICV">
    <vt:lpwstr>360F20636BC640A88562A91462DAEAB9_13</vt:lpwstr>
  </property>
  <property fmtid="{D5CDD505-2E9C-101B-9397-08002B2CF9AE}" pid="4" name="KSOProductBuildVer">
    <vt:lpwstr>1033-12.1.0.28485</vt:lpwstr>
  </property>
</Properties>
</file>