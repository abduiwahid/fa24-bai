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80" r:id="rId5"/>
    <p:sldId id="281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2" r:id="rId23"/>
    <p:sldId id="283" r:id="rId24"/>
    <p:sldId id="284" r:id="rId25"/>
    <p:sldId id="285" r:id="rId26"/>
    <p:sldId id="286" r:id="rId27"/>
    <p:sldId id="277" r:id="rId28"/>
    <p:sldId id="278" r:id="rId29"/>
    <p:sldId id="279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995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71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05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8890">
            <a:solidFill>
              <a:srgbClr val="D8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731520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dirty="0">
                <a:solidFill>
                  <a:srgbClr val="9AA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71500"/>
            <a:ext cx="996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0B2031"/>
                </a:solidFill>
              </a:rPr>
              <a:t>LECTURE 02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Fundamentals of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Algorithmic Problem Solving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3DC"/>
                </a:solidFill>
              </a:rPr>
              <a:t>How to understand, design, implement, and refine a computational solution systematically.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0" y="502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53A55"/>
                </a:solidFill>
              </a:rPr>
              <a:t>02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636422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295A2"/>
                </a:solidFill>
              </a:rPr>
              <a:t>CSC301 • Design and Analysis of Algorithms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7498080" y="63642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8295A2"/>
                </a:solidFill>
              </a:rPr>
              <a:t>COMSATS University Islamabad • Fall 2026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9B7A6"/>
                </a:solidFill>
              </a:rPr>
              <a:t>The focus today is not faster code. It is better thinking before code.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LEARNING OUTCOMES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What should you be able to do by the end?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Lecture 2 follows the CSC301 CDF: STAIR, problem specification, constraints, resources, and solution selection.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E7F7F4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1148" cy="141732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2821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STAIR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307238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18313F"/>
                </a:solidFill>
              </a:rPr>
              <a:t>apply a systematic problem-solving framework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600200"/>
            <a:ext cx="41148" cy="141732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72821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SPECIFY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07992" y="2039112"/>
            <a:ext cx="307238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18313F"/>
                </a:solidFill>
              </a:rPr>
              <a:t>state input, output, constraints, and assumptions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600200"/>
            <a:ext cx="41148" cy="141732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72821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UNDERSTAND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211312" y="2039112"/>
            <a:ext cx="307238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18313F"/>
                </a:solidFill>
              </a:rPr>
              <a:t>use examples and edge cases to clarify the task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F1EAFB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474720"/>
            <a:ext cx="41148" cy="1417320"/>
          </a:xfrm>
          <a:prstGeom prst="rect">
            <a:avLst/>
          </a:prstGeom>
          <a:solidFill>
            <a:srgbClr val="8F5BD7"/>
          </a:solidFill>
          <a:ln w="12700">
            <a:solidFill>
              <a:srgbClr val="8F5B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0273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ANALYZE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04672" y="3913632"/>
            <a:ext cx="307238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18313F"/>
                </a:solidFill>
              </a:rPr>
              <a:t>recognize factors that influence algorithm choice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343400" y="347472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E9F7EF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474720"/>
            <a:ext cx="41148" cy="1417320"/>
          </a:xfrm>
          <a:prstGeom prst="rect">
            <a:avLst/>
          </a:prstGeom>
          <a:solidFill>
            <a:srgbClr val="2EA56F"/>
          </a:solidFill>
          <a:ln w="12700">
            <a:solidFill>
              <a:srgbClr val="2EA5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60273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RESOURCES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507992" y="3913632"/>
            <a:ext cx="307238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18313F"/>
                </a:solidFill>
              </a:rPr>
              <a:t>consider time, memory, hardware, and query frequency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8046720" y="347472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FCEAEA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474720"/>
            <a:ext cx="41148" cy="1417320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360273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COMPARE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11312" y="3913632"/>
            <a:ext cx="307238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18313F"/>
                </a:solidFill>
              </a:rPr>
              <a:t>identify multiple approaches to the same problem</a:t>
            </a:r>
            <a:endParaRPr lang="en-US" sz="84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You already know how to code...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41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A70B"/>
                </a:solidFill>
              </a:rPr>
              <a:t>But coding is not the first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63A54"/>
          </a:solidFill>
          <a:ln w="12700">
            <a:solidFill>
              <a:srgbClr val="2447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76072" y="250545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9B7A6"/>
                </a:solidFill>
              </a:rPr>
              <a:t>QUESTION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76072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D2DEE6"/>
                </a:solidFill>
              </a:rPr>
              <a:t>received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103120" y="2706624"/>
            <a:ext cx="457200" cy="0"/>
          </a:xfrm>
          <a:prstGeom prst="line">
            <a:avLst/>
          </a:prstGeom>
          <a:noFill/>
          <a:ln w="12700">
            <a:solidFill>
              <a:srgbClr val="6B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743200" y="23317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02E44"/>
          </a:solidFill>
          <a:ln w="12700">
            <a:solidFill>
              <a:srgbClr val="2447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816352" y="250545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9B7A6"/>
                </a:solidFill>
              </a:rPr>
              <a:t>OPEN IDE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816352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D2DEE6"/>
                </a:solidFill>
              </a:rPr>
              <a:t>immediately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343400" y="2706624"/>
            <a:ext cx="457200" cy="0"/>
          </a:xfrm>
          <a:prstGeom prst="line">
            <a:avLst/>
          </a:prstGeom>
          <a:noFill/>
          <a:ln w="12700">
            <a:solidFill>
              <a:srgbClr val="6B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983480" y="23317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02E44"/>
          </a:solidFill>
          <a:ln w="12700">
            <a:solidFill>
              <a:srgbClr val="2447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056632" y="250545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9B7A6"/>
                </a:solidFill>
              </a:rPr>
              <a:t>WRITE CODE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56632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D2DEE6"/>
                </a:solidFill>
              </a:rPr>
              <a:t>without a plan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583680" y="2706624"/>
            <a:ext cx="457200" cy="0"/>
          </a:xfrm>
          <a:prstGeom prst="line">
            <a:avLst/>
          </a:prstGeom>
          <a:noFill/>
          <a:ln w="12700">
            <a:solidFill>
              <a:srgbClr val="6B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223760" y="23317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02E44"/>
          </a:solidFill>
          <a:ln w="12700">
            <a:solidFill>
              <a:srgbClr val="F6A7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296912" y="250545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6A70B"/>
                </a:solidFill>
              </a:rPr>
              <a:t>GET STUCK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296912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D2DEE6"/>
                </a:solidFill>
              </a:rPr>
              <a:t>patch randomly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823960" y="2706624"/>
            <a:ext cx="457200" cy="0"/>
          </a:xfrm>
          <a:prstGeom prst="line">
            <a:avLst/>
          </a:prstGeom>
          <a:noFill/>
          <a:ln w="12700">
            <a:solidFill>
              <a:srgbClr val="6B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464040" y="23317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02E44"/>
          </a:solidFill>
          <a:ln w="12700">
            <a:solidFill>
              <a:srgbClr val="2447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537192" y="250545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9B7A6"/>
                </a:solidFill>
              </a:rPr>
              <a:t>RESTART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537192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D2DEE6"/>
                </a:solidFill>
              </a:rPr>
              <a:t>again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828800" y="4160520"/>
            <a:ext cx="8503920" cy="1051560"/>
          </a:xfrm>
          <a:prstGeom prst="roundRect">
            <a:avLst>
              <a:gd name="adj" fmla="val 6957"/>
            </a:avLst>
          </a:prstGeom>
          <a:solidFill>
            <a:srgbClr val="123651"/>
          </a:solidFill>
          <a:ln w="12700">
            <a:solidFill>
              <a:srgbClr val="2451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103120" y="4407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6A70B"/>
                </a:solidFill>
              </a:rPr>
              <a:t>Better sequence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0" y="435254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FFFFFF"/>
                </a:solidFill>
              </a:rPr>
              <a:t>UNDERSTAND &amp; SPECIFY  →  CHOOSE TOOLS  →  DESIGN  →  IMPLEMENT  →  REFINE</a:t>
            </a:r>
          </a:p>
        </p:txBody>
      </p:sp>
      <p:sp>
        <p:nvSpPr>
          <p:cNvPr id="27" name="Text 25"/>
          <p:cNvSpPr/>
          <p:nvPr/>
        </p:nvSpPr>
        <p:spPr>
          <a:xfrm>
            <a:off x="2194560" y="47823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BFCED8"/>
                </a:solidFill>
              </a:rPr>
              <a:t>A large fraction of “coding problems” begin as problem-definition problems.</a:t>
            </a:r>
            <a:endParaRPr lang="en-US" sz="8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FRAMEWORK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STAIR: a compact problem-solving discipline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State the problem → Tools for the job → Algorithm development → Implementation → Refinement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E7F7F4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2103120"/>
            <a:ext cx="658368" cy="658368"/>
          </a:xfrm>
          <a:prstGeom prst="ellipse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9443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9B7A6"/>
                </a:solidFill>
              </a:rPr>
              <a:t>STATE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16276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10" dirty="0">
                <a:solidFill>
                  <a:srgbClr val="18313F"/>
                </a:solidFill>
              </a:rPr>
              <a:t>What exactly must be solved?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2450592" y="3035808"/>
            <a:ext cx="246888" cy="0"/>
          </a:xfrm>
          <a:prstGeom prst="line">
            <a:avLst/>
          </a:prstGeom>
          <a:noFill/>
          <a:ln w="11430">
            <a:solidFill>
              <a:srgbClr val="9FB0B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70632" y="187452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EAF0FD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8144" y="2103120"/>
            <a:ext cx="658368" cy="658368"/>
          </a:xfrm>
          <a:prstGeom prst="ellipse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07792" y="29443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79D9"/>
                </a:solidFill>
              </a:rPr>
              <a:t>TOOLS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53512" y="3337560"/>
            <a:ext cx="16276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10" dirty="0">
                <a:solidFill>
                  <a:srgbClr val="18313F"/>
                </a:solidFill>
              </a:rPr>
              <a:t>What data structures, methods, and resources are available?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4764024" y="3035808"/>
            <a:ext cx="246888" cy="0"/>
          </a:xfrm>
          <a:prstGeom prst="line">
            <a:avLst/>
          </a:prstGeom>
          <a:noFill/>
          <a:ln w="11430">
            <a:solidFill>
              <a:srgbClr val="9FB0B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84064" y="187452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4D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51576" y="2103120"/>
            <a:ext cx="658368" cy="658368"/>
          </a:xfrm>
          <a:prstGeom prst="ellipse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5157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1224" y="29443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A70B"/>
                </a:solidFill>
              </a:rPr>
              <a:t>ALGORITHM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66944" y="3337560"/>
            <a:ext cx="16276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10" dirty="0">
                <a:solidFill>
                  <a:srgbClr val="18313F"/>
                </a:solidFill>
              </a:rPr>
              <a:t>What strategy will transform input into output?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077456" y="3035808"/>
            <a:ext cx="246888" cy="0"/>
          </a:xfrm>
          <a:prstGeom prst="line">
            <a:avLst/>
          </a:prstGeom>
          <a:noFill/>
          <a:ln w="11430">
            <a:solidFill>
              <a:srgbClr val="9FB0B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97496" y="187452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1EAFB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2103120"/>
            <a:ext cx="658368" cy="658368"/>
          </a:xfrm>
          <a:prstGeom prst="ellipse">
            <a:avLst/>
          </a:prstGeom>
          <a:solidFill>
            <a:srgbClr val="8F5BD7"/>
          </a:solidFill>
          <a:ln w="12700">
            <a:solidFill>
              <a:srgbClr val="8F5B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34656" y="29443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F5BD7"/>
                </a:solidFill>
              </a:rPr>
              <a:t>IMPLEMENT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80376" y="3337560"/>
            <a:ext cx="16276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10" dirty="0">
                <a:solidFill>
                  <a:srgbClr val="18313F"/>
                </a:solidFill>
              </a:rPr>
              <a:t>How will the algorithm be expressed as executable code?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9390888" y="3035808"/>
            <a:ext cx="246888" cy="0"/>
          </a:xfrm>
          <a:prstGeom prst="line">
            <a:avLst/>
          </a:prstGeom>
          <a:noFill/>
          <a:ln w="11430">
            <a:solidFill>
              <a:srgbClr val="9FB0B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10928" y="187452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E9F7E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2103120"/>
            <a:ext cx="658368" cy="658368"/>
          </a:xfrm>
          <a:prstGeom prst="ellipse">
            <a:avLst/>
          </a:prstGeom>
          <a:solidFill>
            <a:srgbClr val="2EA56F"/>
          </a:solidFill>
          <a:ln w="12700">
            <a:solidFill>
              <a:srgbClr val="2EA5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78440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48088" y="29443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A56F"/>
                </a:solidFill>
              </a:rPr>
              <a:t>REFINE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893808" y="3337560"/>
            <a:ext cx="16276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10" dirty="0">
                <a:solidFill>
                  <a:srgbClr val="18313F"/>
                </a:solidFill>
              </a:rPr>
              <a:t>Is it correct, practical, and improvable?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9966960" y="4572000"/>
            <a:ext cx="0" cy="640080"/>
          </a:xfrm>
          <a:prstGeom prst="line">
            <a:avLst/>
          </a:prstGeom>
          <a:noFill/>
          <a:ln w="15240">
            <a:solidFill>
              <a:srgbClr val="F6A70B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160520" y="521208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A70B"/>
                </a:solidFill>
              </a:rPr>
              <a:t>Refinement can send us back to an earlier stage.</a:t>
            </a:r>
            <a:endParaRPr lang="en-US" sz="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4890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S — STATE THE PROBLEM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Do not solve a vague request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A useful specification removes ambiguity before design begins.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657600" cy="3337560"/>
          </a:xfrm>
          <a:prstGeom prst="roundRect">
            <a:avLst>
              <a:gd name="adj" fmla="val 1918"/>
            </a:avLst>
          </a:prstGeom>
          <a:solidFill>
            <a:srgbClr val="FCEAEA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41148" cy="3337560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3677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VAGUE REQUEST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1947672"/>
            <a:ext cx="334670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5C5C"/>
                </a:solidFill>
              </a:rPr>
              <a:t>“Find a student.”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699516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508760"/>
            <a:ext cx="41148" cy="333756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636776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COMPUTATIONAL SPECIFICATION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690872" y="1947672"/>
            <a:ext cx="668426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Given an array A of n student registration numbers and a target registration number x, return the position of x if present; otherwise return NOT FOUND.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5C5C"/>
                </a:solidFill>
              </a:rPr>
              <a:t>Questions hidden inside the vague version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51480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313F"/>
                </a:solidFill>
              </a:rPr>
              <a:t>By name or ID?  •  One match or all?  •  What if absent?  •  Is the data sorted?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7543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PROBLEM SPECIFICATION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Four things to pin down before designing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A computational problem becomes manageable when its contract is explicit.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E7F7F4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41148" cy="333756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2821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INPUT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13232" y="2039112"/>
            <a:ext cx="229514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A = student IDs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x = target 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44348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4503420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19B7A6"/>
                </a:solidFill>
              </a:rPr>
              <a:t>What data is supplied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600200"/>
            <a:ext cx="41148" cy="333756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172821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OUTPUT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593592" y="2039112"/>
            <a:ext cx="229514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index of 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or NOT FOUND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44348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4503420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F6A70B"/>
                </a:solidFill>
              </a:rPr>
              <a:t>What must be returned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00200"/>
            <a:ext cx="41148" cy="333756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72821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CONSTRAINTS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473952" y="2039112"/>
            <a:ext cx="229514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n may be large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IDs may be sorted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95160" y="44348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4503420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4E79D9"/>
                </a:solidFill>
              </a:rPr>
              <a:t>What assumptions apply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9189720" y="160020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F1EAFB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1600200"/>
            <a:ext cx="41148" cy="3337560"/>
          </a:xfrm>
          <a:prstGeom prst="rect">
            <a:avLst/>
          </a:prstGeom>
          <a:solidFill>
            <a:srgbClr val="8F5BD7"/>
          </a:solidFill>
          <a:ln w="12700">
            <a:solidFill>
              <a:srgbClr val="8F5B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54312" y="172821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VALIDITY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354312" y="2039112"/>
            <a:ext cx="229514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returned index points to 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or x is truly absent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75520" y="44348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1EAFB"/>
          </a:solidFill>
          <a:ln w="12700">
            <a:solidFill>
              <a:srgbClr val="F1EA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48672" y="4503420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8F5BD7"/>
                </a:solidFill>
              </a:rPr>
              <a:t>When is the answer correct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1920240" y="5440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31"/>
                </a:solidFill>
              </a:rPr>
              <a:t>The quality of the algorithm cannot exceed the quality of the problem statement.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UNDERSTANDING STRATEGY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Use small examples and edge cases before writing pseudocode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Manual reasoning often exposes hidden assumptions.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74904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08760"/>
            <a:ext cx="41148" cy="361188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3677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NORMAL CASE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58952" y="1947672"/>
            <a:ext cx="343814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A = [4, 9, 2, 7]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x = 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4 ≠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9 ≠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2 = 2  →  found at index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3246120" cy="3611880"/>
          </a:xfrm>
          <a:prstGeom prst="roundRect">
            <a:avLst>
              <a:gd name="adj" fmla="val 1972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508760"/>
            <a:ext cx="41148" cy="361188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636776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EDGE CASES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690872" y="1947672"/>
            <a:ext cx="293522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8313F"/>
                </a:solidFill>
              </a:rPr>
              <a:t>• empty array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8313F"/>
                </a:solidFill>
              </a:rPr>
              <a:t>• target is first element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8313F"/>
                </a:solidFill>
              </a:rPr>
              <a:t>• target is last element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8313F"/>
                </a:solidFill>
              </a:rPr>
              <a:t>• target is absent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8313F"/>
                </a:solidFill>
              </a:rPr>
              <a:t>• duplicate targets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1508760"/>
            <a:ext cx="3611880" cy="3611880"/>
          </a:xfrm>
          <a:prstGeom prst="roundRect">
            <a:avLst>
              <a:gd name="adj" fmla="val 1772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508760"/>
            <a:ext cx="41148" cy="361188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1636776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QUESTIONS TO ASK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119872" y="1947672"/>
            <a:ext cx="330098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8313F"/>
                </a:solidFill>
              </a:rPr>
              <a:t>What is valid input?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8313F"/>
                </a:solidFill>
              </a:rPr>
              <a:t>What should happen when no match exists?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8313F"/>
                </a:solidFill>
              </a:rPr>
              <a:t>If duplicates exist, return first, last, or all?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INPUT CHARACTERISTICS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The same values can permit different algorithms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Input properties are information an algorithm may exploit.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035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41148" cy="2057400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3677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UNSORTED INPUT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1947672"/>
            <a:ext cx="499262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313F"/>
                </a:solidFill>
              </a:rPr>
              <a:t>72   13   91   4   55   28   80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3035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508760"/>
            <a:ext cx="41148" cy="205740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63677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SORTED INPUT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382512" y="1947672"/>
            <a:ext cx="499262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313F"/>
                </a:solidFill>
              </a:rPr>
              <a:t>4   13   28   55   72   80   91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87984"/>
                </a:solidFill>
              </a:rPr>
              <a:t>Other characteristics worth checking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4434840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503420"/>
            <a:ext cx="3008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19B7A6"/>
                </a:solidFill>
              </a:rPr>
              <a:t>input size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4389120" y="4434840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4503420"/>
            <a:ext cx="3008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F6A70B"/>
                </a:solidFill>
              </a:rPr>
              <a:t>sorted / unsorted</a:t>
            </a:r>
            <a:endParaRPr lang="en-US" sz="630" dirty="0"/>
          </a:p>
        </p:txBody>
      </p:sp>
      <p:sp>
        <p:nvSpPr>
          <p:cNvPr id="18" name="Shape 16"/>
          <p:cNvSpPr/>
          <p:nvPr/>
        </p:nvSpPr>
        <p:spPr>
          <a:xfrm>
            <a:off x="8092440" y="4434840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4503420"/>
            <a:ext cx="3008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19B7A6"/>
                </a:solidFill>
              </a:rPr>
              <a:t>duplicates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685800" y="5056632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5125212"/>
            <a:ext cx="3008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F6A70B"/>
                </a:solidFill>
              </a:rPr>
              <a:t>bounded values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4389120" y="5056632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5125212"/>
            <a:ext cx="3008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19B7A6"/>
                </a:solidFill>
              </a:rPr>
              <a:t>static / changing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8092440" y="5056632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5125212"/>
            <a:ext cx="3008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F6A70B"/>
                </a:solidFill>
              </a:rPr>
              <a:t>dense / sparse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292608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031"/>
                </a:solidFill>
              </a:rPr>
              <a:t>A useful property can change the algorithmic toolbox.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OUTPUT REQUIREMENTS &amp; CONSTRAINTS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Small wording changes create different problems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Define exactly what must be produced—and under what limits.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21208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41148" cy="397764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91056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SAME DATA, DIFFERENT OUTPUT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58952" y="1901952"/>
            <a:ext cx="4901184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Does x exist?   → TRUE / FALSE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Where is x?      → index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Return x record  → student object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Find every “Ali” → collection of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463040"/>
            <a:ext cx="5486400" cy="3977640"/>
          </a:xfrm>
          <a:prstGeom prst="roundRect">
            <a:avLst>
              <a:gd name="adj" fmla="val 1609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463040"/>
            <a:ext cx="41148" cy="397764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59105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CONSTRAINTS THAT CHANGE DESIGN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245352" y="1901952"/>
            <a:ext cx="5175504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n ≤ 20  vs.  n = 100,000,000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response needed in 5 ms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memory limited to 1 MB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data changes every second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search runs once vs. 50,000 times/day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T — TOOLS FOR THE JOB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Your algorithmic toolbox grows throughout the course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“Tool” can mean a data structure, a known algorithm, a design technique, or a computational resource.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383280" cy="397764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41148" cy="397764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367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DATA STRUCTURES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1947672"/>
            <a:ext cx="3072384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Array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Linked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Stack / Queue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Tree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Graph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Hash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Heap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383280" cy="3977640"/>
          </a:xfrm>
          <a:prstGeom prst="roundRect">
            <a:avLst>
              <a:gd name="adj" fmla="val 1892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508760"/>
            <a:ext cx="41148" cy="397764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367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KNOWN ALGORITHMS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53712" y="1947672"/>
            <a:ext cx="3072384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Linear 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Binary 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Sorting methods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Graph traversal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Shortest paths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383280" cy="3977640"/>
          </a:xfrm>
          <a:prstGeom prst="roundRect">
            <a:avLst>
              <a:gd name="adj" fmla="val 1892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08760"/>
            <a:ext cx="41148" cy="397764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6367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DESIGN TECHNIQUES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302752" y="1947672"/>
            <a:ext cx="3072384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Brute force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Divide and conquer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Decrease and conquer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Dynamic programming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Greedy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...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RESOURCE LIMITATIONS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Algorithms run on real machines, not infinite 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Practical solutions must live within computational and operational limits.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41148" cy="155448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367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TIME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13232" y="1947672"/>
            <a:ext cx="311810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response deadline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real-time vs. batch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E7F7F4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508760"/>
            <a:ext cx="41148" cy="155448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6367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MEMORY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416552" y="1947672"/>
            <a:ext cx="311810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working storage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RAM / cache / device limits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955280" y="150876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508760"/>
            <a:ext cx="41148" cy="155448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16367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HARDWARE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119872" y="1947672"/>
            <a:ext cx="311810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computational device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desktop / server / embedded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1EAFB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74720"/>
            <a:ext cx="41148" cy="1554480"/>
          </a:xfrm>
          <a:prstGeom prst="rect">
            <a:avLst/>
          </a:prstGeom>
          <a:solidFill>
            <a:srgbClr val="8F5BD7"/>
          </a:solidFill>
          <a:ln w="12700">
            <a:solidFill>
              <a:srgbClr val="8F5B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60273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COMMUNICATION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13232" y="3913632"/>
            <a:ext cx="311810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data movement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network bandwidth / latency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251960" y="347472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E9F7EF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474720"/>
            <a:ext cx="41148" cy="1554480"/>
          </a:xfrm>
          <a:prstGeom prst="rect">
            <a:avLst/>
          </a:prstGeom>
          <a:solidFill>
            <a:srgbClr val="2EA56F"/>
          </a:solidFill>
          <a:ln w="12700">
            <a:solidFill>
              <a:srgbClr val="2EA5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360273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ENERGY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416552" y="3913632"/>
            <a:ext cx="311810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power budget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mobile / sensor / edge device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955280" y="347472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CEAEA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3474720"/>
            <a:ext cx="41148" cy="1554480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9872" y="360273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FREQUENCY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119872" y="3913632"/>
            <a:ext cx="311810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how often used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one query vs. millions</a:t>
            </a:r>
            <a:endParaRPr lang="en-US" sz="86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DESIGN CONTEXT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Device capability and exactness matter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Levitin explicitly asks us to consider the computational device and whether an exact answer is required.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12080" cy="1828800"/>
          </a:xfrm>
          <a:prstGeom prst="roundRect">
            <a:avLst>
              <a:gd name="adj" fmla="val 3500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41148" cy="182880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82496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COMPUTATIONAL DEVICE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490118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313F"/>
                </a:solidFill>
              </a:rPr>
              <a:t>128 GB server RAM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8313F"/>
                </a:solidFill>
              </a:rPr>
              <a:t>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8313F"/>
                </a:solidFill>
              </a:rPr>
              <a:t>128 KB embedded memory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212080" cy="1828800"/>
          </a:xfrm>
          <a:prstGeom prst="roundRect">
            <a:avLst>
              <a:gd name="adj" fmla="val 3500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41148" cy="182880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682496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EXACT vs. APPROXIMATE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473952" y="1993392"/>
            <a:ext cx="490118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8313F"/>
                </a:solidFill>
              </a:rPr>
              <a:t>Exact: locate student ID 127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8313F"/>
                </a:solidFill>
              </a:rPr>
              <a:t>Approximate: near-optimal route under a tight deadline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0" y="4069080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0B2031"/>
          </a:solidFill>
          <a:ln w="12700">
            <a:solidFill>
              <a:srgbClr val="0B20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40740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“best” solution is always relative to the problem specification and the resources available.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A — ALGORITHM DEVELOPMENT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Turn a clear problem into a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Start with a simple idea, then express it as a finite procedure.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886200" cy="3886200"/>
          </a:xfrm>
          <a:prstGeom prst="roundRect">
            <a:avLst>
              <a:gd name="adj" fmla="val 1647"/>
            </a:avLst>
          </a:prstGeom>
          <a:solidFill>
            <a:srgbClr val="E7F7F4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41148" cy="388620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82496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SEARCHING PROBLEM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575304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A = [27, 14, 81, 3, 45, 62]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x = 45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Goal: return x’s index or NOT FOUND.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6720840" cy="3886200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54480"/>
            <a:ext cx="41148" cy="388620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682496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SIMPLE STRATEGY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965192" y="1993392"/>
            <a:ext cx="6409944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Start at the beginning.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Compare each element with x.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Stop as soon as a match is found.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If the end is reached, report NOT FOUND.</a:t>
            </a:r>
            <a:endParaRPr lang="en-US" sz="1070" dirty="0"/>
          </a:p>
          <a:p>
            <a:pPr marL="0" indent="0">
              <a:buNone/>
            </a:pP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LINEAR-SEARCH(A, x)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for i ← 0 to n − 1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    if A[i] = x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        return i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8313F"/>
                </a:solidFill>
              </a:rPr>
              <a:t>return NOT-FOUND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REPRESENTATIVE EXAMPLE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Trace Linear Search before discussing alternatives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Tracing verifies what the procedure actually does on a concrete instance.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31"/>
                </a:solidFill>
              </a:rPr>
              <a:t>27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87984"/>
                </a:solidFill>
              </a:rPr>
              <a:t>i = 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560320" y="18745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31"/>
                </a:solidFill>
              </a:rPr>
              <a:t>14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26974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87984"/>
                </a:solidFill>
              </a:rPr>
              <a:t>i = 1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0" y="18745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31"/>
                </a:solidFill>
              </a:rPr>
              <a:t>81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26974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87984"/>
                </a:solidFill>
              </a:rPr>
              <a:t>i = 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852160" y="18745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3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26974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87984"/>
                </a:solidFill>
              </a:rPr>
              <a:t>i = 3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498080" y="18745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E7F7F4"/>
          </a:solidFill>
          <a:ln w="25400">
            <a:solidFill>
              <a:srgbClr val="19B7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B7A6"/>
                </a:solidFill>
              </a:rPr>
              <a:t>45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0" y="26974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87984"/>
                </a:solidFill>
              </a:rPr>
              <a:t>i = 4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144000" y="18745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31"/>
                </a:solidFill>
              </a:rPr>
              <a:t>62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26974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87984"/>
                </a:solidFill>
              </a:rPr>
              <a:t>i = 5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914400" y="3794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86334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687984"/>
                </a:solidFill>
              </a:rPr>
              <a:t>27 ≠ 45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2971800" y="3794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386334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687984"/>
                </a:solidFill>
              </a:rPr>
              <a:t>14 ≠ 45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5029200" y="3794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386334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687984"/>
                </a:solidFill>
              </a:rPr>
              <a:t>81 ≠ 45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7086600" y="3794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386334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687984"/>
                </a:solidFill>
              </a:rPr>
              <a:t>3 ≠ 45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9144000" y="3794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17152" y="386334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19B7A6"/>
                </a:solidFill>
              </a:rPr>
              <a:t>45 = 45  ✓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4206240" y="4800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031"/>
                </a:solidFill>
              </a:rPr>
              <a:t>Return index 4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MULTIPLE SOLUTION APPROACHES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One problem can have several reasonable strategies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The right choice depends on input properties and usage patterns.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520440" cy="3154680"/>
          </a:xfrm>
          <a:prstGeom prst="roundRect">
            <a:avLst>
              <a:gd name="adj" fmla="val 2029"/>
            </a:avLst>
          </a:prstGeom>
          <a:solidFill>
            <a:srgbClr val="E7F7F4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41148" cy="315468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2821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LINEAR SEARCH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50392" y="2039112"/>
            <a:ext cx="3209544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works on unsorted data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simple; inspect sequentially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07992" y="1600200"/>
            <a:ext cx="3520440" cy="3154680"/>
          </a:xfrm>
          <a:prstGeom prst="roundRect">
            <a:avLst>
              <a:gd name="adj" fmla="val 2029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600200"/>
            <a:ext cx="41148" cy="315468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72821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BINARY SEARCH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672584" y="2039112"/>
            <a:ext cx="3209544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requires sorted data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discard a large region each step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30184" y="1600200"/>
            <a:ext cx="3520440" cy="3154680"/>
          </a:xfrm>
          <a:prstGeom prst="roundRect">
            <a:avLst>
              <a:gd name="adj" fmla="val 2029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0184" y="1600200"/>
            <a:ext cx="41148" cy="315468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72821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HASH LOOKUP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494776" y="2039112"/>
            <a:ext cx="3209544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requires extra organization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313F"/>
                </a:solidFill>
              </a:rPr>
              <a:t>useful for many repeated lookups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52578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031"/>
                </a:solidFill>
              </a:rPr>
              <a:t>Today: compare them conceptually. Formal efficiency analysis comes later in the CDF.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SORTED INPUT UNLOCKS A NEW IDEA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Binary Search: repeatedly narrow the search region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No asymptotic notation yet—focus on the design idea.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0120" y="1600200"/>
            <a:ext cx="1051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10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600200"/>
            <a:ext cx="1051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810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14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94760" y="1600200"/>
            <a:ext cx="1051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810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1600200"/>
            <a:ext cx="1051560" cy="685800"/>
          </a:xfrm>
          <a:prstGeom prst="roundRect">
            <a:avLst>
              <a:gd name="adj" fmla="val 9333"/>
            </a:avLst>
          </a:prstGeom>
          <a:solidFill>
            <a:srgbClr val="FFF4D9"/>
          </a:solidFill>
          <a:ln w="25400">
            <a:solidFill>
              <a:srgbClr val="F6A7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810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A70B"/>
                </a:solidFill>
              </a:rPr>
              <a:t>45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1600200"/>
            <a:ext cx="1051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810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62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600200"/>
            <a:ext cx="1051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810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81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64040" y="1600200"/>
            <a:ext cx="10515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1810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95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Target x = 62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2971800"/>
            <a:ext cx="0" cy="457200"/>
          </a:xfrm>
          <a:prstGeom prst="line">
            <a:avLst/>
          </a:prstGeom>
          <a:noFill/>
          <a:ln w="16510">
            <a:solidFill>
              <a:srgbClr val="F6A70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00400" y="3493008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8313F"/>
                </a:solidFill>
              </a:rPr>
              <a:t>62 &gt; 45 → left half cannot contain 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4160520"/>
            <a:ext cx="1005840" cy="658368"/>
          </a:xfrm>
          <a:prstGeom prst="roundRect">
            <a:avLst>
              <a:gd name="adj" fmla="val 9722"/>
            </a:avLst>
          </a:prstGeom>
          <a:solidFill>
            <a:srgbClr val="E7F7F4"/>
          </a:solidFill>
          <a:ln w="25400">
            <a:solidFill>
              <a:srgbClr val="19B7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361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B7A6"/>
                </a:solidFill>
              </a:rPr>
              <a:t>62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0" y="4160520"/>
            <a:ext cx="10058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4361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81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12280" y="4160520"/>
            <a:ext cx="10058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361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031"/>
                </a:solidFill>
              </a:rPr>
              <a:t>95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074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B7A6"/>
                </a:solidFill>
              </a:rPr>
              <a:t>Found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USAGE PATTERN MATTERS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One search vs. fifty thousand searches per 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Sometimes we spend effort before the query to make future queries cheaper.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429000" cy="3611880"/>
          </a:xfrm>
          <a:prstGeom prst="roundRect">
            <a:avLst>
              <a:gd name="adj" fmla="val 1867"/>
            </a:avLst>
          </a:prstGeom>
          <a:solidFill>
            <a:srgbClr val="E7F7F4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41148" cy="361188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367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CASE A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1947672"/>
            <a:ext cx="311810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20 unsorted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One search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A simple sequential scan may be perfectly reasonable.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429000" cy="3611880"/>
          </a:xfrm>
          <a:prstGeom prst="roundRect">
            <a:avLst>
              <a:gd name="adj" fmla="val 1867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508760"/>
            <a:ext cx="41148" cy="361188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367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CASE B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53712" y="1947672"/>
            <a:ext cx="311810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1,000,000 sorted IDs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One search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313F"/>
                </a:solidFill>
              </a:rPr>
              <a:t>Binary Search can exploit the existing order.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429000" cy="3611880"/>
          </a:xfrm>
          <a:prstGeom prst="roundRect">
            <a:avLst>
              <a:gd name="adj" fmla="val 1867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08760"/>
            <a:ext cx="41148" cy="361188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6367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CASE C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302752" y="1947672"/>
            <a:ext cx="311810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8313F"/>
                </a:solidFill>
              </a:rPr>
              <a:t>1,000,000 records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8313F"/>
                </a:solidFill>
              </a:rPr>
              <a:t>50,000 searches/day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8313F"/>
                </a:solidFill>
              </a:rPr>
              <a:t>Extra memory available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8313F"/>
                </a:solidFill>
              </a:rPr>
              <a:t>Indexing / hashing may justify preprocessing.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I — IMPLEMENTATION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Translate the algorithm into an executable 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Implementation should preserve the algorithmic logic.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98348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41148" cy="425196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4533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PSEUDOCODE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04672" y="1856232"/>
            <a:ext cx="4672584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LINEAR-SEARCH(A, x)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for i ← 0 to n − 1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    if A[i] =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        return i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313F"/>
                </a:solidFill>
              </a:rPr>
              <a:t>return −1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97880" y="1417320"/>
            <a:ext cx="5669280" cy="4251960"/>
          </a:xfrm>
          <a:prstGeom prst="roundRect">
            <a:avLst>
              <a:gd name="adj" fmla="val 1505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1417320"/>
            <a:ext cx="41148" cy="425196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1545336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C++ IMPLEMENTATION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062472" y="1856232"/>
            <a:ext cx="5358384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int linearSearch(const vector&lt;int&gt;&amp; A, int x)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{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    for (int i = 0; i &lt; A.size(); ++i)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    {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        if (A[i] == x)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            return i;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    }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    return -1;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8313F"/>
                </a:solidFill>
              </a:rPr>
              <a:t>}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1828800" y="58338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031"/>
                </a:solidFill>
              </a:rPr>
              <a:t>Algorithm = solution logic.   Implementation = one language-specific realization.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R — REFINEMENT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A working program is not automatically the 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Refinement means testing the solution against the original problem and reconsidering earlier choices.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057400" cy="2240280"/>
          </a:xfrm>
          <a:prstGeom prst="roundRect">
            <a:avLst>
              <a:gd name="adj" fmla="val 3111"/>
            </a:avLst>
          </a:prstGeom>
          <a:solidFill>
            <a:srgbClr val="E7F7F4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41148" cy="224028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00784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CORRECT?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67512" y="2011680"/>
            <a:ext cx="1746504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Does it return the required result?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816352" y="1572768"/>
            <a:ext cx="2057400" cy="2240280"/>
          </a:xfrm>
          <a:prstGeom prst="roundRect">
            <a:avLst>
              <a:gd name="adj" fmla="val 3111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1572768"/>
            <a:ext cx="41148" cy="224028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944" y="1700784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COMPLETE?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980944" y="2011680"/>
            <a:ext cx="1746504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Empty input? absent target? duplicates?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129784" y="1572768"/>
            <a:ext cx="2057400" cy="2240280"/>
          </a:xfrm>
          <a:prstGeom prst="roundRect">
            <a:avLst>
              <a:gd name="adj" fmla="val 3111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9784" y="1572768"/>
            <a:ext cx="41148" cy="224028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4376" y="1700784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PRACTICAL?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294376" y="2011680"/>
            <a:ext cx="1746504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Acceptable time and memory?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443216" y="1572768"/>
            <a:ext cx="2057400" cy="2240280"/>
          </a:xfrm>
          <a:prstGeom prst="roundRect">
            <a:avLst>
              <a:gd name="adj" fmla="val 3111"/>
            </a:avLst>
          </a:prstGeom>
          <a:solidFill>
            <a:srgbClr val="F1EAFB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43216" y="1572768"/>
            <a:ext cx="41148" cy="2240280"/>
          </a:xfrm>
          <a:prstGeom prst="rect">
            <a:avLst/>
          </a:prstGeom>
          <a:solidFill>
            <a:srgbClr val="8F5BD7"/>
          </a:solidFill>
          <a:ln w="12700">
            <a:solidFill>
              <a:srgbClr val="8F5B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1700784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SCALABLE?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607808" y="2011680"/>
            <a:ext cx="1746504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What happens when n becomes large?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9756648" y="1572768"/>
            <a:ext cx="2057400" cy="2240280"/>
          </a:xfrm>
          <a:prstGeom prst="roundRect">
            <a:avLst>
              <a:gd name="adj" fmla="val 3111"/>
            </a:avLst>
          </a:prstGeom>
          <a:solidFill>
            <a:srgbClr val="E9F7EF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56648" y="1572768"/>
            <a:ext cx="41148" cy="2240280"/>
          </a:xfrm>
          <a:prstGeom prst="rect">
            <a:avLst/>
          </a:prstGeom>
          <a:solidFill>
            <a:srgbClr val="2EA56F"/>
          </a:solidFill>
          <a:ln w="12700">
            <a:solidFill>
              <a:srgbClr val="2EA5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1700784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BETTER TOOL?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921240" y="2011680"/>
            <a:ext cx="1746504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8313F"/>
                </a:solidFill>
              </a:rPr>
              <a:t>Can input properties be exploited?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10012680" y="4434840"/>
            <a:ext cx="0" cy="685800"/>
          </a:xfrm>
          <a:prstGeom prst="line">
            <a:avLst/>
          </a:prstGeom>
          <a:noFill/>
          <a:ln w="17780">
            <a:solidFill>
              <a:srgbClr val="F6A70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377440" y="5266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70B"/>
                </a:solidFill>
              </a:rPr>
              <a:t>Refine → revisit State, Tools, Algorithm, or Implementation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STAIR AND LEVITIN CHAPTER 1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STAIR is the memory aid; Levitin gives the richer design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The two fit together naturally, but they are not the same named framework.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7F7F4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910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B7A6"/>
                </a:solidFill>
              </a:rPr>
              <a:t>S — State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852928" y="1700784"/>
            <a:ext cx="548640" cy="0"/>
          </a:xfrm>
          <a:prstGeom prst="line">
            <a:avLst/>
          </a:prstGeom>
          <a:noFill/>
          <a:ln w="12700">
            <a:solidFill>
              <a:srgbClr val="AAB7B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20440" y="141732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F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56362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8313F"/>
                </a:solidFill>
              </a:rPr>
              <a:t>Understand the problem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731520" y="2249424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4D9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A70B"/>
                </a:solidFill>
              </a:rPr>
              <a:t>T — Tools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52928" y="2532888"/>
            <a:ext cx="548640" cy="0"/>
          </a:xfrm>
          <a:prstGeom prst="line">
            <a:avLst/>
          </a:prstGeom>
          <a:noFill/>
          <a:ln w="12700">
            <a:solidFill>
              <a:srgbClr val="AAB7B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0440" y="2249424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F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3957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8313F"/>
                </a:solidFill>
              </a:rPr>
              <a:t>Device capability • exact vs. approximate • design techniques • data structures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31520" y="3081528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7F7F4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552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B7A6"/>
                </a:solidFill>
              </a:rPr>
              <a:t>A — Algorithm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52928" y="3364992"/>
            <a:ext cx="548640" cy="0"/>
          </a:xfrm>
          <a:prstGeom prst="line">
            <a:avLst/>
          </a:prstGeom>
          <a:noFill/>
          <a:ln w="12700">
            <a:solidFill>
              <a:srgbClr val="AAB7B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20440" y="3081528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F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2278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8313F"/>
                </a:solidFill>
              </a:rPr>
              <a:t>Design the algorithm • specify it clearly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31520" y="3913632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4D9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0873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A70B"/>
                </a:solidFill>
              </a:rPr>
              <a:t>I — Implementation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52928" y="4197096"/>
            <a:ext cx="548640" cy="0"/>
          </a:xfrm>
          <a:prstGeom prst="line">
            <a:avLst/>
          </a:prstGeom>
          <a:noFill/>
          <a:ln w="12700">
            <a:solidFill>
              <a:srgbClr val="AAB7B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20440" y="3913632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F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405993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8313F"/>
                </a:solidFill>
              </a:rPr>
              <a:t>Code the algorithm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731520" y="4745736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7F7F4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9194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B7A6"/>
                </a:solidFill>
              </a:rPr>
              <a:t>R — Refinement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52928" y="5029200"/>
            <a:ext cx="548640" cy="0"/>
          </a:xfrm>
          <a:prstGeom prst="line">
            <a:avLst/>
          </a:prstGeom>
          <a:noFill/>
          <a:ln w="12700">
            <a:solidFill>
              <a:srgbClr val="AAB7B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520440" y="4745736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F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489204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8313F"/>
                </a:solidFill>
              </a:rPr>
              <a:t>Check correctness • analyze • reconsider / improve</a:t>
            </a:r>
            <a:endParaRPr lang="en-US" sz="87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COMPLETE STAIR CASE STUDY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Search for a student registration number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Walk through the framework without jumping directly to code.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35608"/>
            <a:ext cx="566928" cy="566928"/>
          </a:xfrm>
          <a:prstGeom prst="ellipse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91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417320"/>
            <a:ext cx="100126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545336"/>
            <a:ext cx="9555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313F"/>
                </a:solidFill>
              </a:rPr>
              <a:t>Input A, target x; return index or NOT FOUND. Ask: sorted? large? frequent queries?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85800" y="2258568"/>
            <a:ext cx="566928" cy="566928"/>
          </a:xfrm>
          <a:prstGeom prst="ellipse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140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63040" y="2240280"/>
            <a:ext cx="100126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368296"/>
            <a:ext cx="9555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313F"/>
                </a:solidFill>
              </a:rPr>
              <a:t>Linear search, binary search, hashing/indexing; available memory and preprocessing time.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85800" y="3081528"/>
            <a:ext cx="566928" cy="566928"/>
          </a:xfrm>
          <a:prstGeom prst="ellipse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3697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63040" y="3063240"/>
            <a:ext cx="100126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3191256"/>
            <a:ext cx="9555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313F"/>
                </a:solidFill>
              </a:rPr>
              <a:t>Choose a strategy that fits the actual input and usage pattern.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85800" y="3904488"/>
            <a:ext cx="566928" cy="566928"/>
          </a:xfrm>
          <a:prstGeom prst="ellipse">
            <a:avLst/>
          </a:prstGeom>
          <a:solidFill>
            <a:srgbClr val="8F5BD7"/>
          </a:solidFill>
          <a:ln w="12700">
            <a:solidFill>
              <a:srgbClr val="8F5B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599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63040" y="3886200"/>
            <a:ext cx="100126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4014216"/>
            <a:ext cx="9555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313F"/>
                </a:solidFill>
              </a:rPr>
              <a:t>Express the chosen procedure in pseudocode, then implement it.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85800" y="4727448"/>
            <a:ext cx="566928" cy="566928"/>
          </a:xfrm>
          <a:prstGeom prst="ellipse">
            <a:avLst/>
          </a:prstGeom>
          <a:solidFill>
            <a:srgbClr val="2EA56F"/>
          </a:solidFill>
          <a:ln w="12700">
            <a:solidFill>
              <a:srgbClr val="2EA5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8289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63040" y="4709160"/>
            <a:ext cx="100126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4837176"/>
            <a:ext cx="9555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313F"/>
                </a:solidFill>
              </a:rPr>
              <a:t>Test absent/edge cases; reassess time, memory, and whether another tool is preferable.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051560" y="5806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031"/>
                </a:solidFill>
              </a:rPr>
              <a:t>Key idea: there is no universally best algorithm independent of the problem conditions.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30" b="1">
                <a:solidFill>
                  <a:srgbClr val="19B7A6"/>
                </a:solidFill>
              </a:rPr>
              <a:t>APPLIED STAIR EXAMPLE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B2031"/>
                </a:solidFill>
              </a:rPr>
              <a:t>Problem 1 — Find a Student ID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0">
                <a:solidFill>
                  <a:srgbClr val="687984"/>
                </a:solidFill>
              </a:rPr>
              <a:t>Same broad goal; input organization and query frequency change the sensible solution.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22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76072" y="1417320"/>
          <a:ext cx="11018520" cy="3973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61360"/>
                <a:gridCol w="3261360"/>
                <a:gridCol w="32613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STAIR</a:t>
                      </a:r>
                    </a:p>
                  </a:txBody>
                  <a:tcPr marL="73152" marR="73152" marT="27432" marB="27432" anchor="ctr">
                    <a:solidFill>
                      <a:srgbClr val="0B20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A • SMALL / ONCE</a:t>
                      </a:r>
                    </a:p>
                  </a:txBody>
                  <a:tcPr marL="73152" marR="73152" marT="27432" marB="27432" anchor="ctr">
                    <a:solidFill>
                      <a:srgbClr val="E7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B • LARGE / SORTED</a:t>
                      </a:r>
                    </a:p>
                  </a:txBody>
                  <a:tcPr marL="73152" marR="73152" marT="27432" marB="27432" anchor="ctr"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C • LARGE / REPEATED</a:t>
                      </a:r>
                    </a:p>
                  </a:txBody>
                  <a:tcPr marL="73152" marR="73152" marT="27432" marB="27432" anchor="ctr">
                    <a:solidFill>
                      <a:srgbClr val="EAF0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S — STATE</a:t>
                      </a:r>
                    </a:p>
                  </a:txBody>
                  <a:tcPr marL="73152" marR="73152" marT="27432" marB="27432" anchor="ctr">
                    <a:solidFill>
                      <a:srgbClr val="19B7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Find target x among 30 unsorted IDs.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Find target x among 1,000,000 sorted IDs.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Find target x among 1,000,000 records, 50,000 times/day.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T — TOOLS</a:t>
                      </a:r>
                    </a:p>
                  </a:txBody>
                  <a:tcPr marL="73152" marR="73152" marT="27432" marB="27432" anchor="ctr">
                    <a:solidFill>
                      <a:srgbClr val="4E7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Array.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Sorted array.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Hash table / index.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A — ALGORITHM</a:t>
                      </a:r>
                    </a:p>
                  </a:txBody>
                  <a:tcPr marL="73152" marR="73152" marT="27432" marB="27432" anchor="ctr">
                    <a:solidFill>
                      <a:srgbClr val="F6A7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Linear search.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Binary search.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Hash lookup.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I — IMPLEMENT</a:t>
                      </a:r>
                    </a:p>
                  </a:txBody>
                  <a:tcPr marL="73152" marR="73152" marT="27432" marB="27432" anchor="ctr">
                    <a:solidFill>
                      <a:srgbClr val="8F5B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Loop through IDs one by one.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Maintain low, high, and mid.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Build the index once; then perform lookups.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R — REFINE</a:t>
                      </a:r>
                    </a:p>
                  </a:txBody>
                  <a:tcPr marL="73152" marR="73152" marT="27432" marB="27432" anchor="ctr">
                    <a:solidFill>
                      <a:srgbClr val="2EA5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Simple solution is sufficient.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Exploit the existing sorted order.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Extra memory and preprocessing are justified.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76072" y="188823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2587752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" y="3287268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" y="3986784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" y="4686300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38581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0594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6730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866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550468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2031"/>
                </a:solidFill>
              </a:rPr>
              <a:t>Same goal ≠ same best algorithm. Conditions determine the choice.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30" b="1">
                <a:solidFill>
                  <a:srgbClr val="19B7A6"/>
                </a:solidFill>
              </a:rPr>
              <a:t>APPLIED STAIR EXAMPLE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B2031"/>
                </a:solidFill>
              </a:rPr>
              <a:t>Problem 2 — Serve People Waiting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0">
                <a:solidFill>
                  <a:srgbClr val="687984"/>
                </a:solidFill>
              </a:rPr>
              <a:t>A change in service rules can force a different data structure and scheduling algorithm.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23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76072" y="1417320"/>
          <a:ext cx="11018520" cy="3973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61360"/>
                <a:gridCol w="3261360"/>
                <a:gridCol w="32613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STAIR</a:t>
                      </a:r>
                    </a:p>
                  </a:txBody>
                  <a:tcPr marL="73152" marR="73152" marT="27432" marB="27432" anchor="ctr">
                    <a:solidFill>
                      <a:srgbClr val="0B20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A • CAFETERIA</a:t>
                      </a:r>
                    </a:p>
                  </a:txBody>
                  <a:tcPr marL="73152" marR="73152" marT="27432" marB="27432" anchor="ctr">
                    <a:solidFill>
                      <a:srgbClr val="E7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B • EMERGENCY</a:t>
                      </a:r>
                    </a:p>
                  </a:txBody>
                  <a:tcPr marL="73152" marR="73152" marT="27432" marB="27432" anchor="ctr"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C • VIP + NORMAL</a:t>
                      </a:r>
                    </a:p>
                  </a:txBody>
                  <a:tcPr marL="73152" marR="73152" marT="27432" marB="27432" anchor="ctr">
                    <a:solidFill>
                      <a:srgbClr val="EAF0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S — STATE</a:t>
                      </a:r>
                    </a:p>
                  </a:txBody>
                  <a:tcPr marL="73152" marR="73152" marT="27432" marB="27432" anchor="ctr">
                    <a:solidFill>
                      <a:srgbClr val="19B7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Serve students in arrival order.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Serve patients according to urgency.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Serve VIP customers before normal customers.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T — TOOLS</a:t>
                      </a:r>
                    </a:p>
                  </a:txBody>
                  <a:tcPr marL="73152" marR="73152" marT="27432" marB="27432" anchor="ctr">
                    <a:solidFill>
                      <a:srgbClr val="4E7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Queue.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Priority queue.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Two queues / priority queue.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A — ALGORITHM</a:t>
                      </a:r>
                    </a:p>
                  </a:txBody>
                  <a:tcPr marL="73152" marR="73152" marT="27432" marB="27432" anchor="ctr">
                    <a:solidFill>
                      <a:srgbClr val="F6A7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FIFO: first arrival is served first.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Highest-priority patient first.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Serve VIP queue first, then normal queue.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I — IMPLEMENT</a:t>
                      </a:r>
                    </a:p>
                  </a:txBody>
                  <a:tcPr marL="73152" marR="73152" marT="27432" marB="27432" anchor="ctr">
                    <a:solidFill>
                      <a:srgbClr val="8F5B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enqueue() and dequeue().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Priority field + heap / priority queue.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Separate queues or a priority field.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R — REFINE</a:t>
                      </a:r>
                    </a:p>
                  </a:txBody>
                  <a:tcPr marL="73152" marR="73152" marT="27432" marB="27432" anchor="ctr">
                    <a:solidFill>
                      <a:srgbClr val="2EA5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Normal queue works.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FIFO is no longer suitable.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Define fairness and tie-breaking rules.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76072" y="188823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2587752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" y="3287268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" y="3986784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" y="4686300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38581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0594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6730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866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550468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2031"/>
                </a:solidFill>
              </a:rPr>
              <a:t>Refinement may reveal that the tool—not the code—is the wrong choice.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30" b="1">
                <a:solidFill>
                  <a:srgbClr val="19B7A6"/>
                </a:solidFill>
              </a:rPr>
              <a:t>APPLIED STAIR EXAMPLE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B2031"/>
                </a:solidFill>
              </a:rPr>
              <a:t>Problem 3 — Find a Route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0">
                <a:solidFill>
                  <a:srgbClr val="687984"/>
                </a:solidFill>
              </a:rPr>
              <a:t>The same map supports different algorithms depending on what “best route” means.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24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76072" y="1417320"/>
          <a:ext cx="11018520" cy="3973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61360"/>
                <a:gridCol w="3261360"/>
                <a:gridCol w="32613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STAIR</a:t>
                      </a:r>
                    </a:p>
                  </a:txBody>
                  <a:tcPr marL="73152" marR="73152" marT="27432" marB="27432" anchor="ctr">
                    <a:solidFill>
                      <a:srgbClr val="0B20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A • ANY ROUTE</a:t>
                      </a:r>
                    </a:p>
                  </a:txBody>
                  <a:tcPr marL="73152" marR="73152" marT="27432" marB="27432" anchor="ctr">
                    <a:solidFill>
                      <a:srgbClr val="E7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B • FEWEST ROADS</a:t>
                      </a:r>
                    </a:p>
                  </a:txBody>
                  <a:tcPr marL="73152" marR="73152" marT="27432" marB="27432" anchor="ctr"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C • SHORTEST DISTANCE</a:t>
                      </a:r>
                    </a:p>
                  </a:txBody>
                  <a:tcPr marL="73152" marR="73152" marT="27432" marB="27432" anchor="ctr">
                    <a:solidFill>
                      <a:srgbClr val="EAF0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S — STATE</a:t>
                      </a:r>
                    </a:p>
                  </a:txBody>
                  <a:tcPr marL="73152" marR="73152" marT="27432" marB="27432" anchor="ctr">
                    <a:solidFill>
                      <a:srgbClr val="19B7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Find any valid route from A to B.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Find a route using the fewest road segments.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Find the minimum-distance route from A to B.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T — TOOLS</a:t>
                      </a:r>
                    </a:p>
                  </a:txBody>
                  <a:tcPr marL="73152" marR="73152" marT="27432" marB="27432" anchor="ctr">
                    <a:solidFill>
                      <a:srgbClr val="4E7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Graph.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Graph + queue.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Weighted graph + priority queue.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A — ALGORITHM</a:t>
                      </a:r>
                    </a:p>
                  </a:txBody>
                  <a:tcPr marL="73152" marR="73152" marT="27432" marB="27432" anchor="ctr">
                    <a:solidFill>
                      <a:srgbClr val="F6A7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DFS or BFS.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BFS.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Dijkstra’s algorithm.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I — IMPLEMENT</a:t>
                      </a:r>
                    </a:p>
                  </a:txBody>
                  <a:tcPr marL="73152" marR="73152" marT="27432" marB="27432" anchor="ctr">
                    <a:solidFill>
                      <a:srgbClr val="8F5B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Adjacency list + traversal.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Queue + visited nodes.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Distance array + min-priority queue.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R — REFINE</a:t>
                      </a:r>
                    </a:p>
                  </a:txBody>
                  <a:tcPr marL="73152" marR="73152" marT="27432" marB="27432" anchor="ctr">
                    <a:solidFill>
                      <a:srgbClr val="2EA5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Any valid path is enough.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Count edges, not physical distance.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Road weights must represent distance correctly.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76072" y="188823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2587752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" y="3287268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" y="3986784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" y="4686300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38581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0594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6730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866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550468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2031"/>
                </a:solidFill>
              </a:rPr>
              <a:t>Changing the meaning of “best” changes the algorithmic problem.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30" b="1">
                <a:solidFill>
                  <a:srgbClr val="19B7A6"/>
                </a:solidFill>
              </a:rPr>
              <a:t>APPLIED STAIR EXAMPLE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B2031"/>
                </a:solidFill>
              </a:rPr>
              <a:t>Problem 4 — Detect Duplicate Student IDs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0">
                <a:solidFill>
                  <a:srgbClr val="687984"/>
                </a:solidFill>
              </a:rPr>
              <a:t>Multiple correct approaches exist; memory and input size determine which one is practical.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25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76072" y="1417320"/>
          <a:ext cx="11018520" cy="3973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61360"/>
                <a:gridCol w="3261360"/>
                <a:gridCol w="32613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STAIR</a:t>
                      </a:r>
                    </a:p>
                  </a:txBody>
                  <a:tcPr marL="73152" marR="73152" marT="27432" marB="27432" anchor="ctr">
                    <a:solidFill>
                      <a:srgbClr val="0B20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A • 20 IDs</a:t>
                      </a:r>
                    </a:p>
                  </a:txBody>
                  <a:tcPr marL="73152" marR="73152" marT="27432" marB="27432" anchor="ctr">
                    <a:solidFill>
                      <a:srgbClr val="E7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B • LARGE / LOW MEMORY</a:t>
                      </a:r>
                    </a:p>
                  </a:txBody>
                  <a:tcPr marL="73152" marR="73152" marT="27432" marB="27432" anchor="ctr"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C • LARGE / MEMORY OK</a:t>
                      </a:r>
                    </a:p>
                  </a:txBody>
                  <a:tcPr marL="73152" marR="73152" marT="27432" marB="27432" anchor="ctr">
                    <a:solidFill>
                      <a:srgbClr val="EAF0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S — STATE</a:t>
                      </a:r>
                    </a:p>
                  </a:txBody>
                  <a:tcPr marL="73152" marR="73152" marT="27432" marB="27432" anchor="ctr">
                    <a:solidFill>
                      <a:srgbClr val="19B7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Determine whether any duplicate ID exists.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Same goal for a very large dataset with limited memory.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Same goal for a very large dataset with extra memory.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T — TOOLS</a:t>
                      </a:r>
                    </a:p>
                  </a:txBody>
                  <a:tcPr marL="73152" marR="73152" marT="27432" marB="27432" anchor="ctr">
                    <a:solidFill>
                      <a:srgbClr val="4E7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Array.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Array + sorting.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Hash set.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A — ALGORITHM</a:t>
                      </a:r>
                    </a:p>
                  </a:txBody>
                  <a:tcPr marL="73152" marR="73152" marT="27432" marB="27432" anchor="ctr">
                    <a:solidFill>
                      <a:srgbClr val="F6A7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Compare every pair.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Sort, then compare adjacent IDs.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Insert/check each ID in the set.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I — IMPLEMENT</a:t>
                      </a:r>
                    </a:p>
                  </a:txBody>
                  <a:tcPr marL="73152" marR="73152" marT="27432" marB="27432" anchor="ctr">
                    <a:solidFill>
                      <a:srgbClr val="8F5B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Nested loops.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Sorting + one sequential scan.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unordered_set / hash structure.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R — REFINE</a:t>
                      </a:r>
                    </a:p>
                  </a:txBody>
                  <a:tcPr marL="73152" marR="73152" marT="27432" marB="27432" anchor="ctr">
                    <a:solidFill>
                      <a:srgbClr val="2EA5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Simplicity is reasonable at tiny scale.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Avoid extra hash memory.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Use memory to avoid repeated searching.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76072" y="188823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2587752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" y="3287268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" y="3986784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" y="4686300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38581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0594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6730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866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550468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2031"/>
                </a:solidFill>
              </a:rPr>
              <a:t>Correctness alone does not choose among several valid algorithms.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30" b="1">
                <a:solidFill>
                  <a:srgbClr val="19B7A6"/>
                </a:solidFill>
              </a:rPr>
              <a:t>APPLIED STAIR EXAMPLE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B2031"/>
                </a:solidFill>
              </a:rPr>
              <a:t>Problem 5 — Highest Marks / Top Students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0">
                <a:solidFill>
                  <a:srgbClr val="687984"/>
                </a:solidFill>
              </a:rPr>
              <a:t>A small change in required output can change what must be stored and how it is processed.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26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76072" y="1417320"/>
          <a:ext cx="11018520" cy="3973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61360"/>
                <a:gridCol w="3261360"/>
                <a:gridCol w="32613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STAIR</a:t>
                      </a:r>
                    </a:p>
                  </a:txBody>
                  <a:tcPr marL="73152" marR="73152" marT="27432" marB="27432" anchor="ctr">
                    <a:solidFill>
                      <a:srgbClr val="0B20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A • MAX ONCE</a:t>
                      </a:r>
                    </a:p>
                  </a:txBody>
                  <a:tcPr marL="73152" marR="73152" marT="27432" marB="27432" anchor="ctr">
                    <a:solidFill>
                      <a:srgbClr val="E7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B • STREAMING</a:t>
                      </a:r>
                    </a:p>
                  </a:txBody>
                  <a:tcPr marL="73152" marR="73152" marT="27432" marB="27432" anchor="ctr"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031"/>
                          </a:solidFill>
                        </a:rPr>
                        <a:t>CASE C • TOP 10</a:t>
                      </a:r>
                    </a:p>
                  </a:txBody>
                  <a:tcPr marL="73152" marR="73152" marT="27432" marB="27432" anchor="ctr">
                    <a:solidFill>
                      <a:srgbClr val="EAF0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S — STATE</a:t>
                      </a:r>
                    </a:p>
                  </a:txBody>
                  <a:tcPr marL="73152" marR="73152" marT="27432" marB="27432" anchor="ctr">
                    <a:solidFill>
                      <a:srgbClr val="19B7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Find the highest mark in a completed class list.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Maintain the highest mark as results arrive continuously.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Find the ten highest-scoring students.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T — TOOLS</a:t>
                      </a:r>
                    </a:p>
                  </a:txBody>
                  <a:tcPr marL="73152" marR="73152" marT="27432" marB="27432" anchor="ctr">
                    <a:solidFill>
                      <a:srgbClr val="4E7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Array + max variable.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Single max variable / stream.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Min-heap of size 10.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A — ALGORITHM</a:t>
                      </a:r>
                    </a:p>
                  </a:txBody>
                  <a:tcPr marL="73152" marR="73152" marT="27432" marB="27432" anchor="ctr">
                    <a:solidFill>
                      <a:srgbClr val="F6A7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Scan once and update maximum.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Compare each new mark with current maximum.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Maintain the best 10 while scanning.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I — IMPLEMENT</a:t>
                      </a:r>
                    </a:p>
                  </a:txBody>
                  <a:tcPr marL="73152" marR="73152" marT="27432" marB="27432" anchor="ctr">
                    <a:solidFill>
                      <a:srgbClr val="8F5B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for loop over stored marks.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Update max on each arrival; no full list required.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Insert into heap; remove smallest when size &gt; 10.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</a:rPr>
                        <a:t>R — REFINE</a:t>
                      </a:r>
                    </a:p>
                  </a:txBody>
                  <a:tcPr marL="73152" marR="73152" marT="27432" marB="27432" anchor="ctr">
                    <a:solidFill>
                      <a:srgbClr val="2EA5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Simple scan is enough.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Do not store data you do not need.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8313F"/>
                          </a:solidFill>
                        </a:rPr>
                        <a:t>Heap avoids repeatedly sorting the full dataset.</a:t>
                      </a:r>
                    </a:p>
                  </a:txBody>
                  <a:tcPr marL="73152" marR="73152" marT="27432" marB="27432" anchor="ctr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76072" y="188823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2587752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" y="3287268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" y="3986784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" y="4686300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385816"/>
            <a:ext cx="11018520" cy="9144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0594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6730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8660" y="1417320"/>
            <a:ext cx="9144" cy="3977639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550468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2031"/>
                </a:solidFill>
              </a:rPr>
              <a:t>Output requirements influence both the tool and the algorithm.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630" b="1">
                <a:solidFill>
                  <a:srgbClr val="19B7A6"/>
                </a:solidFill>
              </a:rPr>
              <a:t>CLASS ACTIVITY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B2031"/>
                </a:solidFill>
              </a:rPr>
              <a:t>Transfer the STAIR reasoning to a new case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>
                <a:solidFill>
                  <a:srgbClr val="687984"/>
                </a:solidFill>
              </a:rPr>
              <a:t>Do not name an algorithm first. Identify the requirement, input property, or constraint that drives the choice.</a:t>
            </a:r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520440" cy="3749040"/>
          </a:xfrm>
          <a:prstGeom prst="roundRect">
            <a:avLst>
              <a:gd name="adj" fmla="val 1818"/>
            </a:avLst>
          </a:prstGeom>
          <a:solidFill>
            <a:srgbClr val="E7F7F4"/>
          </a:solidFill>
          <a:ln w="10160">
            <a:solidFill>
              <a:srgbClr val="E3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41148" cy="374904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58952" y="163677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CASE A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58952" y="1947672"/>
            <a:ext cx="3209544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20 unsorted numbers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One search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What is the simplest sensible approach?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520440" cy="3749040"/>
          </a:xfrm>
          <a:prstGeom prst="roundRect">
            <a:avLst>
              <a:gd name="adj" fmla="val 1818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41148" cy="374904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53712" y="163677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CASE B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53712" y="1947672"/>
            <a:ext cx="3209544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1,000,000 sorted IDs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One search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Which property should you exploit?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3520440" cy="3749040"/>
          </a:xfrm>
          <a:prstGeom prst="roundRect">
            <a:avLst>
              <a:gd name="adj" fmla="val 1818"/>
            </a:avLst>
          </a:prstGeom>
          <a:solidFill>
            <a:srgbClr val="EAF0FD"/>
          </a:solidFill>
          <a:ln w="10160">
            <a:solidFill>
              <a:srgbClr val="E3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41148" cy="3749040"/>
          </a:xfrm>
          <a:prstGeom prst="rect">
            <a:avLst/>
          </a:prstGeom>
          <a:solidFill>
            <a:srgbClr val="4E79D9"/>
          </a:solidFill>
          <a:ln w="12700">
            <a:solidFill>
              <a:srgbClr val="4E7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348472" y="163677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CASE C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348472" y="1947672"/>
            <a:ext cx="3209544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1,000,000 records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50,000 searches/day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Extra memory available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13F"/>
                </a:solidFill>
              </a:rPr>
              <a:t>Would preprocessing or indexing be justified?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1828800" y="5532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031"/>
                </a:solidFill>
              </a:rPr>
              <a:t>Your answer must mention input characteristics, constraints, and expected usage.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kern="0" spc="110" dirty="0">
                <a:solidFill>
                  <a:srgbClr val="19B7A6"/>
                </a:solidFill>
              </a:rPr>
              <a:t>PRACTICE</a:t>
            </a:r>
            <a:endParaRPr lang="en-US" sz="63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31"/>
                </a:solidFill>
              </a:rPr>
              <a:t>Recommended textbook exercises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4"/>
                </a:solidFill>
              </a:rPr>
              <a:t>Use the question numbers below from Levitin, 3rd edition, Exercises 1.2.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4924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0160">
            <a:solidFill>
              <a:srgbClr val="E3EAF0"/>
            </a:solidFill>
            <a:prstDash val="solid"/>
          </a:ln>
          <a:effectLst>
            <a:outerShdw blurRad="12700" dist="50800" dir="2700000" algn="bl" rotWithShape="0">
              <a:srgbClr val="D5DCE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" cy="4343400"/>
          </a:xfrm>
          <a:prstGeom prst="rect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CORE EXERCISES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50392" y="1856232"/>
            <a:ext cx="5038344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18313F"/>
                </a:solidFill>
              </a:rPr>
              <a:t>Q1 — Old World river-crossing puzzle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8313F"/>
                </a:solidFill>
              </a:rPr>
              <a:t>Apply disciplined problem understanding and state constraints explicitly.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8313F"/>
                </a:solidFill>
              </a:rPr>
              <a:t>Q2 — Bridge-and-flashlight puzzle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8313F"/>
                </a:solidFill>
              </a:rPr>
              <a:t>Compare possible move sequences and justify a feasible plan.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8313F"/>
                </a:solidFill>
              </a:rPr>
              <a:t>Q9 — Improve the given minimum-distance algorithm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8313F"/>
                </a:solidFill>
              </a:rPr>
              <a:t>Look for implementation improvements and, if necessary, a better overall algorithm.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4343400"/>
          </a:xfrm>
          <a:prstGeom prst="roundRect">
            <a:avLst>
              <a:gd name="adj" fmla="val 1474"/>
            </a:avLst>
          </a:prstGeom>
          <a:solidFill>
            <a:srgbClr val="FFF4D9"/>
          </a:solidFill>
          <a:ln w="10160">
            <a:solidFill>
              <a:srgbClr val="E3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41148" cy="4343400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4533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2031"/>
                </a:solidFill>
              </a:rPr>
              <a:t>OPTIONAL / DISCUSSION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382512" y="1856232"/>
            <a:ext cx="4992624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18313F"/>
                </a:solidFill>
              </a:rPr>
              <a:t>Q10 — Compare Pólya’s four-step problem-solving plan with the process in Levitin §1.2.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8313F"/>
                </a:solidFill>
              </a:rPr>
              <a:t>Suggested submission focus: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8313F"/>
                </a:solidFill>
              </a:rPr>
              <a:t>• problem statement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8313F"/>
                </a:solidFill>
              </a:rPr>
              <a:t>• available tools / assumptions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8313F"/>
                </a:solidFill>
              </a:rPr>
              <a:t>• algorithm idea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8313F"/>
                </a:solidFill>
              </a:rPr>
              <a:t>• refinement opportunities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8313F"/>
                </a:solidFill>
              </a:rPr>
              <a:t>Do not use formal asymptotic analysis yet unless asked.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2194560" y="58978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87984"/>
                </a:solidFill>
              </a:rPr>
              <a:t>Reading: Levitin §1.2 — Fundamentals of Algorithmic Problem Solving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89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71500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kern="0" spc="30" dirty="0">
                <a:solidFill>
                  <a:srgbClr val="0B2031"/>
                </a:solidFill>
              </a:rPr>
              <a:t>LECTURE 02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Five ideas to carry forward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10896" cy="310896"/>
          </a:xfrm>
          <a:prstGeom prst="ellipse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568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2031"/>
                </a:solidFill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CF2"/>
                </a:solidFill>
              </a:rPr>
              <a:t>State the problem before designing a solution.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551176"/>
            <a:ext cx="310896" cy="310896"/>
          </a:xfrm>
          <a:prstGeom prst="ellipse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334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2031"/>
                </a:solidFill>
              </a:rPr>
              <a:t>2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23444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CF2"/>
                </a:solidFill>
              </a:rPr>
              <a:t>Input characteristics and output requirements matter.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27832"/>
            <a:ext cx="310896" cy="310896"/>
          </a:xfrm>
          <a:prstGeom prst="ellipse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101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2031"/>
                </a:solidFill>
              </a:rPr>
              <a:t>3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234440" y="32095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CF2"/>
                </a:solidFill>
              </a:rPr>
              <a:t>Algorithm choice depends on constraints and available resources.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904488"/>
            <a:ext cx="310896" cy="310896"/>
          </a:xfrm>
          <a:prstGeom prst="ellipse">
            <a:avLst/>
          </a:prstGeom>
          <a:solidFill>
            <a:srgbClr val="19B7A6"/>
          </a:solidFill>
          <a:ln w="12700">
            <a:solidFill>
              <a:srgbClr val="19B7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8678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2031"/>
                </a:solidFill>
              </a:rPr>
              <a:t>4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234440" y="3886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CF2"/>
                </a:solidFill>
              </a:rPr>
              <a:t>Several correct approaches may exist for the same problem.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581144"/>
            <a:ext cx="310896" cy="310896"/>
          </a:xfrm>
          <a:prstGeom prst="ellipse">
            <a:avLst/>
          </a:prstGeom>
          <a:solidFill>
            <a:srgbClr val="F6A70B"/>
          </a:solidFill>
          <a:ln w="12700">
            <a:solidFill>
              <a:srgbClr val="F6A7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634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2031"/>
                </a:solidFill>
              </a:rPr>
              <a:t>5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234440" y="45628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CF2"/>
                </a:solidFill>
              </a:rPr>
              <a:t>Refinement can send us back to any earlier STAIR stage.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192024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123651"/>
          </a:solidFill>
          <a:ln w="12700">
            <a:solidFill>
              <a:srgbClr val="244B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22402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9B7A6"/>
                </a:solidFill>
              </a:rPr>
              <a:t>NEXT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778240" y="2697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Algorithm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Correctness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Fundamentals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0" y="38404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AFC1CE"/>
                </a:solidFill>
              </a:rPr>
              <a:t>Preconditions • postconditions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AFC1CE"/>
                </a:solidFill>
              </a:rPr>
              <a:t>partial vs. total correctness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502920" y="636422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295A2"/>
                </a:solidFill>
              </a:rPr>
              <a:t>CSC301 • Design and Analysis of Algorithms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7498080" y="63642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8295A2"/>
                </a:solidFill>
              </a:rPr>
              <a:t>COMSATS University Islamabad • Fall 2026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2798</Words>
  <Application>Microsoft Office PowerPoint</Application>
  <PresentationFormat>Widescreen</PresentationFormat>
  <Paragraphs>606</Paragraphs>
  <Slides>29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COMSATS University Islamabad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02 - Fundamentals of Algorithmic Problem Solving</dc:title>
  <dc:subject>CSC301 Design and Analysis of Algorithms</dc:subject>
  <dc:creator>COMSATS University Islamabad, Attock Campus</dc:creator>
  <cp:lastModifiedBy>Windows User</cp:lastModifiedBy>
  <cp:revision>2</cp:revision>
  <dcterms:created xsi:type="dcterms:W3CDTF">2026-09-04T09:57:30Z</dcterms:created>
  <dcterms:modified xsi:type="dcterms:W3CDTF">2026-09-09T11:37:32Z</dcterms:modified>
</cp:coreProperties>
</file>