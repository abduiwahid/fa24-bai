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6"/>
    <p:sldId id="282" r:id="rId5"/>
    <p:sldId id="283" r:id="rId4"/>
    <p:sldId id="284" r:id="rId3"/>
    <p:sldId id="285" r:id="rId2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0.xml"/><Relationship Id="rId3" Type="http://schemas.openxmlformats.org/officeDocument/2006/relationships/slide" Target="slides/slide29.xml"/><Relationship Id="rId4" Type="http://schemas.openxmlformats.org/officeDocument/2006/relationships/slide" Target="slides/slide28.xml"/><Relationship Id="rId5" Type="http://schemas.openxmlformats.org/officeDocument/2006/relationships/slide" Target="slides/slide27.xml"/><Relationship Id="rId6" Type="http://schemas.openxmlformats.org/officeDocument/2006/relationships/slide" Target="slides/slide2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1750">
            <a:solidFill>
              <a:srgbClr val="2FC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1750">
            <a:solidFill>
              <a:srgbClr val="FF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1371600" cy="2743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13716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LECTURE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Algorithm
Correctness
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529584"/>
            <a:ext cx="6035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How do we know an algorithm is actually correct?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041648"/>
            <a:ext cx="61264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C8D4DC"/>
                </a:solidFill>
                <a:latin typeface="Aptos"/>
              </a:rPr>
              <a:t>From “it seems to work” to showing that it works for every valid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3566160" cy="3520440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16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3568" y="1664208"/>
            <a:ext cx="2514600" cy="45720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773936"/>
            <a:ext cx="25146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0B2233"/>
                </a:solidFill>
                <a:latin typeface="Aptos Display"/>
              </a:rPr>
              <a:t>VALID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2167128"/>
            <a:ext cx="3657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2578608"/>
            <a:ext cx="2514600" cy="45720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2688336"/>
            <a:ext cx="25146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0B2233"/>
                </a:solidFill>
                <a:latin typeface="Aptos Display"/>
              </a:rPr>
              <a:t>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3081528"/>
            <a:ext cx="3657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3493008"/>
            <a:ext cx="2514600" cy="457200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3602736"/>
            <a:ext cx="25146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0B2233"/>
                </a:solidFill>
                <a:latin typeface="Aptos Display"/>
              </a:rPr>
              <a:t>REQUIRED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983480"/>
            <a:ext cx="2743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2FC7BA"/>
                </a:solidFill>
                <a:latin typeface="Aptos Display"/>
              </a:rPr>
              <a:t>How do we know
this ALWAYS works?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371600" cy="274320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3716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Working once does not mean 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few successful tests can hide a correctness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3794760" cy="315468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828800"/>
            <a:ext cx="35387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465576" cy="2697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MAX-WRONG(A)
largest ← 0
for each x in A
    if x &gt; largest
        largest ← x
return largest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737360"/>
            <a:ext cx="3017520" cy="132588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1737360"/>
            <a:ext cx="36576" cy="132588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1847088"/>
            <a:ext cx="27614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TEST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2176272"/>
            <a:ext cx="2761487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C2B36"/>
                </a:solidFill>
                <a:latin typeface="Aptos"/>
              </a:rPr>
              <a:t>A = [3, 8, 5]
Output = 8 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017520" cy="1325880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6576" cy="1325880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847088"/>
            <a:ext cx="27614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TEST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176272"/>
            <a:ext cx="2761487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1C2B36"/>
                </a:solidFill>
                <a:latin typeface="Aptos"/>
              </a:rPr>
              <a:t>A = [−8, −3, −12]
Output = 0  ✗
Correct answer = −3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3401568"/>
            <a:ext cx="6355080" cy="12344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520440"/>
            <a:ext cx="6172200" cy="67894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1C2B36"/>
                </a:solidFill>
                <a:latin typeface="Aptos Display"/>
              </a:rPr>
              <a:t>Passing tests ≠ proof of correctness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4179265"/>
            <a:ext cx="6135624" cy="34564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65727E"/>
                </a:solidFill>
                <a:latin typeface="Aptos"/>
              </a:rPr>
              <a:t>We need a way to reason about every valid input.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03520"/>
            <a:ext cx="10469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1C2B36"/>
                </a:solidFill>
                <a:latin typeface="Aptos Display"/>
              </a:rPr>
              <a:t>Lecture 3 develops the language and reasoning tools needed to make that claim precise.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563624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563624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CDF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What will we learn today?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 CDF language is translated here into the questions students should be able to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3401568" cy="1572768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920240"/>
            <a:ext cx="411480" cy="256032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47672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1929384"/>
            <a:ext cx="2542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Before an algorithm starts — what must already be true?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43784"/>
            <a:ext cx="3017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2FC7BA"/>
                </a:solidFill>
                <a:latin typeface="Aptos Display"/>
              </a:rPr>
              <a:t>PRECONDITIONS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783080"/>
            <a:ext cx="3401568" cy="1572768"/>
          </a:xfrm>
          <a:prstGeom prst="roundRect">
            <a:avLst/>
          </a:prstGeom>
          <a:solidFill>
            <a:srgbClr val="FFF3C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6552" y="1920240"/>
            <a:ext cx="411480" cy="256032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947672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1929384"/>
            <a:ext cx="2542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After it finishes — what must be true about the result?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43784"/>
            <a:ext cx="3017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FFB000"/>
                </a:solidFill>
                <a:latin typeface="Aptos Display"/>
              </a:rPr>
              <a:t>POSTCONDITIONS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7" y="1783080"/>
            <a:ext cx="3401568" cy="1572768"/>
          </a:xfrm>
          <a:prstGeom prst="roundRect">
            <a:avLst/>
          </a:prstGeom>
          <a:solidFill>
            <a:srgbClr val="ECF1FC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19871" y="1920240"/>
            <a:ext cx="411480" cy="256032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1947672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1929384"/>
            <a:ext cx="2542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What if the result is right whenever execution finishes?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843784"/>
            <a:ext cx="3017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5D82D9"/>
                </a:solidFill>
                <a:latin typeface="Aptos Display"/>
              </a:rPr>
              <a:t>PARTIAL CORRECTNESS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49039"/>
            <a:ext cx="3401568" cy="1572768"/>
          </a:xfrm>
          <a:prstGeom prst="roundRect">
            <a:avLst/>
          </a:prstGeom>
          <a:solidFill>
            <a:srgbClr val="F3ECFB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" y="3886200"/>
            <a:ext cx="411480" cy="256032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13632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5" y="3895344"/>
            <a:ext cx="2542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How do we know the algorithm actually finishes?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9744"/>
            <a:ext cx="3017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9B6AD6"/>
                </a:solidFill>
                <a:latin typeface="Aptos Display"/>
              </a:rPr>
              <a:t>TERMINATION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3749039"/>
            <a:ext cx="3401568" cy="1572768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16552" y="3886200"/>
            <a:ext cx="411480" cy="256032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2" y="3913632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3895344"/>
            <a:ext cx="2542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When can we call an algorithm completely correct?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809744"/>
            <a:ext cx="3017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46B97C"/>
                </a:solidFill>
                <a:latin typeface="Aptos Display"/>
              </a:rPr>
              <a:t>TOTAL CORRECTNESS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7" y="3749039"/>
            <a:ext cx="3401568" cy="1572768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9871" y="3886200"/>
            <a:ext cx="411480" cy="256032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1" y="3913632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6" y="3895344"/>
            <a:ext cx="2542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How do we reason about all of this systematically?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9" y="4809744"/>
            <a:ext cx="3017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E97070"/>
                </a:solidFill>
                <a:latin typeface="Aptos Display"/>
              </a:rPr>
              <a:t>MAXIMUM-FINDING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1371600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13716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COURSE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Where Lecture 3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874519" cy="1572768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2A5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FC7BA"/>
                </a:solidFill>
                <a:latin typeface="Aptos Display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697480"/>
            <a:ext cx="1618488" cy="5760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Aptos Display"/>
              </a:rPr>
              <a:t>What is an algorithm?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60604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C8D4DC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57400"/>
            <a:ext cx="1874519" cy="1572768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2A5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267712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FC7BA"/>
                </a:solidFill>
                <a:latin typeface="Aptos Display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697480"/>
            <a:ext cx="1618488" cy="5760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Aptos Display"/>
              </a:rPr>
              <a:t>How do we design a solution?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60604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C8D4DC"/>
                </a:solidFill>
                <a:latin typeface="Aptos Display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057400"/>
            <a:ext cx="1874519" cy="1572768"/>
          </a:xfrm>
          <a:prstGeom prst="roundRect">
            <a:avLst/>
          </a:prstGeom>
          <a:solidFill>
            <a:srgbClr val="163C56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267712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B000"/>
                </a:solidFill>
                <a:latin typeface="Aptos Display"/>
              </a:rP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97480"/>
            <a:ext cx="1618488" cy="5760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Aptos Display"/>
              </a:rPr>
              <a:t>How do we decide whether it is correct?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260604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C8D4DC"/>
                </a:solidFill>
                <a:latin typeface="Aptos Display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057400"/>
            <a:ext cx="1874519" cy="1572768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2A5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267712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FC7BA"/>
                </a:solidFill>
                <a:latin typeface="Aptos Display"/>
              </a:rPr>
              <a:t>L4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6" y="2697480"/>
            <a:ext cx="1618488" cy="5760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Aptos Display"/>
              </a:rPr>
              <a:t>How do we prove iterative algorithms?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60604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C8D4DC"/>
                </a:solidFill>
                <a:latin typeface="Aptos Display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057400"/>
            <a:ext cx="1874519" cy="1572768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2A5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267712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FC7BA"/>
                </a:solidFill>
                <a:latin typeface="Aptos Display"/>
              </a:rPr>
              <a:t>L5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2697480"/>
            <a:ext cx="1618488" cy="5760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Aptos Display"/>
              </a:rPr>
              <a:t>How do we prove recursive algorithms?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97680"/>
            <a:ext cx="10149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 Display"/>
              </a:rPr>
              <a:t>Today we build the foundation needed for the proofs in Lectures 4 and 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4892040"/>
            <a:ext cx="5669280" cy="841248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5010912"/>
            <a:ext cx="5486400" cy="4626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Preconditions → Algorithm → Postconditions  +  Termination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Recall: properties of an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Lecture 1 introduced the properties. Lecture 3 now zooms in on correctness and finiteness.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5074920" cy="786384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36576" cy="786384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73936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1" i="0">
                <a:solidFill>
                  <a:srgbClr val="2FC7BA"/>
                </a:solidFill>
                <a:latin typeface="Aptos Display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03120"/>
            <a:ext cx="4818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 i="0">
                <a:solidFill>
                  <a:srgbClr val="1C2B36"/>
                </a:solidFill>
                <a:latin typeface="Aptos"/>
              </a:rPr>
              <a:t>accepts values from the stated input 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664208"/>
            <a:ext cx="5074920" cy="786384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664208"/>
            <a:ext cx="36576" cy="78638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773936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1" i="0">
                <a:solidFill>
                  <a:srgbClr val="FFB000"/>
                </a:solidFill>
                <a:latin typeface="Aptos Display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103120"/>
            <a:ext cx="4818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 i="0">
                <a:solidFill>
                  <a:srgbClr val="1C2B36"/>
                </a:solidFill>
                <a:latin typeface="Aptos"/>
              </a:rPr>
              <a:t>produces the result required by the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074920" cy="786384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670048"/>
            <a:ext cx="36576" cy="786384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779776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1" i="0">
                <a:solidFill>
                  <a:srgbClr val="5D82D9"/>
                </a:solidFill>
                <a:latin typeface="Aptos Display"/>
              </a:rP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108960"/>
            <a:ext cx="4818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 i="0">
                <a:solidFill>
                  <a:srgbClr val="1C2B36"/>
                </a:solidFill>
                <a:latin typeface="Aptos"/>
              </a:rPr>
              <a:t>operations are accurately specified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670048"/>
            <a:ext cx="5074920" cy="786384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3328" y="2670048"/>
            <a:ext cx="36576" cy="786384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2779776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1" i="0">
                <a:solidFill>
                  <a:srgbClr val="9B6AD6"/>
                </a:solidFill>
                <a:latin typeface="Aptos Display"/>
              </a:rPr>
              <a:t>DEFINITENESS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3108960"/>
            <a:ext cx="4818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 i="0">
                <a:solidFill>
                  <a:srgbClr val="1C2B36"/>
                </a:solidFill>
                <a:latin typeface="Aptos"/>
              </a:rPr>
              <a:t>every step has one clear meaning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675888"/>
            <a:ext cx="5074920" cy="786384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675888"/>
            <a:ext cx="36576" cy="786384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785616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1" i="0">
                <a:solidFill>
                  <a:srgbClr val="46B97C"/>
                </a:solidFill>
                <a:latin typeface="Aptos Display"/>
              </a:rPr>
              <a:t>FINITENESS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114800"/>
            <a:ext cx="4818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 i="0">
                <a:solidFill>
                  <a:srgbClr val="1C2B36"/>
                </a:solidFill>
                <a:latin typeface="Aptos"/>
              </a:rPr>
              <a:t>eventually terminates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53328" y="3675888"/>
            <a:ext cx="5074920" cy="786384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53328" y="3675888"/>
            <a:ext cx="36576" cy="786384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3785616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1" i="0">
                <a:solidFill>
                  <a:srgbClr val="E97070"/>
                </a:solidFill>
                <a:latin typeface="Aptos Display"/>
              </a:rPr>
              <a:t>GENERALITY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4114800"/>
            <a:ext cx="4818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 i="0">
                <a:solidFill>
                  <a:srgbClr val="1C2B36"/>
                </a:solidFill>
                <a:latin typeface="Aptos"/>
              </a:rPr>
              <a:t>works for the complete stated input domain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681728"/>
            <a:ext cx="5074920" cy="786384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681728"/>
            <a:ext cx="36576" cy="786384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791456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1" i="0">
                <a:solidFill>
                  <a:srgbClr val="2FC7BA"/>
                </a:solidFill>
                <a:latin typeface="Aptos Display"/>
              </a:rPr>
              <a:t>CORRECTNESS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20640"/>
            <a:ext cx="4818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 i="0">
                <a:solidFill>
                  <a:srgbClr val="1C2B36"/>
                </a:solidFill>
                <a:latin typeface="Aptos"/>
              </a:rPr>
              <a:t>produces the required result for every valid input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5650992"/>
            <a:ext cx="6446520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1800" y="5769864"/>
            <a:ext cx="6263640" cy="31181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C2B36"/>
                </a:solidFill>
                <a:latin typeface="Aptos Display"/>
              </a:rPr>
              <a:t>Today: CORRECTNESS + FINITENESS → complete correctness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563624" cy="274320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563624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PROPERTIES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Understanding algorithm properties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Use MAX2(a,b) to separate four ideas students often mix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00784"/>
            <a:ext cx="2788920" cy="3639312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792224"/>
            <a:ext cx="2532887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2459736" cy="31821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MAX2(a,b)
if a ≥ b
    return a
else
    return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1024" y="1700784"/>
            <a:ext cx="3675887" cy="1417320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21024" y="1700784"/>
            <a:ext cx="36576" cy="141732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1810512"/>
            <a:ext cx="3419855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139696"/>
            <a:ext cx="3419855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What comes in?
Here: a and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1700784"/>
            <a:ext cx="3675887" cy="141732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2088" y="1700784"/>
            <a:ext cx="36576" cy="14173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810512"/>
            <a:ext cx="3419855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2139696"/>
            <a:ext cx="3419855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What must come out?
Here: the larger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21024" y="3383280"/>
            <a:ext cx="3675887" cy="1417320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21024" y="3383280"/>
            <a:ext cx="36576" cy="1417320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3493008"/>
            <a:ext cx="3419855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5D82D9"/>
                </a:solidFill>
                <a:latin typeface="Aptos Display"/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3822191"/>
            <a:ext cx="3419855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"/>
              </a:rPr>
              <a:t>Is the operation specified accurately?
Good: if a ≥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62088" y="3383280"/>
            <a:ext cx="3675887" cy="1417320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62088" y="3383280"/>
            <a:ext cx="36576" cy="1417320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3493008"/>
            <a:ext cx="3419855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DEFINITENESS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3822191"/>
            <a:ext cx="3419855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1C2B36"/>
                </a:solidFill>
                <a:latin typeface="Aptos"/>
              </a:rPr>
              <a:t>Can the instruction have only one meaning?
Bad: “return the one that looks bigger”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21024" y="5074920"/>
            <a:ext cx="7616952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12463" y="5193792"/>
            <a:ext cx="7434072" cy="36210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80" b="1" i="0">
                <a:solidFill>
                  <a:srgbClr val="1C2B36"/>
                </a:solidFill>
                <a:latin typeface="Aptos Display"/>
              </a:rPr>
              <a:t>Precision = accurate operation   |   Definiteness = unambiguous instruction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659636" cy="274320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659636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PROPERTIES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Understanding algorithm properties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These three properties lead directly into formal correctness.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2880360" cy="356616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828800"/>
            <a:ext cx="26243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2551176" cy="3108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SUM(n)
total ← 0
for i ← 1 to n
    total ← total + i
return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1737360"/>
            <a:ext cx="2331720" cy="1874519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1737360"/>
            <a:ext cx="36576" cy="1874519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9624" y="1847088"/>
            <a:ext cx="20756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FINITENESS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2176272"/>
            <a:ext cx="2075687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C2B36"/>
                </a:solidFill>
                <a:latin typeface="Aptos"/>
              </a:rPr>
              <a:t>Will it stop?
The loop progresses from 1 toward n and eventually 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737360"/>
            <a:ext cx="2331720" cy="1874519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737360"/>
            <a:ext cx="36576" cy="1874519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847088"/>
            <a:ext cx="20756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GENERALITY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76272"/>
            <a:ext cx="2075687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9" b="0" i="0">
                <a:solidFill>
                  <a:srgbClr val="1C2B36"/>
                </a:solidFill>
                <a:latin typeface="Aptos"/>
              </a:rPr>
              <a:t>Does it solve the whole stated problem?
print 5050 solves only n = 100.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42248" y="1737360"/>
            <a:ext cx="2331720" cy="1874519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42248" y="1737360"/>
            <a:ext cx="36576" cy="1874519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1847088"/>
            <a:ext cx="20756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CORRECTNESS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176272"/>
            <a:ext cx="2075687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 i="0">
                <a:solidFill>
                  <a:srgbClr val="1C2B36"/>
                </a:solidFill>
                <a:latin typeface="Aptos"/>
              </a:rPr>
              <a:t>Does it produce the required result for every valid input?
Testing examples alone cannot prove this.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3977639"/>
            <a:ext cx="7470648" cy="84124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4096511"/>
            <a:ext cx="7287768" cy="4626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C2B36"/>
                </a:solidFill>
                <a:latin typeface="Aptos Display"/>
              </a:rPr>
              <a:t>Lecture 1: these are properties   →   Lecture 3: how do we establish them?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5074920"/>
            <a:ext cx="731520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0" i="0">
                <a:solidFill>
                  <a:srgbClr val="65727E"/>
                </a:solidFill>
                <a:latin typeface="Aptos"/>
              </a:rPr>
              <a:t>Finiteness will become termination reasoning; correctness will become a formal claim about valid inputs and required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From “it works” to “it is correct”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Testing gives evidence. Correctness makes a claim about the entire valid input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3291840" cy="219456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6576" cy="219456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938528"/>
            <a:ext cx="303580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267712"/>
            <a:ext cx="3035808" cy="1664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“Does it work for these examples?”
MAX([3,8,5]) → 8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2578608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65727E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291840" cy="219456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28800"/>
            <a:ext cx="36576" cy="21945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938528"/>
            <a:ext cx="303580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CORRECTNESS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267712"/>
            <a:ext cx="3035808" cy="1664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“Does it work for every valid input?”
What about all-negative arrays?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2578608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65727E"/>
                </a:solidFill>
                <a:latin typeface="Aptos Display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28800"/>
            <a:ext cx="3291840" cy="2194560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828800"/>
            <a:ext cx="36576" cy="2194560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938528"/>
            <a:ext cx="303580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5D82D9"/>
                </a:solidFill>
                <a:latin typeface="Aptos Display"/>
              </a:rPr>
              <a:t>FORMAL 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267712"/>
            <a:ext cx="3035808" cy="1664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“Why must valid input lead to the required output?”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4617720"/>
            <a:ext cx="8458200" cy="80467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4736592"/>
            <a:ext cx="8275320" cy="44256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C2B36"/>
                </a:solidFill>
                <a:latin typeface="Aptos Display"/>
              </a:rPr>
              <a:t>A few successful tests cannot establish correctness for every valid 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1563624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1563624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Correctness starts with two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2FC7BA"/>
                </a:solidFill>
                <a:latin typeface="Aptos Display"/>
              </a:rPr>
              <a:t>BEFORE the algorithm runs…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48006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 Display"/>
              </a:rPr>
              <a:t>What must already be true?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FB000"/>
                </a:solidFill>
                <a:latin typeface="Aptos Display"/>
              </a:rPr>
              <a:t>AFTER the algorithm finishes…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59152"/>
            <a:ext cx="48006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 Display"/>
              </a:rPr>
              <a:t>What must now be true?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8112" y="2441448"/>
            <a:ext cx="1097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1" i="0">
                <a:solidFill>
                  <a:srgbClr val="C8D4DC"/>
                </a:solidFill>
                <a:latin typeface="Aptos Display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493008"/>
            <a:ext cx="2103120" cy="256032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3520439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0B2233"/>
                </a:solidFill>
                <a:latin typeface="Aptos Display"/>
              </a:rPr>
              <a:t>PRECONDITION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493008"/>
            <a:ext cx="2103120" cy="256032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520439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0B2233"/>
                </a:solidFill>
                <a:latin typeface="Aptos Display"/>
              </a:rPr>
              <a:t>POSTCONDITION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572000"/>
            <a:ext cx="10058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A correctness claim connects a valid starting condition to a required finishing condition.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659636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659636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PRECONDITIONS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Preconditions — what must be true before we start?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precondition defines the valid starting state under which the algorithm promises to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3401568" cy="2057400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36576" cy="205740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31455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3145536" cy="1527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 i="0">
                <a:solidFill>
                  <a:srgbClr val="1C2B36"/>
                </a:solidFill>
                <a:latin typeface="Aptos"/>
              </a:rPr>
              <a:t>DIVIDE(a,b)
return a / b
Precondition: b ≠ 0
English: the divisor must not be zero.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55648"/>
            <a:ext cx="3401568" cy="2057400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55648"/>
            <a:ext cx="36576" cy="2057400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65376"/>
            <a:ext cx="31455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5D82D9"/>
                </a:solidFill>
                <a:latin typeface="Aptos Display"/>
              </a:rPr>
              <a:t>FIRST ELEMENT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194560"/>
            <a:ext cx="3145536" cy="1527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 i="0">
                <a:solidFill>
                  <a:srgbClr val="1C2B36"/>
                </a:solidFill>
                <a:latin typeface="Aptos"/>
              </a:rPr>
              <a:t>FIRST(A)
return A[0]
Precondition: |A| ≥ 1
English: the array must not be empty.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755648"/>
            <a:ext cx="3401568" cy="205740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755648"/>
            <a:ext cx="36576" cy="20574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865376"/>
            <a:ext cx="31455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BINARY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194560"/>
            <a:ext cx="3145536" cy="1527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 i="0">
                <a:solidFill>
                  <a:srgbClr val="1C2B36"/>
                </a:solidFill>
                <a:latin typeface="Aptos"/>
              </a:rPr>
              <a:t>BINARY-SEARCH(A,x)
Precondition: A is sorted
English: the algorithm relies on ordering.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343400"/>
            <a:ext cx="9326880" cy="7772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462272"/>
            <a:ext cx="9144000" cy="42748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30" b="1" i="0">
                <a:solidFill>
                  <a:srgbClr val="1C2B36"/>
                </a:solidFill>
                <a:latin typeface="Aptos Display"/>
              </a:rPr>
              <a:t>A precondition answers: “Under what conditions does this algorithm promise to work?”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1324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E97070"/>
                </a:solidFill>
                <a:latin typeface="Aptos Display"/>
              </a:rPr>
              <a:t>If the precondition is false, the correctness guarantee may no longer apply.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659636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659636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PRECONDITIONS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Where do preconditions come from?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They are not arbitrary: they come from the problem, the operations, and the assumptions used by the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10881360" cy="658368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73936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FC7BA"/>
                </a:solidFill>
                <a:latin typeface="Aptos Display"/>
              </a:rPr>
              <a:t>Problem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773936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1C2B36"/>
                </a:solidFill>
                <a:latin typeface="Aptos"/>
              </a:rPr>
              <a:t>“positive integer n”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755648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C2B36"/>
                </a:solidFill>
                <a:latin typeface="Aptos Display"/>
              </a:rPr>
              <a:t>n ≥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68880"/>
            <a:ext cx="10881360" cy="658368"/>
          </a:xfrm>
          <a:prstGeom prst="roundRect">
            <a:avLst/>
          </a:prstGeom>
          <a:solidFill>
            <a:srgbClr val="FFF3C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615184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FFB000"/>
                </a:solidFill>
                <a:latin typeface="Aptos Display"/>
              </a:rPr>
              <a:t>Operation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615184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1C2B36"/>
                </a:solidFill>
                <a:latin typeface="Aptos"/>
              </a:rPr>
              <a:t>division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2596896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C2B36"/>
                </a:solidFill>
                <a:latin typeface="Aptos Display"/>
              </a:rPr>
              <a:t>b ≠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10128"/>
            <a:ext cx="10881360" cy="658368"/>
          </a:xfrm>
          <a:prstGeom prst="roundRect">
            <a:avLst/>
          </a:prstGeom>
          <a:solidFill>
            <a:srgbClr val="ECF1FC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456432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5D82D9"/>
                </a:solidFill>
                <a:latin typeface="Aptos Display"/>
              </a:rPr>
              <a:t>Data structure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3456432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1C2B36"/>
                </a:solidFill>
                <a:latin typeface="Aptos"/>
              </a:rPr>
              <a:t>A[0]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438144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C2B36"/>
                </a:solidFill>
                <a:latin typeface="Aptos Display"/>
              </a:rPr>
              <a:t>|A| ≥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51376"/>
            <a:ext cx="10881360" cy="658368"/>
          </a:xfrm>
          <a:prstGeom prst="roundRect">
            <a:avLst/>
          </a:prstGeom>
          <a:solidFill>
            <a:srgbClr val="F3ECFB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97680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9B6AD6"/>
                </a:solidFill>
                <a:latin typeface="Aptos Display"/>
              </a:rPr>
              <a:t>Algorithm assumption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29768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1C2B36"/>
                </a:solidFill>
                <a:latin typeface="Aptos"/>
              </a:rPr>
              <a:t>Binary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4279392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C2B36"/>
                </a:solidFill>
                <a:latin typeface="Aptos Display"/>
              </a:rPr>
              <a:t>A is sorted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92624"/>
            <a:ext cx="10881360" cy="658368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13892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46B97C"/>
                </a:solidFill>
                <a:latin typeface="Aptos Display"/>
              </a:rPr>
              <a:t>Mathematical domain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138928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1C2B36"/>
                </a:solidFill>
                <a:latin typeface="Aptos"/>
              </a:rPr>
              <a:t>real square root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5120640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C2B36"/>
                </a:solidFill>
                <a:latin typeface="Aptos Display"/>
              </a:rPr>
              <a:t>x ≥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5742432"/>
            <a:ext cx="8275320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5861304"/>
            <a:ext cx="8092440" cy="31181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50" b="1" i="0">
                <a:solidFill>
                  <a:srgbClr val="1C2B36"/>
                </a:solidFill>
                <a:latin typeface="Aptos Display"/>
              </a:rPr>
              <a:t>Do not add stronger preconditions than the algorithm really needs.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75688" y="6099596"/>
            <a:ext cx="8055864" cy="1587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65727E"/>
                </a:solidFill>
                <a:latin typeface="Aptos"/>
              </a:rPr>
              <a:t>Example: MAX(A) does not need A to be sorted.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755648" cy="2743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75564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POSTCONDITIONS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Postconditions — what must be true when we finish?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postcondition describes the promised result, and sometimes what must remain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2011680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36576" cy="201168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31455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57984"/>
            <a:ext cx="3145536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 i="0">
                <a:solidFill>
                  <a:srgbClr val="1C2B36"/>
                </a:solidFill>
                <a:latin typeface="Aptos"/>
              </a:rPr>
              <a:t>If the result is q:
q = a / b
English: q equals a divided by 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19072"/>
            <a:ext cx="3401568" cy="2011680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19072"/>
            <a:ext cx="36576" cy="2011680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28800"/>
            <a:ext cx="31455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5D82D9"/>
                </a:solidFill>
                <a:latin typeface="Aptos Display"/>
              </a:rP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157984"/>
            <a:ext cx="3145536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"/>
              </a:rPr>
              <a:t>If index i is returned:
A[i] = x
If NOT-FOUND is returned:
x ∉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719072"/>
            <a:ext cx="3401568" cy="2011680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719072"/>
            <a:ext cx="36576" cy="2011680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828800"/>
            <a:ext cx="31455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READ-ONLY 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157984"/>
            <a:ext cx="3145536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"/>
              </a:rPr>
              <a:t>Result property:
m = max(A)
Unchanged-state property:
Aafter = Abefore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53312" y="4297680"/>
            <a:ext cx="9464040" cy="768096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" y="4416552"/>
            <a:ext cx="9281160" cy="4224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20" b="1" i="0">
                <a:solidFill>
                  <a:srgbClr val="1C2B36"/>
                </a:solidFill>
                <a:latin typeface="Aptos Display"/>
              </a:rPr>
              <a:t>A postcondition answers: “If the algorithm finishes correctly, what must now be true?”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58384"/>
            <a:ext cx="99669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80" b="0" i="0">
                <a:solidFill>
                  <a:srgbClr val="65727E"/>
                </a:solidFill>
                <a:latin typeface="Aptos"/>
              </a:rPr>
              <a:t>Postconditions can describe both the returned result and properties of the state after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755648" cy="274320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75564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POSTCONDITIONS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A postcondition must be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condition can be true and still be too weak to describe the required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55648"/>
            <a:ext cx="4892040" cy="2286000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55648"/>
            <a:ext cx="36576" cy="2286000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865376"/>
            <a:ext cx="463600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MAX2 — WEAK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94560"/>
            <a:ext cx="4636007" cy="1755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60" b="0" i="0">
                <a:solidFill>
                  <a:srgbClr val="1C2B36"/>
                </a:solidFill>
                <a:latin typeface="Aptos"/>
              </a:rPr>
              <a:t>Suppose a = 5 and b = 8.
Condition: m ≥ a and m ≥ b
m = 100 satisfies both — but 100 is not the maximum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755648"/>
            <a:ext cx="4892040" cy="228600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755648"/>
            <a:ext cx="36576" cy="22860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52744" y="1865376"/>
            <a:ext cx="463600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SORT — WEAK 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2744" y="2194560"/>
            <a:ext cx="4636007" cy="1755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60" b="0" i="0">
                <a:solidFill>
                  <a:srgbClr val="1C2B36"/>
                </a:solidFill>
                <a:latin typeface="Aptos"/>
              </a:rPr>
              <a:t>Condition: “B is sorted.”
B = [ ] is sorted too.
But a sorting algorithm must preserve the input elements as well as order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434840"/>
            <a:ext cx="8412480" cy="93268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4553712"/>
            <a:ext cx="8229600" cy="51297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C2B36"/>
                </a:solidFill>
                <a:latin typeface="Aptos Display"/>
              </a:rPr>
              <a:t>Good postconditions say enough to uniquely capture the intended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4248" y="5022433"/>
            <a:ext cx="8193023" cy="261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65727E"/>
                </a:solidFill>
                <a:latin typeface="Aptos"/>
              </a:rPr>
              <a:t>For MAX2 we also need m = a OR m = 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79576" cy="274320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79576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Mathematical symbols we’ll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Understand the English meaning first; the symbols are only compact shorthand.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1764792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for all / every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202996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∀ x ∈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2286000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for every element x in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64208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783080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1764792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is an element 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02996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m ∈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286000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m belongs to 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664208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783080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764792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is not an element 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2996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x ∉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286000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x does not occur in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2871216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90088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5" y="2971800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greater than or equal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5" y="3236976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m ≥ 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349300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m is at least as large as 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871216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2990088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2971800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less than or equal 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3236976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m ≤ 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349300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m is no larger than 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2871216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4" y="2990088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971800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not equal 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36976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b ≠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49300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b is not zero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078224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197096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5" y="417880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5" y="4443984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P ∧ 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5295" y="4700016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both P and Q are true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4078224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6552" y="4197096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417880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4443984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m=a ∨ m=b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56048" y="4700016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m is either a or 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8431" y="4078224"/>
            <a:ext cx="3383280" cy="10058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47304" y="4197096"/>
            <a:ext cx="502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9B6AD6"/>
                </a:solidFill>
                <a:latin typeface="Aptos Display"/>
              </a:rPr>
              <a:t>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178808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40" b="1" i="0">
                <a:solidFill>
                  <a:srgbClr val="1C2B36"/>
                </a:solidFill>
                <a:latin typeface="Aptos Display"/>
              </a:rPr>
              <a:t>implies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443984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P ⇒ Q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700016"/>
            <a:ext cx="24871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i="0">
                <a:solidFill>
                  <a:srgbClr val="65727E"/>
                </a:solidFill>
                <a:latin typeface="Aptos"/>
              </a:rPr>
              <a:t>if P is true, Q follows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48840" y="5468112"/>
            <a:ext cx="7909560" cy="603504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0280" y="5586984"/>
            <a:ext cx="7726680" cy="33192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50" b="1" i="0">
                <a:solidFill>
                  <a:srgbClr val="1C2B36"/>
                </a:solidFill>
                <a:latin typeface="Aptos Display"/>
              </a:rPr>
              <a:t>∀ x ∈ A,  m ≥ x   =   “No element in A is larger than m.”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1467612" cy="274320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1467612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From precondition to postcondition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240280" cy="256032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1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0B2233"/>
                </a:solidFill>
                <a:latin typeface="Aptos Display"/>
              </a:rPr>
              <a:t>PRECONDITION 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874519"/>
            <a:ext cx="2240280" cy="256032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901951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0B2233"/>
                </a:solidFill>
                <a:latin typeface="Aptos Display"/>
              </a:rPr>
              <a:t>ALGORITHM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874519"/>
            <a:ext cx="2240280" cy="256032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901951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0B2233"/>
                </a:solidFill>
                <a:latin typeface="Aptos Display"/>
              </a:rPr>
              <a:t>POSTCONDITION 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83664"/>
            <a:ext cx="1005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 Display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83664"/>
            <a:ext cx="1005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 Display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106527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If P is true before execution, then when the algorithm finishes we want Q to be true.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3767328"/>
            <a:ext cx="7909560" cy="987552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3886200"/>
            <a:ext cx="7726680" cy="54315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DIVIDE:   b ≠ 0   →   q ← a / b   →   q = a /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4389485"/>
            <a:ext cx="7690104" cy="27651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C8D4DC"/>
                </a:solidFill>
                <a:latin typeface="Aptos"/>
              </a:rPr>
              <a:t>A correctness claim is always relative to its stated precondition.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230368"/>
            <a:ext cx="8961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B000"/>
                </a:solidFill>
                <a:latin typeface="Aptos Display"/>
              </a:rPr>
              <a:t>But one question remains: what if the algorithm never finishes?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2235708" cy="2743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223570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PARTIAL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Partial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 result is guaranteed to be right if execution reaches the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561320" cy="9144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1"/>
            <a:ext cx="103784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1C2B36"/>
                </a:solidFill>
                <a:latin typeface="Aptos Display"/>
              </a:rPr>
              <a:t>If the precondition is true AND the algorithm terminates, the postcondition is true.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44368"/>
            <a:ext cx="99669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E97070"/>
                </a:solidFill>
                <a:latin typeface="Aptos Display"/>
              </a:rPr>
              <a:t>Key phrase: “IF IT TERMINATES.”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703320"/>
            <a:ext cx="4709160" cy="155448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3703320"/>
            <a:ext cx="36576" cy="155448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3813048"/>
            <a:ext cx="445312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WHAT IT TELLS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142231"/>
            <a:ext cx="4453128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The result satisfies the postcondition whenever execution finishes.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703320"/>
            <a:ext cx="4709160" cy="1554480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3703320"/>
            <a:ext cx="36576" cy="1554480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3813048"/>
            <a:ext cx="445312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WHAT IT DOES NOT TELL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4142231"/>
            <a:ext cx="4453128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It does not guarantee that execution will ever finish.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5532120"/>
            <a:ext cx="6355080" cy="512064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5650992"/>
            <a:ext cx="6172200" cy="28163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C2B36"/>
                </a:solidFill>
                <a:latin typeface="Aptos Display"/>
              </a:rPr>
              <a:t>P ∧ termination ⇒ 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5854720"/>
            <a:ext cx="6135624" cy="14337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65727E"/>
                </a:solidFill>
                <a:latin typeface="Aptos"/>
              </a:rPr>
              <a:t>Read: if P holds and the algorithm finishes, then Q holds.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2235708" cy="2743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223570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PARTIAL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Why partial correctness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An algorithm can return the right answer whenever it finishes and still fail to be completely 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4023360" cy="352044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55648"/>
            <a:ext cx="37673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48256"/>
            <a:ext cx="3694176" cy="3063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SQUARE-ONLY-5(x)
if x = 5
    return 25
while true
    do nothing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783080"/>
            <a:ext cx="2852928" cy="1481328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1783080"/>
            <a:ext cx="36576" cy="1481328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1892807"/>
            <a:ext cx="259689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FOR X =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221991"/>
            <a:ext cx="2596896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Returns 25.
That equals x².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783080"/>
            <a:ext cx="2852928" cy="1481328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83080"/>
            <a:ext cx="36576" cy="1481328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92807"/>
            <a:ext cx="259689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FOR X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21991"/>
            <a:ext cx="2596896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60" b="0" i="0">
                <a:solidFill>
                  <a:srgbClr val="1C2B36"/>
                </a:solidFill>
                <a:latin typeface="Aptos"/>
              </a:rPr>
              <a:t>Never returns.
The result is not wrong — there is no result.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3794760"/>
            <a:ext cx="6025896" cy="10515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59" y="3913632"/>
            <a:ext cx="5843016" cy="57835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C2B36"/>
                </a:solidFill>
                <a:latin typeface="Aptos Display"/>
              </a:rPr>
              <a:t>Correct result if it stops ≠ guaranteed termination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4457242"/>
            <a:ext cx="5806440" cy="2944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65727E"/>
                </a:solidFill>
                <a:latin typeface="Aptos"/>
              </a:rPr>
              <a:t>We need a separate termination argument.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467612" cy="274320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467612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Termination — does the algorithm actually finish?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Termination means completing after a finite number of steps for every valid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45920"/>
            <a:ext cx="3246120" cy="352044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737360"/>
            <a:ext cx="2990087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29968"/>
            <a:ext cx="2916936" cy="3063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COUNTDOWN(n)
while n &gt; 0
    n ← n - 1
return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737360"/>
            <a:ext cx="3246120" cy="1883664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737360"/>
            <a:ext cx="36576" cy="1883664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847088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WHY IT FINISHES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2176272"/>
            <a:ext cx="2990087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"/>
              </a:rPr>
              <a:t>Each iteration makes n smaller:
5 → 4 → 3 → 2 → 1 → 0
Eventually n &gt; 0 becomes false.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44968" y="1737360"/>
            <a:ext cx="3246120" cy="1883664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44968" y="1737360"/>
            <a:ext cx="36576" cy="1883664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1847088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WHAT TO LOOK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2176272"/>
            <a:ext cx="2990087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C2B36"/>
                </a:solidFill>
                <a:latin typeface="Aptos"/>
              </a:rPr>
              <a:t>1. Something changes each iteration.
2. It moves toward a stopping condition.
3. It cannot continue forever.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4160520"/>
            <a:ext cx="6830568" cy="8686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4279392"/>
            <a:ext cx="6647688" cy="47777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40" b="1" i="0">
                <a:solidFill>
                  <a:srgbClr val="1C2B36"/>
                </a:solidFill>
                <a:latin typeface="Aptos Display"/>
              </a:rPr>
              <a:t>Termination asks: “Do we definitely finish for every valid input?”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467612" cy="274320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467612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Changing a variable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 change must move execution toward a state where the loop condition becomes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383280" cy="214884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36576" cy="214884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1847088"/>
            <a:ext cx="31272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TERMINATES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176272"/>
            <a:ext cx="3127248" cy="1618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while n &gt; 0
    n ← n − 1
5 → 4 → 3 → 2 → 1 →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737360"/>
            <a:ext cx="3383280" cy="2148840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737360"/>
            <a:ext cx="36576" cy="2148840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847088"/>
            <a:ext cx="31272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NEVER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76272"/>
            <a:ext cx="3127248" cy="1618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while n &gt; 0
    print n
5, 5, 5, 5,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737360"/>
            <a:ext cx="3383280" cy="214884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737360"/>
            <a:ext cx="36576" cy="21488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847088"/>
            <a:ext cx="31272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WRONG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76272"/>
            <a:ext cx="3127248" cy="1618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while n &gt; 0
    n ← n + 1
5 → 6 → 7 → 8 → 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4407408"/>
            <a:ext cx="8321040" cy="8229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4526280"/>
            <a:ext cx="8138160" cy="4526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10" b="1" i="0">
                <a:solidFill>
                  <a:srgbClr val="1C2B36"/>
                </a:solidFill>
                <a:latin typeface="Aptos Display"/>
              </a:rPr>
              <a:t>Identify what changes, and explain why that change must eventually stop the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2043684" cy="274320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2043684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TOTAL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Complete / total correctness = right answer + guaranteed 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74519"/>
            <a:ext cx="2743200" cy="256032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1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0B2233"/>
                </a:solidFill>
                <a:latin typeface="Aptos Display"/>
              </a:rPr>
              <a:t>PARTIAL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901952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74519"/>
            <a:ext cx="2560320" cy="256032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01951"/>
            <a:ext cx="25603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0B2233"/>
                </a:solidFill>
                <a:latin typeface="Aptos Display"/>
              </a:rPr>
              <a:t>TERMINATION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01952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ptos Display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74519"/>
            <a:ext cx="2834640" cy="256032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901951"/>
            <a:ext cx="283464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0B2233"/>
                </a:solidFill>
                <a:latin typeface="Aptos Display"/>
              </a:rPr>
              <a:t>TOTAL CORRECTNESS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154680"/>
            <a:ext cx="101498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An algorithm is totally correct when it produces the required result AND is guaranteed to terminate for every valid input.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617720"/>
            <a:ext cx="8183879" cy="822960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4736592"/>
            <a:ext cx="8001000" cy="4526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ptos Display"/>
              </a:rPr>
              <a:t>Valid input → correct result → guaranteed finish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Partial correctness vs. total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 difference is entirely about whether termination is guaranteed.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83080"/>
            <a:ext cx="10469880" cy="566928"/>
          </a:xfrm>
          <a:prstGeom prst="roundRect">
            <a:avLst/>
          </a:prstGeom>
          <a:solidFill>
            <a:srgbClr val="0B2233"/>
          </a:solidFill>
          <a:ln w="12700">
            <a:solidFill>
              <a:srgbClr val="0B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4663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 Display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938528"/>
            <a:ext cx="2331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FC7BA"/>
                </a:solidFill>
                <a:latin typeface="Aptos Display"/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38528"/>
            <a:ext cx="2331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46B97C"/>
                </a:solidFill>
                <a:latin typeface="Aptos Display"/>
              </a:rPr>
              <a:t>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350008"/>
            <a:ext cx="10469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96312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 i="0">
                <a:solidFill>
                  <a:srgbClr val="1C2B36"/>
                </a:solidFill>
                <a:latin typeface="Aptos"/>
              </a:rPr>
              <a:t>Correct result if execution finishes?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496312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5D82D9"/>
                </a:solidFill>
                <a:latin typeface="Aptos Display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96312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46B97C"/>
                </a:solidFill>
                <a:latin typeface="Aptos Display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099815"/>
            <a:ext cx="10469880" cy="658368"/>
          </a:xfrm>
          <a:prstGeom prst="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 i="0">
                <a:solidFill>
                  <a:srgbClr val="1C2B36"/>
                </a:solidFill>
                <a:latin typeface="Aptos"/>
              </a:rPr>
              <a:t>Termination guaranteed?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246120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E97070"/>
                </a:solidFill>
                <a:latin typeface="Aptos Display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46120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46B97C"/>
                </a:solidFill>
                <a:latin typeface="Aptos Display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849624"/>
            <a:ext cx="10469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95928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 i="0">
                <a:solidFill>
                  <a:srgbClr val="1C2B36"/>
                </a:solidFill>
                <a:latin typeface="Aptos"/>
              </a:rPr>
              <a:t>Postcondition satisfied?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995928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5D82D9"/>
                </a:solidFill>
                <a:latin typeface="Aptos Display"/>
              </a:rPr>
              <a:t>YES, if it terminates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995928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46B97C"/>
                </a:solidFill>
                <a:latin typeface="Aptos Display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599431"/>
            <a:ext cx="10469880" cy="658368"/>
          </a:xfrm>
          <a:prstGeom prst="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745736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1" i="0">
                <a:solidFill>
                  <a:srgbClr val="1C2B36"/>
                </a:solidFill>
                <a:latin typeface="Aptos"/>
              </a:rPr>
              <a:t>Completely correct?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745736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5D82D9"/>
                </a:solidFill>
                <a:latin typeface="Aptos Display"/>
              </a:rPr>
              <a:t>Not necessarily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745736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46B97C"/>
                </a:solidFill>
                <a:latin typeface="Aptos Display"/>
              </a:rP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5532120"/>
            <a:ext cx="7406640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650992"/>
            <a:ext cx="7223759" cy="31181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50" b="1" i="0">
                <a:solidFill>
                  <a:srgbClr val="1C2B36"/>
                </a:solidFill>
                <a:latin typeface="Aptos Display"/>
              </a:rPr>
              <a:t>Correct result alone ✗    |    Termination alone ✗    |    We need both 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755648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75564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MAX2 — problem and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First complete proof: a simple conditional algorithm with no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337560" cy="352044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783080"/>
            <a:ext cx="30815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75688"/>
            <a:ext cx="3008376" cy="3063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MAX2(a,b)
if a ≥ b
    return a
else
    return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3291840" cy="1463040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737360"/>
            <a:ext cx="36576" cy="146304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1847088"/>
            <a:ext cx="303580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PRECONDITION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176272"/>
            <a:ext cx="303580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C2B36"/>
                </a:solidFill>
                <a:latin typeface="Aptos"/>
              </a:rPr>
              <a:t>a and b are comparable.
English: the comparison a ≥ b must be meaningful.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737360"/>
            <a:ext cx="3291840" cy="2212848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2127" y="1737360"/>
            <a:ext cx="36576" cy="221284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1847088"/>
            <a:ext cx="303580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POSTCONDITION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2176272"/>
            <a:ext cx="3035808" cy="16824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"/>
              </a:rPr>
              <a:t>If the result is m:
m = a OR m = b
m ≥ a
m ≥ b
Therefore m = max(a,b).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4315968"/>
            <a:ext cx="6922008" cy="84124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4434840"/>
            <a:ext cx="6739128" cy="4626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10" b="1" i="0">
                <a:solidFill>
                  <a:srgbClr val="1C2B36"/>
                </a:solidFill>
                <a:latin typeface="Aptos Display"/>
              </a:rPr>
              <a:t>We prove each possible branch satisfies the postcondition.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MAX2 — Case 1: a ≥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Reason from the branch condition to the required postcondition.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3154680" cy="2331720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36576" cy="233172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65376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BRANCH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94560"/>
            <a:ext cx="2898648" cy="18013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C2B36"/>
                </a:solidFill>
                <a:latin typeface="Aptos"/>
              </a:rPr>
              <a:t>a ≥ b
The algorithm executes:
return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1755648"/>
            <a:ext cx="3154680" cy="233172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6512" y="1755648"/>
            <a:ext cx="36576" cy="23317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816" y="1865376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RETURNED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2194560"/>
            <a:ext cx="2898648" cy="18013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C2B36"/>
                </a:solidFill>
                <a:latin typeface="Aptos"/>
              </a:rPr>
              <a:t>m = a
Therefore m is one of the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1755648"/>
            <a:ext cx="3154680" cy="233172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1755648"/>
            <a:ext cx="36576" cy="233172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1865376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CHECK THE POSTCONDITION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194560"/>
            <a:ext cx="2898648" cy="18013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C2B36"/>
                </a:solidFill>
                <a:latin typeface="Aptos"/>
              </a:rPr>
              <a:t>m ≥ a because a ≥ a
m ≥ b because a ≥ b
So m = max(a,b).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498848"/>
            <a:ext cx="8092440" cy="74980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4617720"/>
            <a:ext cx="7909560" cy="41239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C2B36"/>
                </a:solidFill>
                <a:latin typeface="Aptos Display"/>
              </a:rPr>
              <a:t>If a ≥ b, returning a is correct.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MAX2 — Case 2: a &lt;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 else branch covers the only remaining possibility.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3154680" cy="2331720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36576" cy="2331720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65376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BRANCH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94560"/>
            <a:ext cx="2898648" cy="18013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The else branch means:
a &lt; b
The algorithm executes:
return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1755648"/>
            <a:ext cx="3154680" cy="233172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6512" y="1755648"/>
            <a:ext cx="36576" cy="23317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816" y="1865376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RETURNED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2194560"/>
            <a:ext cx="2898648" cy="18013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C2B36"/>
                </a:solidFill>
                <a:latin typeface="Aptos"/>
              </a:rPr>
              <a:t>m = b
Therefore m is one of the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1755648"/>
            <a:ext cx="3154680" cy="233172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1755648"/>
            <a:ext cx="36576" cy="233172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1865376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CHECK THE POSTCONDITION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194560"/>
            <a:ext cx="2898648" cy="18013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C2B36"/>
                </a:solidFill>
                <a:latin typeface="Aptos"/>
              </a:rPr>
              <a:t>m ≥ b because b ≥ b
m ≥ a because b &gt; a
So m = max(a,b).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498848"/>
            <a:ext cx="8092440" cy="74980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4617720"/>
            <a:ext cx="7909560" cy="41239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C2B36"/>
                </a:solidFill>
                <a:latin typeface="Aptos Display"/>
              </a:rPr>
              <a:t>If a &lt; b, returning b is correct.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MAX2 — termination and total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154680" cy="1920240"/>
          </a:xfrm>
          <a:prstGeom prst="roundRect">
            <a:avLst/>
          </a:prstGeom>
          <a:solidFill>
            <a:srgbClr val="10334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36576" cy="192024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1892807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PARTIAL CORRECTNESS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221991"/>
            <a:ext cx="2898648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tos"/>
              </a:rPr>
              <a:t>Both branches return the correct maximum.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83080"/>
            <a:ext cx="3154680" cy="1920240"/>
          </a:xfrm>
          <a:prstGeom prst="roundRect">
            <a:avLst/>
          </a:prstGeom>
          <a:solidFill>
            <a:srgbClr val="10334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783080"/>
            <a:ext cx="36576" cy="1920240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892807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TERMINATION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221991"/>
            <a:ext cx="2898648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  <a:latin typeface="Aptos"/>
              </a:rPr>
              <a:t>One comparison → one branch → one return.
No loop. No recursion.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783080"/>
            <a:ext cx="3154680" cy="1920240"/>
          </a:xfrm>
          <a:prstGeom prst="roundRect">
            <a:avLst/>
          </a:prstGeom>
          <a:solidFill>
            <a:srgbClr val="10334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783080"/>
            <a:ext cx="36576" cy="192024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892807"/>
            <a:ext cx="28986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221991"/>
            <a:ext cx="2898648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  <a:latin typeface="Aptos"/>
              </a:rPr>
              <a:t>Partial correctness + termination = total correctness.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4251960"/>
            <a:ext cx="8458200" cy="932688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4370832"/>
            <a:ext cx="8275320" cy="51297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MAX2 is totally correct for inputs satisfying its precondition.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659636" cy="274320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659636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REINFORCEMENT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ABS(x) — specify it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second conditional example before we move to arrays and loops.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246120" cy="3273552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828800"/>
            <a:ext cx="2990087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21408"/>
            <a:ext cx="2916936" cy="2816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ABS(x)
if x ≥ 0
    return x
else
    return -x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737360"/>
            <a:ext cx="3246120" cy="1463040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737360"/>
            <a:ext cx="36576" cy="146304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847088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PRECONDITION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2176272"/>
            <a:ext cx="2990087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x ∈ ℝ
English: x is a real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44968" y="1737360"/>
            <a:ext cx="3246120" cy="192024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44968" y="1737360"/>
            <a:ext cx="36576" cy="19202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1847088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POSTCONDITION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2176272"/>
            <a:ext cx="2990087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C2B36"/>
                </a:solidFill>
                <a:latin typeface="Aptos"/>
              </a:rPr>
              <a:t>If the result is r:
r = |x|
Equivalent idea:
r ≥ 0 and r = x OR r = −x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160520"/>
            <a:ext cx="683056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C2B36"/>
                </a:solidFill>
                <a:latin typeface="Aptos Display"/>
              </a:rPr>
              <a:t>Class question: why does each branch satisfy r = |x|?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659636" cy="274320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659636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REINFORCEMENT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ABS(x) — correctness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Same structure as MAX2, but with less scaffolding.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3200400" cy="2212848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36576" cy="2212848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92807"/>
            <a:ext cx="29443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CASE 1: X ≥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21991"/>
            <a:ext cx="2944368" cy="16824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The algorithm returns r = x.
Since x is already non-negative,
r = |x|.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83080"/>
            <a:ext cx="3200400" cy="2212848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83080"/>
            <a:ext cx="36576" cy="2212848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92807"/>
            <a:ext cx="29443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CASE 2: X &lt;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221991"/>
            <a:ext cx="2944368" cy="16824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70" b="0" i="0">
                <a:solidFill>
                  <a:srgbClr val="1C2B36"/>
                </a:solidFill>
                <a:latin typeface="Aptos"/>
              </a:rPr>
              <a:t>The algorithm returns r = −x.
Because x is negative, −x is positive,
so r = |x|.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783080"/>
            <a:ext cx="3200400" cy="2212848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1783080"/>
            <a:ext cx="36576" cy="2212848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1892807"/>
            <a:ext cx="29443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TERMINATION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2221991"/>
            <a:ext cx="2944368" cy="16824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One comparison, one branch, one return.
Termination is guaranteed.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4498848"/>
            <a:ext cx="8138160" cy="8229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4617720"/>
            <a:ext cx="7955280" cy="4526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70" b="1" i="0">
                <a:solidFill>
                  <a:srgbClr val="1C2B36"/>
                </a:solidFill>
                <a:latin typeface="Aptos Display"/>
              </a:rPr>
              <a:t>Both branches satisfy the postcondition + termination is guaranteed → ABS is totally correct.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275588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27558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A systematic correctness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Use this sequence whenever you analyze a new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64208"/>
            <a:ext cx="5166360" cy="10972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810512"/>
            <a:ext cx="438912" cy="256032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37943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1792224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2FC7BA"/>
                </a:solidFill>
                <a:latin typeface="Aptos Display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084832"/>
            <a:ext cx="4160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What problem are we solving? What result is required?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664208"/>
            <a:ext cx="5166360" cy="1097280"/>
          </a:xfrm>
          <a:prstGeom prst="roundRect">
            <a:avLst/>
          </a:prstGeom>
          <a:solidFill>
            <a:srgbClr val="ECF1FC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7647" y="1810512"/>
            <a:ext cx="438912" cy="256032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7" y="1837943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792224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5D82D9"/>
                </a:solidFill>
                <a:latin typeface="Aptos Display"/>
              </a:rPr>
              <a:t>PRECONDITIONS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2084832"/>
            <a:ext cx="4160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What inputs/states are valid before execution?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054096"/>
            <a:ext cx="5166360" cy="1097280"/>
          </a:xfrm>
          <a:prstGeom prst="roundRect">
            <a:avLst/>
          </a:prstGeom>
          <a:solidFill>
            <a:srgbClr val="FFF3C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3200400"/>
            <a:ext cx="438912" cy="256032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227832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182112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FFB000"/>
                </a:solidFill>
                <a:latin typeface="Aptos Display"/>
              </a:rPr>
              <a:t>POSTCONDITIONS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3474720"/>
            <a:ext cx="4160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What must be true when execution finishes?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3054096"/>
            <a:ext cx="5166360" cy="1097280"/>
          </a:xfrm>
          <a:prstGeom prst="roundRect">
            <a:avLst/>
          </a:prstGeom>
          <a:solidFill>
            <a:srgbClr val="F3ECFB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7647" y="3200400"/>
            <a:ext cx="438912" cy="256032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7" y="3227832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182112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9B6AD6"/>
                </a:solidFill>
                <a:latin typeface="Aptos Display"/>
              </a:rPr>
              <a:t>PARTIAL CORRECTNESS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474720"/>
            <a:ext cx="4160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Assuming valid input and termination, is the result right?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4443984"/>
            <a:ext cx="5166360" cy="1097280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" y="4590288"/>
            <a:ext cx="438912" cy="256032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617720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5720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E97070"/>
                </a:solidFill>
                <a:latin typeface="Aptos Display"/>
              </a:rPr>
              <a:t>TERMINATION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4864608"/>
            <a:ext cx="4160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Why must execution eventually stop?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4443984"/>
            <a:ext cx="5166360" cy="109728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27647" y="4590288"/>
            <a:ext cx="438912" cy="256032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7" y="4617720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2864" y="45720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46B97C"/>
                </a:solidFill>
                <a:latin typeface="Aptos Display"/>
              </a:rPr>
              <a:t>CONCLUDE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864" y="4864608"/>
            <a:ext cx="4160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If both hold, state total correctness.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12848" y="5705856"/>
            <a:ext cx="7772400" cy="512064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04288" y="5824728"/>
            <a:ext cx="7589520" cy="28163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30" b="1" i="0">
                <a:solidFill>
                  <a:srgbClr val="1C2B36"/>
                </a:solidFill>
                <a:latin typeface="Aptos Display"/>
              </a:rPr>
              <a:t>This is the analysis pattern we will now apply to MAX(A).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1467612" cy="2743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1467612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CDF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Maximum-finding in an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4069080" cy="3794760"/>
          </a:xfrm>
          <a:prstGeom prst="roundRect">
            <a:avLst/>
          </a:prstGeom>
          <a:solidFill>
            <a:srgbClr val="10334B"/>
          </a:solidFill>
          <a:ln w="10160">
            <a:solidFill>
              <a:srgbClr val="16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19072"/>
            <a:ext cx="3813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2FC7BA"/>
                </a:solidFill>
                <a:latin typeface="Aptos Display"/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11680"/>
            <a:ext cx="3739896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 Mono"/>
              </a:rPr>
              <a:t>MAX(A)
largest ← A[0]
for i ← 1 to length(A)-1
    if A[i] &gt; largest
        largest ← A[i]
return largest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664208"/>
            <a:ext cx="5532120" cy="1828800"/>
          </a:xfrm>
          <a:prstGeom prst="roundRect">
            <a:avLst/>
          </a:prstGeom>
          <a:solidFill>
            <a:srgbClr val="10334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02352" y="1664208"/>
            <a:ext cx="36576" cy="182880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1773936"/>
            <a:ext cx="52760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2103120"/>
            <a:ext cx="5276088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Given a finite, non-empty array A of comparable values, return the maximum element.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3840480"/>
            <a:ext cx="5532120" cy="1554480"/>
          </a:xfrm>
          <a:prstGeom prst="roundRect">
            <a:avLst/>
          </a:prstGeom>
          <a:solidFill>
            <a:srgbClr val="10334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02352" y="3840480"/>
            <a:ext cx="36576" cy="15544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3950208"/>
            <a:ext cx="52760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4279392"/>
            <a:ext cx="5276088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A = [8, 3, 12, 5, 10]
Expected result = 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MAX(A): what must be true before execution?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 algorithm relies on several input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2542032" cy="1920240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36576" cy="192024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2286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NON-EMPTY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57984"/>
            <a:ext cx="2286000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n ≥ 1
A[0] must exist.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719072"/>
            <a:ext cx="2542032" cy="1920240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719072"/>
            <a:ext cx="36576" cy="1920240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828800"/>
            <a:ext cx="2286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5D82D9"/>
                </a:solidFill>
                <a:latin typeface="Aptos Display"/>
              </a:rPr>
              <a:t>FINITE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157984"/>
            <a:ext cx="2286000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 i="0">
                <a:solidFill>
                  <a:srgbClr val="1C2B36"/>
                </a:solidFill>
                <a:latin typeface="Aptos"/>
              </a:rPr>
              <a:t>n &lt; ∞
The loop must have finitely many elements to examine.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1719072"/>
            <a:ext cx="2542032" cy="192024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3328" y="1719072"/>
            <a:ext cx="36576" cy="19202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828800"/>
            <a:ext cx="2286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COMPARABLE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157984"/>
            <a:ext cx="2286000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 i="0">
                <a:solidFill>
                  <a:srgbClr val="1C2B36"/>
                </a:solidFill>
                <a:latin typeface="Aptos"/>
              </a:rPr>
              <a:t>The operation A[i] &gt; largest must be meaningful.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1719072"/>
            <a:ext cx="2542032" cy="1920240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528" y="1719072"/>
            <a:ext cx="36576" cy="1920240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1828800"/>
            <a:ext cx="2286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VALID INDEXING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157984"/>
            <a:ext cx="2286000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 i="0">
                <a:solidFill>
                  <a:srgbClr val="1C2B36"/>
                </a:solidFill>
                <a:latin typeface="Aptos"/>
              </a:rPr>
              <a:t>Indices 0 … n−1 refer to valid positions in 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160520"/>
            <a:ext cx="8549640" cy="84124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279392"/>
            <a:ext cx="8366760" cy="4626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80" b="1" i="0">
                <a:solidFill>
                  <a:srgbClr val="1C2B36"/>
                </a:solidFill>
                <a:latin typeface="Aptos Display"/>
              </a:rPr>
              <a:t>Compact precondition: A is finite, non-empty, and its elements are mutually comparable.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Are all possible restrictions necessary?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good precondition says what the algorithm truly needs — not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246120" cy="2304288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36576" cy="2304288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7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DOES A NEED TO BE SORTED?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21991"/>
            <a:ext cx="2990087" cy="1773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1C2B36"/>
                </a:solidFill>
                <a:latin typeface="Aptos"/>
              </a:rPr>
              <a:t>NO.
[8, 3, 12, 5, 10] is unsorted and MAX still 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83080"/>
            <a:ext cx="3246120" cy="2304288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83080"/>
            <a:ext cx="36576" cy="230428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92807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MUST VALUES BE POSITIVE?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221991"/>
            <a:ext cx="2990087" cy="1773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NO.
[−8, −3, −12, −5] is valid.
The maximum is −3.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783080"/>
            <a:ext cx="3246120" cy="2304288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1783080"/>
            <a:ext cx="36576" cy="2304288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892807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WHAT IS TRULY REQUIRED?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21991"/>
            <a:ext cx="2990087" cy="1773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1C2B36"/>
                </a:solidFill>
                <a:latin typeface="Aptos"/>
              </a:rPr>
              <a:t>Non-empty + finite + comparable values + valid indexing.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498848"/>
            <a:ext cx="8001000" cy="768096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4617720"/>
            <a:ext cx="7818120" cy="4224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70" b="1" i="0">
                <a:solidFill>
                  <a:srgbClr val="1C2B36"/>
                </a:solidFill>
                <a:latin typeface="Aptos Display"/>
              </a:rPr>
              <a:t>Do not strengthen a precondition merely to make an algorithm easier to justify.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MAX(A): what must be true after execution?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Let m be the returned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37360"/>
            <a:ext cx="3246120" cy="2057400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37360"/>
            <a:ext cx="36576" cy="205740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847088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1. COMES FROM THE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76272"/>
            <a:ext cx="2990087" cy="1527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m ∈ A
English: the returned value is one of the array elements.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246120" cy="205740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6576" cy="20574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847088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2. NOTHING IS LARGER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76272"/>
            <a:ext cx="2990087" cy="1527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1C2B36"/>
                </a:solidFill>
                <a:latin typeface="Aptos"/>
              </a:rPr>
              <a:t>∀ x ∈ A,  m ≥ x
English: no element in A is larger than 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737360"/>
            <a:ext cx="3246120" cy="2057400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737360"/>
            <a:ext cx="36576" cy="2057400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847088"/>
            <a:ext cx="29900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3. INPUT UNCHANGED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176272"/>
            <a:ext cx="2990087" cy="1527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70" b="0" i="0">
                <a:solidFill>
                  <a:srgbClr val="1C2B36"/>
                </a:solidFill>
                <a:latin typeface="Aptos"/>
              </a:rPr>
              <a:t>Aafter = Abefore
English: MAX reads the array but does not modify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4315968"/>
            <a:ext cx="7406640" cy="8686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434840"/>
            <a:ext cx="7223759" cy="47777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C2B36"/>
                </a:solidFill>
                <a:latin typeface="Aptos Display"/>
              </a:rPr>
              <a:t>Together, conditions 1 and 2 give:  m = max(A)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Why “m is at least as large as every element”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postcondition can be true and still describe the wrong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92224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C2B36"/>
                </a:solidFill>
                <a:latin typeface="Aptos Display"/>
              </a:rPr>
              <a:t>Suppose: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212848"/>
            <a:ext cx="2926080" cy="74980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31720"/>
            <a:ext cx="2743200" cy="41239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1C2B36"/>
                </a:solidFill>
                <a:latin typeface="Aptos Display"/>
              </a:rPr>
              <a:t>A = [3, 8, 5]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212848"/>
            <a:ext cx="2286000" cy="74980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331720"/>
            <a:ext cx="2103120" cy="41239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1C2B36"/>
                </a:solidFill>
                <a:latin typeface="Aptos Display"/>
              </a:rPr>
              <a:t>m =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783080"/>
            <a:ext cx="4434840" cy="2304288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783080"/>
            <a:ext cx="36576" cy="230428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67144" y="1892807"/>
            <a:ext cx="417880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CHECK THE WEAK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2221991"/>
            <a:ext cx="4178807" cy="1773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1C2B36"/>
                </a:solidFill>
                <a:latin typeface="Aptos"/>
              </a:rPr>
              <a:t>100 ≥ 3 ✓
100 ≥ 8 ✓
100 ≥ 5 ✓
So ∀x∈A, m≥x is true.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56432"/>
            <a:ext cx="50292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E97070"/>
                </a:solidFill>
                <a:latin typeface="Aptos Display"/>
              </a:rPr>
              <a:t>But 100 ∉ A, so 100 is not max(A).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93392" y="4663440"/>
            <a:ext cx="8183879" cy="8686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4782312"/>
            <a:ext cx="8001000" cy="47777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40" b="1" i="0">
                <a:solidFill>
                  <a:srgbClr val="1C2B36"/>
                </a:solidFill>
                <a:latin typeface="Aptos Display"/>
              </a:rPr>
              <a:t>We need BOTH:  m ∈ A   AND   ∀ x ∈ A, m ≥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10708"/>
            <a:ext cx="7964423" cy="24323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65727E"/>
                </a:solidFill>
                <a:latin typeface="Aptos"/>
              </a:rPr>
              <a:t>The maximum must come from the array, and nothing in the array may be larger.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Trace MAX(A) on one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trace helps us understand behavior, but it is not a general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3657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C2B36"/>
                </a:solidFill>
                <a:latin typeface="Aptos Display"/>
              </a:rPr>
              <a:t>A = [8, 3, 12, 5, 10]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7315200" cy="493776"/>
          </a:xfrm>
          <a:prstGeom prst="roundRect">
            <a:avLst/>
          </a:prstGeom>
          <a:solidFill>
            <a:srgbClr val="0B2233"/>
          </a:solidFill>
          <a:ln w="12700">
            <a:solidFill>
              <a:srgbClr val="0B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95144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69" b="1" i="0">
                <a:solidFill>
                  <a:srgbClr val="FFFFFF"/>
                </a:solidFill>
                <a:latin typeface="Aptos Display"/>
              </a:rPr>
              <a:t>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95144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69" b="1" i="0">
                <a:solidFill>
                  <a:srgbClr val="FFFFFF"/>
                </a:solidFill>
                <a:latin typeface="Aptos Display"/>
              </a:rPr>
              <a:t>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295144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69" b="1" i="0">
                <a:solidFill>
                  <a:srgbClr val="FFFFFF"/>
                </a:solidFill>
                <a:latin typeface="Aptos Display"/>
              </a:rPr>
              <a:t>largest 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7315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79776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779776"/>
            <a:ext cx="2697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19" b="0" i="0">
                <a:solidFill>
                  <a:srgbClr val="1C2B36"/>
                </a:solidFill>
                <a:latin typeface="Aptos"/>
              </a:rPr>
              <a:t>largest 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779776"/>
            <a:ext cx="1783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5D82D9"/>
                </a:solidFill>
                <a:latin typeface="Aptos Display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00400"/>
            <a:ext cx="7315200" cy="493776"/>
          </a:xfrm>
          <a:prstGeom prst="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28416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Check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328416"/>
            <a:ext cx="2697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19" b="0" i="0">
                <a:solidFill>
                  <a:srgbClr val="1C2B36"/>
                </a:solidFill>
                <a:latin typeface="Aptos"/>
              </a:rPr>
              <a:t>3 &gt; 8 ? 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328416"/>
            <a:ext cx="1783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5D82D9"/>
                </a:solidFill>
                <a:latin typeface="Aptos Display"/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7315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77055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Check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877055"/>
            <a:ext cx="2697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19" b="0" i="0">
                <a:solidFill>
                  <a:srgbClr val="1C2B36"/>
                </a:solidFill>
                <a:latin typeface="Aptos"/>
              </a:rPr>
              <a:t>12 &gt; 8 ? 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877055"/>
            <a:ext cx="1783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5D82D9"/>
                </a:solidFill>
                <a:latin typeface="Aptos Display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97679"/>
            <a:ext cx="7315200" cy="493776"/>
          </a:xfrm>
          <a:prstGeom prst="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25695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Check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425695"/>
            <a:ext cx="2697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19" b="0" i="0">
                <a:solidFill>
                  <a:srgbClr val="1C2B36"/>
                </a:solidFill>
                <a:latin typeface="Aptos"/>
              </a:rPr>
              <a:t>5 &gt; 12 ? 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425695"/>
            <a:ext cx="1783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5D82D9"/>
                </a:solidFill>
                <a:latin typeface="Aptos Display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846320"/>
            <a:ext cx="7315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974336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1C2B36"/>
                </a:solidFill>
                <a:latin typeface="Aptos"/>
              </a:rPr>
              <a:t>Check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974336"/>
            <a:ext cx="2697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19" b="0" i="0">
                <a:solidFill>
                  <a:srgbClr val="1C2B36"/>
                </a:solidFill>
                <a:latin typeface="Aptos"/>
              </a:rPr>
              <a:t>10 &gt; 12 ? 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974336"/>
            <a:ext cx="1783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5D82D9"/>
                </a:solidFill>
                <a:latin typeface="Aptos Display"/>
              </a:rPr>
              <a:t>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2240280"/>
            <a:ext cx="2880360" cy="214884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66760" y="2240280"/>
            <a:ext cx="36576" cy="214884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3064" y="2350008"/>
            <a:ext cx="262432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2679192"/>
            <a:ext cx="2624328" cy="1618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1C2B36"/>
                </a:solidFill>
                <a:latin typeface="Aptos"/>
              </a:rPr>
              <a:t>12
Correct for this instance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754880"/>
            <a:ext cx="32004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30" b="1" i="0">
                <a:solidFill>
                  <a:srgbClr val="E97070"/>
                </a:solidFill>
                <a:latin typeface="Aptos Display"/>
              </a:rPr>
              <a:t>Question: what would we need to establish before claiming it works for EVERY valid array?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MAX(A)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From one trace to general correctness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Lecture 3 gives the proof idea; Lecture 4 will formalize it with a loop invariant.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2487168" cy="2212848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36576" cy="2212848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92807"/>
            <a:ext cx="22311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21991"/>
            <a:ext cx="2231136" cy="16824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1C2B36"/>
                </a:solidFill>
                <a:latin typeface="Aptos"/>
              </a:rPr>
              <a:t>largest begins as A[0], so it is an actual array element.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65176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65727E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783080"/>
            <a:ext cx="2487168" cy="2212848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7" y="1783080"/>
            <a:ext cx="36576" cy="2212848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1" y="1892807"/>
            <a:ext cx="22311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5D82D9"/>
                </a:solidFill>
                <a:latin typeface="Aptos Display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2221991"/>
            <a:ext cx="2231136" cy="16824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1C2B36"/>
                </a:solidFill>
                <a:latin typeface="Aptos"/>
              </a:rPr>
              <a:t>Every remaining element is examined.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65176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65727E"/>
                </a:solidFill>
                <a:latin typeface="Aptos Display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1783080"/>
            <a:ext cx="2487168" cy="2212848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1783080"/>
            <a:ext cx="36576" cy="221284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892807"/>
            <a:ext cx="22311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221991"/>
            <a:ext cx="2231136" cy="16824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1C2B36"/>
                </a:solidFill>
                <a:latin typeface="Aptos"/>
              </a:rPr>
              <a:t>Whenever a larger value appears, largest is replaced by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65176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65727E"/>
                </a:solidFill>
                <a:latin typeface="Aptos Display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5128" y="1783080"/>
            <a:ext cx="2487168" cy="2212848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5128" y="1783080"/>
            <a:ext cx="36576" cy="2212848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1892807"/>
            <a:ext cx="22311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221991"/>
            <a:ext cx="2231136" cy="16824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1C2B36"/>
                </a:solidFill>
                <a:latin typeface="Aptos"/>
              </a:rPr>
              <a:t>After the last comparison, no array element is larger than largest.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4434840"/>
            <a:ext cx="9281160" cy="84124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4553712"/>
            <a:ext cx="9098280" cy="46268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20" b="1" i="0">
                <a:solidFill>
                  <a:srgbClr val="1C2B36"/>
                </a:solidFill>
                <a:latin typeface="Aptos Display"/>
              </a:rPr>
              <a:t>At termination: largest ∈ A  AND  ∀ x ∈ A, largest ≥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964826"/>
            <a:ext cx="9061704" cy="23554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65727E"/>
                </a:solidFill>
                <a:latin typeface="Aptos"/>
              </a:rPr>
              <a:t>So the intended postcondition is reached.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77840"/>
            <a:ext cx="9646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70" b="1" i="0">
                <a:solidFill>
                  <a:srgbClr val="9B6AD6"/>
                </a:solidFill>
                <a:latin typeface="Aptos Display"/>
              </a:rPr>
              <a:t>Next lecture: turn this reasoning into a formal loop-invariant proof.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275588" cy="274320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27558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MAX-WRONG(A): can you spot the problem?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Do not reveal the answer immediately — let the class test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794760" cy="3547872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35387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48256"/>
            <a:ext cx="3465576" cy="3090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MAX-WRONG(A)
largest ← 0
for each x in A
    if x &gt; largest
        largest ← x
return largest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737360"/>
            <a:ext cx="2926080" cy="1353312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1737360"/>
            <a:ext cx="36576" cy="1353312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46904" y="1847088"/>
            <a:ext cx="26700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TEST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2176272"/>
            <a:ext cx="267004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2B36"/>
                </a:solidFill>
                <a:latin typeface="Aptos"/>
              </a:rPr>
              <a:t>A = [3,8,5]
Output = 8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737360"/>
            <a:ext cx="2926080" cy="1353312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737360"/>
            <a:ext cx="36576" cy="1353312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847088"/>
            <a:ext cx="26700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TEST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76272"/>
            <a:ext cx="267004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2B36"/>
                </a:solidFill>
                <a:latin typeface="Aptos"/>
              </a:rPr>
              <a:t>A = [12,4,9]
Output = 12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3401568"/>
            <a:ext cx="6190488" cy="1572768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3401568"/>
            <a:ext cx="36576" cy="1572768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3511296"/>
            <a:ext cx="5934455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NOW 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4" y="3840480"/>
            <a:ext cx="5934455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C2B36"/>
                </a:solidFill>
                <a:latin typeface="Aptos"/>
              </a:rPr>
              <a:t>A = [−8, −3, −12, −5]
Output = 0 ✗     Correct maximum = −3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5422392"/>
            <a:ext cx="7269480" cy="512064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5541264"/>
            <a:ext cx="7086600" cy="28163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50" b="1" i="0">
                <a:solidFill>
                  <a:srgbClr val="1C2B36"/>
                </a:solidFill>
                <a:latin typeface="Aptos Display"/>
              </a:rPr>
              <a:t>An algorithm can pass several tests and still be wrong.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275588" cy="274320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27558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Why MAX-WRONG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The initialization introduced a hidden assumption that was never part of the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3200400" cy="80467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3017520" cy="44256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 i="0">
                <a:solidFill>
                  <a:srgbClr val="1C2B36"/>
                </a:solidFill>
                <a:latin typeface="Aptos Display"/>
              </a:rPr>
              <a:t>largest ←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64208"/>
            <a:ext cx="3063240" cy="1719072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64208"/>
            <a:ext cx="36576" cy="1719072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773936"/>
            <a:ext cx="280720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HIDDEN ASSUMPTION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103120"/>
            <a:ext cx="2807208" cy="11887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The algorithm behaves as if max(A) ≥ 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64208"/>
            <a:ext cx="3063240" cy="1719072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64208"/>
            <a:ext cx="36576" cy="1719072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4424" y="1773936"/>
            <a:ext cx="280720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BUT THE VALID DOMAIN ALLOWS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2103120"/>
            <a:ext cx="2807208" cy="11887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A = [−8, −3, −12]
which has maximum −3.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82112"/>
            <a:ext cx="327355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C2B36"/>
                </a:solidFill>
                <a:latin typeface="Aptos Display"/>
              </a:rPr>
              <a:t>Correct initialization: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75887"/>
            <a:ext cx="3200400" cy="80467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94759"/>
            <a:ext cx="3017520" cy="44256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 i="0">
                <a:solidFill>
                  <a:srgbClr val="1C2B36"/>
                </a:solidFill>
                <a:latin typeface="Aptos Display"/>
              </a:rPr>
              <a:t>largest ← A[0]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75887"/>
            <a:ext cx="6446520" cy="141732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675887"/>
            <a:ext cx="36576" cy="141732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1144" y="3785615"/>
            <a:ext cx="61904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WHY THIS IS BETTER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4114800"/>
            <a:ext cx="6190488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C2B36"/>
                </a:solidFill>
                <a:latin typeface="Aptos"/>
              </a:rPr>
              <a:t>largest begins as a real candidate from the array, helping preserve the requirement that the final answer belongs to 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5486400"/>
            <a:ext cx="8229600" cy="493776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605272"/>
            <a:ext cx="8046720" cy="2715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30" b="1" i="0">
                <a:solidFill>
                  <a:srgbClr val="1C2B36"/>
                </a:solidFill>
                <a:latin typeface="Aptos Display"/>
              </a:rPr>
              <a:t>Do not strengthen the precondition just to rescue a weak algorithm.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275588" cy="274320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27558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Precondition violation vs. algorithm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A wrong outcome can happen for two very different reasons.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5074920" cy="2971800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36576" cy="2971800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47088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5D82D9"/>
                </a:solidFill>
                <a:latin typeface="Aptos Display"/>
              </a:rPr>
              <a:t>CASE 1 — INVALID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76272"/>
            <a:ext cx="4818888" cy="2441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60" b="0" i="0">
                <a:solidFill>
                  <a:srgbClr val="1C2B36"/>
                </a:solidFill>
                <a:latin typeface="Aptos"/>
              </a:rPr>
              <a:t>FIRST(A)
return A[0]
Precondition: |A| ≥ 1
Call FIRST([]): the precondition is violated, so the correctness guarantee does not apply.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5074920" cy="2971800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737360"/>
            <a:ext cx="36576" cy="2971800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847088"/>
            <a:ext cx="48188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CASE 2 — VALID INPUT, WRONG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176272"/>
            <a:ext cx="4818888" cy="2441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C2B36"/>
                </a:solidFill>
                <a:latin typeface="Aptos"/>
              </a:rPr>
              <a:t>MAX-WRONG([-8,-3,-12])
The array is finite, non-empty, and comparable.
The legitimate preconditions hold, yet the output is 0 instead of −3.
The algorithm itself is incorrect.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166360"/>
            <a:ext cx="8869680" cy="71323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5285232"/>
            <a:ext cx="8686800" cy="39227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50" b="1" i="0">
                <a:solidFill>
                  <a:srgbClr val="1C2B36"/>
                </a:solidFill>
                <a:latin typeface="Aptos Display"/>
              </a:rPr>
              <a:t>Wrong result with valid input = correctness failure.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5615696"/>
            <a:ext cx="8650224" cy="199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65727E"/>
                </a:solidFill>
                <a:latin typeface="Aptos"/>
              </a:rPr>
              <a:t>Wrong result outside the stated domain does not automatically prove the algorithm incorrect.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755648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75564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CLASS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Practice 1 — specify AVERAGE(A)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Identify the preconditions, postcondition, termination argument, and whether the array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794760" cy="347472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35387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48256"/>
            <a:ext cx="3465576" cy="3017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AVERAGE(A)
sum ← 0
for each x in A
    sum ← sum + x
return sum / length(A)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19072"/>
            <a:ext cx="608076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47488" y="1892807"/>
            <a:ext cx="402336" cy="256032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1920239"/>
            <a:ext cx="402336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1865376"/>
            <a:ext cx="5029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1. What must be true before execution?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587752"/>
            <a:ext cx="608076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47488" y="2761487"/>
            <a:ext cx="402336" cy="256032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2788919"/>
            <a:ext cx="402336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2734056"/>
            <a:ext cx="5029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2. What must be true about the result?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456432"/>
            <a:ext cx="608076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7488" y="3630168"/>
            <a:ext cx="402336" cy="256032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3657599"/>
            <a:ext cx="402336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3602736"/>
            <a:ext cx="5029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3. Why does the loop terminate?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4325112"/>
            <a:ext cx="608076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47488" y="4498848"/>
            <a:ext cx="402336" cy="256032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4526280"/>
            <a:ext cx="402336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4471416"/>
            <a:ext cx="5029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1C2B36"/>
                </a:solidFill>
                <a:latin typeface="Aptos Display"/>
              </a:rPr>
              <a:t>4. Is A modified?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413248"/>
            <a:ext cx="6080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0" i="0">
                <a:solidFill>
                  <a:srgbClr val="65727E"/>
                </a:solidFill>
                <a:latin typeface="Aptos"/>
              </a:rPr>
              <a:t>Discuss for 2–3 minutes before revealing the model answer.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755648" cy="274320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75564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CLASS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Practice 1 — model answer for AVERAGE(A)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Notice how one small algorithm uses almost every concept from the lecture.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19072"/>
            <a:ext cx="3429000" cy="1874519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19072"/>
            <a:ext cx="36576" cy="1874519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31729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PRECONDITIONS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57984"/>
            <a:ext cx="3172968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 i="0">
                <a:solidFill>
                  <a:srgbClr val="1C2B36"/>
                </a:solidFill>
                <a:latin typeface="Aptos"/>
              </a:rPr>
              <a:t>|A| ≥ 1
A is finite
Elements are numeric / support + and division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19072"/>
            <a:ext cx="3429000" cy="1874519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19072"/>
            <a:ext cx="36576" cy="1874519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28800"/>
            <a:ext cx="31729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POSTCONDITION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157984"/>
            <a:ext cx="3172968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 i="0">
                <a:solidFill>
                  <a:srgbClr val="1C2B36"/>
                </a:solidFill>
                <a:latin typeface="Aptos"/>
              </a:rPr>
              <a:t>If the result is r:
r = (sum of all elements) / |A|
Aafter = Abefore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719072"/>
            <a:ext cx="3429000" cy="1874519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1719072"/>
            <a:ext cx="36576" cy="1874519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31729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TERMINATION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57984"/>
            <a:ext cx="3172968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 i="0">
                <a:solidFill>
                  <a:srgbClr val="1C2B36"/>
                </a:solidFill>
                <a:latin typeface="Aptos"/>
              </a:rPr>
              <a:t>The loop visits each element once.
Because A is finite, the loop eventually ends.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4160520"/>
            <a:ext cx="8275320" cy="8229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4279392"/>
            <a:ext cx="8092440" cy="4526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40" b="1" i="0">
                <a:solidFill>
                  <a:srgbClr val="1C2B36"/>
                </a:solidFill>
                <a:latin typeface="Aptos Display"/>
              </a:rPr>
              <a:t>Why require |A| ≥ 1?  Otherwise length(A) = 0 and the final division is undefined.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755648" cy="274320"/>
          </a:xfrm>
          <a:prstGeom prst="round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75564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CLASS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Practice 2 — find the hidden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Problem: given a non-empty numeric array, return its minimum element.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82496"/>
            <a:ext cx="3749039" cy="342900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73936"/>
            <a:ext cx="3493007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66544"/>
            <a:ext cx="3419856" cy="2971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MIN(A)
smallest ← 0
for each x in A
    if x &lt; smallest
        smallest ← x
return smallest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783080"/>
            <a:ext cx="2788920" cy="1463040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783080"/>
            <a:ext cx="36576" cy="14630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1184" y="1892807"/>
            <a:ext cx="25328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TRY THIS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2221991"/>
            <a:ext cx="2532887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C2B36"/>
                </a:solidFill>
                <a:latin typeface="Aptos"/>
              </a:rPr>
              <a:t>A = [4, 7, 2, 9]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783080"/>
            <a:ext cx="2788920" cy="1463040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783080"/>
            <a:ext cx="36576" cy="1463040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892807"/>
            <a:ext cx="25328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WHAT HAPPENS?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2221991"/>
            <a:ext cx="2532887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No element is &lt; 0.
The algorithm returns 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611880"/>
            <a:ext cx="5897880" cy="1481328"/>
          </a:xfrm>
          <a:prstGeom prst="roundRect">
            <a:avLst/>
          </a:prstGeom>
          <a:solidFill>
            <a:srgbClr val="ECF1F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611880"/>
            <a:ext cx="36576" cy="1481328"/>
          </a:xfrm>
          <a:prstGeom prst="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3721608"/>
            <a:ext cx="56418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5D82D9"/>
                </a:solidFill>
                <a:latin typeface="Aptos Display"/>
              </a:rPr>
              <a:t>WHY IS THAT WRONG?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4" y="4050791"/>
            <a:ext cx="5641848" cy="9509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1C2B36"/>
                </a:solidFill>
                <a:latin typeface="Aptos"/>
              </a:rPr>
              <a:t>0 ∉ A and min(A) = 2.
The initialization introduced the same hidden assumption as MAX-WRONG.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5504688"/>
            <a:ext cx="7589520" cy="47548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5623559"/>
            <a:ext cx="7406640" cy="26151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40" b="1" i="0">
                <a:solidFill>
                  <a:srgbClr val="1C2B36"/>
                </a:solidFill>
                <a:latin typeface="Aptos Display"/>
              </a:rPr>
              <a:t>Correct initialization: smallest ← A[0]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755648" cy="274320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755648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CLASS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Practice 3 — partial correctness vs. termination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This example separates “right answer if we finish” from “guaranteed to finish.”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840480" cy="356616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35844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48256"/>
            <a:ext cx="3511296" cy="3108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FIND-ZERO(A)
i ← 0
while A[i] ≠ 0
    i ← i + 1
return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19072"/>
            <a:ext cx="2788920" cy="1463040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1719072"/>
            <a:ext cx="36576" cy="1463040"/>
          </a:xfrm>
          <a:prstGeom prst="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1828800"/>
            <a:ext cx="25328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46B97C"/>
                </a:solidFill>
                <a:latin typeface="Aptos Display"/>
              </a:rPr>
              <a:t>CONTAINS 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2157984"/>
            <a:ext cx="2532887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A = [5,7,3,0,9]
Returns i = 3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19072"/>
            <a:ext cx="2788920" cy="1463040"/>
          </a:xfrm>
          <a:prstGeom prst="roundRect">
            <a:avLst/>
          </a:prstGeom>
          <a:solidFill>
            <a:srgbClr val="FCECEC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719072"/>
            <a:ext cx="36576" cy="1463040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1828800"/>
            <a:ext cx="2532887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NO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157984"/>
            <a:ext cx="2532887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C2B36"/>
                </a:solidFill>
                <a:latin typeface="Aptos"/>
              </a:rPr>
              <a:t>A = [5,7,3,9]
The search runs past the array.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547872"/>
            <a:ext cx="5897880" cy="1572768"/>
          </a:xfrm>
          <a:prstGeom prst="roundRect">
            <a:avLst/>
          </a:prstGeom>
          <a:solidFill>
            <a:srgbClr val="F3ECF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3547872"/>
            <a:ext cx="36576" cy="1572768"/>
          </a:xfrm>
          <a:prstGeom prst="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8344" y="3657600"/>
            <a:ext cx="56418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9B6AD6"/>
                </a:solidFill>
                <a:latin typeface="Aptos Display"/>
              </a:rPr>
              <a:t>KEY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3986783"/>
            <a:ext cx="56418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C2B36"/>
                </a:solidFill>
                <a:latin typeface="Aptos"/>
              </a:rPr>
              <a:t>If the algorithm stops at i, then A[i] = 0 — the result is right.
But what condition is needed to guarantee that it actually stops?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5486400"/>
            <a:ext cx="4709160" cy="493776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5605272"/>
            <a:ext cx="4526280" cy="2715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40" b="1" i="0">
                <a:solidFill>
                  <a:srgbClr val="1C2B36"/>
                </a:solidFill>
                <a:latin typeface="Aptos Display"/>
              </a:rPr>
              <a:t>Useful precondition: 0 ∈ 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371600" cy="274320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3716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A safer FIND-ZERO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Better design can remove an unnecessary precondition and handle NOT-FOUND explicitly.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4754880" cy="388620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37360"/>
            <a:ext cx="44988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82D9"/>
                </a:solidFill>
                <a:latin typeface="Aptos Display"/>
              </a:rPr>
              <a:t>IMPROVED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4425696" cy="3429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C2B36"/>
                </a:solidFill>
                <a:latin typeface="Aptos Mono"/>
              </a:rPr>
              <a:t>FIND-ZERO(A)
i ← 0
while i &lt; length(A) AND A[i] ≠ 0
    i ← i + 1
if i = length(A)
    return NOT-FOUND
return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755648"/>
            <a:ext cx="4983480" cy="1572768"/>
          </a:xfrm>
          <a:prstGeom prst="roundRect">
            <a:avLst/>
          </a:prstGeom>
          <a:solidFill>
            <a:srgbClr val="E8F8F5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755648"/>
            <a:ext cx="36576" cy="1572768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2744" y="1865376"/>
            <a:ext cx="47274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IF ZERO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2194560"/>
            <a:ext cx="47274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1C2B36"/>
                </a:solidFill>
                <a:latin typeface="Aptos"/>
              </a:rPr>
              <a:t>The algorithm stops at an index i where A[i] = 0 and returns 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584448"/>
            <a:ext cx="4983480" cy="1572768"/>
          </a:xfrm>
          <a:prstGeom prst="roundRect">
            <a:avLst/>
          </a:prstGeom>
          <a:solidFill>
            <a:srgbClr val="FFF3CF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3584448"/>
            <a:ext cx="36576" cy="157276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3694176"/>
            <a:ext cx="472744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FFB000"/>
                </a:solidFill>
                <a:latin typeface="Aptos Display"/>
              </a:rPr>
              <a:t>IF ZERO DOES NOT EXIST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744" y="4023360"/>
            <a:ext cx="47274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1C2B36"/>
                </a:solidFill>
                <a:latin typeface="Aptos"/>
              </a:rPr>
              <a:t>The loop stops when i = length(A) and returns NOT-FOUND.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5504688"/>
            <a:ext cx="4434840" cy="493776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5623559"/>
            <a:ext cx="4251959" cy="2715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70" b="1" i="0">
                <a:solidFill>
                  <a:srgbClr val="1C2B36"/>
                </a:solidFill>
                <a:latin typeface="Aptos Display"/>
              </a:rPr>
              <a:t>Termination is now guaranteed for every finite 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1659636" cy="2743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1659636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CDF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Correctness comes before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4343400" cy="2103120"/>
          </a:xfrm>
          <a:prstGeom prst="roundRect">
            <a:avLst/>
          </a:prstGeom>
          <a:solidFill>
            <a:srgbClr val="10334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83080"/>
            <a:ext cx="36576" cy="2103120"/>
          </a:xfrm>
          <a:prstGeom prst="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892807"/>
            <a:ext cx="40873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2FC7BA"/>
                </a:solidFill>
                <a:latin typeface="Aptos Display"/>
              </a:rPr>
              <a:t>CANDIDATE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221991"/>
            <a:ext cx="4087368" cy="15727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Returns the correct answer in 10 seconds.
Correct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783080"/>
            <a:ext cx="4343400" cy="2103120"/>
          </a:xfrm>
          <a:prstGeom prst="roundRect">
            <a:avLst/>
          </a:prstGeom>
          <a:solidFill>
            <a:srgbClr val="10334B"/>
          </a:solidFill>
          <a:ln w="889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1783080"/>
            <a:ext cx="36576" cy="2103120"/>
          </a:xfrm>
          <a:prstGeom prst="rect">
            <a:avLst/>
          </a:prstGeom>
          <a:solidFill>
            <a:srgbClr val="E97070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0024" y="1892807"/>
            <a:ext cx="40873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 i="0">
                <a:solidFill>
                  <a:srgbClr val="E97070"/>
                </a:solidFill>
                <a:latin typeface="Aptos Display"/>
              </a:rPr>
              <a:t>CANDIDATE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0024" y="2221991"/>
            <a:ext cx="4087368" cy="15727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Returns in 0.001 seconds…
but sometimes the answer is wrong.
Incorrect 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370832"/>
            <a:ext cx="8366760" cy="960120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489704"/>
            <a:ext cx="8183880" cy="52806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First: Is it correct?   →   Then: How efficient is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4975707"/>
            <a:ext cx="8147304" cy="26883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 i="0">
                <a:solidFill>
                  <a:srgbClr val="C8D4DC"/>
                </a:solidFill>
                <a:latin typeface="Aptos"/>
              </a:rPr>
              <a:t>Efficiency comparisons are meaningful only among algorithms that correctly solve the same problem.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621792"/>
            <a:ext cx="11311128" cy="0"/>
          </a:xfrm>
          <a:prstGeom prst="line">
            <a:avLst/>
          </a:prstGeom>
          <a:ln w="15240">
            <a:solidFill>
              <a:srgbClr val="2FC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1C2B36"/>
                </a:solidFill>
                <a:latin typeface="Aptos Display"/>
              </a:rPr>
              <a:t>Lecture 3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261872"/>
            <a:ext cx="10744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65727E"/>
                </a:solidFill>
                <a:latin typeface="Aptos"/>
              </a:rPr>
              <a:t>Five ideas to carry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A0ADB6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A0ADB6"/>
                </a:solidFill>
                <a:latin typeface="Aptos"/>
              </a:rP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10881360" cy="658368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837944"/>
            <a:ext cx="548640" cy="256032"/>
          </a:xfrm>
          <a:prstGeom prst="roundRect">
            <a:avLst/>
          </a:prstGeom>
          <a:solidFill>
            <a:srgbClr val="2FC7BA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65376"/>
            <a:ext cx="54864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783080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FC7BA"/>
                </a:solidFill>
                <a:latin typeface="Aptos Display"/>
              </a:rPr>
              <a:t>Preconditions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783080"/>
            <a:ext cx="7132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9" b="0" i="0">
                <a:solidFill>
                  <a:srgbClr val="1C2B36"/>
                </a:solidFill>
                <a:latin typeface="Aptos"/>
              </a:rPr>
              <a:t>What must be true before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14600"/>
            <a:ext cx="10881360" cy="658368"/>
          </a:xfrm>
          <a:prstGeom prst="roundRect">
            <a:avLst/>
          </a:prstGeom>
          <a:solidFill>
            <a:srgbClr val="FFF3C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88336"/>
            <a:ext cx="548640" cy="256032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715768"/>
            <a:ext cx="54864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633472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FFB000"/>
                </a:solidFill>
                <a:latin typeface="Aptos Display"/>
              </a:rPr>
              <a:t>Postconditions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633472"/>
            <a:ext cx="7132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9" b="0" i="0">
                <a:solidFill>
                  <a:srgbClr val="1C2B36"/>
                </a:solidFill>
                <a:latin typeface="Aptos"/>
              </a:rPr>
              <a:t>What must be true after execution.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64992"/>
            <a:ext cx="10881360" cy="658368"/>
          </a:xfrm>
          <a:prstGeom prst="roundRect">
            <a:avLst/>
          </a:prstGeom>
          <a:solidFill>
            <a:srgbClr val="ECF1FC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3538728"/>
            <a:ext cx="548640" cy="256032"/>
          </a:xfrm>
          <a:prstGeom prst="roundRect">
            <a:avLst/>
          </a:prstGeom>
          <a:solidFill>
            <a:srgbClr val="5D82D9"/>
          </a:solidFill>
          <a:ln w="12700">
            <a:solidFill>
              <a:srgbClr val="5D8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566160"/>
            <a:ext cx="54864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3483864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5D82D9"/>
                </a:solidFill>
                <a:latin typeface="Aptos Display"/>
              </a:rPr>
              <a:t>Partial correctness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483864"/>
            <a:ext cx="7132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9" b="0" i="0">
                <a:solidFill>
                  <a:srgbClr val="1C2B36"/>
                </a:solidFill>
                <a:latin typeface="Aptos"/>
              </a:rPr>
              <a:t>If execution finishes, the result is right.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15384"/>
            <a:ext cx="10881360" cy="658368"/>
          </a:xfrm>
          <a:prstGeom prst="roundRect">
            <a:avLst/>
          </a:prstGeom>
          <a:solidFill>
            <a:srgbClr val="F3ECFB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4389120"/>
            <a:ext cx="548640" cy="256032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416552"/>
            <a:ext cx="54864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4334256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9B6AD6"/>
                </a:solidFill>
                <a:latin typeface="Aptos Display"/>
              </a:rPr>
              <a:t>Termination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334256"/>
            <a:ext cx="7132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9" b="0" i="0">
                <a:solidFill>
                  <a:srgbClr val="1C2B36"/>
                </a:solidFill>
                <a:latin typeface="Aptos"/>
              </a:rPr>
              <a:t>Execution is guaranteed to finish for every valid input.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65776"/>
            <a:ext cx="10881360" cy="658368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" y="5239512"/>
            <a:ext cx="548640" cy="256032"/>
          </a:xfrm>
          <a:prstGeom prst="roundRect">
            <a:avLst/>
          </a:prstGeom>
          <a:solidFill>
            <a:srgbClr val="46B97C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266944"/>
            <a:ext cx="54864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5184648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46B97C"/>
                </a:solidFill>
                <a:latin typeface="Aptos Display"/>
              </a:rPr>
              <a:t>Total correctness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184648"/>
            <a:ext cx="7132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9" b="0" i="0">
                <a:solidFill>
                  <a:srgbClr val="1C2B36"/>
                </a:solidFill>
                <a:latin typeface="Aptos"/>
              </a:rPr>
              <a:t>Partial correctness + termination.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57400" y="5824728"/>
            <a:ext cx="8092440" cy="47548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9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5943600"/>
            <a:ext cx="7909560" cy="26151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80" b="1" i="0">
                <a:solidFill>
                  <a:srgbClr val="1C2B36"/>
                </a:solidFill>
                <a:latin typeface="Aptos Display"/>
              </a:rPr>
              <a:t>Correctness must be established before efficiency comparisons are meaningful.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" y="310896"/>
            <a:ext cx="1143000" cy="274320"/>
          </a:xfrm>
          <a:prstGeom prst="roundRect">
            <a:avLst/>
          </a:prstGeom>
          <a:solidFill>
            <a:srgbClr val="9B6AD6"/>
          </a:solidFill>
          <a:ln w="12700">
            <a:solidFill>
              <a:srgbClr val="9B6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56616"/>
            <a:ext cx="1143000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 i="0">
                <a:solidFill>
                  <a:srgbClr val="0B2233"/>
                </a:solidFill>
                <a:latin typeface="Aptos Display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22376"/>
            <a:ext cx="10927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Where do we go next?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120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92A2AE"/>
                </a:solidFill>
                <a:latin typeface="Aptos"/>
              </a:rPr>
              <a:t>CSC301 • Design and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 i="0">
                <a:solidFill>
                  <a:srgbClr val="92A2AE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We reasoned informally about MAX(A). Now we need a proof method for loops.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23160"/>
            <a:ext cx="3246120" cy="1920240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2FC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2FC7BA"/>
                </a:solidFill>
                <a:latin typeface="Aptos Display"/>
              </a:rPr>
              <a:t>INITIALIZATION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200400"/>
            <a:ext cx="27432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19" b="0" i="0">
                <a:solidFill>
                  <a:srgbClr val="FFFFFF"/>
                </a:solidFill>
                <a:latin typeface="Aptos"/>
              </a:rPr>
              <a:t>Is the property true before the loop starts?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423160"/>
            <a:ext cx="3246120" cy="1920240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697480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FFB000"/>
                </a:solidFill>
                <a:latin typeface="Aptos Display"/>
              </a:rPr>
              <a:t>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3200400"/>
            <a:ext cx="27432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19" b="0" i="0">
                <a:solidFill>
                  <a:srgbClr val="FFFFFF"/>
                </a:solidFill>
                <a:latin typeface="Aptos"/>
              </a:rPr>
              <a:t>If true before an iteration, does it remain true after?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59" y="2423160"/>
            <a:ext cx="3246120" cy="1920240"/>
          </a:xfrm>
          <a:prstGeom prst="roundRect">
            <a:avLst/>
          </a:prstGeom>
          <a:solidFill>
            <a:srgbClr val="10334B"/>
          </a:solidFill>
          <a:ln w="12700">
            <a:solidFill>
              <a:srgbClr val="46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39" y="2697480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46B97C"/>
                </a:solidFill>
                <a:latin typeface="Aptos Display"/>
              </a:rPr>
              <a:t>TERMINATION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1" y="3200400"/>
            <a:ext cx="27432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19" b="0" i="0">
                <a:solidFill>
                  <a:srgbClr val="FFFFFF"/>
                </a:solidFill>
                <a:latin typeface="Aptos"/>
              </a:rPr>
              <a:t>When the loop ends, does the property prove the result?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937760"/>
            <a:ext cx="7543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9B6AD6"/>
                </a:solidFill>
                <a:latin typeface="Aptos Display"/>
              </a:rPr>
              <a:t>LECTURE 4 — LOOP INVARIANTS AND ITERATIVE CORRECTNESS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623560"/>
            <a:ext cx="79095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0" i="0">
                <a:solidFill>
                  <a:srgbClr val="C8D4DC"/>
                </a:solidFill>
                <a:latin typeface="Aptos"/>
              </a:rPr>
              <a:t>Lecture 3 tells us what correctness means. Lecture 4 teaches us how to prove it for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COMSATS University Islamabad, Attock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CSC301 Lecture 03 — Algorithm Correctness Fundamentals</dc:title>
  <dc:subject>CSC301 Lecture 3 - Algorithm Correctness Fundamentals</dc:subject>
  <dc:creator>OpenAI</dc:creator>
  <cp:lastModifiedBy>OpenAI</cp:lastModifiedBy>
  <cp:revision>1</cp:revision>
  <dcterms:created xsi:type="dcterms:W3CDTF">2026-09-05T15:45:08Z</dcterms:created>
  <dcterms:modified xsi:type="dcterms:W3CDTF">2026-09-05T15:45:08Z</dcterms:modified>
</cp:coreProperties>
</file>