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92" r:id="rId43"/>
    <p:sldId id="293" r:id="rId44"/>
    <p:sldId id="294" r:id="rId45"/>
    <p:sldId id="295" r:id="rId46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96" r:id="rId47"/>
    <p:sldId id="297" r:id="rId48"/>
    <p:sldId id="298" r:id="rId49"/>
    <p:sldId id="274" r:id="rId20"/>
    <p:sldId id="275" r:id="rId21"/>
    <p:sldId id="276" r:id="rId22"/>
    <p:sldId id="277" r:id="rId23"/>
    <p:sldId id="278" r:id="rId24"/>
    <p:sldId id="279" r:id="rId25"/>
    <p:sldId id="299" r:id="rId50"/>
    <p:sldId id="300" r:id="rId51"/>
    <p:sldId id="301" r:id="rId52"/>
    <p:sldId id="280" r:id="rId26"/>
    <p:sldId id="281" r:id="rId27"/>
    <p:sldId id="282" r:id="rId28"/>
    <p:sldId id="283" r:id="rId29"/>
    <p:sldId id="284" r:id="rId30"/>
    <p:sldId id="302" r:id="rId53"/>
    <p:sldId id="303" r:id="rId54"/>
    <p:sldId id="285" r:id="rId31"/>
    <p:sldId id="304" r:id="rId55"/>
    <p:sldId id="286" r:id="rId32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289" r:id="rId35"/>
    <p:sldId id="290" r:id="rId36"/>
    <p:sldId id="291" r:id="rId37"/>
  </p:sldIdLst>
  <p:notesMasterIdLst>
    <p:notesMasterId r:id="rId3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9.xml"/><Relationship Id="rId7" Type="http://schemas.openxmlformats.org/officeDocument/2006/relationships/slide" Target="slides/slide10.xml"/><Relationship Id="rId8" Type="http://schemas.openxmlformats.org/officeDocument/2006/relationships/slide" Target="slides/slide11.xml"/><Relationship Id="rId9" Type="http://schemas.openxmlformats.org/officeDocument/2006/relationships/slide" Target="slides/slide12.xml"/><Relationship Id="rId10" Type="http://schemas.openxmlformats.org/officeDocument/2006/relationships/slide" Target="slides/slide13.xml"/><Relationship Id="rId11" Type="http://schemas.openxmlformats.org/officeDocument/2006/relationships/slide" Target="slides/slide14.xml"/><Relationship Id="rId12" Type="http://schemas.openxmlformats.org/officeDocument/2006/relationships/slide" Target="slides/slide15.xml"/><Relationship Id="rId13" Type="http://schemas.openxmlformats.org/officeDocument/2006/relationships/slide" Target="slides/slide16.xml"/><Relationship Id="rId14" Type="http://schemas.openxmlformats.org/officeDocument/2006/relationships/slide" Target="slides/slide17.xml"/><Relationship Id="rId15" Type="http://schemas.openxmlformats.org/officeDocument/2006/relationships/slide" Target="slides/slide18.xml"/><Relationship Id="rId16" Type="http://schemas.openxmlformats.org/officeDocument/2006/relationships/slide" Target="slides/slide19.xml"/><Relationship Id="rId17" Type="http://schemas.openxmlformats.org/officeDocument/2006/relationships/slide" Target="slides/slide20.xml"/><Relationship Id="rId18" Type="http://schemas.openxmlformats.org/officeDocument/2006/relationships/slide" Target="slides/slide21.xml"/><Relationship Id="rId19" Type="http://schemas.openxmlformats.org/officeDocument/2006/relationships/slide" Target="slides/slide22.xml"/><Relationship Id="rId20" Type="http://schemas.openxmlformats.org/officeDocument/2006/relationships/slide" Target="slides/slide23.xml"/><Relationship Id="rId21" Type="http://schemas.openxmlformats.org/officeDocument/2006/relationships/slide" Target="slides/slide24.xml"/><Relationship Id="rId22" Type="http://schemas.openxmlformats.org/officeDocument/2006/relationships/slide" Target="slides/slide25.xml"/><Relationship Id="rId23" Type="http://schemas.openxmlformats.org/officeDocument/2006/relationships/slide" Target="slides/slide26.xml"/><Relationship Id="rId24" Type="http://schemas.openxmlformats.org/officeDocument/2006/relationships/slide" Target="slides/slide27.xml"/><Relationship Id="rId25" Type="http://schemas.openxmlformats.org/officeDocument/2006/relationships/slide" Target="slides/slide28.xml"/><Relationship Id="rId26" Type="http://schemas.openxmlformats.org/officeDocument/2006/relationships/slide" Target="slides/slide29.xml"/><Relationship Id="rId27" Type="http://schemas.openxmlformats.org/officeDocument/2006/relationships/slide" Target="slides/slide30.xml"/><Relationship Id="rId28" Type="http://schemas.openxmlformats.org/officeDocument/2006/relationships/slide" Target="slides/slide31.xml"/><Relationship Id="rId29" Type="http://schemas.openxmlformats.org/officeDocument/2006/relationships/slide" Target="slides/slide32.xml"/><Relationship Id="rId30" Type="http://schemas.openxmlformats.org/officeDocument/2006/relationships/slide" Target="slides/slide33.xml"/><Relationship Id="rId31" Type="http://schemas.openxmlformats.org/officeDocument/2006/relationships/slide" Target="slides/slide34.xml"/><Relationship Id="rId32" Type="http://schemas.openxmlformats.org/officeDocument/2006/relationships/slide" Target="slides/slide35.xml"/><Relationship Id="rId35" Type="http://schemas.openxmlformats.org/officeDocument/2006/relationships/slide" Target="slides/slide38.xml"/><Relationship Id="rId36" Type="http://schemas.openxmlformats.org/officeDocument/2006/relationships/slide" Target="slides/slide39.xml"/><Relationship Id="rId37" Type="http://schemas.openxmlformats.org/officeDocument/2006/relationships/slide" Target="slides/slide40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Relationship Id="rId43" Type="http://schemas.openxmlformats.org/officeDocument/2006/relationships/slide" Target="slides/slide5.xml"/><Relationship Id="rId44" Type="http://schemas.openxmlformats.org/officeDocument/2006/relationships/slide" Target="slides/slide6.xml"/><Relationship Id="rId45" Type="http://schemas.openxmlformats.org/officeDocument/2006/relationships/slide" Target="slides/slide7.xml"/><Relationship Id="rId46" Type="http://schemas.openxmlformats.org/officeDocument/2006/relationships/slide" Target="slides/slide8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D3C6"/>
          </a:solidFill>
          <a:ln w="12700">
            <a:solidFill>
              <a:srgbClr val="2ED3C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73952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A93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CSC301 • Design and Analysis of Algorithms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7726680" y="6473952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8A93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COMSATS University Islamabad, Attock Campus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939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926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647395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F89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CSC301 • Design and Analysis of Algorithms</a:t>
            </a:r>
            <a:endParaRPr lang="en-US" sz="680" dirty="0"/>
          </a:p>
        </p:txBody>
      </p:sp>
      <p:sp>
        <p:nvSpPr>
          <p:cNvPr id="3" name="Text 1"/>
          <p:cNvSpPr/>
          <p:nvPr/>
        </p:nvSpPr>
        <p:spPr>
          <a:xfrm>
            <a:off x="7726680" y="6473952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F89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COMSATS University Islamabad, Attock Campus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F899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939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1078992" cy="256032"/>
          </a:xfrm>
          <a:prstGeom prst="roundRect">
            <a:avLst>
              <a:gd name="adj" fmla="val 28571"/>
            </a:avLst>
          </a:prstGeom>
          <a:solidFill>
            <a:srgbClr val="F6C64F"/>
          </a:solidFill>
          <a:ln w="12700">
            <a:solidFill>
              <a:srgbClr val="F6C64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75488" y="338328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926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04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6583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Loop Invariants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and Iterative Correctness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30352" y="199339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BC0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 we prove that a loop stays correct through every iteration?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0352" y="2743200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D3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Initialization  •  Maintenance  •  Termination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635240" y="1417320"/>
            <a:ext cx="2194560" cy="2194560"/>
          </a:xfrm>
          <a:prstGeom prst="ellipse">
            <a:avLst/>
          </a:prstGeom>
          <a:solidFill>
            <a:srgbClr val="0D3446">
              <a:alpha val="95000"/>
            </a:srgbClr>
          </a:solidFill>
          <a:ln w="15240">
            <a:solidFill>
              <a:srgbClr val="2E596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946136" y="231343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INVARIANT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 rot="1080000">
            <a:off x="7242048" y="1024128"/>
            <a:ext cx="2971800" cy="2971800"/>
          </a:xfrm>
          <a:prstGeom prst="arc">
            <a:avLst/>
          </a:prstGeom>
          <a:solidFill>
            <a:srgbClr val="092633">
              <a:alpha val="0"/>
            </a:srgbClr>
          </a:solidFill>
          <a:ln w="50800">
            <a:solidFill>
              <a:srgbClr val="2ED3C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966960" y="1280160"/>
            <a:ext cx="1325880" cy="420624"/>
          </a:xfrm>
          <a:prstGeom prst="roundRect">
            <a:avLst>
              <a:gd name="adj" fmla="val 10870"/>
            </a:avLst>
          </a:prstGeom>
          <a:solidFill>
            <a:srgbClr val="F6C64F"/>
          </a:solidFill>
          <a:ln w="12700">
            <a:solidFill>
              <a:srgbClr val="F6C64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131552" y="1426464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92633"/>
                </a:solidFill>
              </a:rPr>
              <a:t>INIT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0149840" y="2487168"/>
            <a:ext cx="1417320" cy="420624"/>
          </a:xfrm>
          <a:prstGeom prst="roundRect">
            <a:avLst>
              <a:gd name="adj" fmla="val 10870"/>
            </a:avLst>
          </a:prstGeom>
          <a:solidFill>
            <a:srgbClr val="2ED3C6"/>
          </a:solidFill>
          <a:ln w="12700">
            <a:solidFill>
              <a:srgbClr val="2ED3C6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241280" y="2633472"/>
            <a:ext cx="12252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92633"/>
                </a:solidFill>
              </a:rPr>
              <a:t>MAINTAIN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784080" y="3657600"/>
            <a:ext cx="1627632" cy="420624"/>
          </a:xfrm>
          <a:prstGeom prst="roundRect">
            <a:avLst>
              <a:gd name="adj" fmla="val 10870"/>
            </a:avLst>
          </a:prstGeom>
          <a:solidFill>
            <a:srgbClr val="8B78E6"/>
          </a:solidFill>
          <a:ln w="12700">
            <a:solidFill>
              <a:srgbClr val="8B78E6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930384" y="3803904"/>
            <a:ext cx="13350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TERMINATE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F899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r>
              <a:rPr sz="800">
                <a:solidFill>
                  <a:srgbClr val="5A646E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1078992" cy="256032"/>
          </a:xfrm>
          <a:prstGeom prst="roundRect">
            <a:avLst>
              <a:gd name="adj" fmla="val 28571"/>
            </a:avLst>
          </a:prstGeom>
          <a:solidFill>
            <a:srgbClr val="2ED3C6"/>
          </a:solidFill>
          <a:ln w="12700">
            <a:solidFill>
              <a:srgbClr val="2ED3C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75488" y="338328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926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CDF OUTCOMES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38912" y="66751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D27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should you be able to do by the end?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38912" y="121615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774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4 follows the CDF topic “Loop Invariants and Iterative Correctness.”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520440" cy="1115568"/>
          </a:xfrm>
          <a:prstGeom prst="roundRect">
            <a:avLst>
              <a:gd name="adj" fmla="val 4098"/>
            </a:avLst>
          </a:prstGeom>
          <a:solidFill>
            <a:srgbClr val="E9FAF8"/>
          </a:solidFill>
          <a:ln w="10160">
            <a:solidFill>
              <a:srgbClr val="DCE3EA"/>
            </a:solidFill>
            <a:prstDash val="solid"/>
          </a:ln>
          <a:effectLst>
            <a:outerShdw sx="100000" sy="100000" kx="0" ky="0" algn="bl" rotWithShape="0" blurRad="12700" dist="50800" dir="2700000">
              <a:srgbClr val="C5CCD3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48640" y="1737360"/>
            <a:ext cx="54864" cy="1115568"/>
          </a:xfrm>
          <a:prstGeom prst="rect">
            <a:avLst/>
          </a:prstGeom>
          <a:solidFill>
            <a:srgbClr val="2ED3C6"/>
          </a:solidFill>
          <a:ln w="12700">
            <a:solidFill>
              <a:srgbClr val="2ED3C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13232" y="1874520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13232" y="2212848"/>
            <a:ext cx="322783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loop invariant and explain what it says about a loop state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315968" y="1737360"/>
            <a:ext cx="3520440" cy="1115568"/>
          </a:xfrm>
          <a:prstGeom prst="roundRect">
            <a:avLst>
              <a:gd name="adj" fmla="val 4098"/>
            </a:avLst>
          </a:prstGeom>
          <a:solidFill>
            <a:srgbClr val="FFF7DD"/>
          </a:solidFill>
          <a:ln w="10160">
            <a:solidFill>
              <a:srgbClr val="DCE3EA"/>
            </a:solidFill>
            <a:prstDash val="solid"/>
          </a:ln>
          <a:effectLst>
            <a:outerShdw sx="100000" sy="100000" kx="0" ky="0" algn="bl" rotWithShape="0" blurRad="12700" dist="50800" dir="2700000">
              <a:srgbClr val="C5CCD3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315968" y="1737360"/>
            <a:ext cx="54864" cy="1115568"/>
          </a:xfrm>
          <a:prstGeom prst="rect">
            <a:avLst/>
          </a:prstGeom>
          <a:solidFill>
            <a:srgbClr val="F6C64F"/>
          </a:solidFill>
          <a:ln w="12700">
            <a:solidFill>
              <a:srgbClr val="F6C64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480560" y="1874520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480560" y="2212848"/>
            <a:ext cx="322783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initialization, maintenance and termination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083296" y="1737360"/>
            <a:ext cx="3520440" cy="1115568"/>
          </a:xfrm>
          <a:prstGeom prst="roundRect">
            <a:avLst>
              <a:gd name="adj" fmla="val 4098"/>
            </a:avLst>
          </a:prstGeom>
          <a:solidFill>
            <a:srgbClr val="EEF4FF"/>
          </a:solidFill>
          <a:ln w="10160">
            <a:solidFill>
              <a:srgbClr val="DCE3EA"/>
            </a:solidFill>
            <a:prstDash val="solid"/>
          </a:ln>
          <a:effectLst>
            <a:outerShdw sx="100000" sy="100000" kx="0" ky="0" algn="bl" rotWithShape="0" blurRad="12700" dist="50800" dir="2700000">
              <a:srgbClr val="C5CCD3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083296" y="1737360"/>
            <a:ext cx="54864" cy="1115568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247888" y="1874520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247888" y="2212848"/>
            <a:ext cx="322783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correctness proof using the three invariant stages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3154680"/>
            <a:ext cx="3520440" cy="1115568"/>
          </a:xfrm>
          <a:prstGeom prst="roundRect">
            <a:avLst>
              <a:gd name="adj" fmla="val 4098"/>
            </a:avLst>
          </a:prstGeom>
          <a:solidFill>
            <a:srgbClr val="F3F0FF"/>
          </a:solidFill>
          <a:ln w="10160">
            <a:solidFill>
              <a:srgbClr val="DCE3EA"/>
            </a:solidFill>
            <a:prstDash val="solid"/>
          </a:ln>
          <a:effectLst>
            <a:outerShdw sx="100000" sy="100000" kx="0" ky="0" algn="bl" rotWithShape="0" blurRad="12700" dist="50800" dir="2700000">
              <a:srgbClr val="C5CCD3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548640" y="3154680"/>
            <a:ext cx="54864" cy="1115568"/>
          </a:xfrm>
          <a:prstGeom prst="rect">
            <a:avLst/>
          </a:prstGeom>
          <a:solidFill>
            <a:srgbClr val="8B78E6"/>
          </a:solidFill>
          <a:ln w="12700">
            <a:solidFill>
              <a:srgbClr val="8B78E6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13232" y="3291840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13232" y="3630168"/>
            <a:ext cx="322783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loop invariants to common iterative algorithms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315968" y="3154680"/>
            <a:ext cx="3520440" cy="1115568"/>
          </a:xfrm>
          <a:prstGeom prst="roundRect">
            <a:avLst>
              <a:gd name="adj" fmla="val 4098"/>
            </a:avLst>
          </a:prstGeom>
          <a:solidFill>
            <a:srgbClr val="EDF9F2"/>
          </a:solidFill>
          <a:ln w="10160">
            <a:solidFill>
              <a:srgbClr val="DCE3EA"/>
            </a:solidFill>
            <a:prstDash val="solid"/>
          </a:ln>
          <a:effectLst>
            <a:outerShdw sx="100000" sy="100000" kx="0" ky="0" algn="bl" rotWithShape="0" blurRad="12700" dist="50800" dir="2700000">
              <a:srgbClr val="C5CCD3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4315968" y="3154680"/>
            <a:ext cx="54864" cy="1115568"/>
          </a:xfrm>
          <a:prstGeom prst="rect">
            <a:avLst/>
          </a:prstGeom>
          <a:solidFill>
            <a:srgbClr val="54C985"/>
          </a:solidFill>
          <a:ln w="12700">
            <a:solidFill>
              <a:srgbClr val="54C985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480560" y="3291840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480560" y="3630168"/>
            <a:ext cx="322783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whether a proposed invariant/correctness claim is actually valid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083296" y="3154680"/>
            <a:ext cx="3520440" cy="1115568"/>
          </a:xfrm>
          <a:prstGeom prst="roundRect">
            <a:avLst>
              <a:gd name="adj" fmla="val 4098"/>
            </a:avLst>
          </a:prstGeom>
          <a:solidFill>
            <a:srgbClr val="FFF0F0"/>
          </a:solidFill>
          <a:ln w="10160">
            <a:solidFill>
              <a:srgbClr val="DCE3EA"/>
            </a:solidFill>
            <a:prstDash val="solid"/>
          </a:ln>
          <a:effectLst>
            <a:outerShdw sx="100000" sy="100000" kx="0" ky="0" algn="bl" rotWithShape="0" blurRad="12700" dist="50800" dir="2700000">
              <a:srgbClr val="C5CCD3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8083296" y="3154680"/>
            <a:ext cx="54864" cy="1115568"/>
          </a:xfrm>
          <a:prstGeom prst="rect">
            <a:avLst/>
          </a:prstGeom>
          <a:solidFill>
            <a:srgbClr val="F17878"/>
          </a:solidFill>
          <a:ln w="12700">
            <a:solidFill>
              <a:srgbClr val="F17878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8247888" y="3291840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247888" y="3630168"/>
            <a:ext cx="322783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iterative summation and compare alternative iterative formulations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21792" y="5833872"/>
            <a:ext cx="10945368" cy="384048"/>
          </a:xfrm>
          <a:prstGeom prst="roundRect">
            <a:avLst>
              <a:gd name="adj" fmla="val 9524"/>
            </a:avLst>
          </a:prstGeom>
          <a:solidFill>
            <a:srgbClr val="092633"/>
          </a:solidFill>
          <a:ln w="12700">
            <a:solidFill>
              <a:srgbClr val="092633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22960" y="5952744"/>
            <a:ext cx="10533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Correctness is not “the loop seems to work.” We need a statement that survives every iteration.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939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r>
              <a:rPr sz="800">
                <a:solidFill>
                  <a:srgbClr val="5A646E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1078992" cy="256032"/>
          </a:xfrm>
          <a:prstGeom prst="roundRect">
            <a:avLst>
              <a:gd name="adj" fmla="val 28571"/>
            </a:avLst>
          </a:prstGeom>
          <a:solidFill>
            <a:srgbClr val="F6C64F"/>
          </a:solidFill>
          <a:ln w="12700">
            <a:solidFill>
              <a:srgbClr val="F6C64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75488" y="338328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926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WE ARE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6583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Lecture 4 fits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30352" y="199339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BC0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3 gave us preconditions and postconditions. Lecture 4 explains how to bridge them across repeated execution.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3035808"/>
            <a:ext cx="1600200" cy="914400"/>
          </a:xfrm>
          <a:prstGeom prst="roundRect">
            <a:avLst>
              <a:gd name="adj" fmla="val 5000"/>
            </a:avLst>
          </a:prstGeom>
          <a:solidFill>
            <a:srgbClr val="0D3446"/>
          </a:solidFill>
          <a:ln w="12700">
            <a:solidFill>
              <a:srgbClr val="315462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85800" y="321868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58952" y="3502152"/>
            <a:ext cx="14538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FFFFFF"/>
                </a:solidFill>
              </a:rPr>
              <a:t>What is an algorithm?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2331720" y="3502152"/>
            <a:ext cx="685800" cy="0"/>
          </a:xfrm>
          <a:prstGeom prst="line">
            <a:avLst/>
          </a:prstGeom>
          <a:noFill/>
          <a:ln w="19050">
            <a:solidFill>
              <a:srgbClr val="6B899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063240" y="3035808"/>
            <a:ext cx="1600200" cy="914400"/>
          </a:xfrm>
          <a:prstGeom prst="roundRect">
            <a:avLst>
              <a:gd name="adj" fmla="val 5000"/>
            </a:avLst>
          </a:prstGeom>
          <a:solidFill>
            <a:srgbClr val="0D3446"/>
          </a:solidFill>
          <a:ln w="12700">
            <a:solidFill>
              <a:srgbClr val="31546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063240" y="321868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36392" y="3502152"/>
            <a:ext cx="14538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FFFFFF"/>
                </a:solidFill>
              </a:rPr>
              <a:t>Pre / post / termination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4709160" y="3502152"/>
            <a:ext cx="685800" cy="0"/>
          </a:xfrm>
          <a:prstGeom prst="line">
            <a:avLst/>
          </a:prstGeom>
          <a:noFill/>
          <a:ln w="19050">
            <a:solidFill>
              <a:srgbClr val="6B899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440680" y="3035808"/>
            <a:ext cx="1600200" cy="914400"/>
          </a:xfrm>
          <a:prstGeom prst="roundRect">
            <a:avLst>
              <a:gd name="adj" fmla="val 5000"/>
            </a:avLst>
          </a:prstGeom>
          <a:solidFill>
            <a:srgbClr val="F6C64F"/>
          </a:solidFill>
          <a:ln w="12700">
            <a:solidFill>
              <a:srgbClr val="F6C64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440680" y="321868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92633"/>
                </a:solidFill>
              </a:rPr>
              <a:t>L4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513832" y="3502152"/>
            <a:ext cx="14538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092633"/>
                </a:solidFill>
              </a:rPr>
              <a:t>Loop invariants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7086600" y="3502152"/>
            <a:ext cx="685800" cy="0"/>
          </a:xfrm>
          <a:prstGeom prst="line">
            <a:avLst/>
          </a:prstGeom>
          <a:noFill/>
          <a:ln w="19050">
            <a:solidFill>
              <a:srgbClr val="6B899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818120" y="3035808"/>
            <a:ext cx="1600200" cy="914400"/>
          </a:xfrm>
          <a:prstGeom prst="roundRect">
            <a:avLst>
              <a:gd name="adj" fmla="val 5000"/>
            </a:avLst>
          </a:prstGeom>
          <a:solidFill>
            <a:srgbClr val="0D3446"/>
          </a:solidFill>
          <a:ln w="12700">
            <a:solidFill>
              <a:srgbClr val="315462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818120" y="321868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891272" y="3502152"/>
            <a:ext cx="14538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FFFFFF"/>
                </a:solidFill>
              </a:rPr>
              <a:t>Recursive correctness</a:t>
            </a:r>
            <a:endParaRPr lang="en-US" sz="720" dirty="0"/>
          </a:p>
        </p:txBody>
      </p:sp>
      <p:sp>
        <p:nvSpPr>
          <p:cNvPr id="21" name="Shape 19"/>
          <p:cNvSpPr/>
          <p:nvPr/>
        </p:nvSpPr>
        <p:spPr>
          <a:xfrm>
            <a:off x="9464040" y="3502152"/>
            <a:ext cx="685800" cy="0"/>
          </a:xfrm>
          <a:prstGeom prst="line">
            <a:avLst/>
          </a:prstGeom>
          <a:noFill/>
          <a:ln w="19050">
            <a:solidFill>
              <a:srgbClr val="6B899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10195560" y="3035808"/>
            <a:ext cx="1600200" cy="914400"/>
          </a:xfrm>
          <a:prstGeom prst="roundRect">
            <a:avLst>
              <a:gd name="adj" fmla="val 5000"/>
            </a:avLst>
          </a:prstGeom>
          <a:solidFill>
            <a:srgbClr val="0D3446"/>
          </a:solidFill>
          <a:ln w="12700">
            <a:solidFill>
              <a:srgbClr val="315462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0195560" y="321868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L6+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268712" y="3502152"/>
            <a:ext cx="14538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FFFFFF"/>
                </a:solidFill>
              </a:rPr>
              <a:t>Efficiency analysis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2423160" y="46817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D3C6"/>
                </a:solidFill>
              </a:rPr>
              <a:t>Today we formalize the repeated part of an iterative algorithm.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F899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r>
              <a:rPr sz="800">
                <a:solidFill>
                  <a:srgbClr val="5A646E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11480" y="292608"/>
            <a:ext cx="1078992" cy="256032"/>
          </a:xfrm>
          <a:prstGeom prst="roundRect">
            <a:avLst/>
          </a:prstGeom>
          <a:solidFill>
            <a:srgbClr val="F6C64F"/>
          </a:solidFill>
          <a:ln w="10160">
            <a:solidFill>
              <a:srgbClr val="F6C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38328"/>
            <a:ext cx="950976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1">
                <a:solidFill>
                  <a:srgbClr val="092633"/>
                </a:solidFill>
                <a:latin typeface="Aptos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67512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D2730"/>
                </a:solidFill>
                <a:latin typeface="Aptos Display"/>
              </a:rPr>
              <a:t>Why are loops harder to prove correct?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21615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77481"/>
                </a:solidFill>
                <a:latin typeface="Aptos"/>
              </a:rPr>
              <a:t>A loop changes program state repeatedly. One proof must cover every possible number of iterations.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68328" y="6446520"/>
            <a:ext cx="400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>
                <a:solidFill>
                  <a:srgbClr val="5A646E"/>
                </a:solidFill>
                <a:latin typeface="Aptos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10000"/>
            <a:ext cx="3337560" cy="1261872"/>
          </a:xfrm>
          <a:prstGeom prst="roundRect">
            <a:avLst/>
          </a:prstGeom>
          <a:solidFill>
            <a:srgbClr val="EEF4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10000"/>
            <a:ext cx="54864" cy="1261872"/>
          </a:xfrm>
          <a:prstGeom prst="rect">
            <a:avLst/>
          </a:prstGeom>
          <a:solidFill>
            <a:srgbClr val="5B8DEF"/>
          </a:solidFill>
          <a:ln w="1016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94716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D2730"/>
                </a:solidFill>
                <a:latin typeface="Aptos"/>
              </a:rPr>
              <a:t>IF / ELSE — ONE 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285488"/>
            <a:ext cx="3063240" cy="701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0">
                <a:solidFill>
                  <a:srgbClr val="1D2730"/>
                </a:solidFill>
                <a:latin typeface="Aptos"/>
              </a:rPr>
              <a:t>A small number of branches execute once. We can reason about each case separately.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810000"/>
            <a:ext cx="3337560" cy="1261872"/>
          </a:xfrm>
          <a:prstGeom prst="roundRect">
            <a:avLst/>
          </a:prstGeom>
          <a:solidFill>
            <a:srgbClr val="FFF7DD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810000"/>
            <a:ext cx="54864" cy="1261872"/>
          </a:xfrm>
          <a:prstGeom prst="rect">
            <a:avLst/>
          </a:prstGeom>
          <a:solidFill>
            <a:srgbClr val="F6C64F"/>
          </a:solidFill>
          <a:ln w="10160">
            <a:solidFill>
              <a:srgbClr val="F6C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2" y="194716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D2730"/>
                </a:solidFill>
                <a:latin typeface="Aptos"/>
              </a:rPr>
              <a:t>LOOP — REPEATED CHANGES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2285488"/>
            <a:ext cx="3063240" cy="701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0">
                <a:solidFill>
                  <a:srgbClr val="1D2730"/>
                </a:solidFill>
                <a:latin typeface="Aptos"/>
              </a:rPr>
              <a:t>The body may execute 0, 1, 10, or millions of times. Variable values keep changing.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810000"/>
            <a:ext cx="3337560" cy="1261872"/>
          </a:xfrm>
          <a:prstGeom prst="roundRect">
            <a:avLst/>
          </a:prstGeom>
          <a:solidFill>
            <a:srgbClr val="FFF0F0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810000"/>
            <a:ext cx="54864" cy="1261872"/>
          </a:xfrm>
          <a:prstGeom prst="rect">
            <a:avLst/>
          </a:prstGeom>
          <a:solidFill>
            <a:srgbClr val="F17878"/>
          </a:solidFill>
          <a:ln w="10160">
            <a:solidFill>
              <a:srgbClr val="F1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194716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D2730"/>
                </a:solidFill>
                <a:latin typeface="Aptos"/>
              </a:rPr>
              <a:t>THE PROOF PROBLEM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2285488"/>
            <a:ext cx="3063240" cy="701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0">
                <a:solidFill>
                  <a:srgbClr val="1D2730"/>
                </a:solidFill>
                <a:latin typeface="Aptos"/>
              </a:rPr>
              <a:t>How can one argument cover every possible number of completed iterations?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749040"/>
            <a:ext cx="100126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092633"/>
                </a:solidFill>
                <a:latin typeface="Aptos"/>
              </a:rPr>
              <a:t>We need a statement that stays true every time control reaches the same point in the loop.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4572000"/>
            <a:ext cx="81838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159C96"/>
                </a:solidFill>
                <a:latin typeface="Cambria Math"/>
              </a:rPr>
              <a:t>That statement is a LOOP INVARIANT.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0000" y="5320000"/>
            <a:ext cx="900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677481"/>
                </a:solidFill>
                <a:latin typeface="Aptos"/>
              </a:rPr>
              <a:t>Important: the variables may change — the truth of the statement is what remains invariant.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92608"/>
            <a:ext cx="1078992" cy="256032"/>
          </a:xfrm>
          <a:prstGeom prst="roundRect">
            <a:avLst/>
          </a:prstGeom>
          <a:solidFill>
            <a:srgbClr val="F6C64F"/>
          </a:solidFill>
          <a:ln w="10160">
            <a:solidFill>
              <a:srgbClr val="F6C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38328"/>
            <a:ext cx="950976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1">
                <a:solidFill>
                  <a:srgbClr val="092633"/>
                </a:solidFill>
                <a:latin typeface="Aptos"/>
              </a:rPr>
              <a:t>SHORT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67512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D2730"/>
                </a:solidFill>
                <a:latin typeface="Aptos Display"/>
              </a:rPr>
              <a:t>A tiny loop to watch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21615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77481"/>
                </a:solidFill>
                <a:latin typeface="Aptos"/>
              </a:rPr>
              <a:t>Use n = 4. Track the program state at the START of every loop iteration.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68328" y="6446520"/>
            <a:ext cx="400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>
                <a:solidFill>
                  <a:srgbClr val="5A646E"/>
                </a:solidFill>
                <a:latin typeface="Aptos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0000" y="1760000"/>
            <a:ext cx="5200000" cy="3200000"/>
          </a:xfrm>
          <a:prstGeom prst="roundRect">
            <a:avLst/>
          </a:prstGeom>
          <a:solidFill>
            <a:srgbClr val="EEF4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000" y="1920000"/>
            <a:ext cx="47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D2730"/>
                </a:solidFill>
                <a:latin typeface="Aptos"/>
              </a:rPr>
              <a:t>SUM USING A WHILE LOOP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2350000"/>
            <a:ext cx="4500000" cy="21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1D2730"/>
                </a:solidFill>
                <a:latin typeface="Aptos Mono"/>
              </a:rPr>
              <a:t>total ← 0</a:t>
            </a:r>
          </a:p>
          <a:p>
            <a:pPr algn="l"/>
            <a:r>
              <a:rPr sz="1800" b="0">
                <a:solidFill>
                  <a:srgbClr val="1D2730"/>
                </a:solidFill>
                <a:latin typeface="Aptos Mono"/>
              </a:rPr>
              <a:t>i ← 1</a:t>
            </a:r>
          </a:p>
          <a:p>
            <a:pPr algn="l"/>
            <a:r>
              <a:rPr sz="1800" b="0">
                <a:solidFill>
                  <a:srgbClr val="1D2730"/>
                </a:solidFill>
                <a:latin typeface="Aptos Mono"/>
              </a:rPr>
              <a:t/>
            </a:r>
          </a:p>
          <a:p>
            <a:pPr algn="l"/>
            <a:r>
              <a:rPr sz="1800" b="0">
                <a:solidFill>
                  <a:srgbClr val="1D2730"/>
                </a:solidFill>
                <a:latin typeface="Aptos Mono"/>
              </a:rPr>
              <a:t>while i ≤ n</a:t>
            </a:r>
          </a:p>
          <a:p>
            <a:pPr algn="l"/>
            <a:r>
              <a:rPr sz="1800" b="0">
                <a:solidFill>
                  <a:srgbClr val="1D2730"/>
                </a:solidFill>
                <a:latin typeface="Aptos Mono"/>
              </a:rPr>
              <a:t>    total ← total + i</a:t>
            </a:r>
          </a:p>
          <a:p>
            <a:pPr algn="l"/>
            <a:r>
              <a:rPr sz="1800" b="0">
                <a:solidFill>
                  <a:srgbClr val="1D2730"/>
                </a:solidFill>
                <a:latin typeface="Aptos Mono"/>
              </a:rPr>
              <a:t>    i ← i + 1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0000" y="1760000"/>
            <a:ext cx="5200000" cy="1500000"/>
          </a:xfrm>
          <a:prstGeom prst="roundRect">
            <a:avLst/>
          </a:prstGeom>
          <a:solidFill>
            <a:srgbClr val="FFF7DD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80000" y="1950000"/>
            <a:ext cx="22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D2730"/>
                </a:solidFill>
                <a:latin typeface="Aptos"/>
              </a:rPr>
              <a:t>PROGRAM 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0000" y="2300000"/>
            <a:ext cx="45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D2730"/>
                </a:solidFill>
                <a:latin typeface="Aptos"/>
              </a:rPr>
              <a:t>The current values of the variables at a particular point during execution.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0000" y="3500000"/>
            <a:ext cx="5200000" cy="1460000"/>
          </a:xfrm>
          <a:prstGeom prst="roundRect">
            <a:avLst/>
          </a:prstGeom>
          <a:solidFill>
            <a:srgbClr val="F5F7F9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0000" y="3690000"/>
            <a:ext cx="26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D2730"/>
                </a:solidFill>
                <a:latin typeface="Aptos"/>
              </a:rPr>
              <a:t>INITIAL STATE FOR n =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0000" y="4100000"/>
            <a:ext cx="4500000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59C96"/>
                </a:solidFill>
                <a:latin typeface="Cambria Math"/>
              </a:rPr>
              <a:t>n = 4     i = 1     total = 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0000" y="5350000"/>
            <a:ext cx="990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092633"/>
                </a:solidFill>
                <a:latin typeface="Aptos"/>
              </a:rPr>
              <a:t>Question: as i and total change, is there a relationship between them that keeps remaining true?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92608"/>
            <a:ext cx="1078992" cy="256032"/>
          </a:xfrm>
          <a:prstGeom prst="roundRect">
            <a:avLst/>
          </a:prstGeom>
          <a:solidFill>
            <a:srgbClr val="F6C64F"/>
          </a:solidFill>
          <a:ln w="10160">
            <a:solidFill>
              <a:srgbClr val="F6C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38328"/>
            <a:ext cx="950976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1">
                <a:solidFill>
                  <a:srgbClr val="092633"/>
                </a:solidFill>
                <a:latin typeface="Aptos"/>
              </a:rPr>
              <a:t>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67512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D2730"/>
                </a:solidFill>
                <a:latin typeface="Aptos Display"/>
              </a:rPr>
              <a:t>Trace the loop for n =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21615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77481"/>
                </a:solidFill>
                <a:latin typeface="Aptos"/>
              </a:rPr>
              <a:t>Observe the state each time the while-condition is checked.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68328" y="6446520"/>
            <a:ext cx="400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>
                <a:solidFill>
                  <a:srgbClr val="5A646E"/>
                </a:solidFill>
                <a:latin typeface="Aptos"/>
              </a:rPr>
              <a:t>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0000" y="1800000"/>
          <a:ext cx="10600000" cy="3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0000"/>
                <a:gridCol w="800000"/>
                <a:gridCol w="1200000"/>
                <a:gridCol w="4500000"/>
                <a:gridCol w="1800000"/>
              </a:tblGrid>
              <a:tr h="533333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Checkpoint</a:t>
                      </a:r>
                    </a:p>
                  </a:txBody>
                  <a:tcPr anchor="ctr" marL="63500" marR="63500" marT="38100" marB="38100">
                    <a:solidFill>
                      <a:srgbClr val="0926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i</a:t>
                      </a:r>
                    </a:p>
                  </a:txBody>
                  <a:tcPr anchor="ctr" marL="63500" marR="63500" marT="38100" marB="38100">
                    <a:solidFill>
                      <a:srgbClr val="0926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total</a:t>
                      </a:r>
                    </a:p>
                  </a:txBody>
                  <a:tcPr anchor="ctr" marL="63500" marR="63500" marT="38100" marB="38100">
                    <a:solidFill>
                      <a:srgbClr val="0926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What total represents</a:t>
                      </a:r>
                    </a:p>
                  </a:txBody>
                  <a:tcPr anchor="ctr" marL="63500" marR="63500" marT="38100" marB="38100">
                    <a:solidFill>
                      <a:srgbClr val="0926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i ≤ 4?</a:t>
                      </a:r>
                    </a:p>
                  </a:txBody>
                  <a:tcPr anchor="ctr" marL="63500" marR="63500" marT="38100" marB="38100">
                    <a:solidFill>
                      <a:srgbClr val="092633"/>
                    </a:solidFill>
                  </a:tcPr>
                </a:tc>
              </a:tr>
              <a:tr h="533333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2730"/>
                          </a:solidFill>
                          <a:latin typeface="Aptos"/>
                        </a:rPr>
                        <a:t>Before iteration 1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2730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2730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2730"/>
                          </a:solidFill>
                          <a:latin typeface="Aptos"/>
                        </a:rPr>
                        <a:t>sum before 1 = 0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2730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33333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2730"/>
                          </a:solidFill>
                          <a:latin typeface="Aptos"/>
                        </a:rPr>
                        <a:t>Before iteration 2</a:t>
                      </a:r>
                    </a:p>
                  </a:txBody>
                  <a:tcPr anchor="ctr" marL="63500" marR="63500" marT="38100" marB="38100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2730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anchor="ctr" marL="63500" marR="63500" marT="38100" marB="38100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2730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anchor="ctr" marL="63500" marR="63500" marT="38100" marB="38100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2730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anchor="ctr" marL="63500" marR="63500" marT="38100" marB="38100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2730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anchor="ctr" marL="63500" marR="63500" marT="38100" marB="38100">
                    <a:solidFill>
                      <a:srgbClr val="F5F7F9"/>
                    </a:solidFill>
                  </a:tcPr>
                </a:tc>
              </a:tr>
              <a:tr h="533333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2730"/>
                          </a:solidFill>
                          <a:latin typeface="Aptos"/>
                        </a:rPr>
                        <a:t>Before iteration 3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2730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2730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2730"/>
                          </a:solidFill>
                          <a:latin typeface="Aptos"/>
                        </a:rPr>
                        <a:t>1 + 2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2730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33333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2730"/>
                          </a:solidFill>
                          <a:latin typeface="Aptos"/>
                        </a:rPr>
                        <a:t>Before iteration 4</a:t>
                      </a:r>
                    </a:p>
                  </a:txBody>
                  <a:tcPr anchor="ctr" marL="63500" marR="63500" marT="38100" marB="38100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2730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anchor="ctr" marL="63500" marR="63500" marT="38100" marB="38100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2730"/>
                          </a:solidFill>
                          <a:latin typeface="Aptos"/>
                        </a:rPr>
                        <a:t>6</a:t>
                      </a:r>
                    </a:p>
                  </a:txBody>
                  <a:tcPr anchor="ctr" marL="63500" marR="63500" marT="38100" marB="38100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2730"/>
                          </a:solidFill>
                          <a:latin typeface="Aptos"/>
                        </a:rPr>
                        <a:t>1 + 2 + 3</a:t>
                      </a:r>
                    </a:p>
                  </a:txBody>
                  <a:tcPr anchor="ctr" marL="63500" marR="63500" marT="38100" marB="38100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2730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anchor="ctr" marL="63500" marR="63500" marT="38100" marB="38100">
                    <a:solidFill>
                      <a:srgbClr val="F5F7F9"/>
                    </a:solidFill>
                  </a:tcPr>
                </a:tc>
              </a:tr>
              <a:tr h="53333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2730"/>
                          </a:solidFill>
                          <a:latin typeface="Aptos"/>
                        </a:rPr>
                        <a:t>After iteration 4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2730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2730"/>
                          </a:solidFill>
                          <a:latin typeface="Aptos"/>
                        </a:rPr>
                        <a:t>10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2730"/>
                          </a:solidFill>
                          <a:latin typeface="Aptos"/>
                        </a:rPr>
                        <a:t>1 + 2 + 3 + 4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2730"/>
                          </a:solidFill>
                          <a:latin typeface="Aptos"/>
                        </a:rPr>
                        <a:t>No — stop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250000" y="5350000"/>
            <a:ext cx="970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159C96"/>
                </a:solidFill>
                <a:latin typeface="Aptos"/>
              </a:rPr>
              <a:t>i changes.  total changes.  But the relationship between them follows the same rule.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92608"/>
            <a:ext cx="1078992" cy="256032"/>
          </a:xfrm>
          <a:prstGeom prst="roundRect">
            <a:avLst/>
          </a:prstGeom>
          <a:solidFill>
            <a:srgbClr val="F6C64F"/>
          </a:solidFill>
          <a:ln w="10160">
            <a:solidFill>
              <a:srgbClr val="F6C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38328"/>
            <a:ext cx="950976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1">
                <a:solidFill>
                  <a:srgbClr val="092633"/>
                </a:solidFill>
                <a:latin typeface="Aptos"/>
              </a:rPr>
              <a:t>DISCOVER THE INVARIANT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67512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D2730"/>
                </a:solidFill>
                <a:latin typeface="Aptos Display"/>
              </a:rPr>
              <a:t>What stays true at every loop check?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21615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77481"/>
                </a:solidFill>
                <a:latin typeface="Aptos"/>
              </a:rPr>
              <a:t>The values change, but the meaning of total follows one consistent pattern.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68328" y="6446520"/>
            <a:ext cx="400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>
                <a:solidFill>
                  <a:srgbClr val="5A646E"/>
                </a:solidFill>
                <a:latin typeface="Aptos"/>
              </a:rPr>
              <a:t>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00000" y="1750000"/>
          <a:ext cx="5650000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0000"/>
                <a:gridCol w="1300000"/>
                <a:gridCol w="3050000"/>
              </a:tblGrid>
              <a:tr h="500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When i =</a:t>
                      </a:r>
                    </a:p>
                  </a:txBody>
                  <a:tcPr anchor="ctr" marL="63500" marR="63500" marT="38100" marB="38100">
                    <a:solidFill>
                      <a:srgbClr val="0926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total =</a:t>
                      </a:r>
                    </a:p>
                  </a:txBody>
                  <a:tcPr anchor="ctr" marL="63500" marR="63500" marT="38100" marB="38100">
                    <a:solidFill>
                      <a:srgbClr val="0926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Same statement written out</a:t>
                      </a:r>
                    </a:p>
                  </a:txBody>
                  <a:tcPr anchor="ctr" marL="63500" marR="63500" marT="38100" marB="38100">
                    <a:solidFill>
                      <a:srgbClr val="092633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2730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2730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2730"/>
                          </a:solidFill>
                          <a:latin typeface="Aptos"/>
                        </a:rPr>
                        <a:t>sum of integers 1 through 0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2730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anchor="ctr" marL="63500" marR="63500" marT="38100" marB="38100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2730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anchor="ctr" marL="63500" marR="63500" marT="38100" marB="38100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2730"/>
                          </a:solidFill>
                          <a:latin typeface="Aptos"/>
                        </a:rPr>
                        <a:t>sum of integers 1 through 1</a:t>
                      </a:r>
                    </a:p>
                  </a:txBody>
                  <a:tcPr anchor="ctr" marL="63500" marR="63500" marT="38100" marB="38100">
                    <a:solidFill>
                      <a:srgbClr val="F5F7F9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2730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2730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2730"/>
                          </a:solidFill>
                          <a:latin typeface="Aptos"/>
                        </a:rPr>
                        <a:t>sum of integers 1 through 2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2730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anchor="ctr" marL="63500" marR="63500" marT="38100" marB="38100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2730"/>
                          </a:solidFill>
                          <a:latin typeface="Aptos"/>
                        </a:rPr>
                        <a:t>6</a:t>
                      </a:r>
                    </a:p>
                  </a:txBody>
                  <a:tcPr anchor="ctr" marL="63500" marR="63500" marT="38100" marB="38100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2730"/>
                          </a:solidFill>
                          <a:latin typeface="Aptos"/>
                        </a:rPr>
                        <a:t>sum of integers 1 through 3</a:t>
                      </a:r>
                    </a:p>
                  </a:txBody>
                  <a:tcPr anchor="ctr" marL="63500" marR="63500" marT="38100" marB="38100">
                    <a:solidFill>
                      <a:srgbClr val="F5F7F9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2730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2730"/>
                          </a:solidFill>
                          <a:latin typeface="Aptos"/>
                        </a:rPr>
                        <a:t>10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2730"/>
                          </a:solidFill>
                          <a:latin typeface="Aptos"/>
                        </a:rPr>
                        <a:t>sum of integers 1 through 4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650000" y="1830000"/>
            <a:ext cx="4700000" cy="1750000"/>
          </a:xfrm>
          <a:prstGeom prst="roundRect">
            <a:avLst/>
          </a:prstGeom>
          <a:solidFill>
            <a:srgbClr val="EEF4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00000" y="2050000"/>
            <a:ext cx="20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D2730"/>
                </a:solidFill>
                <a:latin typeface="Aptos"/>
              </a:rPr>
              <a:t>THE PATTERN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0000" y="2520000"/>
            <a:ext cx="420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100" b="1">
                <a:solidFill>
                  <a:srgbClr val="159C96"/>
                </a:solidFill>
                <a:latin typeface="Cambria Math"/>
              </a:rPr>
              <a:t>total = 1 + 2 + ··· + (i − 1)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50000" y="3800000"/>
            <a:ext cx="4700000" cy="1280000"/>
          </a:xfrm>
          <a:prstGeom prst="roundRect">
            <a:avLst/>
          </a:prstGeom>
          <a:solidFill>
            <a:srgbClr val="FFF7DD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00000" y="3990000"/>
            <a:ext cx="20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D2730"/>
                </a:solidFill>
                <a:latin typeface="Aptos"/>
              </a:rPr>
              <a:t>PLAIN ENGLISH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0000" y="4330000"/>
            <a:ext cx="4100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D2730"/>
                </a:solidFill>
                <a:latin typeface="Aptos"/>
              </a:rPr>
              <a:t>At the start of each iteration, total equals the sum of all integers already processed: 1 through i − 1.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000" y="5350000"/>
            <a:ext cx="1030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092633"/>
                </a:solidFill>
                <a:latin typeface="Aptos"/>
              </a:rPr>
              <a:t>Example: when i = 4, total = 6 because 1 + 2 + 3 = 6. Same truth; different values.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92608"/>
            <a:ext cx="1078992" cy="256032"/>
          </a:xfrm>
          <a:prstGeom prst="roundRect">
            <a:avLst/>
          </a:prstGeom>
          <a:solidFill>
            <a:srgbClr val="F6C64F"/>
          </a:solidFill>
          <a:ln w="10160">
            <a:solidFill>
              <a:srgbClr val="F6C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38328"/>
            <a:ext cx="950976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1">
                <a:solidFill>
                  <a:srgbClr val="092633"/>
                </a:solidFill>
                <a:latin typeface="Aptos"/>
              </a:rPr>
              <a:t>COMMON MISCONCEPTION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67512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D2730"/>
                </a:solidFill>
                <a:latin typeface="Aptos Display"/>
              </a:rPr>
              <a:t>Invariant does NOT mean “nothing changes”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21615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77481"/>
                </a:solidFill>
                <a:latin typeface="Aptos"/>
              </a:rPr>
              <a:t>The variables can change on every iteration. The relationship that remains true is the invariant.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68328" y="6446520"/>
            <a:ext cx="400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>
                <a:solidFill>
                  <a:srgbClr val="5A646E"/>
                </a:solidFill>
                <a:latin typeface="Aptos"/>
              </a:rPr>
              <a:t>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00000" y="1850000"/>
          <a:ext cx="10600000" cy="2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00000"/>
                <a:gridCol w="2200000"/>
                <a:gridCol w="4400000"/>
              </a:tblGrid>
              <a:tr h="625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During the loop</a:t>
                      </a:r>
                    </a:p>
                  </a:txBody>
                  <a:tcPr anchor="ctr" marL="63500" marR="63500" marT="38100" marB="38100">
                    <a:solidFill>
                      <a:srgbClr val="0926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Does it change?</a:t>
                      </a:r>
                    </a:p>
                  </a:txBody>
                  <a:tcPr anchor="ctr" marL="63500" marR="63500" marT="38100" marB="38100">
                    <a:solidFill>
                      <a:srgbClr val="0926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Example</a:t>
                      </a:r>
                    </a:p>
                  </a:txBody>
                  <a:tcPr anchor="ctr" marL="63500" marR="63500" marT="38100" marB="38100">
                    <a:solidFill>
                      <a:srgbClr val="092633"/>
                    </a:solidFill>
                  </a:tcPr>
                </a:tc>
              </a:tr>
              <a:tr h="625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2730"/>
                          </a:solidFill>
                          <a:latin typeface="Aptos"/>
                        </a:rPr>
                        <a:t>i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2730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2730"/>
                          </a:solidFill>
                          <a:latin typeface="Aptos"/>
                        </a:rPr>
                        <a:t>1 → 2 → 3 → 4 → 5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625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2730"/>
                          </a:solidFill>
                          <a:latin typeface="Aptos"/>
                        </a:rPr>
                        <a:t>total</a:t>
                      </a:r>
                    </a:p>
                  </a:txBody>
                  <a:tcPr anchor="ctr" marL="63500" marR="63500" marT="38100" marB="38100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2730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anchor="ctr" marL="63500" marR="63500" marT="38100" marB="38100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2730"/>
                          </a:solidFill>
                          <a:latin typeface="Aptos"/>
                        </a:rPr>
                        <a:t>0 → 1 → 3 → 6 → 10</a:t>
                      </a:r>
                    </a:p>
                  </a:txBody>
                  <a:tcPr anchor="ctr" marL="63500" marR="63500" marT="38100" marB="38100">
                    <a:solidFill>
                      <a:srgbClr val="F5F7F9"/>
                    </a:solidFill>
                  </a:tcPr>
                </a:tc>
              </a:tr>
              <a:tr h="625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2730"/>
                          </a:solidFill>
                          <a:latin typeface="Aptos"/>
                        </a:rPr>
                        <a:t>total = 1 + ··· + (i − 1)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2730"/>
                          </a:solidFill>
                          <a:latin typeface="Aptos"/>
                        </a:rPr>
                        <a:t>NO — remains true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2730"/>
                          </a:solidFill>
                          <a:latin typeface="Aptos"/>
                        </a:rPr>
                        <a:t>0=0, 1=1, 3=1+2, 6=1+2+3, ...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1700000" y="4700000"/>
            <a:ext cx="8800000" cy="720000"/>
          </a:xfrm>
          <a:prstGeom prst="roundRect">
            <a:avLst/>
          </a:prstGeom>
          <a:solidFill>
            <a:srgbClr val="FFF7DD"/>
          </a:solidFill>
          <a:ln w="10160">
            <a:solidFill>
              <a:srgbClr val="F6C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00000" y="4870000"/>
            <a:ext cx="840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092633"/>
                </a:solidFill>
                <a:latin typeface="Aptos"/>
              </a:rPr>
              <a:t>INVARIANT = an unchanged TRUTH about a changing PROGRAM STATE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00000" y="5580000"/>
            <a:ext cx="880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677481"/>
                </a:solidFill>
                <a:latin typeface="Aptos"/>
              </a:rPr>
              <a:t>Not an invariant: “i = 1” or “total = 0” — those are only true at the beginning.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1078992" cy="256032"/>
          </a:xfrm>
          <a:prstGeom prst="roundRect">
            <a:avLst>
              <a:gd name="adj" fmla="val 28571"/>
            </a:avLst>
          </a:prstGeom>
          <a:solidFill>
            <a:srgbClr val="2ED3C6"/>
          </a:solidFill>
          <a:ln w="12700">
            <a:solidFill>
              <a:srgbClr val="2ED3C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75488" y="338328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926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IDEA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6583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a loop invariant?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30352" y="199339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BC0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statement about the program state that is true at a specific point in every iteration of the loop.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14400" y="2880360"/>
            <a:ext cx="10378440" cy="1280160"/>
          </a:xfrm>
          <a:prstGeom prst="roundRect">
            <a:avLst>
              <a:gd name="adj" fmla="val 3571"/>
            </a:avLst>
          </a:prstGeom>
          <a:solidFill>
            <a:srgbClr val="0D3446"/>
          </a:solidFill>
          <a:ln w="12700">
            <a:solidFill>
              <a:srgbClr val="2D596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143000" y="31272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D3C6"/>
                </a:solidFill>
              </a:rPr>
              <a:t>LOOP INVARIANT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337560" y="30632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 property that is established before the first iteration, preserved by every iteration, and useful when the loop ends.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920240" y="470916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C64F"/>
                </a:solidFill>
              </a:rPr>
              <a:t>Think: “No matter how many iterations have already happened, this statement is still true.”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F899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r>
              <a:rPr sz="800">
                <a:solidFill>
                  <a:srgbClr val="5A646E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1078992" cy="256032"/>
          </a:xfrm>
          <a:prstGeom prst="roundRect">
            <a:avLst>
              <a:gd name="adj" fmla="val 28571"/>
            </a:avLst>
          </a:prstGeom>
          <a:solidFill>
            <a:srgbClr val="2ED3C6"/>
          </a:solidFill>
          <a:ln w="12700">
            <a:solidFill>
              <a:srgbClr val="2ED3C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75488" y="338328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926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CONNECTION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38912" y="66751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D27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Precondition, invariant and postcondition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38912" y="121615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774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play different roles in one correctness argument.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58368" y="2011680"/>
            <a:ext cx="3063240" cy="1554480"/>
          </a:xfrm>
          <a:prstGeom prst="roundRect">
            <a:avLst>
              <a:gd name="adj" fmla="val 2941"/>
            </a:avLst>
          </a:prstGeom>
          <a:solidFill>
            <a:srgbClr val="E9FAF8"/>
          </a:solidFill>
          <a:ln w="10160">
            <a:solidFill>
              <a:srgbClr val="DCE3EA"/>
            </a:solidFill>
            <a:prstDash val="solid"/>
          </a:ln>
          <a:effectLst>
            <a:outerShdw sx="100000" sy="100000" kx="0" ky="0" algn="bl" rotWithShape="0" blurRad="12700" dist="50800" dir="2700000">
              <a:srgbClr val="C5CCD3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58368" y="2011680"/>
            <a:ext cx="54864" cy="1554480"/>
          </a:xfrm>
          <a:prstGeom prst="rect">
            <a:avLst/>
          </a:prstGeom>
          <a:solidFill>
            <a:srgbClr val="2ED3C6"/>
          </a:solidFill>
          <a:ln w="12700">
            <a:solidFill>
              <a:srgbClr val="2ED3C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2148840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PRECONDITION  P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2487168"/>
            <a:ext cx="2770632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must be true before the algorithm starts?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53712" y="2011680"/>
            <a:ext cx="3063240" cy="1554480"/>
          </a:xfrm>
          <a:prstGeom prst="roundRect">
            <a:avLst>
              <a:gd name="adj" fmla="val 2941"/>
            </a:avLst>
          </a:prstGeom>
          <a:solidFill>
            <a:srgbClr val="FFF7DD"/>
          </a:solidFill>
          <a:ln w="10160">
            <a:solidFill>
              <a:srgbClr val="DCE3EA"/>
            </a:solidFill>
            <a:prstDash val="solid"/>
          </a:ln>
          <a:effectLst>
            <a:outerShdw sx="100000" sy="100000" kx="0" ky="0" algn="bl" rotWithShape="0" blurRad="12700" dist="50800" dir="2700000">
              <a:srgbClr val="C5CCD3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553712" y="2011680"/>
            <a:ext cx="54864" cy="1554480"/>
          </a:xfrm>
          <a:prstGeom prst="rect">
            <a:avLst/>
          </a:prstGeom>
          <a:solidFill>
            <a:srgbClr val="F6C64F"/>
          </a:solidFill>
          <a:ln w="12700">
            <a:solidFill>
              <a:srgbClr val="F6C64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718304" y="2148840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INVARIANT  I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18304" y="2487168"/>
            <a:ext cx="2770632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remains true at the chosen loop point before/after every iteration?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449056" y="2011680"/>
            <a:ext cx="3063240" cy="1554480"/>
          </a:xfrm>
          <a:prstGeom prst="roundRect">
            <a:avLst>
              <a:gd name="adj" fmla="val 2941"/>
            </a:avLst>
          </a:prstGeom>
          <a:solidFill>
            <a:srgbClr val="F3F0FF"/>
          </a:solidFill>
          <a:ln w="10160">
            <a:solidFill>
              <a:srgbClr val="DCE3EA"/>
            </a:solidFill>
            <a:prstDash val="solid"/>
          </a:ln>
          <a:effectLst>
            <a:outerShdw sx="100000" sy="100000" kx="0" ky="0" algn="bl" rotWithShape="0" blurRad="12700" dist="50800" dir="2700000">
              <a:srgbClr val="C5CCD3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449056" y="2011680"/>
            <a:ext cx="54864" cy="1554480"/>
          </a:xfrm>
          <a:prstGeom prst="rect">
            <a:avLst/>
          </a:prstGeom>
          <a:solidFill>
            <a:srgbClr val="8B78E6"/>
          </a:solidFill>
          <a:ln w="12700">
            <a:solidFill>
              <a:srgbClr val="8B78E6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613648" y="2148840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POSTCONDITION  Q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613648" y="2487168"/>
            <a:ext cx="2770632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must be true when the algorithm finishes?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730752" y="2761488"/>
            <a:ext cx="704088" cy="0"/>
          </a:xfrm>
          <a:prstGeom prst="line">
            <a:avLst/>
          </a:prstGeom>
          <a:noFill/>
          <a:ln w="25400">
            <a:solidFill>
              <a:srgbClr val="159C96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635240" y="2761488"/>
            <a:ext cx="704088" cy="0"/>
          </a:xfrm>
          <a:prstGeom prst="line">
            <a:avLst/>
          </a:prstGeom>
          <a:noFill/>
          <a:ln w="25400">
            <a:solidFill>
              <a:srgbClr val="159C96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417320" y="434340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926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   →   I   →   ... repeated ...   →   I ∧ ¬guard   →   Q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21792" y="5833872"/>
            <a:ext cx="10945368" cy="384048"/>
          </a:xfrm>
          <a:prstGeom prst="roundRect">
            <a:avLst>
              <a:gd name="adj" fmla="val 9524"/>
            </a:avLst>
          </a:prstGeom>
          <a:solidFill>
            <a:srgbClr val="092633"/>
          </a:solidFill>
          <a:ln w="12700">
            <a:solidFill>
              <a:srgbClr val="092633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22960" y="5952744"/>
            <a:ext cx="10533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invariant is the bridge that carries a correctness fact through the loop.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939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r>
              <a:rPr sz="800">
                <a:solidFill>
                  <a:srgbClr val="5A646E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1078992" cy="256032"/>
          </a:xfrm>
          <a:prstGeom prst="roundRect">
            <a:avLst>
              <a:gd name="adj" fmla="val 28571"/>
            </a:avLst>
          </a:prstGeom>
          <a:solidFill>
            <a:srgbClr val="F6C64F"/>
          </a:solidFill>
          <a:ln w="12700">
            <a:solidFill>
              <a:srgbClr val="F6C64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75488" y="338328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926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 STRUCTURE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38912" y="66751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D27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three stages of a loop-invariant proof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38912" y="121615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774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same structure every time.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3383280" cy="2240280"/>
          </a:xfrm>
          <a:prstGeom prst="roundRect">
            <a:avLst>
              <a:gd name="adj" fmla="val 2041"/>
            </a:avLst>
          </a:prstGeom>
          <a:solidFill>
            <a:srgbClr val="E9FAF8"/>
          </a:solidFill>
          <a:ln w="10160">
            <a:solidFill>
              <a:srgbClr val="DCE3EA"/>
            </a:solidFill>
            <a:prstDash val="solid"/>
          </a:ln>
          <a:effectLst>
            <a:outerShdw sx="100000" sy="100000" kx="0" ky="0" algn="bl" rotWithShape="0" blurRad="12700" dist="50800" dir="2700000">
              <a:srgbClr val="C5CCD3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40080" y="1783080"/>
            <a:ext cx="54864" cy="2240280"/>
          </a:xfrm>
          <a:prstGeom prst="rect">
            <a:avLst/>
          </a:prstGeom>
          <a:solidFill>
            <a:srgbClr val="2ED3C6"/>
          </a:solidFill>
          <a:ln w="12700">
            <a:solidFill>
              <a:srgbClr val="2ED3C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04672" y="1920240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INITIALIZATION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04672" y="2258568"/>
            <a:ext cx="3090672" cy="1673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that the invariant is true before the first iteration.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Question: did we establish I correctly?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407408" y="1783080"/>
            <a:ext cx="3383280" cy="2240280"/>
          </a:xfrm>
          <a:prstGeom prst="roundRect">
            <a:avLst>
              <a:gd name="adj" fmla="val 2041"/>
            </a:avLst>
          </a:prstGeom>
          <a:solidFill>
            <a:srgbClr val="FFF7DD"/>
          </a:solidFill>
          <a:ln w="10160">
            <a:solidFill>
              <a:srgbClr val="DCE3EA"/>
            </a:solidFill>
            <a:prstDash val="solid"/>
          </a:ln>
          <a:effectLst>
            <a:outerShdw sx="100000" sy="100000" kx="0" ky="0" algn="bl" rotWithShape="0" blurRad="12700" dist="50800" dir="2700000">
              <a:srgbClr val="C5CCD3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407408" y="1783080"/>
            <a:ext cx="54864" cy="2240280"/>
          </a:xfrm>
          <a:prstGeom prst="rect">
            <a:avLst/>
          </a:prstGeom>
          <a:solidFill>
            <a:srgbClr val="F6C64F"/>
          </a:solidFill>
          <a:ln w="12700">
            <a:solidFill>
              <a:srgbClr val="F6C64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572000" y="1920240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 MAINTENANCE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0" y="2258568"/>
            <a:ext cx="3090672" cy="1673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Assume I is true before an iteration. Show that after executing the loop body, I is still true for the next iteration.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74736" y="1783080"/>
            <a:ext cx="3383280" cy="2240280"/>
          </a:xfrm>
          <a:prstGeom prst="roundRect">
            <a:avLst>
              <a:gd name="adj" fmla="val 2041"/>
            </a:avLst>
          </a:prstGeom>
          <a:solidFill>
            <a:srgbClr val="F3F0FF"/>
          </a:solidFill>
          <a:ln w="10160">
            <a:solidFill>
              <a:srgbClr val="DCE3EA"/>
            </a:solidFill>
            <a:prstDash val="solid"/>
          </a:ln>
          <a:effectLst>
            <a:outerShdw sx="100000" sy="100000" kx="0" ky="0" algn="bl" rotWithShape="0" blurRad="12700" dist="50800" dir="2700000">
              <a:srgbClr val="C5CCD3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174736" y="1783080"/>
            <a:ext cx="54864" cy="2240280"/>
          </a:xfrm>
          <a:prstGeom prst="rect">
            <a:avLst/>
          </a:prstGeom>
          <a:solidFill>
            <a:srgbClr val="8B78E6"/>
          </a:solidFill>
          <a:ln w="12700">
            <a:solidFill>
              <a:srgbClr val="8B78E6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339328" y="1920240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 TERMINATION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339328" y="2258568"/>
            <a:ext cx="3090672" cy="1673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the loop stops, combine the invariant with the false loop condition to derive the postcondition.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" y="5833872"/>
            <a:ext cx="10945368" cy="384048"/>
          </a:xfrm>
          <a:prstGeom prst="roundRect">
            <a:avLst>
              <a:gd name="adj" fmla="val 9524"/>
            </a:avLst>
          </a:prstGeom>
          <a:solidFill>
            <a:srgbClr val="092633"/>
          </a:solidFill>
          <a:ln w="12700">
            <a:solidFill>
              <a:srgbClr val="092633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22960" y="5952744"/>
            <a:ext cx="10533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Initialization + Maintenance establishes partial correctness. Termination of the loop is still required for total correctness.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939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r>
              <a:rPr sz="800">
                <a:solidFill>
                  <a:srgbClr val="5A646E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1078992" cy="256032"/>
          </a:xfrm>
          <a:prstGeom prst="roundRect">
            <a:avLst>
              <a:gd name="adj" fmla="val 28571"/>
            </a:avLst>
          </a:prstGeom>
          <a:solidFill>
            <a:srgbClr val="2ED3C6"/>
          </a:solidFill>
          <a:ln w="12700">
            <a:solidFill>
              <a:srgbClr val="2ED3C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75488" y="338328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926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 1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38912" y="66751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D27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Initialization: make the invariant true once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38912" y="121615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774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preservation matters, the invariant must hold at the very beginning.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77240" y="1828800"/>
            <a:ext cx="2926080" cy="1828800"/>
          </a:xfrm>
          <a:prstGeom prst="roundRect">
            <a:avLst>
              <a:gd name="adj" fmla="val 2500"/>
            </a:avLst>
          </a:prstGeom>
          <a:solidFill>
            <a:srgbClr val="E9FAF8"/>
          </a:solidFill>
          <a:ln w="12700">
            <a:solidFill>
              <a:srgbClr val="B9E7E2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05840" y="21488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9C96"/>
                </a:solidFill>
              </a:rPr>
              <a:t>PRECONDITION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33272" y="260604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D2730"/>
                </a:solidFill>
              </a:rPr>
              <a:t>What we know before the loop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822192" y="2743200"/>
            <a:ext cx="795528" cy="0"/>
          </a:xfrm>
          <a:prstGeom prst="line">
            <a:avLst/>
          </a:prstGeom>
          <a:noFill/>
          <a:ln w="27940">
            <a:solidFill>
              <a:srgbClr val="159C96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709160" y="1828800"/>
            <a:ext cx="2926080" cy="1828800"/>
          </a:xfrm>
          <a:prstGeom prst="roundRect">
            <a:avLst>
              <a:gd name="adj" fmla="val 2500"/>
            </a:avLst>
          </a:prstGeom>
          <a:solidFill>
            <a:srgbClr val="FFF7DD"/>
          </a:solidFill>
          <a:ln w="12700">
            <a:solidFill>
              <a:srgbClr val="F0DA9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37760" y="21488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A7B00"/>
                </a:solidFill>
              </a:rPr>
              <a:t>INITIALIZATION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65192" y="260604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D2730"/>
                </a:solidFill>
              </a:rPr>
              <a:t>Initial assignments / starting index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754112" y="2743200"/>
            <a:ext cx="795528" cy="0"/>
          </a:xfrm>
          <a:prstGeom prst="line">
            <a:avLst/>
          </a:prstGeom>
          <a:noFill/>
          <a:ln w="27940">
            <a:solidFill>
              <a:srgbClr val="159C96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641080" y="1828800"/>
            <a:ext cx="2743200" cy="1828800"/>
          </a:xfrm>
          <a:prstGeom prst="roundRect">
            <a:avLst>
              <a:gd name="adj" fmla="val 2500"/>
            </a:avLst>
          </a:prstGeom>
          <a:solidFill>
            <a:srgbClr val="EDF9F2"/>
          </a:solidFill>
          <a:ln w="12700">
            <a:solidFill>
              <a:srgbClr val="B8E3C9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823960" y="21488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8652"/>
                </a:solidFill>
              </a:rPr>
              <a:t>INVARIANT TRUE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869680" y="26060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D2730"/>
                </a:solidFill>
              </a:rPr>
              <a:t>Now we have a fact to preserve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" y="5833872"/>
            <a:ext cx="10945368" cy="384048"/>
          </a:xfrm>
          <a:prstGeom prst="roundRect">
            <a:avLst>
              <a:gd name="adj" fmla="val 9524"/>
            </a:avLst>
          </a:prstGeom>
          <a:solidFill>
            <a:srgbClr val="092633"/>
          </a:solidFill>
          <a:ln w="12700">
            <a:solidFill>
              <a:srgbClr val="092633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22960" y="5952744"/>
            <a:ext cx="10533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Initialization is usually the easiest stage—but if it fails, the entire proof collapses.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939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r>
              <a:rPr sz="800">
                <a:solidFill>
                  <a:srgbClr val="5A646E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1078992" cy="256032"/>
          </a:xfrm>
          <a:prstGeom prst="roundRect">
            <a:avLst>
              <a:gd name="adj" fmla="val 28571"/>
            </a:avLst>
          </a:prstGeom>
          <a:solidFill>
            <a:srgbClr val="F6C64F"/>
          </a:solidFill>
          <a:ln w="12700">
            <a:solidFill>
              <a:srgbClr val="F6C64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75488" y="338328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926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 2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38912" y="66751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D27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Maintenance: assume it, execute once, recover it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38912" y="121615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774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the inductive heart of the proof.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14400" y="17373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926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Assume I is true before iteration k.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669280" y="1993392"/>
            <a:ext cx="731520" cy="0"/>
          </a:xfrm>
          <a:prstGeom prst="line">
            <a:avLst/>
          </a:prstGeom>
          <a:noFill/>
          <a:ln w="27940">
            <a:solidFill>
              <a:srgbClr val="159C96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46520" y="17373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926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Execute the loop body once.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14400" y="2788920"/>
            <a:ext cx="10012680" cy="1280160"/>
          </a:xfrm>
          <a:prstGeom prst="roundRect">
            <a:avLst>
              <a:gd name="adj" fmla="val 3571"/>
            </a:avLst>
          </a:prstGeom>
          <a:solidFill>
            <a:srgbClr val="FFF7DD"/>
          </a:solidFill>
          <a:ln w="12700">
            <a:solidFill>
              <a:srgbClr val="F0DA9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234440" y="3154680"/>
            <a:ext cx="9372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6600"/>
                </a:solidFill>
              </a:rPr>
              <a:t>SHOW:  if I was true before this iteration, then I is true again for the next iteration.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828800" y="466344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77481"/>
                </a:solidFill>
              </a:rPr>
              <a:t>We are not proving the whole loop at once. We prove that one iteration cannot destroy the invariant.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939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r>
              <a:rPr sz="800">
                <a:solidFill>
                  <a:srgbClr val="5A646E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1078992" cy="256032"/>
          </a:xfrm>
          <a:prstGeom prst="roundRect">
            <a:avLst>
              <a:gd name="adj" fmla="val 28571"/>
            </a:avLst>
          </a:prstGeom>
          <a:solidFill>
            <a:srgbClr val="8B78E6"/>
          </a:solidFill>
          <a:ln w="12700">
            <a:solidFill>
              <a:srgbClr val="8B78E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75488" y="338328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926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 3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38912" y="66751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D27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Termination: use the invariant when the guard becomes false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38912" y="121615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774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invariant alone is not the final answer; it must help derive the postcondition.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1828800"/>
            <a:ext cx="3154680" cy="1554480"/>
          </a:xfrm>
          <a:prstGeom prst="roundRect">
            <a:avLst>
              <a:gd name="adj" fmla="val 2941"/>
            </a:avLst>
          </a:prstGeom>
          <a:solidFill>
            <a:srgbClr val="FFF7DD"/>
          </a:solidFill>
          <a:ln w="10160">
            <a:solidFill>
              <a:srgbClr val="DCE3EA"/>
            </a:solidFill>
            <a:prstDash val="solid"/>
          </a:ln>
          <a:effectLst>
            <a:outerShdw sx="100000" sy="100000" kx="0" ky="0" algn="bl" rotWithShape="0" blurRad="12700" dist="50800" dir="2700000">
              <a:srgbClr val="C5CCD3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85800" y="1828800"/>
            <a:ext cx="54864" cy="1554480"/>
          </a:xfrm>
          <a:prstGeom prst="rect">
            <a:avLst/>
          </a:prstGeom>
          <a:solidFill>
            <a:srgbClr val="F6C64F"/>
          </a:solidFill>
          <a:ln w="12700">
            <a:solidFill>
              <a:srgbClr val="F6C64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50392" y="1965960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INVARIANT  I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50392" y="2304288"/>
            <a:ext cx="2862072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still true when the loop ends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26280" y="1828800"/>
            <a:ext cx="3154680" cy="1554480"/>
          </a:xfrm>
          <a:prstGeom prst="roundRect">
            <a:avLst>
              <a:gd name="adj" fmla="val 2941"/>
            </a:avLst>
          </a:prstGeom>
          <a:solidFill>
            <a:srgbClr val="FFF0F0"/>
          </a:solidFill>
          <a:ln w="10160">
            <a:solidFill>
              <a:srgbClr val="DCE3EA"/>
            </a:solidFill>
            <a:prstDash val="solid"/>
          </a:ln>
          <a:effectLst>
            <a:outerShdw sx="100000" sy="100000" kx="0" ky="0" algn="bl" rotWithShape="0" blurRad="12700" dist="50800" dir="2700000">
              <a:srgbClr val="C5CCD3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526280" y="1828800"/>
            <a:ext cx="54864" cy="1554480"/>
          </a:xfrm>
          <a:prstGeom prst="rect">
            <a:avLst/>
          </a:prstGeom>
          <a:solidFill>
            <a:srgbClr val="F17878"/>
          </a:solidFill>
          <a:ln w="12700">
            <a:solidFill>
              <a:srgbClr val="F17878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690872" y="1965960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¬ GUARD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690872" y="2304288"/>
            <a:ext cx="2862072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loop condition is now false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366760" y="1828800"/>
            <a:ext cx="3154680" cy="1554480"/>
          </a:xfrm>
          <a:prstGeom prst="roundRect">
            <a:avLst>
              <a:gd name="adj" fmla="val 2941"/>
            </a:avLst>
          </a:prstGeom>
          <a:solidFill>
            <a:srgbClr val="EDF9F2"/>
          </a:solidFill>
          <a:ln w="10160">
            <a:solidFill>
              <a:srgbClr val="DCE3EA"/>
            </a:solidFill>
            <a:prstDash val="solid"/>
          </a:ln>
          <a:effectLst>
            <a:outerShdw sx="100000" sy="100000" kx="0" ky="0" algn="bl" rotWithShape="0" blurRad="12700" dist="50800" dir="2700000">
              <a:srgbClr val="C5CCD3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366760" y="1828800"/>
            <a:ext cx="54864" cy="1554480"/>
          </a:xfrm>
          <a:prstGeom prst="rect">
            <a:avLst/>
          </a:prstGeom>
          <a:solidFill>
            <a:srgbClr val="54C985"/>
          </a:solidFill>
          <a:ln w="12700">
            <a:solidFill>
              <a:srgbClr val="54C985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531352" y="1965960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POSTCONDITION  Q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531352" y="2304288"/>
            <a:ext cx="2862072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must follow from I and ¬guard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822192" y="2606040"/>
            <a:ext cx="585216" cy="0"/>
          </a:xfrm>
          <a:prstGeom prst="line">
            <a:avLst/>
          </a:prstGeom>
          <a:noFill/>
          <a:ln w="25400">
            <a:solidFill>
              <a:srgbClr val="159C96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662672" y="2606040"/>
            <a:ext cx="585216" cy="0"/>
          </a:xfrm>
          <a:prstGeom prst="line">
            <a:avLst/>
          </a:prstGeom>
          <a:noFill/>
          <a:ln w="25400">
            <a:solidFill>
              <a:srgbClr val="159C96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291840" y="406908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926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I ∧ ¬guard  ⇒  Q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2788920" y="507492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17878"/>
                </a:solidFill>
              </a:rPr>
              <a:t>Separate question: do we know the loop actually reaches this point?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939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r>
              <a:rPr sz="800">
                <a:solidFill>
                  <a:srgbClr val="5A646E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1078992" cy="256032"/>
          </a:xfrm>
          <a:prstGeom prst="roundRect">
            <a:avLst>
              <a:gd name="adj" fmla="val 28571"/>
            </a:avLst>
          </a:prstGeom>
          <a:solidFill>
            <a:srgbClr val="54C985"/>
          </a:solidFill>
          <a:ln w="12700">
            <a:solidFill>
              <a:srgbClr val="54C985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75488" y="338328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926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CORRECTNESS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38912" y="66751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D27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loop invariant proves preservation — not termination by itself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38912" y="121615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774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total correctness, we also need an argument that the loop cannot continue forever.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1828800"/>
            <a:ext cx="3291840" cy="1463040"/>
          </a:xfrm>
          <a:prstGeom prst="roundRect">
            <a:avLst>
              <a:gd name="adj" fmla="val 3125"/>
            </a:avLst>
          </a:prstGeom>
          <a:solidFill>
            <a:srgbClr val="E9FAF8"/>
          </a:solidFill>
          <a:ln w="10160">
            <a:solidFill>
              <a:srgbClr val="DCE3EA"/>
            </a:solidFill>
            <a:prstDash val="solid"/>
          </a:ln>
          <a:effectLst>
            <a:outerShdw sx="100000" sy="100000" kx="0" ky="0" algn="bl" rotWithShape="0" blurRad="12700" dist="50800" dir="2700000">
              <a:srgbClr val="C5CCD3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85800" y="1828800"/>
            <a:ext cx="54864" cy="1463040"/>
          </a:xfrm>
          <a:prstGeom prst="rect">
            <a:avLst/>
          </a:prstGeom>
          <a:solidFill>
            <a:srgbClr val="2ED3C6"/>
          </a:solidFill>
          <a:ln w="12700">
            <a:solidFill>
              <a:srgbClr val="2ED3C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50392" y="196596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INVARIANT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50392" y="2304288"/>
            <a:ext cx="2999232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supports the “right answer” argument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453128" y="1828800"/>
            <a:ext cx="3291840" cy="1463040"/>
          </a:xfrm>
          <a:prstGeom prst="roundRect">
            <a:avLst>
              <a:gd name="adj" fmla="val 3125"/>
            </a:avLst>
          </a:prstGeom>
          <a:solidFill>
            <a:srgbClr val="FFF7DD"/>
          </a:solidFill>
          <a:ln w="10160">
            <a:solidFill>
              <a:srgbClr val="DCE3EA"/>
            </a:solidFill>
            <a:prstDash val="solid"/>
          </a:ln>
          <a:effectLst>
            <a:outerShdw sx="100000" sy="100000" kx="0" ky="0" algn="bl" rotWithShape="0" blurRad="12700" dist="50800" dir="2700000">
              <a:srgbClr val="C5CCD3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453128" y="1828800"/>
            <a:ext cx="54864" cy="1463040"/>
          </a:xfrm>
          <a:prstGeom prst="rect">
            <a:avLst/>
          </a:prstGeom>
          <a:solidFill>
            <a:srgbClr val="F6C64F"/>
          </a:solidFill>
          <a:ln w="12700">
            <a:solidFill>
              <a:srgbClr val="F6C64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617720" y="196596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TERMINATION MEASURE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617720" y="2304288"/>
            <a:ext cx="2999232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finite quantity moves toward the stopping condition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220456" y="1828800"/>
            <a:ext cx="3291840" cy="1463040"/>
          </a:xfrm>
          <a:prstGeom prst="roundRect">
            <a:avLst>
              <a:gd name="adj" fmla="val 3125"/>
            </a:avLst>
          </a:prstGeom>
          <a:solidFill>
            <a:srgbClr val="EDF9F2"/>
          </a:solidFill>
          <a:ln w="10160">
            <a:solidFill>
              <a:srgbClr val="DCE3EA"/>
            </a:solidFill>
            <a:prstDash val="solid"/>
          </a:ln>
          <a:effectLst>
            <a:outerShdw sx="100000" sy="100000" kx="0" ky="0" algn="bl" rotWithShape="0" blurRad="12700" dist="50800" dir="2700000">
              <a:srgbClr val="C5CCD3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220456" y="1828800"/>
            <a:ext cx="54864" cy="1463040"/>
          </a:xfrm>
          <a:prstGeom prst="rect">
            <a:avLst/>
          </a:prstGeom>
          <a:solidFill>
            <a:srgbClr val="54C985"/>
          </a:solidFill>
          <a:ln w="12700">
            <a:solidFill>
              <a:srgbClr val="54C985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385048" y="196596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CORRECTNESS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385048" y="2304288"/>
            <a:ext cx="2999232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 result + guaranteed finish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51560" y="4160520"/>
            <a:ext cx="10058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92633"/>
                </a:solidFill>
              </a:rPr>
              <a:t>Example: in a loop with i = 1,2,...,n, the quantity n − i decreases until the guard fails.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1792" y="5833872"/>
            <a:ext cx="10945368" cy="384048"/>
          </a:xfrm>
          <a:prstGeom prst="roundRect">
            <a:avLst>
              <a:gd name="adj" fmla="val 9524"/>
            </a:avLst>
          </a:prstGeom>
          <a:solidFill>
            <a:srgbClr val="092633"/>
          </a:solidFill>
          <a:ln w="12700">
            <a:solidFill>
              <a:srgbClr val="092633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22960" y="5952744"/>
            <a:ext cx="10533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“decreasing measure” is often called a loop variant or termination measure.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939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r>
              <a:rPr sz="800">
                <a:solidFill>
                  <a:srgbClr val="5A646E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1078992" cy="256032"/>
          </a:xfrm>
          <a:prstGeom prst="roundRect">
            <a:avLst>
              <a:gd name="adj" fmla="val 28571"/>
            </a:avLst>
          </a:prstGeom>
          <a:solidFill>
            <a:srgbClr val="F6C64F"/>
          </a:solidFill>
          <a:ln w="12700">
            <a:solidFill>
              <a:srgbClr val="F6C64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75488" y="338328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926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CDF EXAMPLE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6583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Worked Example 1: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Iterative Summation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30352" y="199339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BC0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 that SUM(n) returns 1 + 2 + ... + 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2743200"/>
            <a:ext cx="4069080" cy="2286000"/>
          </a:xfrm>
          <a:prstGeom prst="roundRect">
            <a:avLst>
              <a:gd name="adj" fmla="val 1600"/>
            </a:avLst>
          </a:prstGeom>
          <a:solidFill>
            <a:srgbClr val="F1F4F6"/>
          </a:solidFill>
          <a:ln w="10160">
            <a:solidFill>
              <a:srgbClr val="CBD4DC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50392" y="2889504"/>
            <a:ext cx="373989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63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SUM(n)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3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← 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3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← 1 to 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3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← total + 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3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total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257800" y="2743200"/>
            <a:ext cx="6080760" cy="2286000"/>
          </a:xfrm>
          <a:prstGeom prst="roundRect">
            <a:avLst>
              <a:gd name="adj" fmla="val 2000"/>
            </a:avLst>
          </a:prstGeom>
          <a:solidFill>
            <a:srgbClr val="0D3446"/>
          </a:solidFill>
          <a:ln w="12700">
            <a:solidFill>
              <a:srgbClr val="2E596A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532120" y="29718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D3C6"/>
                </a:solidFill>
              </a:rPr>
              <a:t>SPECIFICATION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532120" y="3429000"/>
            <a:ext cx="5303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Precondition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 n is a positive integer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Postcondition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 total = 1 + 2 + ... + 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F899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r>
              <a:rPr sz="800">
                <a:solidFill>
                  <a:srgbClr val="5A646E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1078992" cy="256032"/>
          </a:xfrm>
          <a:prstGeom prst="roundRect">
            <a:avLst>
              <a:gd name="adj" fmla="val 28571"/>
            </a:avLst>
          </a:prstGeom>
          <a:solidFill>
            <a:srgbClr val="F6C64F"/>
          </a:solidFill>
          <a:ln w="12700">
            <a:solidFill>
              <a:srgbClr val="F6C64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75488" y="338328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926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SUM(n)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38912" y="66751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D27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1: choose a useful invariant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38912" y="121615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774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invariant should describe exactly what total means at the start of each iteration.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14400" y="1965960"/>
            <a:ext cx="10378440" cy="1417320"/>
          </a:xfrm>
          <a:prstGeom prst="roundRect">
            <a:avLst>
              <a:gd name="adj" fmla="val 3226"/>
            </a:avLst>
          </a:prstGeom>
          <a:solidFill>
            <a:srgbClr val="FFF7DD"/>
          </a:solidFill>
          <a:ln w="12700">
            <a:solidFill>
              <a:srgbClr val="F0D985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143000" y="2331720"/>
            <a:ext cx="9921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8A66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At the start of iteration i:   total = 1 + 2 + ... + (i − 1)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234440" y="3840480"/>
            <a:ext cx="9738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92633"/>
                </a:solidFill>
              </a:rPr>
              <a:t>English: before adding i, total already contains the sum of all integers that came before i.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103120" y="4709160"/>
            <a:ext cx="8001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7748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Equivalent compact notation:  total = Σ(k=1 to i−1) k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" y="5833872"/>
            <a:ext cx="10945368" cy="384048"/>
          </a:xfrm>
          <a:prstGeom prst="roundRect">
            <a:avLst>
              <a:gd name="adj" fmla="val 9524"/>
            </a:avLst>
          </a:prstGeom>
          <a:solidFill>
            <a:srgbClr val="092633"/>
          </a:solidFill>
          <a:ln w="12700">
            <a:solidFill>
              <a:srgbClr val="092633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22960" y="5952744"/>
            <a:ext cx="10533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good invariant gives a precise meaning to the variables at the chosen loop point.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939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r>
              <a:rPr sz="800">
                <a:solidFill>
                  <a:srgbClr val="5A646E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1078992" cy="256032"/>
          </a:xfrm>
          <a:prstGeom prst="roundRect">
            <a:avLst>
              <a:gd name="adj" fmla="val 28571"/>
            </a:avLst>
          </a:prstGeom>
          <a:solidFill>
            <a:srgbClr val="2ED3C6"/>
          </a:solidFill>
          <a:ln w="12700">
            <a:solidFill>
              <a:srgbClr val="2ED3C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75488" y="338328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926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THE MATH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38912" y="66751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D27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does the summation invariant mean?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38912" y="121615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774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Translate the mathematics into English before proving anything.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1783080"/>
            <a:ext cx="2286000" cy="502920"/>
          </a:xfrm>
          <a:prstGeom prst="rect">
            <a:avLst/>
          </a:prstGeom>
          <a:solidFill>
            <a:srgbClr val="092633"/>
          </a:solidFill>
          <a:ln w="7620">
            <a:solidFill>
              <a:srgbClr val="DCE3E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58952" y="1892808"/>
            <a:ext cx="21396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Expression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971800" y="1783080"/>
            <a:ext cx="2971800" cy="502920"/>
          </a:xfrm>
          <a:prstGeom prst="rect">
            <a:avLst/>
          </a:prstGeom>
          <a:solidFill>
            <a:srgbClr val="092633"/>
          </a:solidFill>
          <a:ln w="7620">
            <a:solidFill>
              <a:srgbClr val="DCE3EA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044952" y="1892808"/>
            <a:ext cx="28254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it as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943600" y="1783080"/>
            <a:ext cx="5577840" cy="502920"/>
          </a:xfrm>
          <a:prstGeom prst="rect">
            <a:avLst/>
          </a:prstGeom>
          <a:solidFill>
            <a:srgbClr val="092633"/>
          </a:solidFill>
          <a:ln w="7620">
            <a:solidFill>
              <a:srgbClr val="DCE3E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016752" y="1892808"/>
            <a:ext cx="543153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Meaning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85800" y="2286000"/>
            <a:ext cx="2286000" cy="603504"/>
          </a:xfrm>
          <a:prstGeom prst="rect">
            <a:avLst/>
          </a:prstGeom>
          <a:solidFill>
            <a:srgbClr val="FFFFFF"/>
          </a:solidFill>
          <a:ln w="7620">
            <a:solidFill>
              <a:srgbClr val="DCE3E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58952" y="2395728"/>
            <a:ext cx="21396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D273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i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971800" y="2286000"/>
            <a:ext cx="2971800" cy="603504"/>
          </a:xfrm>
          <a:prstGeom prst="rect">
            <a:avLst/>
          </a:prstGeom>
          <a:solidFill>
            <a:srgbClr val="FFFFFF"/>
          </a:solidFill>
          <a:ln w="7620">
            <a:solidFill>
              <a:srgbClr val="DCE3EA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044952" y="2395728"/>
            <a:ext cx="2825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loop index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43600" y="2286000"/>
            <a:ext cx="5577840" cy="603504"/>
          </a:xfrm>
          <a:prstGeom prst="rect">
            <a:avLst/>
          </a:prstGeom>
          <a:solidFill>
            <a:srgbClr val="FFFFFF"/>
          </a:solidFill>
          <a:ln w="7620">
            <a:solidFill>
              <a:srgbClr val="DCE3EA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016752" y="2395728"/>
            <a:ext cx="5431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next integer that will be added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85800" y="2889504"/>
            <a:ext cx="2286000" cy="603504"/>
          </a:xfrm>
          <a:prstGeom prst="rect">
            <a:avLst/>
          </a:prstGeom>
          <a:solidFill>
            <a:srgbClr val="F8FAFC"/>
          </a:solidFill>
          <a:ln w="7620">
            <a:solidFill>
              <a:srgbClr val="DCE3E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58952" y="2999232"/>
            <a:ext cx="21396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D273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i − 1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971800" y="2889504"/>
            <a:ext cx="2971800" cy="603504"/>
          </a:xfrm>
          <a:prstGeom prst="rect">
            <a:avLst/>
          </a:prstGeom>
          <a:solidFill>
            <a:srgbClr val="F8FAFC"/>
          </a:solidFill>
          <a:ln w="7620">
            <a:solidFill>
              <a:srgbClr val="DCE3EA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3044952" y="2999232"/>
            <a:ext cx="2825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less than i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3600" y="2889504"/>
            <a:ext cx="5577840" cy="603504"/>
          </a:xfrm>
          <a:prstGeom prst="rect">
            <a:avLst/>
          </a:prstGeom>
          <a:solidFill>
            <a:srgbClr val="F8FAFC"/>
          </a:solidFill>
          <a:ln w="7620">
            <a:solidFill>
              <a:srgbClr val="DCE3EA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016752" y="2999232"/>
            <a:ext cx="5431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last integer already included in total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85800" y="3493008"/>
            <a:ext cx="2286000" cy="603504"/>
          </a:xfrm>
          <a:prstGeom prst="rect">
            <a:avLst/>
          </a:prstGeom>
          <a:solidFill>
            <a:srgbClr val="FFFFFF"/>
          </a:solidFill>
          <a:ln w="7620">
            <a:solidFill>
              <a:srgbClr val="DCE3E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758952" y="3602736"/>
            <a:ext cx="21396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D273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Σ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971800" y="3493008"/>
            <a:ext cx="2971800" cy="603504"/>
          </a:xfrm>
          <a:prstGeom prst="rect">
            <a:avLst/>
          </a:prstGeom>
          <a:solidFill>
            <a:srgbClr val="FFFFFF"/>
          </a:solidFill>
          <a:ln w="7620">
            <a:solidFill>
              <a:srgbClr val="DCE3EA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3044952" y="3602736"/>
            <a:ext cx="2825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943600" y="3493008"/>
            <a:ext cx="5577840" cy="603504"/>
          </a:xfrm>
          <a:prstGeom prst="rect">
            <a:avLst/>
          </a:prstGeom>
          <a:solidFill>
            <a:srgbClr val="FFFFFF"/>
          </a:solidFill>
          <a:ln w="7620">
            <a:solidFill>
              <a:srgbClr val="DCE3EA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016752" y="3602736"/>
            <a:ext cx="5431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a sequence of values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85800" y="4096512"/>
            <a:ext cx="2286000" cy="768096"/>
          </a:xfrm>
          <a:prstGeom prst="rect">
            <a:avLst/>
          </a:prstGeom>
          <a:solidFill>
            <a:srgbClr val="F8FAFC"/>
          </a:solidFill>
          <a:ln w="7620">
            <a:solidFill>
              <a:srgbClr val="DCE3EA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758952" y="4206240"/>
            <a:ext cx="21396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D273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Σ(k=1 to i−1) k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971800" y="4096512"/>
            <a:ext cx="2971800" cy="768096"/>
          </a:xfrm>
          <a:prstGeom prst="rect">
            <a:avLst/>
          </a:prstGeom>
          <a:solidFill>
            <a:srgbClr val="F8FAFC"/>
          </a:solidFill>
          <a:ln w="7620">
            <a:solidFill>
              <a:srgbClr val="DCE3EA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3044952" y="4206240"/>
            <a:ext cx="28254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 k from 1 to i−1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943600" y="4096512"/>
            <a:ext cx="5577840" cy="768096"/>
          </a:xfrm>
          <a:prstGeom prst="rect">
            <a:avLst/>
          </a:prstGeom>
          <a:solidFill>
            <a:srgbClr val="F8FAFC"/>
          </a:solidFill>
          <a:ln w="7620">
            <a:solidFill>
              <a:srgbClr val="DCE3EA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6016752" y="4206240"/>
            <a:ext cx="54315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+ 2 + ... + (i−1)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21792" y="5833872"/>
            <a:ext cx="10945368" cy="384048"/>
          </a:xfrm>
          <a:prstGeom prst="roundRect">
            <a:avLst>
              <a:gd name="adj" fmla="val 9524"/>
            </a:avLst>
          </a:prstGeom>
          <a:solidFill>
            <a:srgbClr val="092633"/>
          </a:solidFill>
          <a:ln w="12700">
            <a:solidFill>
              <a:srgbClr val="092633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822960" y="5952744"/>
            <a:ext cx="10533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Always pair the formal invariant with an English interpretation.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939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r>
              <a:rPr sz="800">
                <a:solidFill>
                  <a:srgbClr val="5A646E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1078992" cy="256032"/>
          </a:xfrm>
          <a:prstGeom prst="roundRect">
            <a:avLst>
              <a:gd name="adj" fmla="val 28571"/>
            </a:avLst>
          </a:prstGeom>
          <a:solidFill>
            <a:srgbClr val="2ED3C6"/>
          </a:solidFill>
          <a:ln w="12700">
            <a:solidFill>
              <a:srgbClr val="2ED3C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75488" y="338328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926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SUM(n) — INITIALIZATION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38912" y="66751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D27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1: Initialization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38912" y="121615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774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the invariant true before the first iteration?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1783080"/>
            <a:ext cx="3291840" cy="1417320"/>
          </a:xfrm>
          <a:prstGeom prst="roundRect">
            <a:avLst>
              <a:gd name="adj" fmla="val 3226"/>
            </a:avLst>
          </a:prstGeom>
          <a:solidFill>
            <a:srgbClr val="E9FAF8"/>
          </a:solidFill>
          <a:ln w="10160">
            <a:solidFill>
              <a:srgbClr val="DCE3EA"/>
            </a:solidFill>
            <a:prstDash val="solid"/>
          </a:ln>
          <a:effectLst>
            <a:outerShdw sx="100000" sy="100000" kx="0" ky="0" algn="bl" rotWithShape="0" blurRad="12700" dist="50800" dir="2700000">
              <a:srgbClr val="C5CCD3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85800" y="1783080"/>
            <a:ext cx="54864" cy="1417320"/>
          </a:xfrm>
          <a:prstGeom prst="rect">
            <a:avLst/>
          </a:prstGeom>
          <a:solidFill>
            <a:srgbClr val="2ED3C6"/>
          </a:solidFill>
          <a:ln w="12700">
            <a:solidFill>
              <a:srgbClr val="2ED3C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50392" y="192024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STARTING STATE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50392" y="2258568"/>
            <a:ext cx="2999232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D273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total ← 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D273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 ← 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069080" y="2496312"/>
            <a:ext cx="640080" cy="0"/>
          </a:xfrm>
          <a:prstGeom prst="line">
            <a:avLst/>
          </a:prstGeom>
          <a:noFill/>
          <a:ln w="27940">
            <a:solidFill>
              <a:srgbClr val="159C96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800600" y="1783080"/>
            <a:ext cx="3291840" cy="1417320"/>
          </a:xfrm>
          <a:prstGeom prst="roundRect">
            <a:avLst>
              <a:gd name="adj" fmla="val 3226"/>
            </a:avLst>
          </a:prstGeom>
          <a:solidFill>
            <a:srgbClr val="FFF7DD"/>
          </a:solidFill>
          <a:ln w="10160">
            <a:solidFill>
              <a:srgbClr val="DCE3EA"/>
            </a:solidFill>
            <a:prstDash val="solid"/>
          </a:ln>
          <a:effectLst>
            <a:outerShdw sx="100000" sy="100000" kx="0" ky="0" algn="bl" rotWithShape="0" blurRad="12700" dist="50800" dir="2700000">
              <a:srgbClr val="C5CCD3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800600" y="1783080"/>
            <a:ext cx="54864" cy="1417320"/>
          </a:xfrm>
          <a:prstGeom prst="rect">
            <a:avLst/>
          </a:prstGeom>
          <a:solidFill>
            <a:srgbClr val="F6C64F"/>
          </a:solidFill>
          <a:ln w="12700">
            <a:solidFill>
              <a:srgbClr val="F6C64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965192" y="192024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INVARIANT REQUIRES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965192" y="2258568"/>
            <a:ext cx="2999232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= 1 + ... + (i−1)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83880" y="2496312"/>
            <a:ext cx="548640" cy="0"/>
          </a:xfrm>
          <a:prstGeom prst="line">
            <a:avLst/>
          </a:prstGeom>
          <a:noFill/>
          <a:ln w="27940">
            <a:solidFill>
              <a:srgbClr val="159C96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823960" y="1783080"/>
            <a:ext cx="2697480" cy="1417320"/>
          </a:xfrm>
          <a:prstGeom prst="roundRect">
            <a:avLst>
              <a:gd name="adj" fmla="val 3226"/>
            </a:avLst>
          </a:prstGeom>
          <a:solidFill>
            <a:srgbClr val="EDF9F2"/>
          </a:solidFill>
          <a:ln w="10160">
            <a:solidFill>
              <a:srgbClr val="DCE3EA"/>
            </a:solidFill>
            <a:prstDash val="solid"/>
          </a:ln>
          <a:effectLst>
            <a:outerShdw sx="100000" sy="100000" kx="0" ky="0" algn="bl" rotWithShape="0" blurRad="12700" dist="50800" dir="2700000">
              <a:srgbClr val="C5CCD3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823960" y="1783080"/>
            <a:ext cx="54864" cy="1417320"/>
          </a:xfrm>
          <a:prstGeom prst="rect">
            <a:avLst/>
          </a:prstGeom>
          <a:solidFill>
            <a:srgbClr val="54C985"/>
          </a:solidFill>
          <a:ln w="12700">
            <a:solidFill>
              <a:srgbClr val="54C985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988552" y="1920240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SUBSTITUTE i = 1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988552" y="2258568"/>
            <a:ext cx="2404872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= sum of no previous values = 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103120" y="397764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926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Before iteration 1:   total = 0   ✓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417320" y="4846320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677481"/>
                </a:solidFill>
              </a:rPr>
              <a:t>English: before adding the first number, the sum of the numbers already processed is zero.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939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r>
              <a:rPr sz="800">
                <a:solidFill>
                  <a:srgbClr val="5A646E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1078992" cy="256032"/>
          </a:xfrm>
          <a:prstGeom prst="roundRect">
            <a:avLst>
              <a:gd name="adj" fmla="val 28571"/>
            </a:avLst>
          </a:prstGeom>
          <a:solidFill>
            <a:srgbClr val="F6C64F"/>
          </a:solidFill>
          <a:ln w="12700">
            <a:solidFill>
              <a:srgbClr val="F6C64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75488" y="338328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926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SUM(n) — MAINTENANCE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38912" y="66751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D27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2: Maintenance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38912" y="121615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774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Assume the invariant is true before iteration i; show it is true for iteration i+1.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1737360"/>
            <a:ext cx="3200400" cy="2103120"/>
          </a:xfrm>
          <a:prstGeom prst="roundRect">
            <a:avLst>
              <a:gd name="adj" fmla="val 2174"/>
            </a:avLst>
          </a:prstGeom>
          <a:solidFill>
            <a:srgbClr val="FFF7DD"/>
          </a:solidFill>
          <a:ln w="12700">
            <a:solidFill>
              <a:srgbClr val="F0D985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14400" y="19933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6600"/>
                </a:solidFill>
              </a:rPr>
              <a:t>ASSUME BEFORE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48716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66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total = 1 + ... + (i−1)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1089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D2730"/>
                </a:solidFill>
              </a:rPr>
              <a:t>the invariant is true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977640" y="2761488"/>
            <a:ext cx="594360" cy="0"/>
          </a:xfrm>
          <a:prstGeom prst="line">
            <a:avLst/>
          </a:prstGeom>
          <a:noFill/>
          <a:ln w="27940">
            <a:solidFill>
              <a:srgbClr val="159C96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663440" y="1737360"/>
            <a:ext cx="2834640" cy="2103120"/>
          </a:xfrm>
          <a:prstGeom prst="roundRect">
            <a:avLst>
              <a:gd name="adj" fmla="val 2174"/>
            </a:avLst>
          </a:prstGeom>
          <a:solidFill>
            <a:srgbClr val="EEF4FF"/>
          </a:solidFill>
          <a:ln w="12700">
            <a:solidFill>
              <a:srgbClr val="C8D8F6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892040" y="19933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8DEF"/>
                </a:solidFill>
              </a:rPr>
              <a:t>EXECUTE BODY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74920" y="2468880"/>
            <a:ext cx="2011680" cy="713232"/>
          </a:xfrm>
          <a:prstGeom prst="roundRect">
            <a:avLst>
              <a:gd name="adj" fmla="val 5128"/>
            </a:avLst>
          </a:prstGeom>
          <a:solidFill>
            <a:srgbClr val="F1F4F6"/>
          </a:solidFill>
          <a:ln w="10160">
            <a:solidFill>
              <a:srgbClr val="CBD4DC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239512" y="2615184"/>
            <a:ext cx="1682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63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← total + 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19472" y="331012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D2730"/>
                </a:solidFill>
              </a:rPr>
              <a:t>Now total = 1 + ... + i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589520" y="2761488"/>
            <a:ext cx="594360" cy="0"/>
          </a:xfrm>
          <a:prstGeom prst="line">
            <a:avLst/>
          </a:prstGeom>
          <a:noFill/>
          <a:ln w="27940">
            <a:solidFill>
              <a:srgbClr val="159C96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275320" y="1737360"/>
            <a:ext cx="3246120" cy="2103120"/>
          </a:xfrm>
          <a:prstGeom prst="roundRect">
            <a:avLst>
              <a:gd name="adj" fmla="val 2174"/>
            </a:avLst>
          </a:prstGeom>
          <a:solidFill>
            <a:srgbClr val="EDF9F2"/>
          </a:solidFill>
          <a:ln w="12700">
            <a:solidFill>
              <a:srgbClr val="B8E3C9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503920" y="199339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8652"/>
                </a:solidFill>
              </a:rPr>
              <a:t>NEXT ITERATION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41080" y="248716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865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i becomes i + 1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485632" y="306324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D2730"/>
                </a:solidFill>
              </a:rPr>
              <a:t>Invariant now says total = 1 + ... + ((i+1)−1) = 1 + ... + i ✓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621792" y="5833872"/>
            <a:ext cx="10945368" cy="384048"/>
          </a:xfrm>
          <a:prstGeom prst="roundRect">
            <a:avLst>
              <a:gd name="adj" fmla="val 9524"/>
            </a:avLst>
          </a:prstGeom>
          <a:solidFill>
            <a:srgbClr val="092633"/>
          </a:solidFill>
          <a:ln w="12700">
            <a:solidFill>
              <a:srgbClr val="092633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22960" y="5952744"/>
            <a:ext cx="10533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execution of the loop body preserves the invariant.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939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r>
              <a:rPr sz="800">
                <a:solidFill>
                  <a:srgbClr val="5A646E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1078992" cy="256032"/>
          </a:xfrm>
          <a:prstGeom prst="roundRect">
            <a:avLst>
              <a:gd name="adj" fmla="val 28571"/>
            </a:avLst>
          </a:prstGeom>
          <a:solidFill>
            <a:srgbClr val="8B78E6"/>
          </a:solidFill>
          <a:ln w="12700">
            <a:solidFill>
              <a:srgbClr val="8B78E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75488" y="338328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926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SUM(n) — TERMINATION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38912" y="66751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D27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3: Termination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38912" y="121615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774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the loop stops, use the invariant to derive the required sum.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1783080"/>
            <a:ext cx="3291840" cy="1508760"/>
          </a:xfrm>
          <a:prstGeom prst="roundRect">
            <a:avLst>
              <a:gd name="adj" fmla="val 3030"/>
            </a:avLst>
          </a:prstGeom>
          <a:solidFill>
            <a:srgbClr val="FFF0F0"/>
          </a:solidFill>
          <a:ln w="10160">
            <a:solidFill>
              <a:srgbClr val="DCE3EA"/>
            </a:solidFill>
            <a:prstDash val="solid"/>
          </a:ln>
          <a:effectLst>
            <a:outerShdw sx="100000" sy="100000" kx="0" ky="0" algn="bl" rotWithShape="0" blurRad="12700" dist="50800" dir="2700000">
              <a:srgbClr val="C5CCD3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85800" y="1783080"/>
            <a:ext cx="54864" cy="1508760"/>
          </a:xfrm>
          <a:prstGeom prst="rect">
            <a:avLst/>
          </a:prstGeom>
          <a:solidFill>
            <a:srgbClr val="F17878"/>
          </a:solidFill>
          <a:ln w="12700">
            <a:solidFill>
              <a:srgbClr val="F17878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50392" y="192024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LOOP STOPS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50392" y="2258568"/>
            <a:ext cx="2999232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n has been processed, the next index is i = n + 1.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434840" y="1783080"/>
            <a:ext cx="3291840" cy="1508760"/>
          </a:xfrm>
          <a:prstGeom prst="roundRect">
            <a:avLst>
              <a:gd name="adj" fmla="val 3030"/>
            </a:avLst>
          </a:prstGeom>
          <a:solidFill>
            <a:srgbClr val="FFF7DD"/>
          </a:solidFill>
          <a:ln w="10160">
            <a:solidFill>
              <a:srgbClr val="DCE3EA"/>
            </a:solidFill>
            <a:prstDash val="solid"/>
          </a:ln>
          <a:effectLst>
            <a:outerShdw sx="100000" sy="100000" kx="0" ky="0" algn="bl" rotWithShape="0" blurRad="12700" dist="50800" dir="2700000">
              <a:srgbClr val="C5CCD3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434840" y="1783080"/>
            <a:ext cx="54864" cy="1508760"/>
          </a:xfrm>
          <a:prstGeom prst="rect">
            <a:avLst/>
          </a:prstGeom>
          <a:solidFill>
            <a:srgbClr val="F6C64F"/>
          </a:solidFill>
          <a:ln w="12700">
            <a:solidFill>
              <a:srgbClr val="F6C64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599432" y="192024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INVARIANT STILL TRUE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99432" y="2258568"/>
            <a:ext cx="2999232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= 1 + 2 + ... + (i − 1)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83880" y="1783080"/>
            <a:ext cx="3291840" cy="1508760"/>
          </a:xfrm>
          <a:prstGeom prst="roundRect">
            <a:avLst>
              <a:gd name="adj" fmla="val 3030"/>
            </a:avLst>
          </a:prstGeom>
          <a:solidFill>
            <a:srgbClr val="EDF9F2"/>
          </a:solidFill>
          <a:ln w="10160">
            <a:solidFill>
              <a:srgbClr val="DCE3EA"/>
            </a:solidFill>
            <a:prstDash val="solid"/>
          </a:ln>
          <a:effectLst>
            <a:outerShdw sx="100000" sy="100000" kx="0" ky="0" algn="bl" rotWithShape="0" blurRad="12700" dist="50800" dir="2700000">
              <a:srgbClr val="C5CCD3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183880" y="1783080"/>
            <a:ext cx="54864" cy="1508760"/>
          </a:xfrm>
          <a:prstGeom prst="rect">
            <a:avLst/>
          </a:prstGeom>
          <a:solidFill>
            <a:srgbClr val="54C985"/>
          </a:solidFill>
          <a:ln w="12700">
            <a:solidFill>
              <a:srgbClr val="54C985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348472" y="192024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SUBSTITUTE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348472" y="2258568"/>
            <a:ext cx="2999232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= n + 1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⇒ total = 1 + 2 + ... + 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97280" y="397764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926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Therefore the postcondition holds:   total = Σ(k=1 to n) k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280160" y="493776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9C96"/>
                </a:solidFill>
              </a:rPr>
              <a:t>Termination is guaranteed because i increases by 1 and can pass n after finitely many iterations.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939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r>
              <a:rPr sz="800">
                <a:solidFill>
                  <a:srgbClr val="5A646E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1078992" cy="256032"/>
          </a:xfrm>
          <a:prstGeom prst="roundRect">
            <a:avLst>
              <a:gd name="adj" fmla="val 28571"/>
            </a:avLst>
          </a:prstGeom>
          <a:solidFill>
            <a:srgbClr val="54C985"/>
          </a:solidFill>
          <a:ln w="12700">
            <a:solidFill>
              <a:srgbClr val="54C985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75488" y="338328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926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 COMPLETE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6583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SUM(n) is totally correct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30352" y="199339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BC0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every positive integer n, the algorithm returns 1 + 2 + ... + n and terminates.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14400" y="2788920"/>
            <a:ext cx="3063240" cy="1325880"/>
          </a:xfrm>
          <a:prstGeom prst="roundRect">
            <a:avLst>
              <a:gd name="adj" fmla="val 3448"/>
            </a:avLst>
          </a:prstGeom>
          <a:solidFill>
            <a:srgbClr val="0D3446"/>
          </a:solidFill>
          <a:ln w="12700">
            <a:solidFill>
              <a:srgbClr val="2E596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143000" y="3035808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D3C6"/>
                </a:solidFill>
              </a:rPr>
              <a:t>INITIALIZATION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35021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Invariant true before iteration 1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53712" y="2788920"/>
            <a:ext cx="3063240" cy="1325880"/>
          </a:xfrm>
          <a:prstGeom prst="roundRect">
            <a:avLst>
              <a:gd name="adj" fmla="val 3448"/>
            </a:avLst>
          </a:prstGeom>
          <a:solidFill>
            <a:srgbClr val="0D3446"/>
          </a:solidFill>
          <a:ln w="12700">
            <a:solidFill>
              <a:srgbClr val="2E596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782312" y="3035808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C64F"/>
                </a:solidFill>
              </a:rPr>
              <a:t>MAINTENANCE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82312" y="35021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Every iteration preserves the invariant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193024" y="2788920"/>
            <a:ext cx="3063240" cy="1325880"/>
          </a:xfrm>
          <a:prstGeom prst="roundRect">
            <a:avLst>
              <a:gd name="adj" fmla="val 3448"/>
            </a:avLst>
          </a:prstGeom>
          <a:solidFill>
            <a:srgbClr val="0D3446"/>
          </a:solidFill>
          <a:ln w="12700">
            <a:solidFill>
              <a:srgbClr val="2E596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421624" y="3035808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78E6"/>
                </a:solidFill>
              </a:rPr>
              <a:t>TERMINATION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421624" y="35021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Invariant + stopped guard ⇒ postcondition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148840" y="480060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D3C6"/>
                </a:solidFill>
              </a:rPr>
              <a:t>This three-stage structure is reusable for many iterative algorithms.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F899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r>
              <a:rPr sz="800">
                <a:solidFill>
                  <a:srgbClr val="5A646E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1078992" cy="256032"/>
          </a:xfrm>
          <a:prstGeom prst="roundRect">
            <a:avLst>
              <a:gd name="adj" fmla="val 28571"/>
            </a:avLst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75488" y="338328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926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WORKED EXAMPLE 2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38912" y="66751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D27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Revisit MAX(A) from Lecture 3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38912" y="121615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774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 we turn the informal correctness reasoning into a loop-invariant argument.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58368" y="1783080"/>
            <a:ext cx="3794760" cy="3200400"/>
          </a:xfrm>
          <a:prstGeom prst="roundRect">
            <a:avLst>
              <a:gd name="adj" fmla="val 1143"/>
            </a:avLst>
          </a:prstGeom>
          <a:solidFill>
            <a:srgbClr val="F1F4F6"/>
          </a:solidFill>
          <a:ln w="10160">
            <a:solidFill>
              <a:srgbClr val="CBD4DC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22960" y="1929384"/>
            <a:ext cx="346557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63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MAX(A)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3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largest ← A[0]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3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← 1 to n−1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3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A[i] &gt; largest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3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largest ← A[i]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3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largest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92040" y="1783080"/>
            <a:ext cx="2971800" cy="1234440"/>
          </a:xfrm>
          <a:prstGeom prst="roundRect">
            <a:avLst>
              <a:gd name="adj" fmla="val 3704"/>
            </a:avLst>
          </a:prstGeom>
          <a:solidFill>
            <a:srgbClr val="E9FAF8"/>
          </a:solidFill>
          <a:ln w="10160">
            <a:solidFill>
              <a:srgbClr val="DCE3EA"/>
            </a:solidFill>
            <a:prstDash val="solid"/>
          </a:ln>
          <a:effectLst>
            <a:outerShdw sx="100000" sy="100000" kx="0" ky="0" algn="bl" rotWithShape="0" blurRad="12700" dist="50800" dir="2700000">
              <a:srgbClr val="C5CCD3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892040" y="1783080"/>
            <a:ext cx="54864" cy="1234440"/>
          </a:xfrm>
          <a:prstGeom prst="rect">
            <a:avLst/>
          </a:prstGeom>
          <a:solidFill>
            <a:srgbClr val="2ED3C6"/>
          </a:solidFill>
          <a:ln w="12700">
            <a:solidFill>
              <a:srgbClr val="2ED3C6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056632" y="1920240"/>
            <a:ext cx="2679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56632" y="2258568"/>
            <a:ext cx="2679192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is finite, non-empty, and its elements are comparable.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183880" y="1783080"/>
            <a:ext cx="3337560" cy="1234440"/>
          </a:xfrm>
          <a:prstGeom prst="roundRect">
            <a:avLst>
              <a:gd name="adj" fmla="val 3704"/>
            </a:avLst>
          </a:prstGeom>
          <a:solidFill>
            <a:srgbClr val="F3F0FF"/>
          </a:solidFill>
          <a:ln w="10160">
            <a:solidFill>
              <a:srgbClr val="DCE3EA"/>
            </a:solidFill>
            <a:prstDash val="solid"/>
          </a:ln>
          <a:effectLst>
            <a:outerShdw sx="100000" sy="100000" kx="0" ky="0" algn="bl" rotWithShape="0" blurRad="12700" dist="50800" dir="2700000">
              <a:srgbClr val="C5CCD3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183880" y="1783080"/>
            <a:ext cx="54864" cy="1234440"/>
          </a:xfrm>
          <a:prstGeom prst="rect">
            <a:avLst/>
          </a:prstGeom>
          <a:solidFill>
            <a:srgbClr val="8B78E6"/>
          </a:solidFill>
          <a:ln w="12700">
            <a:solidFill>
              <a:srgbClr val="8B78E6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348472" y="1920240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POSTCONDITION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348472" y="2258568"/>
            <a:ext cx="3044952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 ∈ A  and  ∀x ∈ A, m ≥ 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92040" y="3337560"/>
            <a:ext cx="6629400" cy="1463040"/>
          </a:xfrm>
          <a:prstGeom prst="roundRect">
            <a:avLst>
              <a:gd name="adj" fmla="val 3125"/>
            </a:avLst>
          </a:prstGeom>
          <a:solidFill>
            <a:srgbClr val="FFF7DD"/>
          </a:solidFill>
          <a:ln w="10160">
            <a:solidFill>
              <a:srgbClr val="DCE3EA"/>
            </a:solidFill>
            <a:prstDash val="solid"/>
          </a:ln>
          <a:effectLst>
            <a:outerShdw sx="100000" sy="100000" kx="0" ky="0" algn="bl" rotWithShape="0" blurRad="12700" dist="50800" dir="2700000">
              <a:srgbClr val="C5CCD3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892040" y="3337560"/>
            <a:ext cx="54864" cy="1463040"/>
          </a:xfrm>
          <a:prstGeom prst="rect">
            <a:avLst/>
          </a:prstGeom>
          <a:solidFill>
            <a:srgbClr val="F6C64F"/>
          </a:solidFill>
          <a:ln w="12700">
            <a:solidFill>
              <a:srgbClr val="F6C64F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056632" y="3474720"/>
            <a:ext cx="6336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 QUESTION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56632" y="3813048"/>
            <a:ext cx="6336792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statement about largest is true before every iteration and becomes exactly the desired maximum when the loop ends?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939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r>
              <a:rPr sz="800">
                <a:solidFill>
                  <a:srgbClr val="5A646E"/>
                </a:solidFill>
                <a:latin typeface="Aptos"/>
              </a:rPr>
              <a:t>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1078992" cy="256032"/>
          </a:xfrm>
          <a:prstGeom prst="roundRect">
            <a:avLst>
              <a:gd name="adj" fmla="val 28571"/>
            </a:avLst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75488" y="338328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926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MAX(A)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38912" y="66751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D27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Choose the MAX invariant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38912" y="121615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774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the start of iteration i, the algorithm has already processed A[0] through A[i−1].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103120" y="1828800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926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largest = max(A[0 .. i−1])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143000" y="2926080"/>
            <a:ext cx="9921240" cy="1097280"/>
          </a:xfrm>
          <a:prstGeom prst="roundRect">
            <a:avLst>
              <a:gd name="adj" fmla="val 4167"/>
            </a:avLst>
          </a:prstGeom>
          <a:solidFill>
            <a:srgbClr val="EEF4FF"/>
          </a:solidFill>
          <a:ln w="12700">
            <a:solidFill>
              <a:srgbClr val="C7D7F5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417320" y="3273552"/>
            <a:ext cx="9372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8DEF"/>
                </a:solidFill>
              </a:rPr>
              <a:t>English: largest is the maximum value among all array elements examined so far.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874520" y="470916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77481"/>
                </a:solidFill>
              </a:rPr>
              <a:t>Notice how this is stronger and more useful than merely saying “largest is large.”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939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r>
              <a:rPr sz="800">
                <a:solidFill>
                  <a:srgbClr val="5A646E"/>
                </a:solidFill>
                <a:latin typeface="Aptos"/>
              </a:rPr>
              <a:t>27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1078992" cy="256032"/>
          </a:xfrm>
          <a:prstGeom prst="roundRect">
            <a:avLst>
              <a:gd name="adj" fmla="val 28571"/>
            </a:avLst>
          </a:prstGeom>
          <a:solidFill>
            <a:srgbClr val="2ED3C6"/>
          </a:solidFill>
          <a:ln w="12700">
            <a:solidFill>
              <a:srgbClr val="2ED3C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75488" y="338328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926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MAX(A) — INITIALIZATION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38912" y="66751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D27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Initialization for MAX(A)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38912" y="121615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774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iteration i = 1, exactly one array element has been processed.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3246120" cy="1417320"/>
          </a:xfrm>
          <a:prstGeom prst="roundRect">
            <a:avLst>
              <a:gd name="adj" fmla="val 3226"/>
            </a:avLst>
          </a:prstGeom>
          <a:solidFill>
            <a:srgbClr val="E9FAF8"/>
          </a:solidFill>
          <a:ln w="10160">
            <a:solidFill>
              <a:srgbClr val="DCE3EA"/>
            </a:solidFill>
            <a:prstDash val="solid"/>
          </a:ln>
          <a:effectLst>
            <a:outerShdw sx="100000" sy="100000" kx="0" ky="0" algn="bl" rotWithShape="0" blurRad="12700" dist="50800" dir="2700000">
              <a:srgbClr val="C5CCD3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31520" y="1828800"/>
            <a:ext cx="54864" cy="1417320"/>
          </a:xfrm>
          <a:prstGeom prst="rect">
            <a:avLst/>
          </a:prstGeom>
          <a:solidFill>
            <a:srgbClr val="2ED3C6"/>
          </a:solidFill>
          <a:ln w="12700">
            <a:solidFill>
              <a:srgbClr val="2ED3C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96112" y="196596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 ASSIGNMENT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96112" y="2304288"/>
            <a:ext cx="2953512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D273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largest ← A[0]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069080" y="2542032"/>
            <a:ext cx="548640" cy="0"/>
          </a:xfrm>
          <a:prstGeom prst="line">
            <a:avLst/>
          </a:prstGeom>
          <a:noFill/>
          <a:ln w="27940">
            <a:solidFill>
              <a:srgbClr val="159C96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709160" y="1828800"/>
            <a:ext cx="3246120" cy="1417320"/>
          </a:xfrm>
          <a:prstGeom prst="roundRect">
            <a:avLst>
              <a:gd name="adj" fmla="val 3226"/>
            </a:avLst>
          </a:prstGeom>
          <a:solidFill>
            <a:srgbClr val="FFF7DD"/>
          </a:solidFill>
          <a:ln w="10160">
            <a:solidFill>
              <a:srgbClr val="DCE3EA"/>
            </a:solidFill>
            <a:prstDash val="solid"/>
          </a:ln>
          <a:effectLst>
            <a:outerShdw sx="100000" sy="100000" kx="0" ky="0" algn="bl" rotWithShape="0" blurRad="12700" dist="50800" dir="2700000">
              <a:srgbClr val="C5CCD3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709160" y="1828800"/>
            <a:ext cx="54864" cy="1417320"/>
          </a:xfrm>
          <a:prstGeom prst="rect">
            <a:avLst/>
          </a:prstGeom>
          <a:solidFill>
            <a:srgbClr val="F6C64F"/>
          </a:solidFill>
          <a:ln w="12700">
            <a:solidFill>
              <a:srgbClr val="F6C64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873752" y="196596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PROCESSED PREFIX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73752" y="2304288"/>
            <a:ext cx="2953512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A[0 .. i−1] = A[0 .. 0]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46720" y="2542032"/>
            <a:ext cx="548640" cy="0"/>
          </a:xfrm>
          <a:prstGeom prst="line">
            <a:avLst/>
          </a:prstGeom>
          <a:noFill/>
          <a:ln w="27940">
            <a:solidFill>
              <a:srgbClr val="159C96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686800" y="1828800"/>
            <a:ext cx="2697480" cy="1417320"/>
          </a:xfrm>
          <a:prstGeom prst="roundRect">
            <a:avLst>
              <a:gd name="adj" fmla="val 3226"/>
            </a:avLst>
          </a:prstGeom>
          <a:solidFill>
            <a:srgbClr val="EDF9F2"/>
          </a:solidFill>
          <a:ln w="10160">
            <a:solidFill>
              <a:srgbClr val="DCE3EA"/>
            </a:solidFill>
            <a:prstDash val="solid"/>
          </a:ln>
          <a:effectLst>
            <a:outerShdw sx="100000" sy="100000" kx="0" ky="0" algn="bl" rotWithShape="0" blurRad="12700" dist="50800" dir="2700000">
              <a:srgbClr val="C5CCD3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686800" y="1828800"/>
            <a:ext cx="54864" cy="1417320"/>
          </a:xfrm>
          <a:prstGeom prst="rect">
            <a:avLst/>
          </a:prstGeom>
          <a:solidFill>
            <a:srgbClr val="54C985"/>
          </a:solidFill>
          <a:ln w="12700">
            <a:solidFill>
              <a:srgbClr val="54C985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851392" y="1965960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INVARIANT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851392" y="2304288"/>
            <a:ext cx="2404872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largest = max(A[0]) = A[0] ✓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" y="5833872"/>
            <a:ext cx="10945368" cy="384048"/>
          </a:xfrm>
          <a:prstGeom prst="roundRect">
            <a:avLst>
              <a:gd name="adj" fmla="val 9524"/>
            </a:avLst>
          </a:prstGeom>
          <a:solidFill>
            <a:srgbClr val="092633"/>
          </a:solidFill>
          <a:ln w="12700">
            <a:solidFill>
              <a:srgbClr val="092633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22960" y="5952744"/>
            <a:ext cx="10533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first element is trivially the maximum of the one-element prefix containing only itself.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939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r>
              <a:rPr sz="800">
                <a:solidFill>
                  <a:srgbClr val="5A646E"/>
                </a:solidFill>
                <a:latin typeface="Aptos"/>
              </a:rPr>
              <a:t>28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1078992" cy="256032"/>
          </a:xfrm>
          <a:prstGeom prst="roundRect">
            <a:avLst>
              <a:gd name="adj" fmla="val 28571"/>
            </a:avLst>
          </a:prstGeom>
          <a:solidFill>
            <a:srgbClr val="F6C64F"/>
          </a:solidFill>
          <a:ln w="12700">
            <a:solidFill>
              <a:srgbClr val="F6C64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75488" y="338328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926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MAX(A) — MAINTENANCE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38912" y="66751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D27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Maintenance for MAX(A)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38912" y="121615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774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Assume largest is the maximum of A[0..i−1]. Now inspect A[i].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58368" y="1737360"/>
            <a:ext cx="3063240" cy="2011680"/>
          </a:xfrm>
          <a:prstGeom prst="roundRect">
            <a:avLst>
              <a:gd name="adj" fmla="val 2273"/>
            </a:avLst>
          </a:prstGeom>
          <a:solidFill>
            <a:srgbClr val="EEF4FF"/>
          </a:solidFill>
          <a:ln w="10160">
            <a:solidFill>
              <a:srgbClr val="DCE3EA"/>
            </a:solidFill>
            <a:prstDash val="solid"/>
          </a:ln>
          <a:effectLst>
            <a:outerShdw sx="100000" sy="100000" kx="0" ky="0" algn="bl" rotWithShape="0" blurRad="12700" dist="50800" dir="2700000">
              <a:srgbClr val="C5CCD3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58368" y="1737360"/>
            <a:ext cx="54864" cy="2011680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1874520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2212848"/>
            <a:ext cx="2770632" cy="1444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A[i] ≤ largest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update. largest remains the maximum of the enlarged prefix.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53712" y="1737360"/>
            <a:ext cx="3063240" cy="2011680"/>
          </a:xfrm>
          <a:prstGeom prst="roundRect">
            <a:avLst>
              <a:gd name="adj" fmla="val 2273"/>
            </a:avLst>
          </a:prstGeom>
          <a:solidFill>
            <a:srgbClr val="FFF7DD"/>
          </a:solidFill>
          <a:ln w="10160">
            <a:solidFill>
              <a:srgbClr val="DCE3EA"/>
            </a:solidFill>
            <a:prstDash val="solid"/>
          </a:ln>
          <a:effectLst>
            <a:outerShdw sx="100000" sy="100000" kx="0" ky="0" algn="bl" rotWithShape="0" blurRad="12700" dist="50800" dir="2700000">
              <a:srgbClr val="C5CCD3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553712" y="1737360"/>
            <a:ext cx="54864" cy="2011680"/>
          </a:xfrm>
          <a:prstGeom prst="rect">
            <a:avLst/>
          </a:prstGeom>
          <a:solidFill>
            <a:srgbClr val="F6C64F"/>
          </a:solidFill>
          <a:ln w="12700">
            <a:solidFill>
              <a:srgbClr val="F6C64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718304" y="1874520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18304" y="2212848"/>
            <a:ext cx="2770632" cy="1444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A[i] &gt; largest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 largest ← A[i]. The new element becomes the maximum of the enlarged prefix.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449056" y="1737360"/>
            <a:ext cx="3063240" cy="2011680"/>
          </a:xfrm>
          <a:prstGeom prst="roundRect">
            <a:avLst>
              <a:gd name="adj" fmla="val 2273"/>
            </a:avLst>
          </a:prstGeom>
          <a:solidFill>
            <a:srgbClr val="EDF9F2"/>
          </a:solidFill>
          <a:ln w="10160">
            <a:solidFill>
              <a:srgbClr val="DCE3EA"/>
            </a:solidFill>
            <a:prstDash val="solid"/>
          </a:ln>
          <a:effectLst>
            <a:outerShdw sx="100000" sy="100000" kx="0" ky="0" algn="bl" rotWithShape="0" blurRad="12700" dist="50800" dir="2700000">
              <a:srgbClr val="C5CCD3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449056" y="1737360"/>
            <a:ext cx="54864" cy="2011680"/>
          </a:xfrm>
          <a:prstGeom prst="rect">
            <a:avLst/>
          </a:prstGeom>
          <a:solidFill>
            <a:srgbClr val="54C985"/>
          </a:solidFill>
          <a:ln w="12700">
            <a:solidFill>
              <a:srgbClr val="54C985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613648" y="1874520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EITHER CASE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613648" y="2212848"/>
            <a:ext cx="2770632" cy="1444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largest = max(A[0..i])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Exactly the invariant required for the next iteration.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" y="5833872"/>
            <a:ext cx="10945368" cy="384048"/>
          </a:xfrm>
          <a:prstGeom prst="roundRect">
            <a:avLst>
              <a:gd name="adj" fmla="val 9524"/>
            </a:avLst>
          </a:prstGeom>
          <a:solidFill>
            <a:srgbClr val="092633"/>
          </a:solidFill>
          <a:ln w="12700">
            <a:solidFill>
              <a:srgbClr val="092633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22960" y="5952744"/>
            <a:ext cx="10533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iteration expands the processed prefix by one element while preserving the meaning of largest.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939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r>
              <a:rPr sz="800">
                <a:solidFill>
                  <a:srgbClr val="5A646E"/>
                </a:solidFill>
                <a:latin typeface="Aptos"/>
              </a:rPr>
              <a:t>29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1078992" cy="256032"/>
          </a:xfrm>
          <a:prstGeom prst="roundRect">
            <a:avLst>
              <a:gd name="adj" fmla="val 28571"/>
            </a:avLst>
          </a:prstGeom>
          <a:solidFill>
            <a:srgbClr val="8B78E6"/>
          </a:solidFill>
          <a:ln w="12700">
            <a:solidFill>
              <a:srgbClr val="8B78E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75488" y="338328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926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MAX(A) — TERMINATION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38912" y="66751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D27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Termination for MAX(A)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38912" y="121615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774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the loop finishes, the processed prefix is the entire array.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926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At loop exit:  i = 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937760" y="16916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926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Invariant:  largest = max(A[0 .. i−1])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035040" y="2743200"/>
            <a:ext cx="0" cy="502920"/>
          </a:xfrm>
          <a:prstGeom prst="line">
            <a:avLst/>
          </a:prstGeom>
          <a:noFill/>
          <a:ln w="31750">
            <a:solidFill>
              <a:srgbClr val="159C96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828800" y="3429000"/>
            <a:ext cx="8549640" cy="1280160"/>
          </a:xfrm>
          <a:prstGeom prst="roundRect">
            <a:avLst>
              <a:gd name="adj" fmla="val 3571"/>
            </a:avLst>
          </a:prstGeom>
          <a:solidFill>
            <a:srgbClr val="EDF9F2"/>
          </a:solidFill>
          <a:ln w="12700">
            <a:solidFill>
              <a:srgbClr val="B8E3C9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148840" y="3794760"/>
            <a:ext cx="7909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4865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largest = max(A[0 .. n−1]) = max(A)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17320" y="5166360"/>
            <a:ext cx="9326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92633"/>
                </a:solidFill>
              </a:rPr>
              <a:t>The postcondition follows directly. Since i advances toward n, the loop also terminates.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939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r>
              <a:rPr sz="800">
                <a:solidFill>
                  <a:srgbClr val="5A646E"/>
                </a:solidFill>
                <a:latin typeface="Aptos"/>
              </a:rPr>
              <a:t>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1078992" cy="256032"/>
          </a:xfrm>
          <a:prstGeom prst="roundRect">
            <a:avLst>
              <a:gd name="adj" fmla="val 28571"/>
            </a:avLst>
          </a:prstGeom>
          <a:solidFill>
            <a:srgbClr val="2ED3C6"/>
          </a:solidFill>
          <a:ln w="12700">
            <a:solidFill>
              <a:srgbClr val="2ED3C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75488" y="338328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926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CONNECTION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6583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Lecture 3 reasoning → Lecture 4 proof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30352" y="199339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BC0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informal idea “largest is the biggest seen so far” becomes a formal invariant.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188720" y="2468880"/>
            <a:ext cx="2011680" cy="438912"/>
          </a:xfrm>
          <a:prstGeom prst="roundRect">
            <a:avLst>
              <a:gd name="adj" fmla="val 8333"/>
            </a:avLst>
          </a:prstGeom>
          <a:solidFill>
            <a:srgbClr val="0D3446"/>
          </a:solidFill>
          <a:ln w="12700">
            <a:solidFill>
              <a:srgbClr val="315462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298448" y="2606040"/>
            <a:ext cx="1783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Lecture 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520440" y="2542032"/>
            <a:ext cx="7040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Every examined element is ≤ largest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194560" y="2953512"/>
            <a:ext cx="0" cy="173736"/>
          </a:xfrm>
          <a:prstGeom prst="line">
            <a:avLst/>
          </a:prstGeom>
          <a:noFill/>
          <a:ln w="19050">
            <a:solidFill>
              <a:srgbClr val="6F8994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188720" y="3182112"/>
            <a:ext cx="2011680" cy="438912"/>
          </a:xfrm>
          <a:prstGeom prst="roundRect">
            <a:avLst>
              <a:gd name="adj" fmla="val 8333"/>
            </a:avLst>
          </a:prstGeom>
          <a:solidFill>
            <a:srgbClr val="F6C64F"/>
          </a:solidFill>
          <a:ln w="12700">
            <a:solidFill>
              <a:srgbClr val="F6C64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298448" y="3319272"/>
            <a:ext cx="1783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92633"/>
                </a:solidFill>
              </a:rPr>
              <a:t>Lecture 4 invariant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0440" y="3255264"/>
            <a:ext cx="7040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largest = max(processed prefix)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194560" y="3666744"/>
            <a:ext cx="0" cy="173736"/>
          </a:xfrm>
          <a:prstGeom prst="line">
            <a:avLst/>
          </a:prstGeom>
          <a:noFill/>
          <a:ln w="19050">
            <a:solidFill>
              <a:srgbClr val="6F8994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1188720" y="3895344"/>
            <a:ext cx="2011680" cy="438912"/>
          </a:xfrm>
          <a:prstGeom prst="roundRect">
            <a:avLst>
              <a:gd name="adj" fmla="val 8333"/>
            </a:avLst>
          </a:prstGeom>
          <a:solidFill>
            <a:srgbClr val="0D3446"/>
          </a:solidFill>
          <a:ln w="12700">
            <a:solidFill>
              <a:srgbClr val="31546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298448" y="4032504"/>
            <a:ext cx="1783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At termination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520440" y="3968496"/>
            <a:ext cx="7040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processed prefix = entire array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194560" y="4379976"/>
            <a:ext cx="0" cy="173736"/>
          </a:xfrm>
          <a:prstGeom prst="line">
            <a:avLst/>
          </a:prstGeom>
          <a:noFill/>
          <a:ln w="19050">
            <a:solidFill>
              <a:srgbClr val="6F8994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1188720" y="4608576"/>
            <a:ext cx="2011680" cy="438912"/>
          </a:xfrm>
          <a:prstGeom prst="roundRect">
            <a:avLst>
              <a:gd name="adj" fmla="val 8333"/>
            </a:avLst>
          </a:prstGeom>
          <a:solidFill>
            <a:srgbClr val="0D3446"/>
          </a:solidFill>
          <a:ln w="12700">
            <a:solidFill>
              <a:srgbClr val="315462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298448" y="4745736"/>
            <a:ext cx="1783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Therefore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520440" y="4681728"/>
            <a:ext cx="7040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largest = max(A)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F899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r>
              <a:rPr sz="800">
                <a:solidFill>
                  <a:srgbClr val="5A646E"/>
                </a:solidFill>
                <a:latin typeface="Aptos"/>
              </a:rPr>
              <a:t>31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1078992" cy="256032"/>
          </a:xfrm>
          <a:prstGeom prst="roundRect">
            <a:avLst>
              <a:gd name="adj" fmla="val 28571"/>
            </a:avLst>
          </a:prstGeom>
          <a:solidFill>
            <a:srgbClr val="54C985"/>
          </a:solidFill>
          <a:ln w="12700">
            <a:solidFill>
              <a:srgbClr val="54C985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75488" y="338328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926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WORKED EXAMPLE 3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38912" y="66751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D27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Linear Search: a different kind of invariant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38912" y="121615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774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invariant can describe what has NOT been found yet.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58368" y="1783080"/>
            <a:ext cx="3977640" cy="3246120"/>
          </a:xfrm>
          <a:prstGeom prst="roundRect">
            <a:avLst>
              <a:gd name="adj" fmla="val 1127"/>
            </a:avLst>
          </a:prstGeom>
          <a:solidFill>
            <a:srgbClr val="F1F4F6"/>
          </a:solidFill>
          <a:ln w="10160">
            <a:solidFill>
              <a:srgbClr val="CBD4DC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22960" y="1929384"/>
            <a:ext cx="3648456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63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LINEAR-SEARCH(A, x)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3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← 0 to n−1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3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A[i] = 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3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3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NOT-FOUND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983480" y="1783080"/>
            <a:ext cx="2834640" cy="1298448"/>
          </a:xfrm>
          <a:prstGeom prst="roundRect">
            <a:avLst>
              <a:gd name="adj" fmla="val 3521"/>
            </a:avLst>
          </a:prstGeom>
          <a:solidFill>
            <a:srgbClr val="E9FAF8"/>
          </a:solidFill>
          <a:ln w="10160">
            <a:solidFill>
              <a:srgbClr val="DCE3EA"/>
            </a:solidFill>
            <a:prstDash val="solid"/>
          </a:ln>
          <a:effectLst>
            <a:outerShdw sx="100000" sy="100000" kx="0" ky="0" algn="bl" rotWithShape="0" blurRad="12700" dist="50800" dir="2700000">
              <a:srgbClr val="C5CCD3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983480" y="1783080"/>
            <a:ext cx="54864" cy="1298448"/>
          </a:xfrm>
          <a:prstGeom prst="rect">
            <a:avLst/>
          </a:prstGeom>
          <a:solidFill>
            <a:srgbClr val="2ED3C6"/>
          </a:solidFill>
          <a:ln w="12700">
            <a:solidFill>
              <a:srgbClr val="2ED3C6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148072" y="1920240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148072" y="2258568"/>
            <a:ext cx="2542032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is finite; equality comparison with x is defined.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183880" y="1783080"/>
            <a:ext cx="3337560" cy="1298448"/>
          </a:xfrm>
          <a:prstGeom prst="roundRect">
            <a:avLst>
              <a:gd name="adj" fmla="val 3521"/>
            </a:avLst>
          </a:prstGeom>
          <a:solidFill>
            <a:srgbClr val="F3F0FF"/>
          </a:solidFill>
          <a:ln w="10160">
            <a:solidFill>
              <a:srgbClr val="DCE3EA"/>
            </a:solidFill>
            <a:prstDash val="solid"/>
          </a:ln>
          <a:effectLst>
            <a:outerShdw sx="100000" sy="100000" kx="0" ky="0" algn="bl" rotWithShape="0" blurRad="12700" dist="50800" dir="2700000">
              <a:srgbClr val="C5CCD3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183880" y="1783080"/>
            <a:ext cx="54864" cy="1298448"/>
          </a:xfrm>
          <a:prstGeom prst="rect">
            <a:avLst/>
          </a:prstGeom>
          <a:solidFill>
            <a:srgbClr val="8B78E6"/>
          </a:solidFill>
          <a:ln w="12700">
            <a:solidFill>
              <a:srgbClr val="8B78E6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348472" y="1920240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POSTCONDITION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348472" y="2258568"/>
            <a:ext cx="3044952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an index i with A[i]=x, or NOT-FOUND only if x is absent from A.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4983480" y="3429000"/>
            <a:ext cx="6537960" cy="1325880"/>
          </a:xfrm>
          <a:prstGeom prst="roundRect">
            <a:avLst>
              <a:gd name="adj" fmla="val 3448"/>
            </a:avLst>
          </a:prstGeom>
          <a:solidFill>
            <a:srgbClr val="EDF9F2"/>
          </a:solidFill>
          <a:ln w="10160">
            <a:solidFill>
              <a:srgbClr val="DCE3EA"/>
            </a:solidFill>
            <a:prstDash val="solid"/>
          </a:ln>
          <a:effectLst>
            <a:outerShdw sx="100000" sy="100000" kx="0" ky="0" algn="bl" rotWithShape="0" blurRad="12700" dist="50800" dir="2700000">
              <a:srgbClr val="C5CCD3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983480" y="3429000"/>
            <a:ext cx="54864" cy="1325880"/>
          </a:xfrm>
          <a:prstGeom prst="rect">
            <a:avLst/>
          </a:prstGeom>
          <a:solidFill>
            <a:srgbClr val="54C985"/>
          </a:solidFill>
          <a:ln w="12700">
            <a:solidFill>
              <a:srgbClr val="54C985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148072" y="3566160"/>
            <a:ext cx="6245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 INVARIANT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148072" y="3904488"/>
            <a:ext cx="6245352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the start of iteration i, x does not occur in A[0 .. i−1].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939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r>
              <a:rPr sz="800">
                <a:solidFill>
                  <a:srgbClr val="5A646E"/>
                </a:solidFill>
                <a:latin typeface="Aptos"/>
              </a:rPr>
              <a:t>35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1078992" cy="256032"/>
          </a:xfrm>
          <a:prstGeom prst="roundRect">
            <a:avLst>
              <a:gd name="adj" fmla="val 28571"/>
            </a:avLst>
          </a:prstGeom>
          <a:solidFill>
            <a:srgbClr val="54C985"/>
          </a:solidFill>
          <a:ln w="12700">
            <a:solidFill>
              <a:srgbClr val="54C985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75488" y="338328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926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LINEAR SEARCH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38912" y="66751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D27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Reason through the Linear Search invariant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38912" y="121615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774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invariant grows the “already ruled out” prefix.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1737360"/>
            <a:ext cx="3246120" cy="1554480"/>
          </a:xfrm>
          <a:prstGeom prst="roundRect">
            <a:avLst>
              <a:gd name="adj" fmla="val 2941"/>
            </a:avLst>
          </a:prstGeom>
          <a:solidFill>
            <a:srgbClr val="E9FAF8"/>
          </a:solidFill>
          <a:ln w="10160">
            <a:solidFill>
              <a:srgbClr val="DCE3EA"/>
            </a:solidFill>
            <a:prstDash val="solid"/>
          </a:ln>
          <a:effectLst>
            <a:outerShdw sx="100000" sy="100000" kx="0" ky="0" algn="bl" rotWithShape="0" blurRad="12700" dist="50800" dir="2700000">
              <a:srgbClr val="C5CCD3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85800" y="1737360"/>
            <a:ext cx="54864" cy="1554480"/>
          </a:xfrm>
          <a:prstGeom prst="rect">
            <a:avLst/>
          </a:prstGeom>
          <a:solidFill>
            <a:srgbClr val="2ED3C6"/>
          </a:solidFill>
          <a:ln w="12700">
            <a:solidFill>
              <a:srgbClr val="2ED3C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50392" y="187452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INITIALIZATION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50392" y="2212848"/>
            <a:ext cx="2953512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i = 0, no elements have been examined. The empty prefix contains no x. ✓</a:t>
            </a:r>
            <a:endParaRPr lang="en-US" sz="970" dirty="0"/>
          </a:p>
        </p:txBody>
      </p:sp>
      <p:sp>
        <p:nvSpPr>
          <p:cNvPr id="10" name="Shape 8"/>
          <p:cNvSpPr/>
          <p:nvPr/>
        </p:nvSpPr>
        <p:spPr>
          <a:xfrm>
            <a:off x="4480560" y="1737360"/>
            <a:ext cx="3246120" cy="1554480"/>
          </a:xfrm>
          <a:prstGeom prst="roundRect">
            <a:avLst>
              <a:gd name="adj" fmla="val 2941"/>
            </a:avLst>
          </a:prstGeom>
          <a:solidFill>
            <a:srgbClr val="FFF7DD"/>
          </a:solidFill>
          <a:ln w="10160">
            <a:solidFill>
              <a:srgbClr val="DCE3EA"/>
            </a:solidFill>
            <a:prstDash val="solid"/>
          </a:ln>
          <a:effectLst>
            <a:outerShdw sx="100000" sy="100000" kx="0" ky="0" algn="bl" rotWithShape="0" blurRad="12700" dist="50800" dir="2700000">
              <a:srgbClr val="C5CCD3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480560" y="1737360"/>
            <a:ext cx="54864" cy="1554480"/>
          </a:xfrm>
          <a:prstGeom prst="rect">
            <a:avLst/>
          </a:prstGeom>
          <a:solidFill>
            <a:srgbClr val="F6C64F"/>
          </a:solidFill>
          <a:ln w="12700">
            <a:solidFill>
              <a:srgbClr val="F6C64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645152" y="187452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MAINTENANCE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645152" y="2212848"/>
            <a:ext cx="2953512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A[i] ≠ x, then after checking it, x is absent from A[0..i]. The invariant holds for i+1.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275320" y="1737360"/>
            <a:ext cx="3246120" cy="1554480"/>
          </a:xfrm>
          <a:prstGeom prst="roundRect">
            <a:avLst>
              <a:gd name="adj" fmla="val 2941"/>
            </a:avLst>
          </a:prstGeom>
          <a:solidFill>
            <a:srgbClr val="F3F0FF"/>
          </a:solidFill>
          <a:ln w="10160">
            <a:solidFill>
              <a:srgbClr val="DCE3EA"/>
            </a:solidFill>
            <a:prstDash val="solid"/>
          </a:ln>
          <a:effectLst>
            <a:outerShdw sx="100000" sy="100000" kx="0" ky="0" algn="bl" rotWithShape="0" blurRad="12700" dist="50800" dir="2700000">
              <a:srgbClr val="C5CCD3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275320" y="1737360"/>
            <a:ext cx="54864" cy="1554480"/>
          </a:xfrm>
          <a:prstGeom prst="rect">
            <a:avLst/>
          </a:prstGeom>
          <a:solidFill>
            <a:srgbClr val="8B78E6"/>
          </a:solidFill>
          <a:ln w="12700">
            <a:solidFill>
              <a:srgbClr val="8B78E6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439912" y="187452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TERMINATION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439912" y="2212848"/>
            <a:ext cx="2953512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the loop reaches i = n without returning, x is absent from A[0..n−1] — the entire array.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234440" y="4069080"/>
            <a:ext cx="9738360" cy="841248"/>
          </a:xfrm>
          <a:prstGeom prst="roundRect">
            <a:avLst>
              <a:gd name="adj" fmla="val 5435"/>
            </a:avLst>
          </a:prstGeom>
          <a:solidFill>
            <a:srgbClr val="EDF9F2"/>
          </a:solidFill>
          <a:ln w="12700">
            <a:solidFill>
              <a:srgbClr val="B8E3C9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463040" y="4343400"/>
            <a:ext cx="9281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8652"/>
                </a:solidFill>
              </a:rPr>
              <a:t>If A[i] = x at any step, returning i immediately satisfies the “found” part of the postcondition.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939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r>
              <a:rPr sz="800">
                <a:solidFill>
                  <a:srgbClr val="5A646E"/>
                </a:solidFill>
                <a:latin typeface="Aptos"/>
              </a:rPr>
              <a:t>36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1078992" cy="256032"/>
          </a:xfrm>
          <a:prstGeom prst="roundRect">
            <a:avLst>
              <a:gd name="adj" fmla="val 28571"/>
            </a:avLst>
          </a:prstGeom>
          <a:solidFill>
            <a:srgbClr val="F17878"/>
          </a:solidFill>
          <a:ln w="12700">
            <a:solidFill>
              <a:srgbClr val="F1787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75488" y="338328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926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COMMON MISTAKES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38912" y="66751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D27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 every true-looking statement is a useful invariant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38912" y="121615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774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proposed invariant must be true initially, preserved, and strong enough to prove the postcondition.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3383280" cy="2331720"/>
          </a:xfrm>
          <a:prstGeom prst="roundRect">
            <a:avLst>
              <a:gd name="adj" fmla="val 1961"/>
            </a:avLst>
          </a:prstGeom>
          <a:solidFill>
            <a:srgbClr val="FFF7DD"/>
          </a:solidFill>
          <a:ln w="10160">
            <a:solidFill>
              <a:srgbClr val="DCE3EA"/>
            </a:solidFill>
            <a:prstDash val="solid"/>
          </a:ln>
          <a:effectLst>
            <a:outerShdw sx="100000" sy="100000" kx="0" ky="0" algn="bl" rotWithShape="0" blurRad="12700" dist="50800" dir="2700000">
              <a:srgbClr val="C5CCD3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40080" y="1737360"/>
            <a:ext cx="54864" cy="2331720"/>
          </a:xfrm>
          <a:prstGeom prst="rect">
            <a:avLst/>
          </a:prstGeom>
          <a:solidFill>
            <a:srgbClr val="F6C64F"/>
          </a:solidFill>
          <a:ln w="12700">
            <a:solidFill>
              <a:srgbClr val="F6C64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04672" y="1874520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 WEAK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04672" y="2212848"/>
            <a:ext cx="3090672" cy="1764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“total ≥ 0”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May be true for positive summation, but it does not tell us which sum total represents.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407408" y="1737360"/>
            <a:ext cx="3383280" cy="2331720"/>
          </a:xfrm>
          <a:prstGeom prst="roundRect">
            <a:avLst>
              <a:gd name="adj" fmla="val 1961"/>
            </a:avLst>
          </a:prstGeom>
          <a:solidFill>
            <a:srgbClr val="FFF0F0"/>
          </a:solidFill>
          <a:ln w="10160">
            <a:solidFill>
              <a:srgbClr val="DCE3EA"/>
            </a:solidFill>
            <a:prstDash val="solid"/>
          </a:ln>
          <a:effectLst>
            <a:outerShdw sx="100000" sy="100000" kx="0" ky="0" algn="bl" rotWithShape="0" blurRad="12700" dist="50800" dir="2700000">
              <a:srgbClr val="C5CCD3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407408" y="1737360"/>
            <a:ext cx="54864" cy="2331720"/>
          </a:xfrm>
          <a:prstGeom prst="rect">
            <a:avLst/>
          </a:prstGeom>
          <a:solidFill>
            <a:srgbClr val="F17878"/>
          </a:solidFill>
          <a:ln w="12700">
            <a:solidFill>
              <a:srgbClr val="F17878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572000" y="1874520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FALSE INITIALLY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0" y="2212848"/>
            <a:ext cx="3090672" cy="1764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“total = 1 + ... + i” before iteration i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i=1, total is 0, not 1.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74736" y="1737360"/>
            <a:ext cx="3383280" cy="2331720"/>
          </a:xfrm>
          <a:prstGeom prst="roundRect">
            <a:avLst>
              <a:gd name="adj" fmla="val 1961"/>
            </a:avLst>
          </a:prstGeom>
          <a:solidFill>
            <a:srgbClr val="F3F0FF"/>
          </a:solidFill>
          <a:ln w="10160">
            <a:solidFill>
              <a:srgbClr val="DCE3EA"/>
            </a:solidFill>
            <a:prstDash val="solid"/>
          </a:ln>
          <a:effectLst>
            <a:outerShdw sx="100000" sy="100000" kx="0" ky="0" algn="bl" rotWithShape="0" blurRad="12700" dist="50800" dir="2700000">
              <a:srgbClr val="C5CCD3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174736" y="1737360"/>
            <a:ext cx="54864" cy="2331720"/>
          </a:xfrm>
          <a:prstGeom prst="rect">
            <a:avLst/>
          </a:prstGeom>
          <a:solidFill>
            <a:srgbClr val="8B78E6"/>
          </a:solidFill>
          <a:ln w="12700">
            <a:solidFill>
              <a:srgbClr val="8B78E6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339328" y="1874520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PRESERVED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339328" y="2212848"/>
            <a:ext cx="3090672" cy="1764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statement may start true but become false after the loop body. Then it is not invariant.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" y="5833872"/>
            <a:ext cx="10945368" cy="384048"/>
          </a:xfrm>
          <a:prstGeom prst="roundRect">
            <a:avLst>
              <a:gd name="adj" fmla="val 9524"/>
            </a:avLst>
          </a:prstGeom>
          <a:solidFill>
            <a:srgbClr val="092633"/>
          </a:solidFill>
          <a:ln w="12700">
            <a:solidFill>
              <a:srgbClr val="092633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22960" y="5952744"/>
            <a:ext cx="10533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useful invariant must pass all three tests: initialization, maintenance, and usefulness at termination.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939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r>
              <a:rPr sz="800">
                <a:solidFill>
                  <a:srgbClr val="5A646E"/>
                </a:solidFill>
                <a:latin typeface="Aptos"/>
              </a:rPr>
              <a:t>37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1078992" cy="256032"/>
          </a:xfrm>
          <a:prstGeom prst="roundRect">
            <a:avLst>
              <a:gd name="adj" fmla="val 28571"/>
            </a:avLst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75488" y="338328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926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38912" y="66751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D27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Can you judge a proposed invariant?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38912" y="121615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774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proof structure instead of intuition.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77240" y="1737360"/>
            <a:ext cx="10652760" cy="960120"/>
          </a:xfrm>
          <a:prstGeom prst="roundRect">
            <a:avLst>
              <a:gd name="adj" fmla="val 4762"/>
            </a:avLst>
          </a:prstGeom>
          <a:solidFill>
            <a:srgbClr val="F1F4F6"/>
          </a:solidFill>
          <a:ln w="12700">
            <a:solidFill>
              <a:srgbClr val="DCE3EA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051560" y="1920240"/>
            <a:ext cx="3657600" cy="585216"/>
          </a:xfrm>
          <a:prstGeom prst="roundRect">
            <a:avLst>
              <a:gd name="adj" fmla="val 6250"/>
            </a:avLst>
          </a:prstGeom>
          <a:solidFill>
            <a:srgbClr val="F1F4F6"/>
          </a:solidFill>
          <a:ln w="10160">
            <a:solidFill>
              <a:srgbClr val="CBD4DC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216152" y="2066544"/>
            <a:ext cx="3328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63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← 1 to 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3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← total + 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74920" y="2084832"/>
            <a:ext cx="5715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92633"/>
                </a:solidFill>
              </a:rPr>
              <a:t>Candidate: “At the start of iteration i, total = 1 + ... + i.”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3063240"/>
            <a:ext cx="3246120" cy="1417320"/>
          </a:xfrm>
          <a:prstGeom prst="roundRect">
            <a:avLst>
              <a:gd name="adj" fmla="val 3226"/>
            </a:avLst>
          </a:prstGeom>
          <a:solidFill>
            <a:srgbClr val="FFF0F0"/>
          </a:solidFill>
          <a:ln w="10160">
            <a:solidFill>
              <a:srgbClr val="DCE3EA"/>
            </a:solidFill>
            <a:prstDash val="solid"/>
          </a:ln>
          <a:effectLst>
            <a:outerShdw sx="100000" sy="100000" kx="0" ky="0" algn="bl" rotWithShape="0" blurRad="12700" dist="50800" dir="2700000">
              <a:srgbClr val="C5CCD3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77240" y="3063240"/>
            <a:ext cx="54864" cy="1417320"/>
          </a:xfrm>
          <a:prstGeom prst="rect">
            <a:avLst/>
          </a:prstGeom>
          <a:solidFill>
            <a:srgbClr val="F17878"/>
          </a:solidFill>
          <a:ln w="12700">
            <a:solidFill>
              <a:srgbClr val="F17878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41832" y="320040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1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41832" y="3538728"/>
            <a:ext cx="2953512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Initialization: for i=1, total=0. Candidate requires total=1. FAIL.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453128" y="3063240"/>
            <a:ext cx="3246120" cy="1417320"/>
          </a:xfrm>
          <a:prstGeom prst="roundRect">
            <a:avLst>
              <a:gd name="adj" fmla="val 3226"/>
            </a:avLst>
          </a:prstGeom>
          <a:solidFill>
            <a:srgbClr val="FFF7DD"/>
          </a:solidFill>
          <a:ln w="10160">
            <a:solidFill>
              <a:srgbClr val="DCE3EA"/>
            </a:solidFill>
            <a:prstDash val="solid"/>
          </a:ln>
          <a:effectLst>
            <a:outerShdw sx="100000" sy="100000" kx="0" ky="0" algn="bl" rotWithShape="0" blurRad="12700" dist="50800" dir="2700000">
              <a:srgbClr val="C5CCD3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453128" y="3063240"/>
            <a:ext cx="54864" cy="1417320"/>
          </a:xfrm>
          <a:prstGeom prst="rect">
            <a:avLst/>
          </a:prstGeom>
          <a:solidFill>
            <a:srgbClr val="F6C64F"/>
          </a:solidFill>
          <a:ln w="12700">
            <a:solidFill>
              <a:srgbClr val="F6C64F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617720" y="320040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2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617720" y="3538728"/>
            <a:ext cx="2953512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Because it already fails initialization, it cannot be the invariant for this chosen loop point.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129016" y="3063240"/>
            <a:ext cx="3246120" cy="1417320"/>
          </a:xfrm>
          <a:prstGeom prst="roundRect">
            <a:avLst>
              <a:gd name="adj" fmla="val 3226"/>
            </a:avLst>
          </a:prstGeom>
          <a:solidFill>
            <a:srgbClr val="EDF9F2"/>
          </a:solidFill>
          <a:ln w="10160">
            <a:solidFill>
              <a:srgbClr val="DCE3EA"/>
            </a:solidFill>
            <a:prstDash val="solid"/>
          </a:ln>
          <a:effectLst>
            <a:outerShdw sx="100000" sy="100000" kx="0" ky="0" algn="bl" rotWithShape="0" blurRad="12700" dist="50800" dir="2700000">
              <a:srgbClr val="C5CCD3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129016" y="3063240"/>
            <a:ext cx="54864" cy="1417320"/>
          </a:xfrm>
          <a:prstGeom prst="rect">
            <a:avLst/>
          </a:prstGeom>
          <a:solidFill>
            <a:srgbClr val="54C985"/>
          </a:solidFill>
          <a:ln w="12700">
            <a:solidFill>
              <a:srgbClr val="54C985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293608" y="320040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293608" y="3538728"/>
            <a:ext cx="2953512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total = 1 + ... + (i−1) before iteration i.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939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r>
              <a:rPr sz="800">
                <a:solidFill>
                  <a:srgbClr val="5A646E"/>
                </a:solidFill>
                <a:latin typeface="Aptos"/>
              </a:rPr>
              <a:t>38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1078992" cy="256032"/>
          </a:xfrm>
          <a:prstGeom prst="roundRect">
            <a:avLst>
              <a:gd name="adj" fmla="val 28571"/>
            </a:avLst>
          </a:prstGeom>
          <a:solidFill>
            <a:srgbClr val="F3A93B"/>
          </a:solidFill>
          <a:ln w="12700">
            <a:solidFill>
              <a:srgbClr val="F3A93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75488" y="338328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926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TECHNIQUE SELECTION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38912" y="66751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D27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Different iterative formulations can be equally correct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38912" y="121615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774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Optimization or reformulation is acceptable only if correctness is preserved.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3337560" cy="2423160"/>
          </a:xfrm>
          <a:prstGeom prst="roundRect">
            <a:avLst>
              <a:gd name="adj" fmla="val 1509"/>
            </a:avLst>
          </a:prstGeom>
          <a:solidFill>
            <a:srgbClr val="F1F4F6"/>
          </a:solidFill>
          <a:ln w="10160">
            <a:solidFill>
              <a:srgbClr val="CBD4DC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04672" y="1837944"/>
            <a:ext cx="300837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63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SUM-UP(n)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3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← 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3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← 1 to 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3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← total + 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3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total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25696" y="1691640"/>
            <a:ext cx="3337560" cy="2423160"/>
          </a:xfrm>
          <a:prstGeom prst="roundRect">
            <a:avLst>
              <a:gd name="adj" fmla="val 1509"/>
            </a:avLst>
          </a:prstGeom>
          <a:solidFill>
            <a:srgbClr val="F1F4F6"/>
          </a:solidFill>
          <a:ln w="10160">
            <a:solidFill>
              <a:srgbClr val="CBD4DC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90288" y="1837944"/>
            <a:ext cx="300837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63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SUM-DOWN(n)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3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← 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3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← n downto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3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← total + 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3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total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11312" y="1691640"/>
            <a:ext cx="3337560" cy="2423160"/>
          </a:xfrm>
          <a:prstGeom prst="roundRect">
            <a:avLst>
              <a:gd name="adj" fmla="val 1509"/>
            </a:avLst>
          </a:prstGeom>
          <a:solidFill>
            <a:srgbClr val="F1F4F6"/>
          </a:solidFill>
          <a:ln w="10160">
            <a:solidFill>
              <a:srgbClr val="CBD4DC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375904" y="1837944"/>
            <a:ext cx="300837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63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SUM-PAIR(n)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3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← 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3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 two terms per step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3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handle final odd term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3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total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461772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92633"/>
                </a:solidFill>
              </a:rPr>
              <a:t>All three aim for the same postcondition, but their invariants are naturally written differently.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" y="5833872"/>
            <a:ext cx="10945368" cy="384048"/>
          </a:xfrm>
          <a:prstGeom prst="roundRect">
            <a:avLst>
              <a:gd name="adj" fmla="val 9524"/>
            </a:avLst>
          </a:prstGeom>
          <a:solidFill>
            <a:srgbClr val="092633"/>
          </a:solidFill>
          <a:ln w="12700">
            <a:solidFill>
              <a:srgbClr val="092633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22960" y="5952744"/>
            <a:ext cx="10533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Never assume a “faster-looking” loop is correct just because it resembles a correct one. Re-establish the invariant.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939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r>
              <a:rPr sz="800">
                <a:solidFill>
                  <a:srgbClr val="5A646E"/>
                </a:solidFill>
                <a:latin typeface="Aptos"/>
              </a:rPr>
              <a:t>39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1078992" cy="256032"/>
          </a:xfrm>
          <a:prstGeom prst="roundRect">
            <a:avLst>
              <a:gd name="adj" fmla="val 28571"/>
            </a:avLst>
          </a:prstGeom>
          <a:solidFill>
            <a:srgbClr val="F3A93B"/>
          </a:solidFill>
          <a:ln w="12700">
            <a:solidFill>
              <a:srgbClr val="F3A93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75488" y="338328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926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ALTERNATIVE PROOF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38912" y="66751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D27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Example: SUM-DOWN(n) needs a different invariant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38912" y="121615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774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result. Different direction. Different description of what has already been processed.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14400" y="17373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926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At the start of iteration i: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206240" y="169164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A86B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total = (i+1) + (i+2) + ... + n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1051560" y="2788920"/>
            <a:ext cx="10012680" cy="960120"/>
          </a:xfrm>
          <a:prstGeom prst="roundRect">
            <a:avLst>
              <a:gd name="adj" fmla="val 4762"/>
            </a:avLst>
          </a:prstGeom>
          <a:solidFill>
            <a:srgbClr val="FFF7DD"/>
          </a:solidFill>
          <a:ln w="12700">
            <a:solidFill>
              <a:srgbClr val="F0D98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325880" y="3108960"/>
            <a:ext cx="9464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6600"/>
                </a:solidFill>
              </a:rPr>
              <a:t>English: before adding i, total already contains every number larger than i up to n.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17320" y="4434840"/>
            <a:ext cx="9281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77481"/>
                </a:solidFill>
              </a:rPr>
              <a:t>When the loop finishes after adding 1, the processed set is again {1,2,...,n}; the postcondition is unchanged.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939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r>
              <a:rPr sz="800">
                <a:solidFill>
                  <a:srgbClr val="5A646E"/>
                </a:solidFill>
                <a:latin typeface="Aptos"/>
              </a:rPr>
              <a:t>42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1078992" cy="256032"/>
          </a:xfrm>
          <a:prstGeom prst="roundRect">
            <a:avLst>
              <a:gd name="adj" fmla="val 28571"/>
            </a:avLst>
          </a:prstGeom>
          <a:solidFill>
            <a:srgbClr val="F6C64F"/>
          </a:solidFill>
          <a:ln w="12700">
            <a:solidFill>
              <a:srgbClr val="F6C64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75488" y="338328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926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PERSPECTIVE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6583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Correctness must survive optimization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30352" y="199339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BC0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Changing the loop structure changes what must be proved—even when the final goal is the same.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97280" y="2240280"/>
            <a:ext cx="384048" cy="384048"/>
          </a:xfrm>
          <a:prstGeom prst="ellipse">
            <a:avLst/>
          </a:prstGeom>
          <a:solidFill>
            <a:srgbClr val="2ED3C6"/>
          </a:solidFill>
          <a:ln w="12700">
            <a:solidFill>
              <a:srgbClr val="2ED3C6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97280" y="233172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92633"/>
                </a:solidFill>
              </a:rPr>
              <a:t>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737360" y="2276856"/>
            <a:ext cx="8823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State the same postcondition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97280" y="2898648"/>
            <a:ext cx="384048" cy="384048"/>
          </a:xfrm>
          <a:prstGeom prst="ellipse">
            <a:avLst/>
          </a:prstGeom>
          <a:solidFill>
            <a:srgbClr val="2ED3C6"/>
          </a:solidFill>
          <a:ln w="12700">
            <a:solidFill>
              <a:srgbClr val="2ED3C6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97280" y="2990088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92633"/>
                </a:solidFill>
              </a:rPr>
              <a:t>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737360" y="2935224"/>
            <a:ext cx="8823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Identify the new loop state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97280" y="3557016"/>
            <a:ext cx="384048" cy="384048"/>
          </a:xfrm>
          <a:prstGeom prst="ellipse">
            <a:avLst/>
          </a:prstGeom>
          <a:solidFill>
            <a:srgbClr val="2ED3C6"/>
          </a:solidFill>
          <a:ln w="12700">
            <a:solidFill>
              <a:srgbClr val="2ED3C6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97280" y="364845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92633"/>
                </a:solidFill>
              </a:rPr>
              <a:t>3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737360" y="3593592"/>
            <a:ext cx="8823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Write an invariant for the new formulation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97280" y="4215384"/>
            <a:ext cx="384048" cy="384048"/>
          </a:xfrm>
          <a:prstGeom prst="ellipse">
            <a:avLst/>
          </a:prstGeom>
          <a:solidFill>
            <a:srgbClr val="2ED3C6"/>
          </a:solidFill>
          <a:ln w="12700">
            <a:solidFill>
              <a:srgbClr val="2ED3C6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097280" y="4306824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92633"/>
                </a:solidFill>
              </a:rPr>
              <a:t>4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737360" y="4251960"/>
            <a:ext cx="8823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Re-prove initialization / maintenance / termination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97280" y="4873752"/>
            <a:ext cx="384048" cy="384048"/>
          </a:xfrm>
          <a:prstGeom prst="ellipse">
            <a:avLst/>
          </a:prstGeom>
          <a:solidFill>
            <a:srgbClr val="F6C64F"/>
          </a:solidFill>
          <a:ln w="12700">
            <a:solidFill>
              <a:srgbClr val="F6C64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097280" y="496519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92633"/>
                </a:solidFill>
              </a:rPr>
              <a:t>5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737360" y="4910328"/>
            <a:ext cx="8823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Only then compare efficiency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F899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r>
              <a:rPr sz="800">
                <a:solidFill>
                  <a:srgbClr val="5A646E"/>
                </a:solidFill>
                <a:latin typeface="Aptos"/>
              </a:rPr>
              <a:t>44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1078992" cy="256032"/>
          </a:xfrm>
          <a:prstGeom prst="roundRect">
            <a:avLst>
              <a:gd name="adj" fmla="val 28571"/>
            </a:avLst>
          </a:prstGeom>
          <a:solidFill>
            <a:srgbClr val="8B78E6"/>
          </a:solidFill>
          <a:ln w="12700">
            <a:solidFill>
              <a:srgbClr val="8B78E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75488" y="338328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926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CHECKLIST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38912" y="66751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D27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systematic checklist for iterative correctness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38912" y="121615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774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whenever you are asked to prove a loop correct.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1691640"/>
            <a:ext cx="5212080" cy="960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50392" y="1938528"/>
            <a:ext cx="420624" cy="420624"/>
          </a:xfrm>
          <a:prstGeom prst="ellipse">
            <a:avLst/>
          </a:prstGeom>
          <a:solidFill>
            <a:srgbClr val="2ED3C6"/>
          </a:solidFill>
          <a:ln w="12700">
            <a:solidFill>
              <a:srgbClr val="2ED3C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50392" y="2048256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92633"/>
                </a:solidFill>
              </a:rPr>
              <a:t>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435608" y="1865376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2730"/>
                </a:solidFill>
              </a:rPr>
              <a:t>SPECIFY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0" y="1847088"/>
            <a:ext cx="2880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77481"/>
                </a:solidFill>
              </a:rPr>
              <a:t>Write the precondition and postcondition.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309360" y="1691640"/>
            <a:ext cx="5212080" cy="960120"/>
          </a:xfrm>
          <a:prstGeom prst="roundRect">
            <a:avLst>
              <a:gd name="adj" fmla="val 3810"/>
            </a:avLst>
          </a:prstGeom>
          <a:solidFill>
            <a:srgbClr val="EEF4FF"/>
          </a:solidFill>
          <a:ln w="12700">
            <a:solidFill>
              <a:srgbClr val="DCE3EA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473952" y="1938528"/>
            <a:ext cx="420624" cy="420624"/>
          </a:xfrm>
          <a:prstGeom prst="ellipse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73952" y="2048256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92633"/>
                </a:solidFill>
              </a:rPr>
              <a:t>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059168" y="1865376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2730"/>
                </a:solidFill>
              </a:rPr>
              <a:t>CHOOSE I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366760" y="1847088"/>
            <a:ext cx="2880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77481"/>
                </a:solidFill>
              </a:rPr>
              <a:t>State the invariant at an exact loop point.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85800" y="2990088"/>
            <a:ext cx="5212080" cy="960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50392" y="3236976"/>
            <a:ext cx="420624" cy="420624"/>
          </a:xfrm>
          <a:prstGeom prst="ellipse">
            <a:avLst/>
          </a:prstGeom>
          <a:solidFill>
            <a:srgbClr val="F6C64F"/>
          </a:solidFill>
          <a:ln w="12700">
            <a:solidFill>
              <a:srgbClr val="F6C64F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50392" y="3346704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92633"/>
                </a:solidFill>
              </a:rPr>
              <a:t>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435608" y="3163824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2730"/>
                </a:solidFill>
              </a:rPr>
              <a:t>INITIALIZE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43200" y="3145536"/>
            <a:ext cx="2880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77481"/>
                </a:solidFill>
              </a:rPr>
              <a:t>Prove I before the first iteration.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309360" y="2990088"/>
            <a:ext cx="5212080" cy="960120"/>
          </a:xfrm>
          <a:prstGeom prst="roundRect">
            <a:avLst>
              <a:gd name="adj" fmla="val 3810"/>
            </a:avLst>
          </a:prstGeom>
          <a:solidFill>
            <a:srgbClr val="EEF4FF"/>
          </a:solidFill>
          <a:ln w="12700">
            <a:solidFill>
              <a:srgbClr val="DCE3EA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473952" y="3236976"/>
            <a:ext cx="420624" cy="420624"/>
          </a:xfrm>
          <a:prstGeom prst="ellipse">
            <a:avLst/>
          </a:prstGeom>
          <a:solidFill>
            <a:srgbClr val="8B78E6"/>
          </a:solidFill>
          <a:ln w="12700">
            <a:solidFill>
              <a:srgbClr val="8B78E6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473952" y="3346704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92633"/>
                </a:solidFill>
              </a:rPr>
              <a:t>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059168" y="3163824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2730"/>
                </a:solidFill>
              </a:rPr>
              <a:t>MAINTAIN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366760" y="3145536"/>
            <a:ext cx="2880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77481"/>
                </a:solidFill>
              </a:rPr>
              <a:t>Assume I; execute one iteration; recover I.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85800" y="4288536"/>
            <a:ext cx="5212080" cy="960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850392" y="4535424"/>
            <a:ext cx="420624" cy="420624"/>
          </a:xfrm>
          <a:prstGeom prst="ellipse">
            <a:avLst/>
          </a:prstGeom>
          <a:solidFill>
            <a:srgbClr val="54C985"/>
          </a:solidFill>
          <a:ln w="12700">
            <a:solidFill>
              <a:srgbClr val="54C985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850392" y="4645152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92633"/>
                </a:solidFill>
              </a:rPr>
              <a:t>5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435608" y="446227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2730"/>
                </a:solidFill>
              </a:rPr>
              <a:t>TERMINATE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743200" y="4443984"/>
            <a:ext cx="2880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77481"/>
                </a:solidFill>
              </a:rPr>
              <a:t>Combine I with the false guard to derive Q.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309360" y="4288536"/>
            <a:ext cx="5212080" cy="960120"/>
          </a:xfrm>
          <a:prstGeom prst="roundRect">
            <a:avLst>
              <a:gd name="adj" fmla="val 3810"/>
            </a:avLst>
          </a:prstGeom>
          <a:solidFill>
            <a:srgbClr val="EEF4FF"/>
          </a:solidFill>
          <a:ln w="12700">
            <a:solidFill>
              <a:srgbClr val="DCE3EA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6473952" y="4535424"/>
            <a:ext cx="420624" cy="420624"/>
          </a:xfrm>
          <a:prstGeom prst="ellipse">
            <a:avLst/>
          </a:prstGeom>
          <a:solidFill>
            <a:srgbClr val="F17878"/>
          </a:solidFill>
          <a:ln w="12700">
            <a:solidFill>
              <a:srgbClr val="F17878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473952" y="4645152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92633"/>
                </a:solidFill>
              </a:rPr>
              <a:t>6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059168" y="446227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2730"/>
                </a:solidFill>
              </a:rPr>
              <a:t>FINISH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366760" y="4443984"/>
            <a:ext cx="2880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77481"/>
                </a:solidFill>
              </a:rPr>
              <a:t>Give a termination argument for total correctness.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939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r>
              <a:rPr sz="800">
                <a:solidFill>
                  <a:srgbClr val="5A646E"/>
                </a:solidFill>
                <a:latin typeface="Aptos"/>
              </a:rPr>
              <a:t>57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1078992" cy="256032"/>
          </a:xfrm>
          <a:prstGeom prst="roundRect">
            <a:avLst>
              <a:gd name="adj" fmla="val 28571"/>
            </a:avLst>
          </a:prstGeom>
          <a:solidFill>
            <a:srgbClr val="F17878"/>
          </a:solidFill>
          <a:ln w="12700">
            <a:solidFill>
              <a:srgbClr val="F1787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75488" y="338328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926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38912" y="66751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D27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Tracing helps you discover an invariant — it does not prove it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38912" y="121615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774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examples to see a pattern, then prove the pattern survives every iteration.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1828800"/>
            <a:ext cx="3246120" cy="1737360"/>
          </a:xfrm>
          <a:prstGeom prst="roundRect">
            <a:avLst>
              <a:gd name="adj" fmla="val 2632"/>
            </a:avLst>
          </a:prstGeom>
          <a:solidFill>
            <a:srgbClr val="E9FAF8"/>
          </a:solidFill>
          <a:ln w="10160">
            <a:solidFill>
              <a:srgbClr val="DCE3EA"/>
            </a:solidFill>
            <a:prstDash val="solid"/>
          </a:ln>
          <a:effectLst>
            <a:outerShdw sx="100000" sy="100000" kx="0" ky="0" algn="bl" rotWithShape="0" blurRad="12700" dist="50800" dir="2700000">
              <a:srgbClr val="C5CCD3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85800" y="1828800"/>
            <a:ext cx="54864" cy="1737360"/>
          </a:xfrm>
          <a:prstGeom prst="rect">
            <a:avLst/>
          </a:prstGeom>
          <a:solidFill>
            <a:srgbClr val="2ED3C6"/>
          </a:solidFill>
          <a:ln w="12700">
            <a:solidFill>
              <a:srgbClr val="2ED3C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50392" y="196596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50392" y="2304288"/>
            <a:ext cx="2953512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SUM(5) gives 15.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MAX([8,3,12]) gives 12.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evidence and intuition.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480560" y="1828800"/>
            <a:ext cx="3246120" cy="1737360"/>
          </a:xfrm>
          <a:prstGeom prst="roundRect">
            <a:avLst>
              <a:gd name="adj" fmla="val 2632"/>
            </a:avLst>
          </a:prstGeom>
          <a:solidFill>
            <a:srgbClr val="FFF7DD"/>
          </a:solidFill>
          <a:ln w="10160">
            <a:solidFill>
              <a:srgbClr val="DCE3EA"/>
            </a:solidFill>
            <a:prstDash val="solid"/>
          </a:ln>
          <a:effectLst>
            <a:outerShdw sx="100000" sy="100000" kx="0" ky="0" algn="bl" rotWithShape="0" blurRad="12700" dist="50800" dir="2700000">
              <a:srgbClr val="C5CCD3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480560" y="1828800"/>
            <a:ext cx="54864" cy="1737360"/>
          </a:xfrm>
          <a:prstGeom prst="rect">
            <a:avLst/>
          </a:prstGeom>
          <a:solidFill>
            <a:srgbClr val="F6C64F"/>
          </a:solidFill>
          <a:ln w="12700">
            <a:solidFill>
              <a:srgbClr val="F6C64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645152" y="196596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INVARIANT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645152" y="2304288"/>
            <a:ext cx="2953512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States what is true for an arbitrary iteration i, not only the iterations we happened to test.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75320" y="1828800"/>
            <a:ext cx="3246120" cy="1737360"/>
          </a:xfrm>
          <a:prstGeom prst="roundRect">
            <a:avLst>
              <a:gd name="adj" fmla="val 2632"/>
            </a:avLst>
          </a:prstGeom>
          <a:solidFill>
            <a:srgbClr val="EDF9F2"/>
          </a:solidFill>
          <a:ln w="10160">
            <a:solidFill>
              <a:srgbClr val="DCE3EA"/>
            </a:solidFill>
            <a:prstDash val="solid"/>
          </a:ln>
          <a:effectLst>
            <a:outerShdw sx="100000" sy="100000" kx="0" ky="0" algn="bl" rotWithShape="0" blurRad="12700" dist="50800" dir="2700000">
              <a:srgbClr val="C5CCD3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275320" y="1828800"/>
            <a:ext cx="54864" cy="1737360"/>
          </a:xfrm>
          <a:prstGeom prst="rect">
            <a:avLst/>
          </a:prstGeom>
          <a:solidFill>
            <a:srgbClr val="54C985"/>
          </a:solidFill>
          <a:ln w="12700">
            <a:solidFill>
              <a:srgbClr val="54C985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439912" y="196596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439912" y="2304288"/>
            <a:ext cx="2953512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Initialization + maintenance + termination covers all valid executions represented by the specification.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" y="5833872"/>
            <a:ext cx="10945368" cy="384048"/>
          </a:xfrm>
          <a:prstGeom prst="roundRect">
            <a:avLst>
              <a:gd name="adj" fmla="val 9524"/>
            </a:avLst>
          </a:prstGeom>
          <a:solidFill>
            <a:srgbClr val="092633"/>
          </a:solidFill>
          <a:ln w="12700">
            <a:solidFill>
              <a:srgbClr val="092633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22960" y="5952744"/>
            <a:ext cx="10533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trace can suggest the invariant. The invariant proof establishes correctness.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939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r>
              <a:rPr sz="800">
                <a:solidFill>
                  <a:srgbClr val="5A646E"/>
                </a:solidFill>
                <a:latin typeface="Aptos"/>
              </a:rPr>
              <a:t>58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1078992" cy="256032"/>
          </a:xfrm>
          <a:prstGeom prst="roundRect">
            <a:avLst>
              <a:gd name="adj" fmla="val 28571"/>
            </a:avLst>
          </a:prstGeom>
          <a:solidFill>
            <a:srgbClr val="2ED3C6"/>
          </a:solidFill>
          <a:ln w="12700">
            <a:solidFill>
              <a:srgbClr val="2ED3C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75488" y="338328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926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04 RECAP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6583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Five ideas to carry forward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30352" y="199339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BC0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Loop invariants turn repeated execution into a structured correctness proof.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D3C6"/>
                </a:solidFill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72768" y="224028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Invariant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429000" y="2240280"/>
            <a:ext cx="6903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FC6CF"/>
                </a:solidFill>
              </a:rPr>
              <a:t>a fact that remains true at the chosen loop point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288036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D3C6"/>
                </a:solidFill>
              </a:rPr>
              <a:t>02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572768" y="288036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Initialization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29000" y="2880360"/>
            <a:ext cx="6903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FC6CF"/>
                </a:solidFill>
              </a:rPr>
              <a:t>establish it before the first iteration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352044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D3C6"/>
                </a:solidFill>
              </a:rPr>
              <a:t>03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572768" y="352044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Maintenance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429000" y="3520440"/>
            <a:ext cx="6903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FC6CF"/>
                </a:solidFill>
              </a:rPr>
              <a:t>prove one iteration preserves it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416052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D3C6"/>
                </a:solidFill>
              </a:rPr>
              <a:t>04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572768" y="416052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Termination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29000" y="4160520"/>
            <a:ext cx="6903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FC6CF"/>
                </a:solidFill>
              </a:rPr>
              <a:t>use invariant + false guard to reach the postcondition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4400" y="480060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D3C6"/>
                </a:solidFill>
              </a:rPr>
              <a:t>05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572768" y="480060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Total correctness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429000" y="4800600"/>
            <a:ext cx="6903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FC6CF"/>
                </a:solidFill>
              </a:rPr>
              <a:t>correct result + guaranteed termination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778240" y="5120640"/>
            <a:ext cx="2331720" cy="713232"/>
          </a:xfrm>
          <a:prstGeom prst="roundRect">
            <a:avLst>
              <a:gd name="adj" fmla="val 5128"/>
            </a:avLst>
          </a:prstGeom>
          <a:solidFill>
            <a:srgbClr val="0D3446"/>
          </a:solidFill>
          <a:ln w="12700">
            <a:solidFill>
              <a:srgbClr val="315462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979408" y="530352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D3C6"/>
                </a:solidFill>
              </a:rPr>
              <a:t>NEXT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2ED3C6"/>
                </a:solidFill>
              </a:rPr>
              <a:t>Recursive Correctness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F899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r>
              <a:rPr sz="800">
                <a:solidFill>
                  <a:srgbClr val="5A646E"/>
                </a:solidFill>
                <a:latin typeface="Aptos"/>
              </a:rPr>
              <a:t>59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38328"/>
            <a:ext cx="22860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2F5597"/>
                </a:solidFill>
                <a:latin typeface="Aptos"/>
              </a:rPr>
              <a:t>WORKED EXAMPLE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67512"/>
            <a:ext cx="111556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7365D"/>
                </a:solidFill>
                <a:latin typeface="Aptos"/>
              </a:rPr>
              <a:t>MAX(A): start with one concrete array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216152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A646E"/>
                </a:solidFill>
                <a:latin typeface="Aptos"/>
              </a:rPr>
              <a:t>Before proving the loop, watch what largest means as the processed prefix grows.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3886200" cy="3337560"/>
          </a:xfrm>
          <a:prstGeom prst="roundRect">
            <a:avLst/>
          </a:prstGeom>
          <a:solidFill>
            <a:srgbClr val="EEF6F9"/>
          </a:solidFill>
          <a:ln w="12700">
            <a:solidFill>
              <a:srgbClr val="DC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965960"/>
            <a:ext cx="355701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F5597"/>
                </a:solidFill>
                <a:latin typeface="Aptos"/>
              </a:rPr>
              <a:t>ALGORITHM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13432"/>
            <a:ext cx="352044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323"/>
                </a:solidFill>
                <a:latin typeface="Aptos Mono"/>
              </a:rPr>
              <a:t>MAX(A)
largest ← A[0]
for i ← 1 to n−1
    if A[i] &gt; largest
        largest ← A[i]
return largest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4920" y="1874519"/>
            <a:ext cx="6172200" cy="960120"/>
          </a:xfrm>
          <a:prstGeom prst="roundRect">
            <a:avLst/>
          </a:prstGeom>
          <a:solidFill>
            <a:srgbClr val="F5F9FE"/>
          </a:solidFill>
          <a:ln w="12700">
            <a:solidFill>
              <a:srgbClr val="DC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39512" y="1965960"/>
            <a:ext cx="584301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F5597"/>
                </a:solidFill>
                <a:latin typeface="Aptos"/>
              </a:rPr>
              <a:t>CONCRETE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2267712"/>
            <a:ext cx="55778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17365D"/>
                </a:solidFill>
                <a:latin typeface="Aptos"/>
              </a:rPr>
              <a:t>A = [8, 3, 12, 5, 10]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74920" y="3154680"/>
            <a:ext cx="6172200" cy="1188720"/>
          </a:xfrm>
          <a:prstGeom prst="roundRect">
            <a:avLst/>
          </a:prstGeom>
          <a:solidFill>
            <a:srgbClr val="F5F9FE"/>
          </a:solidFill>
          <a:ln w="12700">
            <a:solidFill>
              <a:srgbClr val="DC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39512" y="3246120"/>
            <a:ext cx="584301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F5597"/>
                </a:solidFill>
                <a:latin typeface="Aptos"/>
              </a:rPr>
              <a:t>INITIAL STATE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9240" y="3529584"/>
            <a:ext cx="5577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232323"/>
                </a:solidFill>
                <a:latin typeface="Aptos"/>
              </a:rPr>
              <a:t>largest = 8      i =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3895344"/>
            <a:ext cx="55778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A646E"/>
                </a:solidFill>
                <a:latin typeface="Aptos"/>
              </a:rPr>
              <a:t>Only A[0] has been processed so far.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943600"/>
            <a:ext cx="10469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7365D"/>
                </a:solidFill>
                <a:latin typeface="Aptos"/>
              </a:rPr>
              <a:t>Question: what should largest represent at every later loop check?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68328" y="6419088"/>
            <a:ext cx="310896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A646E"/>
                </a:solidFill>
                <a:latin typeface="Aptos"/>
              </a:rPr>
              <a:t>23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38328"/>
            <a:ext cx="22860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2F5597"/>
                </a:solidFill>
                <a:latin typeface="Aptos"/>
              </a:rPr>
              <a:t>TRACE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67512"/>
            <a:ext cx="111556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7365D"/>
                </a:solidFill>
                <a:latin typeface="Aptos"/>
              </a:rPr>
              <a:t>Trace MAX(A) on A = [8, 3, 12, 5, 10]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216152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A646E"/>
                </a:solidFill>
                <a:latin typeface="Aptos"/>
              </a:rPr>
              <a:t>Observe largest at the start of each iteration and how the processed prefix grows.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828800"/>
          <a:ext cx="11356848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2808"/>
                <a:gridCol w="1892808"/>
                <a:gridCol w="1892808"/>
                <a:gridCol w="1892808"/>
                <a:gridCol w="1892808"/>
                <a:gridCol w="1892808"/>
              </a:tblGrid>
              <a:tr h="579120"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Aptos"/>
                        </a:rPr>
                        <a:t>Checkpoint</a:t>
                      </a:r>
                    </a:p>
                  </a:txBody>
                  <a:tcPr marL="45720" marR="45720" marT="27432" marB="27432" anchor="ctr">
                    <a:solidFill>
                      <a:srgbClr val="17365D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Aptos"/>
                        </a:rPr>
                        <a:t>i</a:t>
                      </a:r>
                    </a:p>
                  </a:txBody>
                  <a:tcPr marL="45720" marR="45720" marT="27432" marB="27432" anchor="ctr">
                    <a:solidFill>
                      <a:srgbClr val="17365D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Aptos"/>
                        </a:rPr>
                        <a:t>A[i]</a:t>
                      </a:r>
                    </a:p>
                  </a:txBody>
                  <a:tcPr marL="45720" marR="45720" marT="27432" marB="27432" anchor="ctr">
                    <a:solidFill>
                      <a:srgbClr val="17365D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Aptos"/>
                        </a:rPr>
                        <a:t>largest before</a:t>
                      </a:r>
                    </a:p>
                  </a:txBody>
                  <a:tcPr marL="45720" marR="45720" marT="27432" marB="27432" anchor="ctr">
                    <a:solidFill>
                      <a:srgbClr val="17365D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Aptos"/>
                        </a:rPr>
                        <a:t>largest after</a:t>
                      </a:r>
                    </a:p>
                  </a:txBody>
                  <a:tcPr marL="45720" marR="45720" marT="27432" marB="27432" anchor="ctr">
                    <a:solidFill>
                      <a:srgbClr val="17365D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Aptos"/>
                        </a:rPr>
                        <a:t>Processed prefix</a:t>
                      </a:r>
                    </a:p>
                  </a:txBody>
                  <a:tcPr marL="45720" marR="45720" marT="27432" marB="27432" anchor="ctr">
                    <a:solidFill>
                      <a:srgbClr val="17365D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323"/>
                          </a:solidFill>
                          <a:latin typeface="Aptos"/>
                        </a:rPr>
                        <a:t>Before iter. 1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323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323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323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323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323"/>
                          </a:solidFill>
                          <a:latin typeface="Aptos"/>
                        </a:rPr>
                        <a:t>[8,3]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323"/>
                          </a:solidFill>
                          <a:latin typeface="Aptos"/>
                        </a:rPr>
                        <a:t>Before iter. 2</a:t>
                      </a:r>
                    </a:p>
                  </a:txBody>
                  <a:tcPr marL="45720" marR="45720" marT="27432" marB="27432" anchor="ctr">
                    <a:solidFill>
                      <a:srgbClr val="F5F9FE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323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45720" marR="45720" marT="27432" marB="27432" anchor="ctr">
                    <a:solidFill>
                      <a:srgbClr val="F5F9FE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323"/>
                          </a:solidFill>
                          <a:latin typeface="Aptos"/>
                        </a:rPr>
                        <a:t>12</a:t>
                      </a:r>
                    </a:p>
                  </a:txBody>
                  <a:tcPr marL="45720" marR="45720" marT="27432" marB="27432" anchor="ctr">
                    <a:solidFill>
                      <a:srgbClr val="F5F9FE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323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45720" marR="45720" marT="27432" marB="27432" anchor="ctr">
                    <a:solidFill>
                      <a:srgbClr val="F5F9FE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323"/>
                          </a:solidFill>
                          <a:latin typeface="Aptos"/>
                        </a:rPr>
                        <a:t>12</a:t>
                      </a:r>
                    </a:p>
                  </a:txBody>
                  <a:tcPr marL="45720" marR="45720" marT="27432" marB="27432" anchor="ctr">
                    <a:solidFill>
                      <a:srgbClr val="F5F9FE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323"/>
                          </a:solidFill>
                          <a:latin typeface="Aptos"/>
                        </a:rPr>
                        <a:t>[8,3,12]</a:t>
                      </a:r>
                    </a:p>
                  </a:txBody>
                  <a:tcPr marL="45720" marR="45720" marT="27432" marB="27432" anchor="ctr">
                    <a:solidFill>
                      <a:srgbClr val="F5F9FE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323"/>
                          </a:solidFill>
                          <a:latin typeface="Aptos"/>
                        </a:rPr>
                        <a:t>Before iter. 3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323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323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323"/>
                          </a:solidFill>
                          <a:latin typeface="Aptos"/>
                        </a:rPr>
                        <a:t>12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323"/>
                          </a:solidFill>
                          <a:latin typeface="Aptos"/>
                        </a:rPr>
                        <a:t>12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323"/>
                          </a:solidFill>
                          <a:latin typeface="Aptos"/>
                        </a:rPr>
                        <a:t>[8,3,12,5]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323"/>
                          </a:solidFill>
                          <a:latin typeface="Aptos"/>
                        </a:rPr>
                        <a:t>Before iter. 4</a:t>
                      </a:r>
                    </a:p>
                  </a:txBody>
                  <a:tcPr marL="45720" marR="45720" marT="27432" marB="27432" anchor="ctr">
                    <a:solidFill>
                      <a:srgbClr val="F5F9FE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323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45720" marR="45720" marT="27432" marB="27432" anchor="ctr">
                    <a:solidFill>
                      <a:srgbClr val="F5F9FE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323"/>
                          </a:solidFill>
                          <a:latin typeface="Aptos"/>
                        </a:rPr>
                        <a:t>10</a:t>
                      </a:r>
                    </a:p>
                  </a:txBody>
                  <a:tcPr marL="45720" marR="45720" marT="27432" marB="27432" anchor="ctr">
                    <a:solidFill>
                      <a:srgbClr val="F5F9FE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323"/>
                          </a:solidFill>
                          <a:latin typeface="Aptos"/>
                        </a:rPr>
                        <a:t>12</a:t>
                      </a:r>
                    </a:p>
                  </a:txBody>
                  <a:tcPr marL="45720" marR="45720" marT="27432" marB="27432" anchor="ctr">
                    <a:solidFill>
                      <a:srgbClr val="F5F9FE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323"/>
                          </a:solidFill>
                          <a:latin typeface="Aptos"/>
                        </a:rPr>
                        <a:t>12</a:t>
                      </a:r>
                    </a:p>
                  </a:txBody>
                  <a:tcPr marL="45720" marR="45720" marT="27432" marB="27432" anchor="ctr">
                    <a:solidFill>
                      <a:srgbClr val="F5F9FE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323"/>
                          </a:solidFill>
                          <a:latin typeface="Aptos"/>
                        </a:rPr>
                        <a:t>[8,3,12,5,10]</a:t>
                      </a:r>
                    </a:p>
                  </a:txBody>
                  <a:tcPr marL="45720" marR="45720" marT="27432" marB="27432" anchor="ctr">
                    <a:solidFill>
                      <a:srgbClr val="F5F9FE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323"/>
                          </a:solidFill>
                          <a:latin typeface="Aptos"/>
                        </a:rPr>
                        <a:t>After loop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323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323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323"/>
                          </a:solidFill>
                          <a:latin typeface="Aptos"/>
                        </a:rPr>
                        <a:t>12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323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323"/>
                          </a:solidFill>
                          <a:latin typeface="Aptos"/>
                        </a:rPr>
                        <a:t>entire array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68680" y="5943600"/>
            <a:ext cx="10469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7365D"/>
                </a:solidFill>
                <a:latin typeface="Aptos"/>
              </a:rPr>
              <a:t>largest changes only when the new element is bigger than everything already seen.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68328" y="6419088"/>
            <a:ext cx="310896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A646E"/>
                </a:solidFill>
                <a:latin typeface="Aptos"/>
              </a:rPr>
              <a:t>24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38328"/>
            <a:ext cx="22860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2F5597"/>
                </a:solidFill>
                <a:latin typeface="Aptos"/>
              </a:rPr>
              <a:t>DISCOVER THE INVARIANT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67512"/>
            <a:ext cx="111556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7365D"/>
                </a:solidFill>
                <a:latin typeface="Aptos"/>
              </a:rPr>
              <a:t>What stays true in MAX(A)?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216152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A646E"/>
                </a:solidFill>
                <a:latin typeface="Aptos"/>
              </a:rPr>
              <a:t>Focus on the already processed prefix A[0..i−1].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874519"/>
            <a:ext cx="4754880" cy="2606040"/>
          </a:xfrm>
          <a:prstGeom prst="roundRect">
            <a:avLst/>
          </a:prstGeom>
          <a:solidFill>
            <a:srgbClr val="F5F9FE"/>
          </a:solidFill>
          <a:ln w="12700">
            <a:solidFill>
              <a:srgbClr val="DC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1" y="1965960"/>
            <a:ext cx="442569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F5597"/>
                </a:solidFill>
                <a:latin typeface="Aptos"/>
              </a:rPr>
              <a:t>PATTERN IN THE TRACE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31720"/>
            <a:ext cx="434340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232323"/>
                </a:solidFill>
                <a:latin typeface="Aptos Mono"/>
              </a:rPr>
              <a:t>i = 1 → processed [8]          largest = 8
i = 2 → processed [8,3]        largest = 8
i = 3 → processed [8,3,12]     largest = 12
i = 4 → processed [8,3,12,5]   largest =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1874519"/>
            <a:ext cx="5074920" cy="1143000"/>
          </a:xfrm>
          <a:prstGeom prst="roundRect">
            <a:avLst/>
          </a:prstGeom>
          <a:solidFill>
            <a:srgbClr val="F5F9FE"/>
          </a:solidFill>
          <a:ln w="12700">
            <a:solidFill>
              <a:srgbClr val="DC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45352" y="1965960"/>
            <a:ext cx="474573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F5597"/>
                </a:solidFill>
                <a:latin typeface="Aptos"/>
              </a:rPr>
              <a:t>THE INVARIANT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267712"/>
            <a:ext cx="452628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17365D"/>
                </a:solidFill>
                <a:latin typeface="Aptos"/>
              </a:rPr>
              <a:t>largest = max(A[0 .. i−1])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3291840"/>
            <a:ext cx="5074920" cy="1325880"/>
          </a:xfrm>
          <a:prstGeom prst="roundRect">
            <a:avLst/>
          </a:prstGeom>
          <a:solidFill>
            <a:srgbClr val="F5F9FE"/>
          </a:solidFill>
          <a:ln w="12700">
            <a:solidFill>
              <a:srgbClr val="DC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45352" y="3383280"/>
            <a:ext cx="474573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F5597"/>
                </a:solidFill>
                <a:latin typeface="Aptos"/>
              </a:rPr>
              <a:t>PLAIN ENGLISH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3657600"/>
            <a:ext cx="4526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232323"/>
                </a:solidFill>
                <a:latin typeface="Aptos"/>
              </a:rPr>
              <a:t>At the start of iteration i, largest is the largest value among all array elements already processed.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943600"/>
            <a:ext cx="10469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7365D"/>
                </a:solidFill>
                <a:latin typeface="Aptos"/>
              </a:rPr>
              <a:t>Example: when i = 4, largest = 12 because max([8,3,12,5]) = 12.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68328" y="6419088"/>
            <a:ext cx="310896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A646E"/>
                </a:solidFill>
                <a:latin typeface="Aptos"/>
              </a:rPr>
              <a:t>25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38328"/>
            <a:ext cx="22860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2F5597"/>
                </a:solidFill>
                <a:latin typeface="Aptos"/>
              </a:rPr>
              <a:t>WORKED EXAMPLE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67512"/>
            <a:ext cx="111556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7365D"/>
                </a:solidFill>
                <a:latin typeface="Aptos"/>
              </a:rPr>
              <a:t>Linear Search: start with a concrete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216152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A646E"/>
                </a:solidFill>
                <a:latin typeface="Aptos"/>
              </a:rPr>
              <a:t>This invariant records which part of the array has already been ruled out.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3977639" cy="3246120"/>
          </a:xfrm>
          <a:prstGeom prst="roundRect">
            <a:avLst/>
          </a:prstGeom>
          <a:solidFill>
            <a:srgbClr val="EEF6F9"/>
          </a:solidFill>
          <a:ln w="12700">
            <a:solidFill>
              <a:srgbClr val="DC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965960"/>
            <a:ext cx="364845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F5597"/>
                </a:solidFill>
                <a:latin typeface="Aptos"/>
              </a:rPr>
              <a:t>ALGORITHM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13432"/>
            <a:ext cx="3611879" cy="2697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323"/>
                </a:solidFill>
                <a:latin typeface="Aptos Mono"/>
              </a:rPr>
              <a:t>LINEAR-SEARCH(A, x)
for i ← 0 to n−1
    if A[i] = x
        return i
return NOT-FOUND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1874519"/>
            <a:ext cx="6126480" cy="960120"/>
          </a:xfrm>
          <a:prstGeom prst="roundRect">
            <a:avLst/>
          </a:prstGeom>
          <a:solidFill>
            <a:srgbClr val="F5F9FE"/>
          </a:solidFill>
          <a:ln w="12700">
            <a:solidFill>
              <a:srgbClr val="DC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1" y="1965960"/>
            <a:ext cx="579729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F5597"/>
                </a:solidFill>
                <a:latin typeface="Aptos"/>
              </a:rPr>
              <a:t>CONCRETE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2258568"/>
            <a:ext cx="56692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50" b="1">
                <a:solidFill>
                  <a:srgbClr val="17365D"/>
                </a:solidFill>
                <a:latin typeface="Aptos"/>
              </a:rPr>
              <a:t>A = [27, 14, 81, 3, 45, 62]     x = 45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3154680"/>
            <a:ext cx="6126480" cy="1280160"/>
          </a:xfrm>
          <a:prstGeom prst="roundRect">
            <a:avLst/>
          </a:prstGeom>
          <a:solidFill>
            <a:srgbClr val="F5F9FE"/>
          </a:solidFill>
          <a:ln w="12700">
            <a:solidFill>
              <a:srgbClr val="DC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85231" y="3246120"/>
            <a:ext cx="579729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F5597"/>
                </a:solidFill>
                <a:latin typeface="Aptos"/>
              </a:rPr>
              <a:t>WHAT CHANGES?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3511296"/>
            <a:ext cx="55321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232323"/>
                </a:solidFill>
                <a:latin typeface="Aptos"/>
              </a:rPr>
              <a:t>i moves right through the array.
The prefix before i contains values already checked.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943600"/>
            <a:ext cx="10469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7365D"/>
                </a:solidFill>
                <a:latin typeface="Aptos"/>
              </a:rPr>
              <a:t>Question: what can we truthfully say about x in the prefix A[0..i−1]?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68328" y="6419088"/>
            <a:ext cx="310896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A646E"/>
                </a:solidFill>
                <a:latin typeface="Aptos"/>
              </a:rPr>
              <a:t>32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38328"/>
            <a:ext cx="22860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2F5597"/>
                </a:solidFill>
                <a:latin typeface="Aptos"/>
              </a:rPr>
              <a:t>TRACE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67512"/>
            <a:ext cx="111556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7365D"/>
                </a:solidFill>
                <a:latin typeface="Aptos"/>
              </a:rPr>
              <a:t>Trace Linear Search for x =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216152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A646E"/>
                </a:solidFill>
                <a:latin typeface="Aptos"/>
              </a:rPr>
              <a:t>At each new loop check, everything before i has already been compared with x.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783080"/>
          <a:ext cx="11247120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51598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Checkpoint</a:t>
                      </a:r>
                    </a:p>
                  </a:txBody>
                  <a:tcPr marL="45720" marR="45720" marT="27432" marB="27432" anchor="ctr">
                    <a:solidFill>
                      <a:srgbClr val="17365D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i</a:t>
                      </a:r>
                    </a:p>
                  </a:txBody>
                  <a:tcPr marL="45720" marR="45720" marT="27432" marB="27432" anchor="ctr">
                    <a:solidFill>
                      <a:srgbClr val="17365D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A[i]</a:t>
                      </a:r>
                    </a:p>
                  </a:txBody>
                  <a:tcPr marL="45720" marR="45720" marT="27432" marB="27432" anchor="ctr">
                    <a:solidFill>
                      <a:srgbClr val="17365D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Already checked prefix</a:t>
                      </a:r>
                    </a:p>
                  </a:txBody>
                  <a:tcPr marL="45720" marR="45720" marT="27432" marB="27432" anchor="ctr">
                    <a:solidFill>
                      <a:srgbClr val="17365D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What we know</a:t>
                      </a:r>
                    </a:p>
                  </a:txBody>
                  <a:tcPr marL="45720" marR="45720" marT="27432" marB="27432" anchor="ctr">
                    <a:solidFill>
                      <a:srgbClr val="17365D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Aptos"/>
                        </a:rPr>
                        <a:t>Before iter. 0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Aptos"/>
                        </a:rPr>
                        <a:t>27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Aptos"/>
                        </a:rPr>
                        <a:t>empty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Aptos"/>
                        </a:rPr>
                        <a:t>nothing ruled out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Aptos"/>
                        </a:rPr>
                        <a:t>Before iter. 1</a:t>
                      </a:r>
                    </a:p>
                  </a:txBody>
                  <a:tcPr marL="45720" marR="45720" marT="27432" marB="27432" anchor="ctr">
                    <a:solidFill>
                      <a:srgbClr val="F5F9FE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45720" marR="45720" marT="27432" marB="27432" anchor="ctr">
                    <a:solidFill>
                      <a:srgbClr val="F5F9FE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Aptos"/>
                        </a:rPr>
                        <a:t>14</a:t>
                      </a:r>
                    </a:p>
                  </a:txBody>
                  <a:tcPr marL="45720" marR="45720" marT="27432" marB="27432" anchor="ctr">
                    <a:solidFill>
                      <a:srgbClr val="F5F9FE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Aptos"/>
                        </a:rPr>
                        <a:t>[27]</a:t>
                      </a:r>
                    </a:p>
                  </a:txBody>
                  <a:tcPr marL="45720" marR="45720" marT="27432" marB="27432" anchor="ctr">
                    <a:solidFill>
                      <a:srgbClr val="F5F9FE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Aptos"/>
                        </a:rPr>
                        <a:t>45 not in [27]</a:t>
                      </a:r>
                    </a:p>
                  </a:txBody>
                  <a:tcPr marL="45720" marR="45720" marT="27432" marB="27432" anchor="ctr">
                    <a:solidFill>
                      <a:srgbClr val="F5F9FE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Aptos"/>
                        </a:rPr>
                        <a:t>Before iter. 2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Aptos"/>
                        </a:rPr>
                        <a:t>81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Aptos"/>
                        </a:rPr>
                        <a:t>[27,14]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Aptos"/>
                        </a:rPr>
                        <a:t>45 not in first 2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Aptos"/>
                        </a:rPr>
                        <a:t>Before iter. 3</a:t>
                      </a:r>
                    </a:p>
                  </a:txBody>
                  <a:tcPr marL="45720" marR="45720" marT="27432" marB="27432" anchor="ctr">
                    <a:solidFill>
                      <a:srgbClr val="F5F9FE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45720" marR="45720" marT="27432" marB="27432" anchor="ctr">
                    <a:solidFill>
                      <a:srgbClr val="F5F9FE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45720" marR="45720" marT="27432" marB="27432" anchor="ctr">
                    <a:solidFill>
                      <a:srgbClr val="F5F9FE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Aptos"/>
                        </a:rPr>
                        <a:t>[27,14,81]</a:t>
                      </a:r>
                    </a:p>
                  </a:txBody>
                  <a:tcPr marL="45720" marR="45720" marT="27432" marB="27432" anchor="ctr">
                    <a:solidFill>
                      <a:srgbClr val="F5F9FE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Aptos"/>
                        </a:rPr>
                        <a:t>45 not in first 3</a:t>
                      </a:r>
                    </a:p>
                  </a:txBody>
                  <a:tcPr marL="45720" marR="45720" marT="27432" marB="27432" anchor="ctr">
                    <a:solidFill>
                      <a:srgbClr val="F5F9FE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Aptos"/>
                        </a:rPr>
                        <a:t>Before iter. 4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Aptos"/>
                        </a:rPr>
                        <a:t>45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Aptos"/>
                        </a:rPr>
                        <a:t>[27,14,81,3]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Aptos"/>
                        </a:rPr>
                        <a:t>45 not in first 4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</a:tr>
              <a:tr h="51598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Aptos"/>
                        </a:rPr>
                        <a:t>At iter. 4</a:t>
                      </a:r>
                    </a:p>
                  </a:txBody>
                  <a:tcPr marL="45720" marR="45720" marT="27432" marB="27432" anchor="ctr">
                    <a:solidFill>
                      <a:srgbClr val="F5F9FE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45720" marR="45720" marT="27432" marB="27432" anchor="ctr">
                    <a:solidFill>
                      <a:srgbClr val="F5F9FE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Aptos"/>
                        </a:rPr>
                        <a:t>45</a:t>
                      </a:r>
                    </a:p>
                  </a:txBody>
                  <a:tcPr marL="45720" marR="45720" marT="27432" marB="27432" anchor="ctr">
                    <a:solidFill>
                      <a:srgbClr val="F5F9FE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45720" marR="45720" marT="27432" marB="27432" anchor="ctr">
                    <a:solidFill>
                      <a:srgbClr val="F5F9FE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Aptos"/>
                        </a:rPr>
                        <a:t>match → return 4</a:t>
                      </a:r>
                    </a:p>
                  </a:txBody>
                  <a:tcPr marL="45720" marR="45720" marT="27432" marB="27432" anchor="ctr">
                    <a:solidFill>
                      <a:srgbClr val="F5F9FE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68680" y="5943600"/>
            <a:ext cx="10469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7365D"/>
                </a:solidFill>
                <a:latin typeface="Aptos"/>
              </a:rPr>
              <a:t>The search succeeds at index 4; every earlier position has already been ruled 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68328" y="6419088"/>
            <a:ext cx="310896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A646E"/>
                </a:solidFill>
                <a:latin typeface="Aptos"/>
              </a:rPr>
              <a:t>33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38328"/>
            <a:ext cx="22860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2F5597"/>
                </a:solidFill>
                <a:latin typeface="Aptos"/>
              </a:rPr>
              <a:t>DISCOVER THE INVARIANT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67512"/>
            <a:ext cx="111556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7365D"/>
                </a:solidFill>
                <a:latin typeface="Aptos"/>
              </a:rPr>
              <a:t>What stays true in Linear Search?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216152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A646E"/>
                </a:solidFill>
                <a:latin typeface="Aptos"/>
              </a:rPr>
              <a:t>The invariant describes absence from the processed prefix.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920240"/>
            <a:ext cx="4800600" cy="2514600"/>
          </a:xfrm>
          <a:prstGeom prst="roundRect">
            <a:avLst/>
          </a:prstGeom>
          <a:solidFill>
            <a:srgbClr val="F5F9FE"/>
          </a:solidFill>
          <a:ln w="12700">
            <a:solidFill>
              <a:srgbClr val="DC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1" y="2011680"/>
            <a:ext cx="447141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F5597"/>
                </a:solidFill>
                <a:latin typeface="Aptos"/>
              </a:rPr>
              <a:t>PATTERN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423160"/>
            <a:ext cx="42062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32323"/>
                </a:solidFill>
                <a:latin typeface="Aptos Mono"/>
              </a:rPr>
              <a:t>i = 1 → x not in A[0]
i = 2 → x not in A[0..1]
i = 3 → x not in A[0..2]
i = 4 → x not in A[0..3]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1920240"/>
            <a:ext cx="5074920" cy="1143000"/>
          </a:xfrm>
          <a:prstGeom prst="roundRect">
            <a:avLst/>
          </a:prstGeom>
          <a:solidFill>
            <a:srgbClr val="F5F9FE"/>
          </a:solidFill>
          <a:ln w="12700">
            <a:solidFill>
              <a:srgbClr val="DC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45352" y="2011680"/>
            <a:ext cx="474573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F5597"/>
                </a:solidFill>
                <a:latin typeface="Aptos"/>
              </a:rPr>
              <a:t>THE INVARIANT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286000"/>
            <a:ext cx="452628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17365D"/>
                </a:solidFill>
                <a:latin typeface="Aptos"/>
              </a:rPr>
              <a:t>x ∉ A[0 .. i−1]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3337560"/>
            <a:ext cx="5074920" cy="1325880"/>
          </a:xfrm>
          <a:prstGeom prst="roundRect">
            <a:avLst/>
          </a:prstGeom>
          <a:solidFill>
            <a:srgbClr val="F5F9FE"/>
          </a:solidFill>
          <a:ln w="12700">
            <a:solidFill>
              <a:srgbClr val="DC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45352" y="3429000"/>
            <a:ext cx="474573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F5597"/>
                </a:solidFill>
                <a:latin typeface="Aptos"/>
              </a:rPr>
              <a:t>PLAIN ENGLISH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3703320"/>
            <a:ext cx="452628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232323"/>
                </a:solidFill>
                <a:latin typeface="Aptos"/>
              </a:rPr>
              <a:t>At the start of iteration i, x has not been found in any position already examined.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943600"/>
            <a:ext cx="10469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7365D"/>
                </a:solidFill>
                <a:latin typeface="Aptos"/>
              </a:rPr>
              <a:t>If i reaches n without a return, the ruled-out prefix is the entire array.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68328" y="6419088"/>
            <a:ext cx="310896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A646E"/>
                </a:solidFill>
                <a:latin typeface="Aptos"/>
              </a:rPr>
              <a:t>34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38328"/>
            <a:ext cx="22860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2F5597"/>
                </a:solidFill>
                <a:latin typeface="Aptos"/>
              </a:rPr>
              <a:t>ALTERNATIVE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67512"/>
            <a:ext cx="111556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7365D"/>
                </a:solidFill>
                <a:latin typeface="Aptos"/>
              </a:rPr>
              <a:t>SUM-DOWN(n): same answer, opposite direction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216152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A646E"/>
                </a:solidFill>
                <a:latin typeface="Aptos"/>
              </a:rPr>
              <a:t>Trace first. The direction changes what 'already processed' means.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3886200" cy="3429000"/>
          </a:xfrm>
          <a:prstGeom prst="roundRect">
            <a:avLst/>
          </a:prstGeom>
          <a:solidFill>
            <a:srgbClr val="EEF6F9"/>
          </a:solidFill>
          <a:ln w="12700">
            <a:solidFill>
              <a:srgbClr val="DC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920240"/>
            <a:ext cx="355701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F5597"/>
                </a:solidFill>
                <a:latin typeface="Aptos"/>
              </a:rPr>
              <a:t>ALGORITHM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67712"/>
            <a:ext cx="3520440" cy="2880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323"/>
                </a:solidFill>
                <a:latin typeface="Aptos Mono"/>
              </a:rPr>
              <a:t>SUM-DOWN(n)
total ← 0
i ← n
while i ≥ 1
    total ← total + i
    i ← i − 1
return total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1828800"/>
            <a:ext cx="6080760" cy="914400"/>
          </a:xfrm>
          <a:prstGeom prst="roundRect">
            <a:avLst/>
          </a:prstGeom>
          <a:solidFill>
            <a:srgbClr val="F5F9FE"/>
          </a:solidFill>
          <a:ln w="12700">
            <a:solidFill>
              <a:srgbClr val="DC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1" y="1920240"/>
            <a:ext cx="575157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F5597"/>
                </a:solidFill>
                <a:latin typeface="Aptos"/>
              </a:rPr>
              <a:t>CONCRETE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0" y="2194560"/>
            <a:ext cx="55321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17365D"/>
                </a:solidFill>
                <a:latin typeface="Aptos"/>
              </a:rPr>
              <a:t>n = 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3063240"/>
            <a:ext cx="6080760" cy="1371600"/>
          </a:xfrm>
          <a:prstGeom prst="roundRect">
            <a:avLst/>
          </a:prstGeom>
          <a:solidFill>
            <a:srgbClr val="F5F9FE"/>
          </a:solidFill>
          <a:ln w="12700">
            <a:solidFill>
              <a:srgbClr val="DC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85231" y="3154680"/>
            <a:ext cx="575157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F5597"/>
                </a:solidFill>
                <a:latin typeface="Aptos"/>
              </a:rPr>
              <a:t>INITIAL STATE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3447288"/>
            <a:ext cx="55321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232323"/>
                </a:solidFill>
                <a:latin typeface="Aptos"/>
              </a:rPr>
              <a:t>i = 4      total = 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3840480"/>
            <a:ext cx="5532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A646E"/>
                </a:solidFill>
                <a:latin typeface="Aptos"/>
              </a:rPr>
              <a:t>No values have been added yet.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943600"/>
            <a:ext cx="10469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7365D"/>
                </a:solidFill>
                <a:latin typeface="Aptos"/>
              </a:rPr>
              <a:t>Because we move downward, the processed values will be the numbers larger than 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68328" y="6419088"/>
            <a:ext cx="310896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A646E"/>
                </a:solidFill>
                <a:latin typeface="Aptos"/>
              </a:rPr>
              <a:t>40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38328"/>
            <a:ext cx="22860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2F5597"/>
                </a:solidFill>
                <a:latin typeface="Aptos"/>
              </a:rPr>
              <a:t>TRACE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67512"/>
            <a:ext cx="111556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7365D"/>
                </a:solidFill>
                <a:latin typeface="Aptos"/>
              </a:rPr>
              <a:t>Trace SUM-DOWN for n =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216152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A646E"/>
                </a:solidFill>
                <a:latin typeface="Aptos"/>
              </a:rPr>
              <a:t>Watch how total accumulates the upper part of the range.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60120" y="1874519"/>
          <a:ext cx="1024128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  <a:gridCol w="2560320"/>
                <a:gridCol w="2560320"/>
              </a:tblGrid>
              <a:tr h="541020">
                <a:tc>
                  <a:txBody>
                    <a:bodyPr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Aptos"/>
                        </a:rPr>
                        <a:t>Checkpoint</a:t>
                      </a:r>
                    </a:p>
                  </a:txBody>
                  <a:tcPr marL="45720" marR="45720" marT="27432" marB="27432" anchor="ctr">
                    <a:solidFill>
                      <a:srgbClr val="17365D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Aptos"/>
                        </a:rPr>
                        <a:t>i</a:t>
                      </a:r>
                    </a:p>
                  </a:txBody>
                  <a:tcPr marL="45720" marR="45720" marT="27432" marB="27432" anchor="ctr">
                    <a:solidFill>
                      <a:srgbClr val="17365D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Aptos"/>
                        </a:rPr>
                        <a:t>total</a:t>
                      </a:r>
                    </a:p>
                  </a:txBody>
                  <a:tcPr marL="45720" marR="45720" marT="27432" marB="27432" anchor="ctr">
                    <a:solidFill>
                      <a:srgbClr val="17365D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Aptos"/>
                        </a:rPr>
                        <a:t>Numbers already included</a:t>
                      </a:r>
                    </a:p>
                  </a:txBody>
                  <a:tcPr marL="45720" marR="45720" marT="27432" marB="27432" anchor="ctr">
                    <a:solidFill>
                      <a:srgbClr val="17365D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232323"/>
                          </a:solidFill>
                          <a:latin typeface="Aptos"/>
                        </a:rPr>
                        <a:t>Before iter. 1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232323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232323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232323"/>
                          </a:solidFill>
                          <a:latin typeface="Aptos"/>
                        </a:rPr>
                        <a:t>none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232323"/>
                          </a:solidFill>
                          <a:latin typeface="Aptos"/>
                        </a:rPr>
                        <a:t>Before iter. 2</a:t>
                      </a:r>
                    </a:p>
                  </a:txBody>
                  <a:tcPr marL="45720" marR="45720" marT="27432" marB="27432" anchor="ctr">
                    <a:solidFill>
                      <a:srgbClr val="F5F9FE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232323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45720" marR="45720" marT="27432" marB="27432" anchor="ctr">
                    <a:solidFill>
                      <a:srgbClr val="F5F9FE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232323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45720" marR="45720" marT="27432" marB="27432" anchor="ctr">
                    <a:solidFill>
                      <a:srgbClr val="F5F9FE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232323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45720" marR="45720" marT="27432" marB="27432" anchor="ctr">
                    <a:solidFill>
                      <a:srgbClr val="F5F9FE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232323"/>
                          </a:solidFill>
                          <a:latin typeface="Aptos"/>
                        </a:rPr>
                        <a:t>Before iter. 3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232323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232323"/>
                          </a:solidFill>
                          <a:latin typeface="Aptos"/>
                        </a:rPr>
                        <a:t>7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232323"/>
                          </a:solidFill>
                          <a:latin typeface="Aptos"/>
                        </a:rPr>
                        <a:t>3 + 4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232323"/>
                          </a:solidFill>
                          <a:latin typeface="Aptos"/>
                        </a:rPr>
                        <a:t>Before iter. 4</a:t>
                      </a:r>
                    </a:p>
                  </a:txBody>
                  <a:tcPr marL="45720" marR="45720" marT="27432" marB="27432" anchor="ctr">
                    <a:solidFill>
                      <a:srgbClr val="F5F9FE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232323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45720" marR="45720" marT="27432" marB="27432" anchor="ctr">
                    <a:solidFill>
                      <a:srgbClr val="F5F9FE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232323"/>
                          </a:solidFill>
                          <a:latin typeface="Aptos"/>
                        </a:rPr>
                        <a:t>9</a:t>
                      </a:r>
                    </a:p>
                  </a:txBody>
                  <a:tcPr marL="45720" marR="45720" marT="27432" marB="27432" anchor="ctr">
                    <a:solidFill>
                      <a:srgbClr val="F5F9FE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232323"/>
                          </a:solidFill>
                          <a:latin typeface="Aptos"/>
                        </a:rPr>
                        <a:t>2 + 3 + 4</a:t>
                      </a:r>
                    </a:p>
                  </a:txBody>
                  <a:tcPr marL="45720" marR="45720" marT="27432" marB="27432" anchor="ctr">
                    <a:solidFill>
                      <a:srgbClr val="F5F9FE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232323"/>
                          </a:solidFill>
                          <a:latin typeface="Aptos"/>
                        </a:rPr>
                        <a:t>After loop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232323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232323"/>
                          </a:solidFill>
                          <a:latin typeface="Aptos"/>
                        </a:rPr>
                        <a:t>10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232323"/>
                          </a:solidFill>
                          <a:latin typeface="Aptos"/>
                        </a:rPr>
                        <a:t>1 + 2 + 3 + 4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68680" y="5943600"/>
            <a:ext cx="10469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7365D"/>
                </a:solidFill>
                <a:latin typeface="Aptos"/>
              </a:rPr>
              <a:t>The meaning of total now refers to the upper end of the range.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68328" y="6419088"/>
            <a:ext cx="310896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A646E"/>
                </a:solidFill>
                <a:latin typeface="Aptos"/>
              </a:rPr>
              <a:t>41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38328"/>
            <a:ext cx="22860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2F5597"/>
                </a:solidFill>
                <a:latin typeface="Aptos"/>
              </a:rPr>
              <a:t>PROOF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67512"/>
            <a:ext cx="111556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7365D"/>
                </a:solidFill>
                <a:latin typeface="Aptos"/>
              </a:rPr>
              <a:t>SUM-DOWN: initialization, maintenance, termination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216152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A646E"/>
                </a:solidFill>
                <a:latin typeface="Aptos"/>
              </a:rPr>
              <a:t>Once the invariant is visible, use the same three-stage proof structure.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3429000" cy="3246120"/>
          </a:xfrm>
          <a:prstGeom prst="roundRect">
            <a:avLst/>
          </a:prstGeom>
          <a:solidFill>
            <a:srgbClr val="F5F9FE"/>
          </a:solidFill>
          <a:ln w="12700">
            <a:solidFill>
              <a:srgbClr val="DC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965960"/>
            <a:ext cx="309981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F5597"/>
                </a:solidFill>
                <a:latin typeface="Aptos"/>
              </a:rPr>
              <a:t>INITIALIZATION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331720"/>
            <a:ext cx="3017520" cy="2423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323"/>
                </a:solidFill>
                <a:latin typeface="Aptos"/>
              </a:rPr>
              <a:t>At i = n, total = 0. The sum from i+1 to n is empty, so the invariant holds.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07992" y="1874519"/>
            <a:ext cx="3429000" cy="3246120"/>
          </a:xfrm>
          <a:prstGeom prst="roundRect">
            <a:avLst/>
          </a:prstGeom>
          <a:solidFill>
            <a:srgbClr val="F5F9FE"/>
          </a:solidFill>
          <a:ln w="12700">
            <a:solidFill>
              <a:srgbClr val="DC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72583" y="1965960"/>
            <a:ext cx="309981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F5597"/>
                </a:solidFill>
                <a:latin typeface="Aptos"/>
              </a:rPr>
              <a:t>MAINTENANCE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18304" y="2331720"/>
            <a:ext cx="3017520" cy="2423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323"/>
                </a:solidFill>
                <a:latin typeface="Aptos"/>
              </a:rPr>
              <a:t>Assume total = (i+1)+...+n. Add i, then decrement i. The same pattern holds for the new 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30183" y="1874519"/>
            <a:ext cx="3429000" cy="3246120"/>
          </a:xfrm>
          <a:prstGeom prst="roundRect">
            <a:avLst/>
          </a:prstGeom>
          <a:solidFill>
            <a:srgbClr val="F5F9FE"/>
          </a:solidFill>
          <a:ln w="12700">
            <a:solidFill>
              <a:srgbClr val="DC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94776" y="1965960"/>
            <a:ext cx="309981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F5597"/>
                </a:solidFill>
                <a:latin typeface="Aptos"/>
              </a:rPr>
              <a:t>TERMINATION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0496" y="2331720"/>
            <a:ext cx="3017520" cy="2423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323"/>
                </a:solidFill>
                <a:latin typeface="Aptos"/>
              </a:rPr>
              <a:t>The loop stops with i = 0. The invariant becomes total = 1+2+...+n.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943600"/>
            <a:ext cx="10469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7365D"/>
                </a:solidFill>
                <a:latin typeface="Aptos"/>
              </a:rPr>
              <a:t>The direction changed, so the invariant changed—but the proof pattern did not.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68328" y="6419088"/>
            <a:ext cx="310896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A646E"/>
                </a:solidFill>
                <a:latin typeface="Aptos"/>
              </a:rPr>
              <a:t>43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38328"/>
            <a:ext cx="22860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2F5597"/>
                </a:solidFill>
                <a:latin typeface="Aptos"/>
              </a:rPr>
              <a:t>WORKED EXAMPLE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67512"/>
            <a:ext cx="111556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7365D"/>
                </a:solidFill>
                <a:latin typeface="Aptos"/>
              </a:rPr>
              <a:t>PRODUCT: compute 1 × 2 × ... × 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216152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A646E"/>
                </a:solidFill>
                <a:latin typeface="Aptos"/>
              </a:rPr>
              <a:t>Use n = 4. First trace the loop before trying to write an invariant.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3977639" cy="3429000"/>
          </a:xfrm>
          <a:prstGeom prst="roundRect">
            <a:avLst/>
          </a:prstGeom>
          <a:solidFill>
            <a:srgbClr val="EEF6F9"/>
          </a:solidFill>
          <a:ln w="12700">
            <a:solidFill>
              <a:srgbClr val="DC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920240"/>
            <a:ext cx="364845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F5597"/>
                </a:solidFill>
                <a:latin typeface="Aptos"/>
              </a:rPr>
              <a:t>ALGORITHM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67712"/>
            <a:ext cx="3611879" cy="2880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323"/>
                </a:solidFill>
                <a:latin typeface="Aptos Mono"/>
              </a:rPr>
              <a:t>PRODUCT(n)
product ← 1
i ← 1
while i ≤ n
    product ← product × i
    i ← i + 1
return product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66360" y="1828800"/>
            <a:ext cx="5989320" cy="914400"/>
          </a:xfrm>
          <a:prstGeom prst="roundRect">
            <a:avLst/>
          </a:prstGeom>
          <a:solidFill>
            <a:srgbClr val="F5F9FE"/>
          </a:solidFill>
          <a:ln w="12700">
            <a:solidFill>
              <a:srgbClr val="DC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30952" y="1920240"/>
            <a:ext cx="566013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F5597"/>
                </a:solidFill>
                <a:latin typeface="Aptos"/>
              </a:rPr>
              <a:t>CONCRETE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194560"/>
            <a:ext cx="5440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17365D"/>
                </a:solidFill>
                <a:latin typeface="Aptos"/>
              </a:rPr>
              <a:t>n = 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66360" y="3063240"/>
            <a:ext cx="5989320" cy="1325880"/>
          </a:xfrm>
          <a:prstGeom prst="roundRect">
            <a:avLst/>
          </a:prstGeom>
          <a:solidFill>
            <a:srgbClr val="F5F9FE"/>
          </a:solidFill>
          <a:ln w="12700">
            <a:solidFill>
              <a:srgbClr val="DC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30952" y="3154680"/>
            <a:ext cx="566013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F5597"/>
                </a:solidFill>
                <a:latin typeface="Aptos"/>
              </a:rPr>
              <a:t>INITIAL STATE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3447288"/>
            <a:ext cx="5440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232323"/>
                </a:solidFill>
                <a:latin typeface="Aptos"/>
              </a:rPr>
              <a:t>i = 1      product =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943600"/>
            <a:ext cx="10469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7365D"/>
                </a:solidFill>
                <a:latin typeface="Aptos"/>
              </a:rPr>
              <a:t>Question: after some factors have been processed, what exactly does product contain?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68328" y="6419088"/>
            <a:ext cx="310896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A646E"/>
                </a:solidFill>
                <a:latin typeface="Aptos"/>
              </a:rPr>
              <a:t>45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38328"/>
            <a:ext cx="22860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2F5597"/>
                </a:solidFill>
                <a:latin typeface="Aptos"/>
              </a:rPr>
              <a:t>TRACE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67512"/>
            <a:ext cx="111556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7365D"/>
                </a:solidFill>
                <a:latin typeface="Aptos"/>
              </a:rPr>
              <a:t>Trace PRODUCT for n =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216152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A646E"/>
                </a:solidFill>
                <a:latin typeface="Aptos"/>
              </a:rPr>
              <a:t>At each checkpoint, product contains every factor already processed.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68680" y="1874519"/>
          <a:ext cx="104241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6040"/>
                <a:gridCol w="2606040"/>
                <a:gridCol w="2606040"/>
                <a:gridCol w="260604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Checkpoint</a:t>
                      </a:r>
                    </a:p>
                  </a:txBody>
                  <a:tcPr marL="45720" marR="45720" marT="27432" marB="27432" anchor="ctr">
                    <a:solidFill>
                      <a:srgbClr val="17365D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i</a:t>
                      </a:r>
                    </a:p>
                  </a:txBody>
                  <a:tcPr marL="45720" marR="45720" marT="27432" marB="27432" anchor="ctr">
                    <a:solidFill>
                      <a:srgbClr val="17365D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product</a:t>
                      </a:r>
                    </a:p>
                  </a:txBody>
                  <a:tcPr marL="45720" marR="45720" marT="27432" marB="27432" anchor="ctr">
                    <a:solidFill>
                      <a:srgbClr val="17365D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Factors already included</a:t>
                      </a:r>
                    </a:p>
                  </a:txBody>
                  <a:tcPr marL="45720" marR="45720" marT="27432" marB="27432" anchor="ctr">
                    <a:solidFill>
                      <a:srgbClr val="17365D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2323"/>
                          </a:solidFill>
                          <a:latin typeface="Aptos"/>
                        </a:rPr>
                        <a:t>Before iter. 1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2323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2323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2323"/>
                          </a:solidFill>
                          <a:latin typeface="Aptos"/>
                        </a:rPr>
                        <a:t>none (empty product = 1)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2323"/>
                          </a:solidFill>
                          <a:latin typeface="Aptos"/>
                        </a:rPr>
                        <a:t>Before iter. 2</a:t>
                      </a:r>
                    </a:p>
                  </a:txBody>
                  <a:tcPr marL="45720" marR="45720" marT="27432" marB="27432" anchor="ctr">
                    <a:solidFill>
                      <a:srgbClr val="F5F9FE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2323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45720" marR="45720" marT="27432" marB="27432" anchor="ctr">
                    <a:solidFill>
                      <a:srgbClr val="F5F9FE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2323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45720" marR="45720" marT="27432" marB="27432" anchor="ctr">
                    <a:solidFill>
                      <a:srgbClr val="F5F9FE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2323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45720" marR="45720" marT="27432" marB="27432" anchor="ctr">
                    <a:solidFill>
                      <a:srgbClr val="F5F9FE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2323"/>
                          </a:solidFill>
                          <a:latin typeface="Aptos"/>
                        </a:rPr>
                        <a:t>Before iter. 3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2323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2323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2323"/>
                          </a:solidFill>
                          <a:latin typeface="Aptos"/>
                        </a:rPr>
                        <a:t>1 × 2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2323"/>
                          </a:solidFill>
                          <a:latin typeface="Aptos"/>
                        </a:rPr>
                        <a:t>Before iter. 4</a:t>
                      </a:r>
                    </a:p>
                  </a:txBody>
                  <a:tcPr marL="45720" marR="45720" marT="27432" marB="27432" anchor="ctr">
                    <a:solidFill>
                      <a:srgbClr val="F5F9FE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2323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45720" marR="45720" marT="27432" marB="27432" anchor="ctr">
                    <a:solidFill>
                      <a:srgbClr val="F5F9FE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2323"/>
                          </a:solidFill>
                          <a:latin typeface="Aptos"/>
                        </a:rPr>
                        <a:t>6</a:t>
                      </a:r>
                    </a:p>
                  </a:txBody>
                  <a:tcPr marL="45720" marR="45720" marT="27432" marB="27432" anchor="ctr">
                    <a:solidFill>
                      <a:srgbClr val="F5F9FE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2323"/>
                          </a:solidFill>
                          <a:latin typeface="Aptos"/>
                        </a:rPr>
                        <a:t>1 × 2 × 3</a:t>
                      </a:r>
                    </a:p>
                  </a:txBody>
                  <a:tcPr marL="45720" marR="45720" marT="27432" marB="27432" anchor="ctr">
                    <a:solidFill>
                      <a:srgbClr val="F5F9FE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2323"/>
                          </a:solidFill>
                          <a:latin typeface="Aptos"/>
                        </a:rPr>
                        <a:t>After loop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2323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2323"/>
                          </a:solidFill>
                          <a:latin typeface="Aptos"/>
                        </a:rPr>
                        <a:t>24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2323"/>
                          </a:solidFill>
                          <a:latin typeface="Aptos"/>
                        </a:rPr>
                        <a:t>1 × 2 × 3 × 4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68680" y="5943600"/>
            <a:ext cx="10469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7365D"/>
                </a:solidFill>
                <a:latin typeface="Aptos"/>
              </a:rPr>
              <a:t>The value changes, but its meaning follows one consistent rule.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68328" y="6419088"/>
            <a:ext cx="310896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A646E"/>
                </a:solidFill>
                <a:latin typeface="Aptos"/>
              </a:rPr>
              <a:t>46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38328"/>
            <a:ext cx="22860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2F5597"/>
                </a:solidFill>
                <a:latin typeface="Aptos"/>
              </a:rPr>
              <a:t>DISCOVER THE INVARIANT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67512"/>
            <a:ext cx="111556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7365D"/>
                </a:solidFill>
                <a:latin typeface="Aptos"/>
              </a:rPr>
              <a:t>What stays true in PRODUCT?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216152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A646E"/>
                </a:solidFill>
                <a:latin typeface="Aptos"/>
              </a:rPr>
              <a:t>Describe the factors already processed at the start of iteration 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874519"/>
            <a:ext cx="4709160" cy="2468880"/>
          </a:xfrm>
          <a:prstGeom prst="roundRect">
            <a:avLst/>
          </a:prstGeom>
          <a:solidFill>
            <a:srgbClr val="F5F9FE"/>
          </a:solidFill>
          <a:ln w="12700">
            <a:solidFill>
              <a:srgbClr val="DC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1" y="1965960"/>
            <a:ext cx="437997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F5597"/>
                </a:solidFill>
                <a:latin typeface="Aptos"/>
              </a:rPr>
              <a:t>PATTERN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423160"/>
            <a:ext cx="41605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32323"/>
                </a:solidFill>
                <a:latin typeface="Aptos Mono"/>
              </a:rPr>
              <a:t>i = 2 → product = 1
i = 3 → product = 1 × 2
i = 4 → product = 1 × 2 ×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874519"/>
            <a:ext cx="5120640" cy="1143000"/>
          </a:xfrm>
          <a:prstGeom prst="roundRect">
            <a:avLst/>
          </a:prstGeom>
          <a:solidFill>
            <a:srgbClr val="F5F9FE"/>
          </a:solidFill>
          <a:ln w="12700">
            <a:solidFill>
              <a:srgbClr val="DC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99631" y="1965960"/>
            <a:ext cx="4791455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F5597"/>
                </a:solidFill>
                <a:latin typeface="Aptos"/>
              </a:rPr>
              <a:t>THE INVARIANT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267712"/>
            <a:ext cx="45720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50" b="1">
                <a:solidFill>
                  <a:srgbClr val="17365D"/>
                </a:solidFill>
                <a:latin typeface="Aptos"/>
              </a:rPr>
              <a:t>product = 1 × 2 × ... × (i−1)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3291840"/>
            <a:ext cx="5120640" cy="1325880"/>
          </a:xfrm>
          <a:prstGeom prst="roundRect">
            <a:avLst/>
          </a:prstGeom>
          <a:solidFill>
            <a:srgbClr val="F5F9FE"/>
          </a:solidFill>
          <a:ln w="12700">
            <a:solidFill>
              <a:srgbClr val="DC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9631" y="3383280"/>
            <a:ext cx="4791455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F5597"/>
                </a:solidFill>
                <a:latin typeface="Aptos"/>
              </a:rPr>
              <a:t>PLAIN ENGLISH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3657600"/>
            <a:ext cx="45720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232323"/>
                </a:solidFill>
                <a:latin typeface="Aptos"/>
              </a:rPr>
              <a:t>At the start of iteration i, product is the product of all integers already processed: 1 through i−1.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943600"/>
            <a:ext cx="10469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7365D"/>
                </a:solidFill>
                <a:latin typeface="Aptos"/>
              </a:rPr>
              <a:t>The empty product is defined as 1, which makes initialization at i = 1 work.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68328" y="6419088"/>
            <a:ext cx="310896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A646E"/>
                </a:solidFill>
                <a:latin typeface="Aptos"/>
              </a:rPr>
              <a:t>47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38328"/>
            <a:ext cx="22860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2F5597"/>
                </a:solidFill>
                <a:latin typeface="Aptos"/>
              </a:rPr>
              <a:t>PROOF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67512"/>
            <a:ext cx="111556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7365D"/>
                </a:solidFill>
                <a:latin typeface="Aptos"/>
              </a:rPr>
              <a:t>PRODUCT: prove the invariant in three stages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216152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A646E"/>
                </a:solidFill>
                <a:latin typeface="Aptos"/>
              </a:rPr>
              <a:t>The structure is identical to SUM; only the accumulated operation changes.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3429000" cy="3246120"/>
          </a:xfrm>
          <a:prstGeom prst="roundRect">
            <a:avLst/>
          </a:prstGeom>
          <a:solidFill>
            <a:srgbClr val="F5F9FE"/>
          </a:solidFill>
          <a:ln w="12700">
            <a:solidFill>
              <a:srgbClr val="DC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965960"/>
            <a:ext cx="309981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F5597"/>
                </a:solidFill>
                <a:latin typeface="Aptos"/>
              </a:rPr>
              <a:t>INITIALIZATION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331720"/>
            <a:ext cx="3017520" cy="2423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232323"/>
                </a:solidFill>
                <a:latin typeface="Aptos"/>
              </a:rPr>
              <a:t>At i = 1, product = 1. This is the product of the empty set of previously processed factors.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07992" y="1874519"/>
            <a:ext cx="3429000" cy="3246120"/>
          </a:xfrm>
          <a:prstGeom prst="roundRect">
            <a:avLst/>
          </a:prstGeom>
          <a:solidFill>
            <a:srgbClr val="F5F9FE"/>
          </a:solidFill>
          <a:ln w="12700">
            <a:solidFill>
              <a:srgbClr val="DC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72583" y="1965960"/>
            <a:ext cx="309981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F5597"/>
                </a:solidFill>
                <a:latin typeface="Aptos"/>
              </a:rPr>
              <a:t>MAINTENANCE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18304" y="2331720"/>
            <a:ext cx="3017520" cy="2423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232323"/>
                </a:solidFill>
                <a:latin typeface="Aptos"/>
              </a:rPr>
              <a:t>Assume product = 1×...×(i−1). Multiply by i, then increment i. The new product equals 1×...×i.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30183" y="1874519"/>
            <a:ext cx="3429000" cy="3246120"/>
          </a:xfrm>
          <a:prstGeom prst="roundRect">
            <a:avLst/>
          </a:prstGeom>
          <a:solidFill>
            <a:srgbClr val="F5F9FE"/>
          </a:solidFill>
          <a:ln w="12700">
            <a:solidFill>
              <a:srgbClr val="DC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94776" y="1965960"/>
            <a:ext cx="309981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F5597"/>
                </a:solidFill>
                <a:latin typeface="Aptos"/>
              </a:rPr>
              <a:t>TERMINATION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0496" y="2331720"/>
            <a:ext cx="3017520" cy="2423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232323"/>
                </a:solidFill>
                <a:latin typeface="Aptos"/>
              </a:rPr>
              <a:t>The loop stops with i = n+1. The invariant gives product = 1×2×...×n.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943600"/>
            <a:ext cx="10469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7365D"/>
                </a:solidFill>
                <a:latin typeface="Aptos"/>
              </a:rPr>
              <a:t>A decreasing measure such as n − i + 1 also shows that the loop terminates.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68328" y="6419088"/>
            <a:ext cx="310896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A646E"/>
                </a:solidFill>
                <a:latin typeface="Aptos"/>
              </a:rPr>
              <a:t>48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38328"/>
            <a:ext cx="22860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2F5597"/>
                </a:solidFill>
                <a:latin typeface="Aptos"/>
              </a:rPr>
              <a:t>WORKED EXAMPLE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67512"/>
            <a:ext cx="111556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7365D"/>
                </a:solidFill>
                <a:latin typeface="Aptos"/>
              </a:rPr>
              <a:t>COUNT POSITIVES: count positive values in an array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216152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A646E"/>
                </a:solidFill>
                <a:latin typeface="Aptos"/>
              </a:rPr>
              <a:t>Trace a concrete array and watch what count means after each processed element.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3977639" cy="3337560"/>
          </a:xfrm>
          <a:prstGeom prst="roundRect">
            <a:avLst/>
          </a:prstGeom>
          <a:solidFill>
            <a:srgbClr val="EEF6F9"/>
          </a:solidFill>
          <a:ln w="12700">
            <a:solidFill>
              <a:srgbClr val="DC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920240"/>
            <a:ext cx="364845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F5597"/>
                </a:solidFill>
                <a:latin typeface="Aptos"/>
              </a:rPr>
              <a:t>ALGORITHM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67712"/>
            <a:ext cx="3611879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323"/>
                </a:solidFill>
                <a:latin typeface="Aptos Mono"/>
              </a:rPr>
              <a:t>COUNT-POSITIVE(A)
count ← 0
for i ← 0 to n−1
    if A[i] &gt; 0
        count ← count + 1
return count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66360" y="1828800"/>
            <a:ext cx="5989320" cy="960120"/>
          </a:xfrm>
          <a:prstGeom prst="roundRect">
            <a:avLst/>
          </a:prstGeom>
          <a:solidFill>
            <a:srgbClr val="F5F9FE"/>
          </a:solidFill>
          <a:ln w="12700">
            <a:solidFill>
              <a:srgbClr val="DC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30952" y="1920240"/>
            <a:ext cx="566013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F5597"/>
                </a:solidFill>
                <a:latin typeface="Aptos"/>
              </a:rPr>
              <a:t>CONCRETE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194560"/>
            <a:ext cx="54406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50" b="1">
                <a:solidFill>
                  <a:srgbClr val="17365D"/>
                </a:solidFill>
                <a:latin typeface="Aptos"/>
              </a:rPr>
              <a:t>A = [3, −1, 0, 7, −4, 2]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66360" y="3154680"/>
            <a:ext cx="5989320" cy="1234440"/>
          </a:xfrm>
          <a:prstGeom prst="roundRect">
            <a:avLst/>
          </a:prstGeom>
          <a:solidFill>
            <a:srgbClr val="F5F9FE"/>
          </a:solidFill>
          <a:ln w="12700">
            <a:solidFill>
              <a:srgbClr val="DC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30952" y="3246120"/>
            <a:ext cx="566013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F5597"/>
                </a:solidFill>
                <a:latin typeface="Aptos"/>
              </a:rPr>
              <a:t>INITIAL STATE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3538728"/>
            <a:ext cx="5440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232323"/>
                </a:solidFill>
                <a:latin typeface="Aptos"/>
              </a:rPr>
              <a:t>i = 0      count = 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943600"/>
            <a:ext cx="10469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7365D"/>
                </a:solidFill>
                <a:latin typeface="Aptos"/>
              </a:rPr>
              <a:t>Question: what does count represent in the prefix A[0..i−1]?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68328" y="6419088"/>
            <a:ext cx="310896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A646E"/>
                </a:solidFill>
                <a:latin typeface="Aptos"/>
              </a:rPr>
              <a:t>49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38328"/>
            <a:ext cx="22860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2F5597"/>
                </a:solidFill>
                <a:latin typeface="Aptos"/>
              </a:rPr>
              <a:t>TRACE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67512"/>
            <a:ext cx="111556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7365D"/>
                </a:solidFill>
                <a:latin typeface="Aptos"/>
              </a:rPr>
              <a:t>Trace COUNT POSITIVES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216152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A646E"/>
                </a:solidFill>
                <a:latin typeface="Aptos"/>
              </a:rPr>
              <a:t>The prefix before i has been completely processed at each loop check.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38912" y="1828800"/>
          <a:ext cx="1129284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2140"/>
                <a:gridCol w="1882140"/>
                <a:gridCol w="1882140"/>
                <a:gridCol w="1882140"/>
                <a:gridCol w="1882140"/>
                <a:gridCol w="188214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Aptos"/>
                        </a:rPr>
                        <a:t>Checkpoint</a:t>
                      </a:r>
                    </a:p>
                  </a:txBody>
                  <a:tcPr marL="45720" marR="45720" marT="27432" marB="27432" anchor="ctr">
                    <a:solidFill>
                      <a:srgbClr val="17365D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Aptos"/>
                        </a:rPr>
                        <a:t>i</a:t>
                      </a:r>
                    </a:p>
                  </a:txBody>
                  <a:tcPr marL="45720" marR="45720" marT="27432" marB="27432" anchor="ctr">
                    <a:solidFill>
                      <a:srgbClr val="17365D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Aptos"/>
                        </a:rPr>
                        <a:t>A[i]</a:t>
                      </a:r>
                    </a:p>
                  </a:txBody>
                  <a:tcPr marL="45720" marR="45720" marT="27432" marB="27432" anchor="ctr">
                    <a:solidFill>
                      <a:srgbClr val="17365D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Aptos"/>
                        </a:rPr>
                        <a:t>count before</a:t>
                      </a:r>
                    </a:p>
                  </a:txBody>
                  <a:tcPr marL="45720" marR="45720" marT="27432" marB="27432" anchor="ctr">
                    <a:solidFill>
                      <a:srgbClr val="17365D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Aptos"/>
                        </a:rPr>
                        <a:t>count after</a:t>
                      </a:r>
                    </a:p>
                  </a:txBody>
                  <a:tcPr marL="45720" marR="45720" marT="27432" marB="27432" anchor="ctr">
                    <a:solidFill>
                      <a:srgbClr val="17365D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Aptos"/>
                        </a:rPr>
                        <a:t>Positives seen</a:t>
                      </a:r>
                    </a:p>
                  </a:txBody>
                  <a:tcPr marL="45720" marR="45720" marT="27432" marB="27432" anchor="ctr">
                    <a:solidFill>
                      <a:srgbClr val="17365D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323"/>
                          </a:solidFill>
                          <a:latin typeface="Aptos"/>
                        </a:rPr>
                        <a:t>Before 0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323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323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323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323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323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323"/>
                          </a:solidFill>
                          <a:latin typeface="Aptos"/>
                        </a:rPr>
                        <a:t>Before 1</a:t>
                      </a:r>
                    </a:p>
                  </a:txBody>
                  <a:tcPr marL="45720" marR="45720" marT="27432" marB="27432" anchor="ctr">
                    <a:solidFill>
                      <a:srgbClr val="F5F9FE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323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45720" marR="45720" marT="27432" marB="27432" anchor="ctr">
                    <a:solidFill>
                      <a:srgbClr val="F5F9FE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323"/>
                          </a:solidFill>
                          <a:latin typeface="Aptos"/>
                        </a:rPr>
                        <a:t>−1</a:t>
                      </a:r>
                    </a:p>
                  </a:txBody>
                  <a:tcPr marL="45720" marR="45720" marT="27432" marB="27432" anchor="ctr">
                    <a:solidFill>
                      <a:srgbClr val="F5F9FE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323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45720" marR="45720" marT="27432" marB="27432" anchor="ctr">
                    <a:solidFill>
                      <a:srgbClr val="F5F9FE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323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45720" marR="45720" marT="27432" marB="27432" anchor="ctr">
                    <a:solidFill>
                      <a:srgbClr val="F5F9FE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323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45720" marR="45720" marT="27432" marB="27432" anchor="ctr">
                    <a:solidFill>
                      <a:srgbClr val="F5F9FE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323"/>
                          </a:solidFill>
                          <a:latin typeface="Aptos"/>
                        </a:rPr>
                        <a:t>Before 2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323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323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323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323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323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323"/>
                          </a:solidFill>
                          <a:latin typeface="Aptos"/>
                        </a:rPr>
                        <a:t>Before 3</a:t>
                      </a:r>
                    </a:p>
                  </a:txBody>
                  <a:tcPr marL="45720" marR="45720" marT="27432" marB="27432" anchor="ctr">
                    <a:solidFill>
                      <a:srgbClr val="F5F9FE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323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45720" marR="45720" marT="27432" marB="27432" anchor="ctr">
                    <a:solidFill>
                      <a:srgbClr val="F5F9FE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323"/>
                          </a:solidFill>
                          <a:latin typeface="Aptos"/>
                        </a:rPr>
                        <a:t>7</a:t>
                      </a:r>
                    </a:p>
                  </a:txBody>
                  <a:tcPr marL="45720" marR="45720" marT="27432" marB="27432" anchor="ctr">
                    <a:solidFill>
                      <a:srgbClr val="F5F9FE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323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45720" marR="45720" marT="27432" marB="27432" anchor="ctr">
                    <a:solidFill>
                      <a:srgbClr val="F5F9FE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323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45720" marR="45720" marT="27432" marB="27432" anchor="ctr">
                    <a:solidFill>
                      <a:srgbClr val="F5F9FE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323"/>
                          </a:solidFill>
                          <a:latin typeface="Aptos"/>
                        </a:rPr>
                        <a:t>3, 7</a:t>
                      </a:r>
                    </a:p>
                  </a:txBody>
                  <a:tcPr marL="45720" marR="45720" marT="27432" marB="27432" anchor="ctr">
                    <a:solidFill>
                      <a:srgbClr val="F5F9FE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323"/>
                          </a:solidFill>
                          <a:latin typeface="Aptos"/>
                        </a:rPr>
                        <a:t>Before 4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323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323"/>
                          </a:solidFill>
                          <a:latin typeface="Aptos"/>
                        </a:rPr>
                        <a:t>−4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323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323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323"/>
                          </a:solidFill>
                          <a:latin typeface="Aptos"/>
                        </a:rPr>
                        <a:t>3, 7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323"/>
                          </a:solidFill>
                          <a:latin typeface="Aptos"/>
                        </a:rPr>
                        <a:t>Before 5</a:t>
                      </a:r>
                    </a:p>
                  </a:txBody>
                  <a:tcPr marL="45720" marR="45720" marT="27432" marB="27432" anchor="ctr">
                    <a:solidFill>
                      <a:srgbClr val="F5F9FE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323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45720" marR="45720" marT="27432" marB="27432" anchor="ctr">
                    <a:solidFill>
                      <a:srgbClr val="F5F9FE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323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45720" marR="45720" marT="27432" marB="27432" anchor="ctr">
                    <a:solidFill>
                      <a:srgbClr val="F5F9FE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323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45720" marR="45720" marT="27432" marB="27432" anchor="ctr">
                    <a:solidFill>
                      <a:srgbClr val="F5F9FE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323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45720" marR="45720" marT="27432" marB="27432" anchor="ctr">
                    <a:solidFill>
                      <a:srgbClr val="F5F9FE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323"/>
                          </a:solidFill>
                          <a:latin typeface="Aptos"/>
                        </a:rPr>
                        <a:t>3, 7, 2</a:t>
                      </a:r>
                    </a:p>
                  </a:txBody>
                  <a:tcPr marL="45720" marR="45720" marT="27432" marB="27432" anchor="ctr">
                    <a:solidFill>
                      <a:srgbClr val="F5F9FE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68680" y="5943600"/>
            <a:ext cx="10469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7365D"/>
                </a:solidFill>
                <a:latin typeface="Aptos"/>
              </a:rPr>
              <a:t>After the final element, count = 3.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68328" y="6419088"/>
            <a:ext cx="310896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A646E"/>
                </a:solidFill>
                <a:latin typeface="Aptos"/>
              </a:rPr>
              <a:t>50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38328"/>
            <a:ext cx="22860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2F5597"/>
                </a:solidFill>
                <a:latin typeface="Aptos"/>
              </a:rPr>
              <a:t>DISCOVER THE INVARIANT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67512"/>
            <a:ext cx="111556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7365D"/>
                </a:solidFill>
                <a:latin typeface="Aptos"/>
              </a:rPr>
              <a:t>What stays true in COUNT POSITIVES?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216152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A646E"/>
                </a:solidFill>
                <a:latin typeface="Aptos"/>
              </a:rPr>
              <a:t>The accumulator count describes a property of the processed prefix.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4892040" cy="2514600"/>
          </a:xfrm>
          <a:prstGeom prst="roundRect">
            <a:avLst/>
          </a:prstGeom>
          <a:solidFill>
            <a:srgbClr val="F5F9FE"/>
          </a:solidFill>
          <a:ln w="12700">
            <a:solidFill>
              <a:srgbClr val="DC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965960"/>
            <a:ext cx="4562855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F5597"/>
                </a:solidFill>
                <a:latin typeface="Aptos"/>
              </a:rPr>
              <a:t>THE PATTERN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95728"/>
            <a:ext cx="434340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Aptos Mono"/>
              </a:rPr>
              <a:t>Before i = 1 → one positive in A[0..0]
Before i = 3 → one positive in A[0..2]
Before i = 5 → two positives in A[0..4]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1874519"/>
            <a:ext cx="5074920" cy="1143000"/>
          </a:xfrm>
          <a:prstGeom prst="roundRect">
            <a:avLst/>
          </a:prstGeom>
          <a:solidFill>
            <a:srgbClr val="F5F9FE"/>
          </a:solidFill>
          <a:ln w="12700">
            <a:solidFill>
              <a:srgbClr val="DC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45352" y="1965960"/>
            <a:ext cx="474573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F5597"/>
                </a:solidFill>
                <a:latin typeface="Aptos"/>
              </a:rPr>
              <a:t>THE INVARIANT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267712"/>
            <a:ext cx="4526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50" b="1">
                <a:solidFill>
                  <a:srgbClr val="17365D"/>
                </a:solidFill>
                <a:latin typeface="Aptos"/>
              </a:rPr>
              <a:t>count = # positives in A[0 .. i−1]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3291840"/>
            <a:ext cx="5074920" cy="1417320"/>
          </a:xfrm>
          <a:prstGeom prst="roundRect">
            <a:avLst/>
          </a:prstGeom>
          <a:solidFill>
            <a:srgbClr val="F5F9FE"/>
          </a:solidFill>
          <a:ln w="12700">
            <a:solidFill>
              <a:srgbClr val="DC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45352" y="3383280"/>
            <a:ext cx="474573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F5597"/>
                </a:solidFill>
                <a:latin typeface="Aptos"/>
              </a:rPr>
              <a:t>PLAIN ENGLISH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3657600"/>
            <a:ext cx="4526280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232323"/>
                </a:solidFill>
                <a:latin typeface="Aptos"/>
              </a:rPr>
              <a:t>At the start of iteration i, count equals the number of positive values among all elements already processed.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943600"/>
            <a:ext cx="10469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7365D"/>
                </a:solidFill>
                <a:latin typeface="Aptos"/>
              </a:rPr>
              <a:t>The symbol # here simply means 'number of'.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68328" y="6419088"/>
            <a:ext cx="310896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A646E"/>
                </a:solidFill>
                <a:latin typeface="Aptos"/>
              </a:rPr>
              <a:t>51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38328"/>
            <a:ext cx="22860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2F5597"/>
                </a:solidFill>
                <a:latin typeface="Aptos"/>
              </a:rPr>
              <a:t>PROOF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67512"/>
            <a:ext cx="111556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7365D"/>
                </a:solidFill>
                <a:latin typeface="Aptos"/>
              </a:rPr>
              <a:t>COUNT POSITIVES: prove the prefix-count invariant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216152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A646E"/>
                </a:solidFill>
                <a:latin typeface="Aptos"/>
              </a:rPr>
              <a:t>Check initialization, one-step preservation, and the final processed prefix.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3429000" cy="3246120"/>
          </a:xfrm>
          <a:prstGeom prst="roundRect">
            <a:avLst/>
          </a:prstGeom>
          <a:solidFill>
            <a:srgbClr val="F5F9FE"/>
          </a:solidFill>
          <a:ln w="12700">
            <a:solidFill>
              <a:srgbClr val="DC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965960"/>
            <a:ext cx="309981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F5597"/>
                </a:solidFill>
                <a:latin typeface="Aptos"/>
              </a:rPr>
              <a:t>INITIALIZATION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331720"/>
            <a:ext cx="3017520" cy="2423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32323"/>
                </a:solidFill>
                <a:latin typeface="Aptos"/>
              </a:rPr>
              <a:t>At i = 0, the processed prefix is empty and count = 0. There are zero positive values.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07992" y="1874519"/>
            <a:ext cx="3429000" cy="3246120"/>
          </a:xfrm>
          <a:prstGeom prst="roundRect">
            <a:avLst/>
          </a:prstGeom>
          <a:solidFill>
            <a:srgbClr val="F5F9FE"/>
          </a:solidFill>
          <a:ln w="12700">
            <a:solidFill>
              <a:srgbClr val="DC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72583" y="1965960"/>
            <a:ext cx="309981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F5597"/>
                </a:solidFill>
                <a:latin typeface="Aptos"/>
              </a:rPr>
              <a:t>MAINTENANCE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18304" y="2331720"/>
            <a:ext cx="3017520" cy="2423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32323"/>
                </a:solidFill>
                <a:latin typeface="Aptos"/>
              </a:rPr>
              <a:t>If A[i] &gt; 0, increment count; otherwise leave it unchanged. Either way count becomes the positives in A[0..i].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30183" y="1874519"/>
            <a:ext cx="3429000" cy="3246120"/>
          </a:xfrm>
          <a:prstGeom prst="roundRect">
            <a:avLst/>
          </a:prstGeom>
          <a:solidFill>
            <a:srgbClr val="F5F9FE"/>
          </a:solidFill>
          <a:ln w="12700">
            <a:solidFill>
              <a:srgbClr val="DC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94776" y="1965960"/>
            <a:ext cx="309981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F5597"/>
                </a:solidFill>
                <a:latin typeface="Aptos"/>
              </a:rPr>
              <a:t>TERMINATION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0496" y="2331720"/>
            <a:ext cx="3017520" cy="2423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32323"/>
                </a:solidFill>
                <a:latin typeface="Aptos"/>
              </a:rPr>
              <a:t>When i = n, the processed prefix is the entire array, so count is the total number of positive values.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943600"/>
            <a:ext cx="10469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7365D"/>
                </a:solidFill>
                <a:latin typeface="Aptos"/>
              </a:rPr>
              <a:t>The invariant talks about the processed prefix—not about fixed variable values.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68328" y="6419088"/>
            <a:ext cx="310896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A646E"/>
                </a:solidFill>
                <a:latin typeface="Aptos"/>
              </a:rPr>
              <a:t>52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38328"/>
            <a:ext cx="22860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2F5597"/>
                </a:solidFill>
                <a:latin typeface="Aptos"/>
              </a:rPr>
              <a:t>WORKED EXAMPLE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67512"/>
            <a:ext cx="111556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7365D"/>
                </a:solidFill>
                <a:latin typeface="Aptos"/>
              </a:rPr>
              <a:t>MIN(A): adapt the MAX reasoning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216152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A646E"/>
                </a:solidFill>
                <a:latin typeface="Aptos"/>
              </a:rPr>
              <a:t>The structure is nearly identical to MAX, but the comparison direction changes.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3977639" cy="3337560"/>
          </a:xfrm>
          <a:prstGeom prst="roundRect">
            <a:avLst/>
          </a:prstGeom>
          <a:solidFill>
            <a:srgbClr val="EEF6F9"/>
          </a:solidFill>
          <a:ln w="12700">
            <a:solidFill>
              <a:srgbClr val="DC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920240"/>
            <a:ext cx="364845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F5597"/>
                </a:solidFill>
                <a:latin typeface="Aptos"/>
              </a:rPr>
              <a:t>ALGORITHM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67712"/>
            <a:ext cx="3611879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323"/>
                </a:solidFill>
                <a:latin typeface="Aptos Mono"/>
              </a:rPr>
              <a:t>MIN(A)
smallest ← A[0]
for i ← 1 to n−1
    if A[i] &lt; smallest
        smallest ← A[i]
return smallest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66360" y="1828800"/>
            <a:ext cx="5989320" cy="960120"/>
          </a:xfrm>
          <a:prstGeom prst="roundRect">
            <a:avLst/>
          </a:prstGeom>
          <a:solidFill>
            <a:srgbClr val="F5F9FE"/>
          </a:solidFill>
          <a:ln w="12700">
            <a:solidFill>
              <a:srgbClr val="DC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30952" y="1920240"/>
            <a:ext cx="566013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F5597"/>
                </a:solidFill>
                <a:latin typeface="Aptos"/>
              </a:rPr>
              <a:t>CONCRETE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194560"/>
            <a:ext cx="54406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50" b="1">
                <a:solidFill>
                  <a:srgbClr val="17365D"/>
                </a:solidFill>
                <a:latin typeface="Aptos"/>
              </a:rPr>
              <a:t>A = [8, 3, 12, 5, 1, 10]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66360" y="3154680"/>
            <a:ext cx="5989320" cy="1234440"/>
          </a:xfrm>
          <a:prstGeom prst="roundRect">
            <a:avLst/>
          </a:prstGeom>
          <a:solidFill>
            <a:srgbClr val="F5F9FE"/>
          </a:solidFill>
          <a:ln w="12700">
            <a:solidFill>
              <a:srgbClr val="DC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30952" y="3246120"/>
            <a:ext cx="566013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F5597"/>
                </a:solidFill>
                <a:latin typeface="Aptos"/>
              </a:rPr>
              <a:t>INITIAL STATE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3538728"/>
            <a:ext cx="5440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232323"/>
                </a:solidFill>
                <a:latin typeface="Aptos"/>
              </a:rPr>
              <a:t>smallest = 8      i =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943600"/>
            <a:ext cx="10469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7365D"/>
                </a:solidFill>
                <a:latin typeface="Aptos"/>
              </a:rPr>
              <a:t>Question: what should smallest mean after each larger processed prefix?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68328" y="6419088"/>
            <a:ext cx="310896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A646E"/>
                </a:solidFill>
                <a:latin typeface="Aptos"/>
              </a:rPr>
              <a:t>53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38328"/>
            <a:ext cx="22860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2F5597"/>
                </a:solidFill>
                <a:latin typeface="Aptos"/>
              </a:rPr>
              <a:t>TRACE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67512"/>
            <a:ext cx="111556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7365D"/>
                </a:solidFill>
                <a:latin typeface="Aptos"/>
              </a:rPr>
              <a:t>Trace MIN(A)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216152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A646E"/>
                </a:solidFill>
                <a:latin typeface="Aptos"/>
              </a:rPr>
              <a:t>Update smallest only when the newly processed value is smaller.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60120" y="1828800"/>
          <a:ext cx="102412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8256"/>
                <a:gridCol w="2048256"/>
                <a:gridCol w="2048256"/>
                <a:gridCol w="2048256"/>
                <a:gridCol w="2048256"/>
              </a:tblGrid>
              <a:tr h="509451">
                <a:tc>
                  <a:txBody>
                    <a:bodyPr/>
                    <a:lstStyle/>
                    <a:p>
                      <a:pPr algn="ctr"/>
                      <a:r>
                        <a:rPr sz="1030" b="1">
                          <a:solidFill>
                            <a:srgbClr val="FFFFFF"/>
                          </a:solidFill>
                          <a:latin typeface="Aptos"/>
                        </a:rPr>
                        <a:t>Checkpoint</a:t>
                      </a:r>
                    </a:p>
                  </a:txBody>
                  <a:tcPr marL="45720" marR="45720" marT="27432" marB="27432" anchor="ctr">
                    <a:solidFill>
                      <a:srgbClr val="17365D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1">
                          <a:solidFill>
                            <a:srgbClr val="FFFFFF"/>
                          </a:solidFill>
                          <a:latin typeface="Aptos"/>
                        </a:rPr>
                        <a:t>i</a:t>
                      </a:r>
                    </a:p>
                  </a:txBody>
                  <a:tcPr marL="45720" marR="45720" marT="27432" marB="27432" anchor="ctr">
                    <a:solidFill>
                      <a:srgbClr val="17365D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1">
                          <a:solidFill>
                            <a:srgbClr val="FFFFFF"/>
                          </a:solidFill>
                          <a:latin typeface="Aptos"/>
                        </a:rPr>
                        <a:t>A[i]</a:t>
                      </a:r>
                    </a:p>
                  </a:txBody>
                  <a:tcPr marL="45720" marR="45720" marT="27432" marB="27432" anchor="ctr">
                    <a:solidFill>
                      <a:srgbClr val="17365D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1">
                          <a:solidFill>
                            <a:srgbClr val="FFFFFF"/>
                          </a:solidFill>
                          <a:latin typeface="Aptos"/>
                        </a:rPr>
                        <a:t>smallest before</a:t>
                      </a:r>
                    </a:p>
                  </a:txBody>
                  <a:tcPr marL="45720" marR="45720" marT="27432" marB="27432" anchor="ctr">
                    <a:solidFill>
                      <a:srgbClr val="17365D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1">
                          <a:solidFill>
                            <a:srgbClr val="FFFFFF"/>
                          </a:solidFill>
                          <a:latin typeface="Aptos"/>
                        </a:rPr>
                        <a:t>smallest after</a:t>
                      </a:r>
                    </a:p>
                  </a:txBody>
                  <a:tcPr marL="45720" marR="45720" marT="27432" marB="27432" anchor="ctr">
                    <a:solidFill>
                      <a:srgbClr val="17365D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232323"/>
                          </a:solidFill>
                          <a:latin typeface="Aptos"/>
                        </a:rPr>
                        <a:t>Before 1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232323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232323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232323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232323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232323"/>
                          </a:solidFill>
                          <a:latin typeface="Aptos"/>
                        </a:rPr>
                        <a:t>Before 2</a:t>
                      </a:r>
                    </a:p>
                  </a:txBody>
                  <a:tcPr marL="45720" marR="45720" marT="27432" marB="27432" anchor="ctr">
                    <a:solidFill>
                      <a:srgbClr val="F5F9FE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232323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45720" marR="45720" marT="27432" marB="27432" anchor="ctr">
                    <a:solidFill>
                      <a:srgbClr val="F5F9FE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232323"/>
                          </a:solidFill>
                          <a:latin typeface="Aptos"/>
                        </a:rPr>
                        <a:t>12</a:t>
                      </a:r>
                    </a:p>
                  </a:txBody>
                  <a:tcPr marL="45720" marR="45720" marT="27432" marB="27432" anchor="ctr">
                    <a:solidFill>
                      <a:srgbClr val="F5F9FE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232323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45720" marR="45720" marT="27432" marB="27432" anchor="ctr">
                    <a:solidFill>
                      <a:srgbClr val="F5F9FE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232323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45720" marR="45720" marT="27432" marB="27432" anchor="ctr">
                    <a:solidFill>
                      <a:srgbClr val="F5F9FE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232323"/>
                          </a:solidFill>
                          <a:latin typeface="Aptos"/>
                        </a:rPr>
                        <a:t>Before 3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232323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232323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232323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232323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232323"/>
                          </a:solidFill>
                          <a:latin typeface="Aptos"/>
                        </a:rPr>
                        <a:t>Before 4</a:t>
                      </a:r>
                    </a:p>
                  </a:txBody>
                  <a:tcPr marL="45720" marR="45720" marT="27432" marB="27432" anchor="ctr">
                    <a:solidFill>
                      <a:srgbClr val="F5F9FE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232323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45720" marR="45720" marT="27432" marB="27432" anchor="ctr">
                    <a:solidFill>
                      <a:srgbClr val="F5F9FE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232323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45720" marR="45720" marT="27432" marB="27432" anchor="ctr">
                    <a:solidFill>
                      <a:srgbClr val="F5F9FE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232323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45720" marR="45720" marT="27432" marB="27432" anchor="ctr">
                    <a:solidFill>
                      <a:srgbClr val="F5F9FE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232323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45720" marR="45720" marT="27432" marB="27432" anchor="ctr">
                    <a:solidFill>
                      <a:srgbClr val="F5F9FE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232323"/>
                          </a:solidFill>
                          <a:latin typeface="Aptos"/>
                        </a:rPr>
                        <a:t>Before 5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232323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232323"/>
                          </a:solidFill>
                          <a:latin typeface="Aptos"/>
                        </a:rPr>
                        <a:t>10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232323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232323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</a:tr>
              <a:tr h="509454"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232323"/>
                          </a:solidFill>
                          <a:latin typeface="Aptos"/>
                        </a:rPr>
                        <a:t>After loop</a:t>
                      </a:r>
                    </a:p>
                  </a:txBody>
                  <a:tcPr marL="45720" marR="45720" marT="27432" marB="27432" anchor="ctr">
                    <a:solidFill>
                      <a:srgbClr val="F5F9FE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232323"/>
                          </a:solidFill>
                          <a:latin typeface="Aptos"/>
                        </a:rPr>
                        <a:t>6</a:t>
                      </a:r>
                    </a:p>
                  </a:txBody>
                  <a:tcPr marL="45720" marR="45720" marT="27432" marB="27432" anchor="ctr">
                    <a:solidFill>
                      <a:srgbClr val="F5F9FE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232323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45720" marR="45720" marT="27432" marB="27432" anchor="ctr">
                    <a:solidFill>
                      <a:srgbClr val="F5F9FE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232323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45720" marR="45720" marT="27432" marB="27432" anchor="ctr">
                    <a:solidFill>
                      <a:srgbClr val="F5F9FE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232323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45720" marR="45720" marT="27432" marB="27432" anchor="ctr">
                    <a:solidFill>
                      <a:srgbClr val="F5F9FE"/>
                    </a:solidFill>
                    <a:lnL w="6350">
                      <a:solidFill>
                        <a:srgbClr val="B7C4D2"/>
                      </a:solidFill>
                    </a:lnL>
                    <a:lnR w="6350">
                      <a:solidFill>
                        <a:srgbClr val="B7C4D2"/>
                      </a:solidFill>
                    </a:lnR>
                    <a:lnT w="6350">
                      <a:solidFill>
                        <a:srgbClr val="B7C4D2"/>
                      </a:solidFill>
                    </a:lnT>
                    <a:lnB w="6350">
                      <a:solidFill>
                        <a:srgbClr val="B7C4D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68680" y="5943600"/>
            <a:ext cx="10469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7365D"/>
                </a:solidFill>
                <a:latin typeface="Aptos"/>
              </a:rPr>
              <a:t>By the end, smallest = 1, the minimum of the entire array.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68328" y="6419088"/>
            <a:ext cx="310896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A646E"/>
                </a:solidFill>
                <a:latin typeface="Aptos"/>
              </a:rPr>
              <a:t>54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38328"/>
            <a:ext cx="22860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2F5597"/>
                </a:solidFill>
                <a:latin typeface="Aptos"/>
              </a:rPr>
              <a:t>DISCOVER THE INVARIANT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67512"/>
            <a:ext cx="111556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7365D"/>
                </a:solidFill>
                <a:latin typeface="Aptos"/>
              </a:rPr>
              <a:t>What stays true in MIN(A)?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216152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A646E"/>
                </a:solidFill>
                <a:latin typeface="Aptos"/>
              </a:rPr>
              <a:t>As with MAX, focus on the minimum of the already processed prefix.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874519"/>
            <a:ext cx="4754880" cy="2514600"/>
          </a:xfrm>
          <a:prstGeom prst="roundRect">
            <a:avLst/>
          </a:prstGeom>
          <a:solidFill>
            <a:srgbClr val="F5F9FE"/>
          </a:solidFill>
          <a:ln w="12700">
            <a:solidFill>
              <a:srgbClr val="DC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1" y="1965960"/>
            <a:ext cx="442569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F5597"/>
                </a:solidFill>
                <a:latin typeface="Aptos"/>
              </a:rPr>
              <a:t>PATTERN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404872"/>
            <a:ext cx="420624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232323"/>
                </a:solidFill>
                <a:latin typeface="Aptos Mono"/>
              </a:rPr>
              <a:t>i = 2 → min([8,3]) = 3
i = 3 → min([8,3,12]) = 3
i = 5 → min([8,3,12,5,1]) =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1874519"/>
            <a:ext cx="5074920" cy="1143000"/>
          </a:xfrm>
          <a:prstGeom prst="roundRect">
            <a:avLst/>
          </a:prstGeom>
          <a:solidFill>
            <a:srgbClr val="F5F9FE"/>
          </a:solidFill>
          <a:ln w="12700">
            <a:solidFill>
              <a:srgbClr val="DC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45352" y="1965960"/>
            <a:ext cx="474573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F5597"/>
                </a:solidFill>
                <a:latin typeface="Aptos"/>
              </a:rPr>
              <a:t>THE INVARIANT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267712"/>
            <a:ext cx="4526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17365D"/>
                </a:solidFill>
                <a:latin typeface="Aptos"/>
              </a:rPr>
              <a:t>smallest = min(A[0 .. i−1])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3291840"/>
            <a:ext cx="5074920" cy="1325880"/>
          </a:xfrm>
          <a:prstGeom prst="roundRect">
            <a:avLst/>
          </a:prstGeom>
          <a:solidFill>
            <a:srgbClr val="F5F9FE"/>
          </a:solidFill>
          <a:ln w="12700">
            <a:solidFill>
              <a:srgbClr val="DC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45352" y="3383280"/>
            <a:ext cx="474573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F5597"/>
                </a:solidFill>
                <a:latin typeface="Aptos"/>
              </a:rPr>
              <a:t>PLAIN ENGLISH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3657600"/>
            <a:ext cx="4526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232323"/>
                </a:solidFill>
                <a:latin typeface="Aptos"/>
              </a:rPr>
              <a:t>At the start of iteration i, smallest is the smallest value among all array elements already processed.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943600"/>
            <a:ext cx="10469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7365D"/>
                </a:solidFill>
                <a:latin typeface="Aptos"/>
              </a:rPr>
              <a:t>This is the MAX invariant with 'maximum' replaced by 'minimum'.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68328" y="6419088"/>
            <a:ext cx="310896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A646E"/>
                </a:solidFill>
                <a:latin typeface="Aptos"/>
              </a:rPr>
              <a:t>55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38328"/>
            <a:ext cx="22860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2F5597"/>
                </a:solidFill>
                <a:latin typeface="Aptos"/>
              </a:rPr>
              <a:t>PROOF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67512"/>
            <a:ext cx="111556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7365D"/>
                </a:solidFill>
                <a:latin typeface="Aptos"/>
              </a:rPr>
              <a:t>MIN(A): prove the prefix-minimum invariant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216152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A646E"/>
                </a:solidFill>
                <a:latin typeface="Aptos"/>
              </a:rPr>
              <a:t>The proof mirrors MAX(A), but uses the &lt; comparison.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3429000" cy="3246120"/>
          </a:xfrm>
          <a:prstGeom prst="roundRect">
            <a:avLst/>
          </a:prstGeom>
          <a:solidFill>
            <a:srgbClr val="F5F9FE"/>
          </a:solidFill>
          <a:ln w="12700">
            <a:solidFill>
              <a:srgbClr val="DC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965960"/>
            <a:ext cx="309981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F5597"/>
                </a:solidFill>
                <a:latin typeface="Aptos"/>
              </a:rPr>
              <a:t>INITIALIZATION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331720"/>
            <a:ext cx="3017520" cy="2423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232323"/>
                </a:solidFill>
                <a:latin typeface="Aptos"/>
              </a:rPr>
              <a:t>Before i = 1, only A[0] has been processed, and smallest = A[0].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07992" y="1874519"/>
            <a:ext cx="3429000" cy="3246120"/>
          </a:xfrm>
          <a:prstGeom prst="roundRect">
            <a:avLst/>
          </a:prstGeom>
          <a:solidFill>
            <a:srgbClr val="F5F9FE"/>
          </a:solidFill>
          <a:ln w="12700">
            <a:solidFill>
              <a:srgbClr val="DC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72583" y="1965960"/>
            <a:ext cx="309981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F5597"/>
                </a:solidFill>
                <a:latin typeface="Aptos"/>
              </a:rPr>
              <a:t>MAINTENANCE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18304" y="2331720"/>
            <a:ext cx="3017520" cy="2423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232323"/>
                </a:solidFill>
                <a:latin typeface="Aptos"/>
              </a:rPr>
              <a:t>Compare A[i] with smallest. Updating only when A[i] is smaller makes smallest the minimum of A[0..i].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30183" y="1874519"/>
            <a:ext cx="3429000" cy="3246120"/>
          </a:xfrm>
          <a:prstGeom prst="roundRect">
            <a:avLst/>
          </a:prstGeom>
          <a:solidFill>
            <a:srgbClr val="F5F9FE"/>
          </a:solidFill>
          <a:ln w="12700">
            <a:solidFill>
              <a:srgbClr val="DC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94776" y="1965960"/>
            <a:ext cx="309981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F5597"/>
                </a:solidFill>
                <a:latin typeface="Aptos"/>
              </a:rPr>
              <a:t>TERMINATION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0496" y="2331720"/>
            <a:ext cx="3017520" cy="2423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232323"/>
                </a:solidFill>
                <a:latin typeface="Aptos"/>
              </a:rPr>
              <a:t>When i = n, A[0..n−1] is the entire array, so smallest = min(A).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943600"/>
            <a:ext cx="10469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7365D"/>
                </a:solidFill>
                <a:latin typeface="Aptos"/>
              </a:rPr>
              <a:t>Precondition reminder: A must be finite, non-empty, and its elements comparable.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68328" y="6419088"/>
            <a:ext cx="310896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A646E"/>
                </a:solidFill>
                <a:latin typeface="Aptos"/>
              </a:rPr>
              <a:t>56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COMSATS University Islamabad, Attock Campus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4 — Loop Invariants and Iterative Correctness</dc:title>
  <dc:subject>CSC301 Design and Analysis of Algorithms</dc:subject>
  <dc:creator>OpenAI</dc:creator>
  <cp:lastModifiedBy>OpenAI</cp:lastModifiedBy>
  <cp:revision>1</cp:revision>
  <dcterms:created xsi:type="dcterms:W3CDTF">2026-09-16T11:06:44Z</dcterms:created>
  <dcterms:modified xsi:type="dcterms:W3CDTF">2026-09-16T11:06:44Z</dcterms:modified>
</cp:coreProperties>
</file>