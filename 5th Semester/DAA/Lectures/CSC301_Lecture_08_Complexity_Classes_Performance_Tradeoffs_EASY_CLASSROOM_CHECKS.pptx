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281" r:id="rId27"/>
    <p:sldId id="301" r:id="rId52"/>
    <p:sldId id="282" r:id="rId28"/>
    <p:sldId id="302" r:id="rId53"/>
    <p:sldId id="283" r:id="rId29"/>
    <p:sldId id="303" r:id="rId54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36.xml"/><Relationship Id="rId28" Type="http://schemas.openxmlformats.org/officeDocument/2006/relationships/slide" Target="slides/slide37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slide" Target="slides/slide40.xml"/><Relationship Id="rId32" Type="http://schemas.openxmlformats.org/officeDocument/2006/relationships/slide" Target="slides/slide41.xml"/><Relationship Id="rId33" Type="http://schemas.openxmlformats.org/officeDocument/2006/relationships/slide" Target="slides/slide42.xml"/><Relationship Id="rId34" Type="http://schemas.openxmlformats.org/officeDocument/2006/relationships/slide" Target="slides/slide43.xml"/><Relationship Id="rId35" Type="http://schemas.openxmlformats.org/officeDocument/2006/relationships/slide" Target="slides/slide44.xml"/><Relationship Id="rId36" Type="http://schemas.openxmlformats.org/officeDocument/2006/relationships/slide" Target="slides/slide4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7452360" y="65379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502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Complexity Classes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Tradeoffs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growth classes guide real algorithm choices - without confusing asymptotic theory with actual runtime.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093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0" y="6309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600200" cy="365760"/>
          </a:xfrm>
          <a:prstGeom prst="roundRect">
            <a:avLst>
              <a:gd name="adj" fmla="val 22500"/>
            </a:avLst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3145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31720" y="3063240"/>
            <a:ext cx="1600200" cy="365760"/>
          </a:xfrm>
          <a:prstGeom prst="roundRect">
            <a:avLst>
              <a:gd name="adj" fmla="val 22500"/>
            </a:avLst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377440" y="3145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3063240"/>
            <a:ext cx="1600200" cy="365760"/>
          </a:xfrm>
          <a:prstGeom prst="roundRect">
            <a:avLst>
              <a:gd name="adj" fmla="val 22500"/>
            </a:avLst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60520" y="3145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OFF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97880" y="3063240"/>
            <a:ext cx="1600200" cy="365760"/>
          </a:xfrm>
          <a:prstGeom prst="roundRect">
            <a:avLst>
              <a:gd name="adj" fmla="val 22500"/>
            </a:avLst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0" y="31455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8862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E7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class  →  workload  →  practical cost  →  decision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732520" y="2834640"/>
            <a:ext cx="2514600" cy="1828800"/>
          </a:xfrm>
          <a:prstGeom prst="roundRect">
            <a:avLst>
              <a:gd name="adj" fmla="val 3500"/>
            </a:avLst>
          </a:prstGeom>
          <a:solidFill>
            <a:srgbClr val="153648"/>
          </a:solidFill>
          <a:ln w="12700">
            <a:solidFill>
              <a:srgbClr val="3C596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72600" y="30906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B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34272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D6E0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“what grows faster?”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D6E0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“what should I use?”</a:t>
            </a:r>
            <a:endParaRPr lang="en-US" sz="1120" dirty="0"/>
          </a:p>
        </p:txBody>
      </p:sp>
      <p:sp>
        <p:nvSpPr>
          <p:cNvPr id="20" name="TextBox 19"/>
          <p:cNvSpPr txBox="1"/>
          <p:nvPr/>
        </p:nvSpPr>
        <p:spPr>
          <a:xfrm>
            <a:off x="11631168" y="201168"/>
            <a:ext cx="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1606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you be able to do by the end?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 is about choosing algorithms using the complete workload - not just memorizing Big-O labels.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508760"/>
            <a:ext cx="64008" cy="123444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64592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667512" y="1965960"/>
            <a:ext cx="183794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common complexity classes using realistic input sizes.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34640" y="1508760"/>
            <a:ext cx="64008" cy="12344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99232" y="164592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2999232" y="1965960"/>
            <a:ext cx="183794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two algorithms with the same class can still run differently.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166360" y="15087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166360" y="1508760"/>
            <a:ext cx="64008" cy="123444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30952" y="164592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330952" y="1965960"/>
            <a:ext cx="183794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empirical timing can support theoretical analysis.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498080" y="15087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498080" y="1508760"/>
            <a:ext cx="64008" cy="123444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62672" y="164592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 OFF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662672" y="1965960"/>
            <a:ext cx="183794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about preprocessing, extra memory, and repeated queries.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982980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29800" y="1508760"/>
            <a:ext cx="64008" cy="1234440"/>
          </a:xfrm>
          <a:prstGeom prst="rect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94392" y="164592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994392" y="1965960"/>
            <a:ext cx="151790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which approach fits a given scenario.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1143000" y="3657600"/>
            <a:ext cx="987552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80160" y="377647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the “best” algorithm depends on input size, workload, assumptions, memory, and setup cost - not on one Big-O symbol alone.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Lecture 8 starts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7 already taught growth rates. Today we use them to make decisions.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" cy="201168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17830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7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04672" y="2103120"/>
            <a:ext cx="2798064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basic operations → simplify → classify the growth.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Θ(1), Θ(log n), Θ(n), Θ(n log n), Θ(n²).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886200" y="2651760"/>
            <a:ext cx="960120" cy="0"/>
          </a:xfrm>
          <a:prstGeom prst="line">
            <a:avLst/>
          </a:prstGeom>
          <a:noFill/>
          <a:ln w="2921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83480" y="164592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83480" y="1645920"/>
            <a:ext cx="64008" cy="201168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48072" y="17830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8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5148072" y="2103120"/>
            <a:ext cx="2798064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two valid choices, decide which is better for the actual workload.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cost, repeated queries, memory, hardware, and input size matter.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229600" y="2651760"/>
            <a:ext cx="960120" cy="0"/>
          </a:xfrm>
          <a:prstGeom prst="line">
            <a:avLst/>
          </a:prstGeom>
          <a:noFill/>
          <a:ln w="2921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26880" y="16459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0" y="1645920"/>
            <a:ext cx="64008" cy="201168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91472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9491472" y="2103120"/>
            <a:ext cx="1883664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I actually use?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1920240" y="434340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57400" y="44622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not a new notation lecture. It is a “use the notation intelligently” lecture.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problem - three possible approaches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we repeatedly need to find a student registration number.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463040"/>
            <a:ext cx="64008" cy="274320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160020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LINEAR SEARCH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3072384" cy="2194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from the beginning until the target is found.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Setup: none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Lookup: Θ(n)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space: very low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9120" y="1463040"/>
            <a:ext cx="64008" cy="27432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53712" y="160020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SORT + BINARY SEARCH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53712" y="1920240"/>
            <a:ext cx="3072384" cy="2194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the records first, then repeatedly discard half the search range.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Setup: sorting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Lookup: Θ(log n)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space: depends on sort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183880" y="14630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83880" y="1463040"/>
            <a:ext cx="64008" cy="274320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48472" y="160020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INDEX / HASH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48472" y="1920240"/>
            <a:ext cx="3072384" cy="2194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auxiliary structure for fast lookup.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Setup: build structure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Lookup: often very fast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space: higher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1280160" y="4754880"/>
            <a:ext cx="950976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17320" y="4873752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is not “Which Big-O is smallest?” The question is “Which total cost is best for this workload?”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study: 1,024 student records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simplest question: we need to search once.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2880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819656"/>
            <a:ext cx="26609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 = 1,024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registration number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FA23-BCS-115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6200" y="2240280"/>
            <a:ext cx="914400" cy="0"/>
          </a:xfrm>
          <a:prstGeom prst="line">
            <a:avLst/>
          </a:prstGeom>
          <a:noFill/>
          <a:ln w="3175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83480" y="13258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83480" y="1325880"/>
            <a:ext cx="64008" cy="237744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48072" y="14630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5148072" y="1783080"/>
            <a:ext cx="2432304" cy="1828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the unsorted list immediately using Linear Search.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64008" cy="23774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02752" y="14630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02752" y="1783080"/>
            <a:ext cx="2432304" cy="1828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the list first, then use Binary Search.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4251960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57800" y="43708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search may favor a completely different choice than 10,000 searches.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Search: look one item at a 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preprocessing is needed, so we can start immediately.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029968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48256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58568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28416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46704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57016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26864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4515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55464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25312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0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53912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223760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242048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522208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2CC"/>
          </a:solidFill>
          <a:ln w="1778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40496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50808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820656" y="1874520"/>
            <a:ext cx="960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778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38944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49256" y="2761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980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for 35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3000" y="3246120"/>
            <a:ext cx="7315200" cy="0"/>
          </a:xfrm>
          <a:prstGeom prst="line">
            <a:avLst/>
          </a:prstGeom>
          <a:noFill/>
          <a:ln w="27940">
            <a:solidFill>
              <a:srgbClr val="18B7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508760" y="34107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F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→ 2 → 3 → 4 → 5 → 6 → 7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828800" y="4160520"/>
            <a:ext cx="850392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965960" y="42793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 cost depends on where the target appears. In the worst case it may inspect all n items.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Search: best, average, and worst case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connects directly to the case analysis from Lecture 6.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F0F9F3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600200"/>
            <a:ext cx="64008" cy="214884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CASE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87552" y="2057400"/>
            <a:ext cx="2660904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is the first item.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Comparisons = 1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= Θ(1)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EFF5FC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600200"/>
            <a:ext cx="64008" cy="21488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82312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SUCCESSFUL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782312" y="2057400"/>
            <a:ext cx="2660904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position is spread across the list.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(n+1)/2 comparisons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= Θ(n)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12480" y="1600200"/>
            <a:ext cx="2971800" cy="2148840"/>
          </a:xfrm>
          <a:prstGeom prst="roundRect">
            <a:avLst>
              <a:gd name="adj" fmla="val 3404"/>
            </a:avLst>
          </a:prstGeom>
          <a:solidFill>
            <a:srgbClr val="FFF1E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12480" y="1600200"/>
            <a:ext cx="64008" cy="214884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77072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WORST CASE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577072" y="2057400"/>
            <a:ext cx="2660904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is last or absent.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Comparisons = 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= Θ(n)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1828800" y="438912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FF1EF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65960" y="450799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repeated searches, the linear scan cost is paid again and again.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Search: throw away half every step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is fast because the remaining search range shrinks geometrically.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475488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4632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9576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83664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92808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87752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96896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00984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95928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005072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09160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04104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13248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17336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21424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16368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25512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0456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29600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24544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933688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28632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637776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332720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341864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036808" y="1600200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045952" y="1764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6928" y="12252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7E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for 71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14400" y="278892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14400" y="2788920"/>
            <a:ext cx="64008" cy="11430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78992" y="29260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items</a:t>
            </a:r>
            <a:endParaRPr lang="en-US" sz="1420" dirty="0"/>
          </a:p>
        </p:txBody>
      </p:sp>
      <p:sp>
        <p:nvSpPr>
          <p:cNvPr id="41" name="Text 39"/>
          <p:cNvSpPr/>
          <p:nvPr/>
        </p:nvSpPr>
        <p:spPr>
          <a:xfrm>
            <a:off x="1078992" y="3246120"/>
            <a:ext cx="14721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middle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2724912" y="3355848"/>
            <a:ext cx="246888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063240" y="278892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063240" y="2788920"/>
            <a:ext cx="64008" cy="11430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227832" y="29260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items</a:t>
            </a:r>
            <a:endParaRPr lang="en-US" sz="1420" dirty="0"/>
          </a:p>
        </p:txBody>
      </p:sp>
      <p:sp>
        <p:nvSpPr>
          <p:cNvPr id="46" name="Text 44"/>
          <p:cNvSpPr/>
          <p:nvPr/>
        </p:nvSpPr>
        <p:spPr>
          <a:xfrm>
            <a:off x="3227832" y="3246120"/>
            <a:ext cx="14721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 half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4873752" y="3355848"/>
            <a:ext cx="246888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212080" y="278892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212080" y="2788920"/>
            <a:ext cx="64008" cy="11430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376672" y="29260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items</a:t>
            </a:r>
            <a:endParaRPr lang="en-US" sz="1420" dirty="0"/>
          </a:p>
        </p:txBody>
      </p:sp>
      <p:sp>
        <p:nvSpPr>
          <p:cNvPr id="51" name="Text 49"/>
          <p:cNvSpPr/>
          <p:nvPr/>
        </p:nvSpPr>
        <p:spPr>
          <a:xfrm>
            <a:off x="5376672" y="3246120"/>
            <a:ext cx="14721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 half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7022592" y="3355848"/>
            <a:ext cx="246888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360920" y="278892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360920" y="2788920"/>
            <a:ext cx="64008" cy="11430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525512" y="29260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items</a:t>
            </a:r>
            <a:endParaRPr lang="en-US" sz="1420" dirty="0"/>
          </a:p>
        </p:txBody>
      </p:sp>
      <p:sp>
        <p:nvSpPr>
          <p:cNvPr id="56" name="Text 54"/>
          <p:cNvSpPr/>
          <p:nvPr/>
        </p:nvSpPr>
        <p:spPr>
          <a:xfrm>
            <a:off x="7525512" y="3246120"/>
            <a:ext cx="14721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 half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9171432" y="3355848"/>
            <a:ext cx="246888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509760" y="278892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9509760" y="2788920"/>
            <a:ext cx="64008" cy="114300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9674352" y="29260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item</a:t>
            </a:r>
            <a:endParaRPr lang="en-US" sz="1420" dirty="0"/>
          </a:p>
        </p:txBody>
      </p:sp>
      <p:sp>
        <p:nvSpPr>
          <p:cNvPr id="61" name="Text 59"/>
          <p:cNvSpPr/>
          <p:nvPr/>
        </p:nvSpPr>
        <p:spPr>
          <a:xfrm>
            <a:off x="9674352" y="3246120"/>
            <a:ext cx="14721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1874520" y="4572000"/>
            <a:ext cx="8458200" cy="594360"/>
          </a:xfrm>
          <a:prstGeom prst="roundRect">
            <a:avLst>
              <a:gd name="adj" fmla="val 7692"/>
            </a:avLst>
          </a:prstGeom>
          <a:solidFill>
            <a:srgbClr val="EFF5FC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011680" y="469087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→ 8 → 4 → 2 → 1. Repeated halving is why Binary Search has logarithmic growth.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1,024 items: 1,024 checks vs about 10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asymptotic difference becomes concrete.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709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1463040"/>
            <a:ext cx="64008" cy="306324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87552" y="160020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87552" y="1920240"/>
            <a:ext cx="4398264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case: inspect every record.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1,024 comparisons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Growth: Θ(n)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0" y="1463040"/>
            <a:ext cx="4709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29400" y="1463040"/>
            <a:ext cx="64008" cy="30632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93992" y="160020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SEARCH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793992" y="1920240"/>
            <a:ext cx="4398264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Repeatedly halve the remaining range.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log₂(1,024) = 10 comparisons approximately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Growth: Θ(log 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74520" y="4983480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100× fewer comparisons in this simplified comparison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Binary Search has a requirement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must be sorted first. If it is not sorted, someone has to pay that setup cost.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600200"/>
            <a:ext cx="64008" cy="205740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1832" y="17373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UNSORTED DATA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2569464" cy="1508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use Linear Search immediately.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cost: 0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794760" y="2633472"/>
            <a:ext cx="777240" cy="0"/>
          </a:xfrm>
          <a:prstGeom prst="line">
            <a:avLst/>
          </a:prstGeom>
          <a:noFill/>
          <a:ln w="3048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16002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09160" y="1600200"/>
            <a:ext cx="64008" cy="205740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73752" y="17373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 FIRST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873752" y="2057400"/>
            <a:ext cx="2569464" cy="1508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a one-time preprocessing cost.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comparison sort: Θ(n log n)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726680" y="2633472"/>
            <a:ext cx="777240" cy="0"/>
          </a:xfrm>
          <a:prstGeom prst="line">
            <a:avLst/>
          </a:prstGeom>
          <a:noFill/>
          <a:ln w="3048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41080" y="1600200"/>
            <a:ext cx="2880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41080" y="1600200"/>
            <a:ext cx="64008" cy="20574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05672" y="173736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SEARCH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805672" y="2057400"/>
            <a:ext cx="2569464" cy="1508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each lookup costs Θ(log n).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1828800" y="4434840"/>
            <a:ext cx="845820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965960" y="455371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 operation can still be a bad overall choice if its setup cost is larger than the work it saves.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search: sorting first can be wasteful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n = 1,024 records.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8920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" cy="333756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554480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 - LINEAR SEARCH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96112" y="1874520"/>
            <a:ext cx="4581144" cy="2788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worst-case scan: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1,024 comparisons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≈ 1,024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1417320"/>
            <a:ext cx="48920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37960" y="1417320"/>
            <a:ext cx="64008" cy="333756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02552" y="1554480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 - SORT + BINARY SEARCH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702552" y="1874520"/>
            <a:ext cx="4581144" cy="2788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 sort cost: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1,024 × log₂(1,024) = 10,240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one Binary Search ≈ 10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≈ 10,250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103120" y="4983480"/>
            <a:ext cx="795528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40280" y="510235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single search, Linear Search can be the better practical choice even though Binary Search has the better per-query growth.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searches change the decision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q be the number of searches on the same stable data.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78408" y="1728216"/>
            <a:ext cx="4352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F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total ≈ qn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search scans the list again.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30568" y="1728216"/>
            <a:ext cx="4352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7E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 + Binary ≈ n log n + q log 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1323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the setup cost once, then reuse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54480" y="4069080"/>
            <a:ext cx="9144000" cy="594360"/>
          </a:xfrm>
          <a:prstGeom prst="roundRect">
            <a:avLst>
              <a:gd name="adj" fmla="val 7692"/>
            </a:avLst>
          </a:prstGeom>
          <a:solidFill>
            <a:srgbClr val="EFF5FC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91640" y="418795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workloads can justify preprocessing because the setup cost is shared across many future operations.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when does preprocessing pay off?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 use n = 1,024, so log₂ n = 10.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545336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8F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Linear: 1,024q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315200" y="141732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24928" y="1545336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7E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 + Binary: 10,240 + 10q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65176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the point where sorting first becomes cheaper: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71800" y="3154680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1528" y="3282696"/>
            <a:ext cx="6044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1,024q &gt; 10,240 + 10q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71800" y="3813048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81528" y="3941064"/>
            <a:ext cx="6044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1,014q &gt; 10,240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71800" y="4471416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FF1E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081528" y="4599432"/>
            <a:ext cx="6044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&gt; 10.1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65960" y="53492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03120" y="546811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Around 11 or more searches: the preprocessing approach begins to win in this simplified model.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break-even point is easier to see in a 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simplified model: n = 1,024.</a:t>
            </a:r>
            <a:endParaRPr lang="en-US" sz="128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508760"/>
          <a:ext cx="10149840" cy="324612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365760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 searches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Linear: 1,024q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 + Binary: 10,240 + 10q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Cheaper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1,024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10,250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5,120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10,290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10,240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10,340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11,264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10,350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 + Binary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102,400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 + Binary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965960" y="507492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103120" y="519379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changes because q changes. Algorithm choice is a workload question.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rule: compare total work, not one operation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smaller per-query complexity does not automatically mean a smaller total cost.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1216152" y="1417320"/>
            <a:ext cx="566928" cy="566928"/>
          </a:xfrm>
          <a:prstGeom prst="ellipse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16152" y="15727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194560"/>
            <a:ext cx="64008" cy="192024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large is n?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456432" y="1417320"/>
            <a:ext cx="566928" cy="566928"/>
          </a:xfrm>
          <a:prstGeom prst="ellipse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56432" y="15727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80360" y="219456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80360" y="2194560"/>
            <a:ext cx="64008" cy="19202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4495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many operations will happen?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5696712" y="1417320"/>
            <a:ext cx="566928" cy="566928"/>
          </a:xfrm>
          <a:prstGeom prst="ellipse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96712" y="15727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219456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64008" cy="192024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8523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I preprocess?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7936992" y="1417320"/>
            <a:ext cx="566928" cy="566928"/>
          </a:xfrm>
          <a:prstGeom prst="ellipse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36992" y="15727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60920" y="219456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60920" y="2194560"/>
            <a:ext cx="64008" cy="192024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2551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often does the data change?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10177272" y="1417320"/>
            <a:ext cx="566928" cy="566928"/>
          </a:xfrm>
          <a:prstGeom prst="ellipse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77272" y="15727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01200" y="2194560"/>
            <a:ext cx="1737360" cy="1920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01200" y="2194560"/>
            <a:ext cx="64008" cy="1920240"/>
          </a:xfrm>
          <a:prstGeom prst="rect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6579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much memory is available?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1508760" y="4754880"/>
            <a:ext cx="9144000" cy="594360"/>
          </a:xfrm>
          <a:prstGeom prst="roundRect">
            <a:avLst>
              <a:gd name="adj" fmla="val 7692"/>
            </a:avLst>
          </a:prstGeom>
          <a:solidFill>
            <a:srgbClr val="FFF1EF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645920" y="487375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Big-O label is evidence - not the entire decision.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Θ class does not mean same exact runtime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Asymptotic notation deliberately ignores constant factors.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4128" y="1682496"/>
            <a:ext cx="3986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F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C₁(n) = 10n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50608" y="1682496"/>
            <a:ext cx="39867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C₂(n) = 100n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n = 1,000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97280" y="3566160"/>
            <a:ext cx="64008" cy="123444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61872" y="370332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1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261872" y="4023360"/>
            <a:ext cx="352958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× 1,000 = 10,000 operations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223760" y="35661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223760" y="3566160"/>
            <a:ext cx="64008" cy="12344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88352" y="370332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2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388352" y="4023360"/>
            <a:ext cx="3529584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× 1,000 = 100,000 operations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1965960" y="51663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03120" y="52852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Θ(n), but one can still perform roughly ten times as much work.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n can hide the asymptotic advantage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worse growth class can still be faster for small inputs if its constants are tiny.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1005840" y="141732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15568" y="1545336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8F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A(n) = 100n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95160" y="141732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04888" y="1545336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B(n) = n²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20240" y="2743200"/>
          <a:ext cx="8412480" cy="224028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1645920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n²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0" y="5257800"/>
            <a:ext cx="8503920" cy="594360"/>
          </a:xfrm>
          <a:prstGeom prst="roundRect">
            <a:avLst>
              <a:gd name="adj" fmla="val 7692"/>
            </a:avLst>
          </a:prstGeom>
          <a:solidFill>
            <a:srgbClr val="FFF1EF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965960" y="5376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Asymptotic analysis describes long-run growth. It does not promise the winner at every small 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theory and actual timing can differ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class predicts scaling. Real machines add implementation details.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508760"/>
            <a:ext cx="64008" cy="141732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16459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 FACTORS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58952" y="1965960"/>
            <a:ext cx="307238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operations are simply more expensive than others.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9120" y="1508760"/>
            <a:ext cx="64008" cy="141732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53712" y="16459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53712" y="1965960"/>
            <a:ext cx="307238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speed, memory bandwidth, and storage matter.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64008" cy="141732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48472" y="16459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/ COMPILER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48472" y="1965960"/>
            <a:ext cx="307238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implementations can add different overhead.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94360" y="33832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4360" y="3383280"/>
            <a:ext cx="64008" cy="141732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8952" y="352044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CACHE &amp; MEMORY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58952" y="3840480"/>
            <a:ext cx="307238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locality can make the same operation much faster or slower.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389120" y="33832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89120" y="3383280"/>
            <a:ext cx="64008" cy="1417320"/>
          </a:xfrm>
          <a:prstGeom prst="rect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53712" y="352044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CHARACTERISTICS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553712" y="3840480"/>
            <a:ext cx="307238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Best, average, and worst-case patterns can change observed time.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183880" y="33832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83880" y="3383280"/>
            <a:ext cx="64008" cy="141732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48472" y="352044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NOISE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348472" y="3840480"/>
            <a:ext cx="307238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processes, scheduling, and I/O can affect a timing run.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Empirical measurement: observe the implementation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Theoretical analysis and timing experiments answer related but different questions.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709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417320"/>
            <a:ext cx="64008" cy="310896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1832" y="155448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THEORETICAL ANALYSIS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41832" y="1874520"/>
            <a:ext cx="4398264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how does the amount of work grow with n?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machine independent idea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explains scalability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gives asymptotic class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417320"/>
            <a:ext cx="4709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5120" y="1417320"/>
            <a:ext cx="64008" cy="310896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9712" y="155448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EMPIRICAL MEASUREMENT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839712" y="1874520"/>
            <a:ext cx="4398264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actual implementation and record elapsed time or other resource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implementation specific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includes constants and hardware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validates practical behavior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5029200"/>
            <a:ext cx="850392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65960" y="51480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both: theory explains the trend; experiments show what happens on the real system.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19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make a fair timing experiment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experiments can produce misleading conclusions.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1161288" y="1645920"/>
            <a:ext cx="621792" cy="621792"/>
          </a:xfrm>
          <a:prstGeom prst="ellipse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61288" y="18196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5603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2560320"/>
            <a:ext cx="64008" cy="182880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8952" y="26974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same machine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419856" y="1645920"/>
            <a:ext cx="621792" cy="621792"/>
          </a:xfrm>
          <a:prstGeom prst="ellipse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19856" y="18196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52928" y="25603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52928" y="2560320"/>
            <a:ext cx="64008" cy="18288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17520" y="26974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comparable inputs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5678424" y="1645920"/>
            <a:ext cx="621792" cy="621792"/>
          </a:xfrm>
          <a:prstGeom prst="ellipse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78424" y="18196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11496" y="25603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111496" y="2560320"/>
            <a:ext cx="64008" cy="182880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76088" y="26974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 several trials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7936992" y="1645920"/>
            <a:ext cx="621792" cy="621792"/>
          </a:xfrm>
          <a:prstGeom prst="ellipse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36992" y="18196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70064" y="25603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70064" y="2560320"/>
            <a:ext cx="64008" cy="182880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34656" y="26974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sufficiently large n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10195560" y="1645920"/>
            <a:ext cx="621792" cy="621792"/>
          </a:xfrm>
          <a:prstGeom prst="ellipse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95560" y="181965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28632" y="256032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28632" y="2560320"/>
            <a:ext cx="64008" cy="1828800"/>
          </a:xfrm>
          <a:prstGeom prst="rect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93224" y="26974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the setup clearly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1371600" y="4800600"/>
            <a:ext cx="9418320" cy="594360"/>
          </a:xfrm>
          <a:prstGeom prst="roundRect">
            <a:avLst>
              <a:gd name="adj" fmla="val 7692"/>
            </a:avLst>
          </a:prstGeom>
          <a:solidFill>
            <a:srgbClr val="FFF1EF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508760" y="491947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experiment changes several things at once, you cannot tell which factor caused the timing difference.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20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choice can change the measured 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algorithm may behave differently on different input arrangements.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0F9F3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417320"/>
            <a:ext cx="64008" cy="301752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5544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 - TARGET FIRST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50392" y="1874520"/>
            <a:ext cx="3026664" cy="2468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[35, 72, 14, 63, ...]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comparison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fast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EFF5FC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34840" y="1417320"/>
            <a:ext cx="64008" cy="301752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15544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 - TARGET MIDDLE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99432" y="1874520"/>
            <a:ext cx="3026664" cy="2468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[..., 35, ...]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n/2 comparisons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successful run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FFF1E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64008" cy="301752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48472" y="15544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SEARCH - TARGET ABSENT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48472" y="1874520"/>
            <a:ext cx="3026664" cy="2468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[72, 14, 63, ...]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comparisons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Worst-case run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00200" y="4892040"/>
            <a:ext cx="896112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737360" y="501091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measuring performance, state what kind of inputs were used.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21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Time-space tradeoff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we deliberately use more memory so future operations take less time.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1508760"/>
            <a:ext cx="64008" cy="306324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8992" y="164592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LESS SPACE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078992" y="1965960"/>
            <a:ext cx="3621024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only the original data.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little extra memory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may rescan or recompute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simpler structure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cost: more time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166360" y="2971800"/>
            <a:ext cx="1737360" cy="0"/>
          </a:xfrm>
          <a:prstGeom prst="line">
            <a:avLst/>
          </a:prstGeom>
          <a:noFill/>
          <a:ln w="29210">
            <a:solidFill>
              <a:srgbClr val="51606D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0" y="1508760"/>
            <a:ext cx="64008" cy="306324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79792" y="164592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MORE SPACE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479792" y="1965960"/>
            <a:ext cx="3621024" cy="2514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an index, hash table, cache, or lookup table.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memory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faster repeated access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setup / maintenance cost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benefit: less time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  ⇄  TIME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22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build an index for repeated lookup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structure can make searches much faster.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108960" cy="3154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" cy="315468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INDEX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96112" y="1874520"/>
            <a:ext cx="2798064" cy="2606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only the records.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 may require scanning many items.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extra memory.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2971800"/>
            <a:ext cx="685800" cy="0"/>
          </a:xfrm>
          <a:prstGeom prst="line">
            <a:avLst/>
          </a:prstGeom>
          <a:noFill/>
          <a:ln w="2921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37760" y="1417320"/>
            <a:ext cx="3108960" cy="3154680"/>
          </a:xfrm>
          <a:prstGeom prst="roundRect">
            <a:avLst>
              <a:gd name="adj" fmla="val 2353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37760" y="1417320"/>
            <a:ext cx="64008" cy="315468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02352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INDEX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5102352" y="1874520"/>
            <a:ext cx="2798064" cy="2606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mapping from registration number to record position.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One-time setup + extra storage.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2971800"/>
            <a:ext cx="685800" cy="0"/>
          </a:xfrm>
          <a:prstGeom prst="line">
            <a:avLst/>
          </a:prstGeom>
          <a:noFill/>
          <a:ln w="2921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0" y="1417320"/>
            <a:ext cx="2331720" cy="31546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44000" y="1417320"/>
            <a:ext cx="64008" cy="315468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08592" y="155448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LOOKUP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9308592" y="1874520"/>
            <a:ext cx="2020824" cy="2606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queries can jump directly to the needed location.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0" y="4937760"/>
            <a:ext cx="8686800" cy="594360"/>
          </a:xfrm>
          <a:prstGeom prst="roundRect">
            <a:avLst>
              <a:gd name="adj" fmla="val 7692"/>
            </a:avLst>
          </a:prstGeom>
          <a:solidFill>
            <a:srgbClr val="EFF5FC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83080" y="50566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Indexes are attractive when lookups are frequent and the data is stable enough to justify maintaining the structure.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caching avoids recomputation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 result once, reuse it later.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828800"/>
            <a:ext cx="64008" cy="182880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96596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Compute expensive result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2404872" y="2743200"/>
            <a:ext cx="438912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71800" y="18288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71800" y="1828800"/>
            <a:ext cx="64008" cy="182880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36392" y="196596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Store result in cache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4690872" y="2743200"/>
            <a:ext cx="438912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257800" y="18288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257800" y="1828800"/>
            <a:ext cx="64008" cy="18288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22392" y="196596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Request arrives again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976872" y="2743200"/>
            <a:ext cx="438912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543800" y="18288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543800" y="1828800"/>
            <a:ext cx="64008" cy="182880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08392" y="196596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Check cache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9262872" y="2743200"/>
            <a:ext cx="438912" cy="0"/>
          </a:xfrm>
          <a:prstGeom prst="line">
            <a:avLst/>
          </a:prstGeom>
          <a:noFill/>
          <a:ln w="2540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829800" y="182880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29800" y="1828800"/>
            <a:ext cx="64008" cy="182880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94392" y="196596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Return stored result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1508760" y="4526280"/>
            <a:ext cx="9144000" cy="594360"/>
          </a:xfrm>
          <a:prstGeom prst="roundRect">
            <a:avLst>
              <a:gd name="adj" fmla="val 7692"/>
            </a:avLst>
          </a:prstGeom>
          <a:solidFill>
            <a:srgbClr val="F0F9F3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645920" y="464515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Caching uses extra memory to avoid repeating expensive work. The tradeoff is only worthwhile when reuse actually occurs.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24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reverse tradeoff also exists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memory is the scarce resource, so we accept more computation.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417320"/>
            <a:ext cx="64008" cy="320040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1832" y="155448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 MEMORY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41832" y="1874520"/>
            <a:ext cx="4352544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in-place algorithms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large lookup tables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stream data instead of storing everything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recompute values when needed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less space, possibly more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41732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720840" y="1417320"/>
            <a:ext cx="64008" cy="32004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85432" y="1554480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 TIME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885432" y="1874520"/>
            <a:ext cx="4352544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 results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maintain indexes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precompute useful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auxiliary structures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more space, possibly less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57400" y="4983480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FFF8E7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94560" y="51023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design often balances resources rather than minimizing only one.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25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Second case study: detect duplicate registration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Same problem, two correct approaches — one saves memory; the other saves a huge amount of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32461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64008" cy="306324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0934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292608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Given n registration numbers, determine whether any registration number appears more than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81328"/>
            <a:ext cx="3246120" cy="30632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481328"/>
            <a:ext cx="64008" cy="3063240"/>
          </a:xfrm>
          <a:prstGeom prst="rect">
            <a:avLst/>
          </a:prstGeom>
          <a:solidFill>
            <a:srgbClr val="F3B43F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60934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EXAMPLE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984248"/>
            <a:ext cx="292608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n = 10,000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Think of 10,000 student records collected from multiple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81328"/>
            <a:ext cx="32461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81328"/>
            <a:ext cx="64008" cy="306324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0934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TWO IDEAS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84248"/>
            <a:ext cx="292608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A. Compare every pair.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B. Remember the IDs we have already seen.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5074920"/>
            <a:ext cx="918972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184648"/>
            <a:ext cx="8915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Both algorithms can be correct.  The interesting question is what each one costs.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Approach A — compare every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This uses almost no extra memory, but the number of comparisons grows quadratically.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4709160" cy="3401568"/>
          </a:xfrm>
          <a:prstGeom prst="roundRect">
            <a:avLst/>
          </a:prstGeom>
          <a:solidFill>
            <a:srgbClr val="FFF1E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3401568"/>
          </a:xfrm>
          <a:prstGeom prst="rect">
            <a:avLst/>
          </a:prstGeom>
          <a:solidFill>
            <a:srgbClr val="E76B5B"/>
          </a:solidFill>
          <a:ln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4389120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for i ← 0 to n−2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    for j ← i+1 to n−1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        if A[i] = A[j]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            return DUPLICATE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return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17320"/>
            <a:ext cx="5943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417320"/>
            <a:ext cx="64008" cy="150876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8152" y="1545336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HOW MANY PAIRS?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920240"/>
            <a:ext cx="562356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>
                <a:solidFill>
                  <a:srgbClr val="51606D"/>
                </a:solidFill>
                <a:latin typeface="Aptos"/>
              </a:rPr>
              <a:t>Worst case: n(n−1)/2 comparisons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27248"/>
            <a:ext cx="5943600" cy="16916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3127248"/>
            <a:ext cx="64008" cy="1691640"/>
          </a:xfrm>
          <a:prstGeom prst="rect">
            <a:avLst/>
          </a:prstGeom>
          <a:solidFill>
            <a:srgbClr val="F3B43F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325526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FOR n = 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630168"/>
            <a:ext cx="562356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>
                <a:solidFill>
                  <a:srgbClr val="51606D"/>
                </a:solidFill>
                <a:latin typeface="Aptos"/>
              </a:rPr>
              <a:t>10,000 × 9,999 / 2 = 49,995,000 pair comparisons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5074920"/>
            <a:ext cx="9189720" cy="594360"/>
          </a:xfrm>
          <a:prstGeom prst="roundRect">
            <a:avLst/>
          </a:prstGeom>
          <a:solidFill>
            <a:srgbClr val="FFF1EF"/>
          </a:solidFill>
          <a:ln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184648"/>
            <a:ext cx="8915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Time: Θ(n²)     •     Extra space: Θ(1)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Approach B — remember what we have already seen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Spend extra memory on a hash set so we do not compare each ID with every earlier 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4709160" cy="3401568"/>
          </a:xfrm>
          <a:prstGeom prst="roundRect">
            <a:avLst/>
          </a:prstGeom>
          <a:solidFill>
            <a:srgbClr val="F0F9F3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3401568"/>
          </a:xfrm>
          <a:prstGeom prst="rect">
            <a:avLst/>
          </a:prstGeom>
          <a:solidFill>
            <a:srgbClr val="5BAA77"/>
          </a:solidFill>
          <a:ln>
            <a:solidFill>
              <a:srgbClr val="5BA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4389120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SEEN ← empty set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for each id in A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    if id is in SEEN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        return DUPLICATE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    insert id into SEEN</a:t>
            </a:r>
          </a:p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return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17320"/>
            <a:ext cx="5943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417320"/>
            <a:ext cx="64008" cy="150876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88152" y="1545336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WHAT CHANGES?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920240"/>
            <a:ext cx="562356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Each ID is processed once instead of being compared with all later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27248"/>
            <a:ext cx="5943600" cy="1691640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3127248"/>
            <a:ext cx="64008" cy="169164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3255264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FOR n = 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630168"/>
            <a:ext cx="562356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About 10,000 membership checks + insertions, assuming average O(1) hash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5074920"/>
            <a:ext cx="9189720" cy="594360"/>
          </a:xfrm>
          <a:prstGeom prst="roundRect">
            <a:avLst/>
          </a:prstGeom>
          <a:solidFill>
            <a:srgbClr val="F0F9F3"/>
          </a:solidFill>
          <a:ln>
            <a:solidFill>
              <a:srgbClr val="5BA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184648"/>
            <a:ext cx="8915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Expected time: Θ(n)     •     Extra space: Θ(n)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Same problem — different time-space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The faster approach is not “free”; it buys speed by storing additional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788920" cy="3429000"/>
          </a:xfrm>
          <a:prstGeom prst="roundRect">
            <a:avLst/>
          </a:prstGeom>
          <a:solidFill>
            <a:srgbClr val="FFF1E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64008" cy="3429000"/>
          </a:xfrm>
          <a:prstGeom prst="rect">
            <a:avLst/>
          </a:prstGeom>
          <a:solidFill>
            <a:srgbClr val="E76B5B"/>
          </a:solidFill>
          <a:ln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53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COMPARE EVERY 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46888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Worst-case time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Θ(n²)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Extra space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Θ(1)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Good when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n is small or memory is extremely tight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1417320"/>
            <a:ext cx="2788920" cy="3429000"/>
          </a:xfrm>
          <a:prstGeom prst="roundRect">
            <a:avLst/>
          </a:prstGeom>
          <a:solidFill>
            <a:srgbClr val="F0F9F3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30752" y="1417320"/>
            <a:ext cx="64008" cy="3429000"/>
          </a:xfrm>
          <a:prstGeom prst="rect">
            <a:avLst/>
          </a:prstGeom>
          <a:solidFill>
            <a:srgbClr val="5BAA77"/>
          </a:solidFill>
          <a:ln>
            <a:solidFill>
              <a:srgbClr val="5BA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154533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USE A HASH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5344" y="1920240"/>
            <a:ext cx="246888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Expected time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Θ(n)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Extra space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Θ(n)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Good when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n is large and memory is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417320"/>
            <a:ext cx="46634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1417320"/>
            <a:ext cx="64008" cy="342900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154533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WHAT THE NUMBERS 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920240"/>
            <a:ext cx="4343400" cy="2807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For n = 10,000: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Pairwise: 49,995,000 comparisons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Hash approach: about 10,000 lookups + insertions</a:t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>
                <a:solidFill>
                  <a:srgbClr val="51606D"/>
                </a:solidFill>
                <a:latin typeface="Aptos"/>
              </a:rPr>
              <a:t>The hash version uses much more memory, but can avoid tens of millions of comparisons.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5074920"/>
            <a:ext cx="9189720" cy="594360"/>
          </a:xfrm>
          <a:prstGeom prst="roundRect">
            <a:avLst/>
          </a:prstGeom>
          <a:solidFill>
            <a:srgbClr val="FFF8E7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184648"/>
            <a:ext cx="8915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Lecture 8 lesson: choosing an algorithm means balancing growth, workload, and available resources.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Third case study: find the highest CGPA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A simple example of why solving more than the problem asks for can waste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2461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64008" cy="306324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910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292608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Given 10,000 student CGPAs, return only the highest CGPA.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246120" cy="3063240"/>
          </a:xfrm>
          <a:prstGeom prst="roundRect">
            <a:avLst/>
          </a:prstGeom>
          <a:solidFill>
            <a:srgbClr val="F0F9F3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463040"/>
            <a:ext cx="64008" cy="306324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5910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IDEA A —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965960"/>
            <a:ext cx="292608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Keep the largest value seen so far.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One pass through the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246120" cy="306324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64008" cy="3063240"/>
          </a:xfrm>
          <a:prstGeom prst="rect">
            <a:avLst/>
          </a:prstGeom>
          <a:solidFill>
            <a:srgbClr val="F3B43F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5910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IDEA B —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92608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Sort all 10,000 CGPAs, then take the last value.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Correct — but does much more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074920"/>
            <a:ext cx="9372600" cy="594360"/>
          </a:xfrm>
          <a:prstGeom prst="roundRect">
            <a:avLst/>
          </a:prstGeom>
          <a:solidFill>
            <a:srgbClr val="FFF8E7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18464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Both approaches are correct. The better choice depends on what output we actually need.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Scan once or sort everything?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Compare the amount of work for the same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3291840"/>
          </a:xfrm>
          <a:prstGeom prst="roundRect">
            <a:avLst/>
          </a:prstGeom>
          <a:solidFill>
            <a:srgbClr val="F0F9F3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329184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SCAN FOR MAXIMUM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484632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Start with max ← A[0]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Compare each remaining value with max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Update max when needed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Comparisons: n−1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For n = 10,000: 9,999 comparisons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Time: Θ(n)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66360" cy="3291840"/>
          </a:xfrm>
          <a:prstGeom prst="roundRect">
            <a:avLst/>
          </a:prstGeom>
          <a:solidFill>
            <a:srgbClr val="FFF1E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64008" cy="3291840"/>
          </a:xfrm>
          <a:prstGeom prst="rect">
            <a:avLst/>
          </a:prstGeom>
          <a:solidFill>
            <a:srgbClr val="E76B5B"/>
          </a:solidFill>
          <a:ln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45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SORT, THEN TAKE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484632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Sort all n values first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Then read the last element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Typical comparison-sort work: about n log₂ 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For n = 10,000: ≈ 132,877 comparison-scale operations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Time: Θ(n log 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5074920"/>
            <a:ext cx="937260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18464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Sorting solves a harder problem: it determines the complete order when we only asked for one maximum.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Lesson: do not solve a bigger problem than necessary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Asymptotic analysis helps reveal wasted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4480560" cy="960120"/>
          </a:xfrm>
          <a:prstGeom prst="roundRect">
            <a:avLst/>
          </a:prstGeom>
          <a:solidFill>
            <a:srgbClr val="F0F9F3"/>
          </a:solidFill>
          <a:ln w="15240"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297680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5232D"/>
                </a:solidFill>
                <a:latin typeface="Aptos Display"/>
              </a:rPr>
              <a:t>Find maximum → Θ(n)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600200"/>
            <a:ext cx="4480560" cy="960120"/>
          </a:xfrm>
          <a:prstGeom prst="roundRect">
            <a:avLst/>
          </a:prstGeom>
          <a:solidFill>
            <a:srgbClr val="FFF1EF"/>
          </a:solidFill>
          <a:ln w="15240"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691640"/>
            <a:ext cx="4297680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5232D"/>
                </a:solidFill>
                <a:latin typeface="Aptos Display"/>
              </a:rPr>
              <a:t>Sort all values → Θ(n log 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971800"/>
            <a:ext cx="3886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971800"/>
            <a:ext cx="64008" cy="160020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30998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CHOOSE THE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474720"/>
            <a:ext cx="356616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Need only the largest value, smallest value, or a simple aggregate? A direct pass may be enough.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971800"/>
            <a:ext cx="3886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971800"/>
            <a:ext cx="64008" cy="160020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30998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CHOOSE SORTING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3474720"/>
            <a:ext cx="356616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Need ranked output, median by position, repeated ordered access, or many later order-based operations? Sorting may be justified.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074920"/>
            <a:ext cx="9372600" cy="594360"/>
          </a:xfrm>
          <a:prstGeom prst="roundRect">
            <a:avLst/>
          </a:prstGeom>
          <a:solidFill>
            <a:srgbClr val="FFF8E7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18464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Lecture 8 lesson: compare algorithms against the exact problem requirement — not against a more difficult problem.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Fourth case study: repeated attendance-total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Preprocessing can turn repeated scanning into constant-time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324612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2926080" cy="2624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Daily attendance counts for a semester: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[8, 5, 6, 4, 7]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Question: “What was the total from day 2 through day 4?”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17320"/>
            <a:ext cx="3246120" cy="3246120"/>
          </a:xfrm>
          <a:prstGeom prst="roundRect">
            <a:avLst/>
          </a:prstGeom>
          <a:solidFill>
            <a:srgbClr val="FFF1E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417320"/>
            <a:ext cx="64008" cy="3246120"/>
          </a:xfrm>
          <a:prstGeom prst="rect">
            <a:avLst/>
          </a:prstGeom>
          <a:solidFill>
            <a:srgbClr val="E76B5B"/>
          </a:solidFill>
          <a:ln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5453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IDEA A — ADD EACH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920240"/>
            <a:ext cx="2926080" cy="2624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For every query, scan the requested days and add them.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Day 2 to 4: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5 + 6 + 4 =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46120" cy="3246120"/>
          </a:xfrm>
          <a:prstGeom prst="roundRect">
            <a:avLst/>
          </a:prstGeom>
          <a:solidFill>
            <a:srgbClr val="F0F9F3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64008" cy="324612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5453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IDEA B — PRECOMPUTE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20240"/>
            <a:ext cx="2926080" cy="2624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Build cumulative totals once.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Then answer every range with two stored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074920"/>
            <a:ext cx="937260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18464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This is the same principle as indexing: pay a setup cost once, then reuse it many times.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Build a prefix-sum table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Each stored value is the total from day 1 up to that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Daily attendance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389888"/>
            <a:ext cx="822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57276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389888"/>
            <a:ext cx="822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57276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1144" y="1389888"/>
            <a:ext cx="822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57276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0136" y="1389888"/>
            <a:ext cx="822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157276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9127" y="1389888"/>
            <a:ext cx="822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7" y="157276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Prefix totals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2395728"/>
            <a:ext cx="822960" cy="658368"/>
          </a:xfrm>
          <a:prstGeom prst="roundRect">
            <a:avLst/>
          </a:prstGeom>
          <a:solidFill>
            <a:srgbClr val="F0F9F3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2578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2395728"/>
            <a:ext cx="822960" cy="658368"/>
          </a:xfrm>
          <a:prstGeom prst="roundRect">
            <a:avLst/>
          </a:prstGeom>
          <a:solidFill>
            <a:srgbClr val="F0F9F3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2578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1144" y="2395728"/>
            <a:ext cx="822960" cy="658368"/>
          </a:xfrm>
          <a:prstGeom prst="roundRect">
            <a:avLst/>
          </a:prstGeom>
          <a:solidFill>
            <a:srgbClr val="F0F9F3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2578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0136" y="2395728"/>
            <a:ext cx="822960" cy="658368"/>
          </a:xfrm>
          <a:prstGeom prst="roundRect">
            <a:avLst/>
          </a:prstGeom>
          <a:solidFill>
            <a:srgbClr val="F0F9F3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0136" y="2578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7" y="2395728"/>
            <a:ext cx="822960" cy="658368"/>
          </a:xfrm>
          <a:prstGeom prst="roundRect">
            <a:avLst/>
          </a:prstGeom>
          <a:solidFill>
            <a:srgbClr val="F0F9F3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7" y="2578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32D"/>
                </a:solidFill>
                <a:latin typeface="Aptos Display"/>
              </a:rPr>
              <a:t>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3657600"/>
            <a:ext cx="8229600" cy="749808"/>
          </a:xfrm>
          <a:prstGeom prst="roundRect">
            <a:avLst/>
          </a:prstGeom>
          <a:solidFill>
            <a:srgbClr val="F0F9F3"/>
          </a:solidFill>
          <a:ln w="15240"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3749040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5232D"/>
                </a:solidFill>
                <a:latin typeface="Aptos Display"/>
              </a:rPr>
              <a:t>Days 2–4 = prefix[4] − prefix[1] = 23 − 8 =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5074920"/>
            <a:ext cx="9372600" cy="594360"/>
          </a:xfrm>
          <a:prstGeom prst="roundRect">
            <a:avLst/>
          </a:prstGeom>
          <a:solidFill>
            <a:srgbClr val="F0F9F3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18464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After preprocessing, a range total needs two lookups and one subtraction instead of scanning the whole range.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0292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When does preprocessing pay off?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Compare one-time setup with the cost of many repeated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1168" y="20116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3291840"/>
          </a:xfrm>
          <a:prstGeom prst="roundRect">
            <a:avLst/>
          </a:prstGeom>
          <a:solidFill>
            <a:srgbClr val="FFF1E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3291840"/>
          </a:xfrm>
          <a:prstGeom prst="rect">
            <a:avLst/>
          </a:prstGeom>
          <a:solidFill>
            <a:srgbClr val="E76B5B"/>
          </a:solidFill>
          <a:ln>
            <a:solidFill>
              <a:srgbClr val="E76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45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NO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310896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Each range query may scan up to n values.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One query: Θ(n) worst case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q queries: Θ(qn)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Extra space: Θ(1)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3291840"/>
          </a:xfrm>
          <a:prstGeom prst="roundRect">
            <a:avLst/>
          </a:prstGeom>
          <a:solidFill>
            <a:srgbClr val="F0F9F3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3291840"/>
          </a:xfrm>
          <a:prstGeom prst="rect">
            <a:avLst/>
          </a:prstGeom>
          <a:solidFill>
            <a:srgbClr val="18B7A7"/>
          </a:solidFill>
          <a:ln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45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PREFIX SUMS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20240"/>
            <a:ext cx="310896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Build prefix table once: Θ(n)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Each later query: Θ(1)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q queries total: Θ(n + q)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51606D"/>
                </a:solidFill>
                <a:latin typeface="Aptos"/>
              </a:rPr>
              <a:t>Extra space: Θ(n)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64008" cy="3291840"/>
          </a:xfrm>
          <a:prstGeom prst="rect">
            <a:avLst/>
          </a:prstGeom>
          <a:solidFill>
            <a:srgbClr val="3D7EC9"/>
          </a:solidFill>
          <a:ln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45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232D"/>
                </a:solidFill>
                <a:latin typeface="Aptos Display"/>
              </a:rPr>
              <a:t>FOR MANY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920240"/>
            <a:ext cx="310896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Suppose n = 1,000 and q = 10,000.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/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Repeated scan can approach 10,000,000 additions.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51606D"/>
                </a:solidFill>
                <a:latin typeface="Aptos"/>
              </a:rPr>
              <a:t>Prefix method: about 1,000 setup operations + 10,000 constant-time queries.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5074920"/>
            <a:ext cx="9372600" cy="594360"/>
          </a:xfrm>
          <a:prstGeom prst="roundRect">
            <a:avLst/>
          </a:prstGeom>
          <a:solidFill>
            <a:srgbClr val="FFF8E7"/>
          </a:solidFill>
          <a:ln>
            <a:solidFill>
              <a:srgbClr val="F3B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184648"/>
            <a:ext cx="9098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232D"/>
                </a:solidFill>
                <a:latin typeface="Aptos"/>
              </a:rPr>
              <a:t>We spend extra memory and preprocessing time because the setup cost is reused across many future queries.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comparison 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decision aid - not as an absolute rule.</a:t>
            </a:r>
            <a:endParaRPr lang="en-US" sz="128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0972800" cy="2880360"/>
        </p:xfrm>
        <a:graphic>
          <a:graphicData uri="http://schemas.openxmlformats.org/drawingml/2006/table">
            <a:tbl>
              <a:tblPr/>
              <a:tblGrid>
                <a:gridCol w="1965960"/>
                <a:gridCol w="2057400"/>
                <a:gridCol w="1645920"/>
                <a:gridCol w="1600200"/>
                <a:gridCol w="3200400"/>
              </a:tblGrid>
              <a:tr h="720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Approach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Setup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 lookup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Extra space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when...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3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 Search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Θ(n)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low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 searches / unsorted data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Search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sorted data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Θ(log n)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many searches on stable sorted data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Index / Hash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structure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often very fast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higher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523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frequent lookup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554480" y="4617720"/>
            <a:ext cx="9144000" cy="594360"/>
          </a:xfrm>
          <a:prstGeom prst="roundRect">
            <a:avLst>
              <a:gd name="adj" fmla="val 7692"/>
            </a:avLst>
          </a:prstGeom>
          <a:solidFill>
            <a:srgbClr val="FFF1EF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691640" y="473659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ask: how often does the data change? Frequent updates can make preprocessing structures expensive to maintain.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36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Reveal — Case 1: a tiny list, one search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simplest approach that meets the workload.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2880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1591056"/>
            <a:ext cx="2660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 = 20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743200"/>
            <a:ext cx="64008" cy="155448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1832" y="2880360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WORKLOAD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941832" y="3200400"/>
            <a:ext cx="2752344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search only. Data is unsorted.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64008" cy="297180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90872" y="15544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4690872" y="1874520"/>
            <a:ext cx="2523744" cy="2423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setup.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most 20 comparisons.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6760" y="1417320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6760" y="1417320"/>
            <a:ext cx="64008" cy="297180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31352" y="15544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531352" y="1874520"/>
            <a:ext cx="2523744" cy="2423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first + Binary Search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 overhead is larger than the work saved for a single tiny search.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4800600"/>
            <a:ext cx="6766560" cy="594360"/>
          </a:xfrm>
          <a:prstGeom prst="roundRect">
            <a:avLst>
              <a:gd name="adj" fmla="val 7692"/>
            </a:avLst>
          </a:prstGeom>
          <a:solidFill>
            <a:srgbClr val="F0F9F3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880360" y="49194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use Linear Search.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38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Reveal — Case 2: one million stable records, 50,000 searches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workload is completely different.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325880"/>
            <a:ext cx="64008" cy="347472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4630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WORKLOAD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50392" y="1783080"/>
            <a:ext cx="298094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1,000,000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 lookups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changes rarely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is available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1E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34840" y="1325880"/>
            <a:ext cx="64008" cy="347472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14630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SCAN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99432" y="1783080"/>
            <a:ext cx="298094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Θ(n) scans would repeat enormous work across 50,000 queries.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0F9F3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64008" cy="3474720"/>
          </a:xfrm>
          <a:prstGeom prst="rect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48472" y="14630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 / INDEX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48472" y="1783080"/>
            <a:ext cx="298094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one-time setup cost can be reused thousands of times. Fast repeated lookup becomes very attractive.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65960" y="51663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0F9F3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03120" y="52852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preprocessing or indexing is likely worthwhile.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40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Reveal — Case 3: memory is extremely limited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asymptotically fastest lookup may not fit the machine.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325880"/>
            <a:ext cx="64008" cy="347472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4630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96112" y="1783080"/>
            <a:ext cx="288950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limited 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moderate data 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only occasional searches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 embedded device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1E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1325880"/>
            <a:ext cx="64008" cy="347472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90872" y="14630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INDEX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90872" y="1783080"/>
            <a:ext cx="288950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lookup, but the auxiliary structure may consume unacceptable memory.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32588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321040" y="1325880"/>
            <a:ext cx="64008" cy="347472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85632" y="146304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LOW-SPACE APPROACH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485632" y="1783080"/>
            <a:ext cx="288950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scan or compact sorted representation may be slower per lookup but fit the resource budget.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5166360"/>
            <a:ext cx="836676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057400" y="5285232"/>
            <a:ext cx="8092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choose the algorithm that satisfies the real resource constraints, not merely the smallest Big-O lookup time.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42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common mistakes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exactly the traps Lecture 8 is meant to prevent.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1E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17320"/>
            <a:ext cx="64008" cy="3474720"/>
          </a:xfrm>
          <a:prstGeom prst="rect">
            <a:avLst/>
          </a:prstGeom>
          <a:solidFill>
            <a:srgbClr val="E76B5B"/>
          </a:solidFill>
          <a:ln w="12700">
            <a:solidFill>
              <a:srgbClr val="E76B5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15544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MISTAKE 1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04672" y="1874520"/>
            <a:ext cx="316382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“Binary Search is always better than Linear Search.”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- Binary Search needs sorted data and setup may not be worth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61688" y="1417320"/>
            <a:ext cx="64008" cy="347472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15544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MISTAKE 2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316382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“Same Θ class means same speed.”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- constants, implementation, and hardware still affect actual runtime.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83296" y="14173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FF5FC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64008" cy="347472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47888" y="15544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MISTAKE 3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47888" y="1874520"/>
            <a:ext cx="3163824" cy="2926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smallest time complexity is automatically best.”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- memory, preprocessing, updates, and input size also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43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Checkpoint: choose the better approach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answer from Big-O alone. Use the workload described.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417320"/>
            <a:ext cx="64008" cy="338328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554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50392" y="1874520"/>
            <a:ext cx="307238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unsorted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search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 or preprocess first?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Reason: __________________________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4173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16552" y="1417320"/>
            <a:ext cx="64008" cy="338328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81144" y="1554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81144" y="1874520"/>
            <a:ext cx="307238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1,000,000 stable records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 searches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preprocessing/indexing make sense?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Reason: __________________________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47304" y="1417320"/>
            <a:ext cx="64008" cy="338328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11896" y="1554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11896" y="1874520"/>
            <a:ext cx="307238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extremely limited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searches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a large lookup table always be a good tradeoff?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Reason: __________________________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44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answers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reason matters more than the label.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417320"/>
            <a:ext cx="64008" cy="338328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0392" y="1554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- ONE SMALL SEARCH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50392" y="1874520"/>
            <a:ext cx="307238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 is sensible. Preprocessing overhead may cost more than the single scan it replaces.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16552" y="14173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16552" y="1417320"/>
            <a:ext cx="64008" cy="338328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81144" y="1554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 - MANY REPEATED SEARCHES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81144" y="1874520"/>
            <a:ext cx="307238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Preprocessing/indexing is likely worthwhile because the setup cost is reused across thousands of queries.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47304" y="1417320"/>
            <a:ext cx="64008" cy="338328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11896" y="1554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- MEMORY CONSTRAINED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11896" y="1874520"/>
            <a:ext cx="3072384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necessarily. Faster lookup can require extra storage; the memory cost may make the tradeoff unacceptable.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45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five-question checklist for algorithm choice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through this before declaring one algorithm “better.”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1005840" y="1417320"/>
            <a:ext cx="530352" cy="530352"/>
          </a:xfrm>
          <a:prstGeom prst="ellipse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5544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783080" y="1371600"/>
            <a:ext cx="90982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011680" y="1545336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large can n become?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286000"/>
            <a:ext cx="530352" cy="530352"/>
          </a:xfrm>
          <a:prstGeom prst="ellipse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4231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783080" y="2240280"/>
            <a:ext cx="90982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11680" y="2414016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operation or many repeated operations?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3154680"/>
            <a:ext cx="530352" cy="530352"/>
          </a:xfrm>
          <a:prstGeom prst="ellipse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32918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783080" y="3108960"/>
            <a:ext cx="90982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11680" y="3282696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preprocessing allowed?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530352" cy="530352"/>
          </a:xfrm>
          <a:prstGeom prst="ellipse">
            <a:avLst/>
          </a:prstGeom>
          <a:solidFill>
            <a:srgbClr val="5BAA77"/>
          </a:solidFill>
          <a:ln w="12700">
            <a:solidFill>
              <a:srgbClr val="5BAA7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1605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783080" y="3977640"/>
            <a:ext cx="90982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1680" y="4151376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much memory is available?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4892040"/>
            <a:ext cx="530352" cy="530352"/>
          </a:xfrm>
          <a:prstGeom prst="ellipse">
            <a:avLst/>
          </a:prstGeom>
          <a:solidFill>
            <a:srgbClr val="8A69C7"/>
          </a:solidFill>
          <a:ln w="12700">
            <a:solidFill>
              <a:srgbClr val="8A69C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502920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783080" y="4846320"/>
            <a:ext cx="90982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011680" y="5020056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often does the data change?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46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502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8D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8 - the whole idea in one sentence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9933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asymptotic growth to understand scaling, then choose using the complete practical workload.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093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0" y="6309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A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B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class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017520" y="2788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B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+ workload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03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B4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/ space tradeoff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90956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FD2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B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2697480" y="2999232"/>
            <a:ext cx="246888" cy="0"/>
          </a:xfrm>
          <a:prstGeom prst="line">
            <a:avLst/>
          </a:prstGeom>
          <a:noFill/>
          <a:ln w="25400">
            <a:solidFill>
              <a:srgbClr val="7086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4920" y="2999232"/>
            <a:ext cx="155448" cy="0"/>
          </a:xfrm>
          <a:prstGeom prst="line">
            <a:avLst/>
          </a:prstGeom>
          <a:noFill/>
          <a:ln w="25400">
            <a:solidFill>
              <a:srgbClr val="7086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699248" y="2999232"/>
            <a:ext cx="146304" cy="0"/>
          </a:xfrm>
          <a:prstGeom prst="line">
            <a:avLst/>
          </a:prstGeom>
          <a:noFill/>
          <a:ln w="25400">
            <a:solidFill>
              <a:srgbClr val="7086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92640" y="2999232"/>
            <a:ext cx="137160" cy="0"/>
          </a:xfrm>
          <a:prstGeom prst="line">
            <a:avLst/>
          </a:prstGeom>
          <a:noFill/>
          <a:ln w="25400">
            <a:solidFill>
              <a:srgbClr val="70869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17320" y="4160520"/>
            <a:ext cx="9372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choose an algorithm from one Big-O label alone.</a:t>
            </a:r>
            <a:endParaRPr lang="en-US" sz="2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E8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502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Next: Recursive Analysis &amp; Substitution Method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9 starts a new story: how do we describe the cost of an algorithm that calls itself?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2743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1508760"/>
            <a:ext cx="64008" cy="2423160"/>
          </a:xfrm>
          <a:prstGeom prst="rect">
            <a:avLst/>
          </a:prstGeom>
          <a:solidFill>
            <a:srgbClr val="18B7A7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24712" y="16459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 - L8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124712" y="1965960"/>
            <a:ext cx="2432304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between alternative algorithms using complexity, workload, preprocessing, memory, and measurements.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724912"/>
            <a:ext cx="1005840" cy="0"/>
          </a:xfrm>
          <a:prstGeom prst="line">
            <a:avLst/>
          </a:prstGeom>
          <a:noFill/>
          <a:ln w="3175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166360" y="1508760"/>
            <a:ext cx="2743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166360" y="1508760"/>
            <a:ext cx="64008" cy="2423160"/>
          </a:xfrm>
          <a:prstGeom prst="rect">
            <a:avLst/>
          </a:prstGeom>
          <a:solidFill>
            <a:srgbClr val="3D7EC9"/>
          </a:solidFill>
          <a:ln w="12700">
            <a:solidFill>
              <a:srgbClr val="3D7EC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30952" y="16459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- L9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5330952" y="1965960"/>
            <a:ext cx="2432304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recursive running times as recurrence relations and solve them using substitution.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2724912"/>
            <a:ext cx="1005840" cy="0"/>
          </a:xfrm>
          <a:prstGeom prst="line">
            <a:avLst/>
          </a:prstGeom>
          <a:noFill/>
          <a:ln w="31750">
            <a:solidFill>
              <a:srgbClr val="51606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72600" y="1508760"/>
            <a:ext cx="1828800" cy="242316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 w="12700">
            <a:solidFill>
              <a:srgbClr val="D8E0E7"/>
            </a:solidFill>
            <a:prstDash val="solid"/>
          </a:ln>
          <a:effectLst>
            <a:outerShdw sx="100000" sy="100000" kx="0" ky="0" algn="bl" rotWithShape="0" blurRad="13970" dist="762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72600" y="1508760"/>
            <a:ext cx="64008" cy="2423160"/>
          </a:xfrm>
          <a:prstGeom prst="rect">
            <a:avLst/>
          </a:prstGeom>
          <a:solidFill>
            <a:srgbClr val="F3B43F"/>
          </a:solidFill>
          <a:ln w="12700">
            <a:solidFill>
              <a:srgbClr val="F3B43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37192" y="164592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52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THAT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9537192" y="1965960"/>
            <a:ext cx="1517904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Recurrence Trees → Master Theorem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103120" y="4480560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EAF7F5"/>
          </a:solidFill>
          <a:ln w="12700">
            <a:solidFill>
              <a:srgbClr val="18B7A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240280" y="45994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reading for this lecture: Levitin Ch. 2; CLRS Ch. 3.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01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square" lIns="0" tIns="0" rIns="0" bIns="0" anchor="t"/>
          <a:lstStyle>
            <a:lvl1pPr>
              <a:defRPr sz="900">
                <a:solidFill>
                  <a:srgbClr val="A2AD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800" b="0">
                <a:solidFill>
                  <a:srgbClr val="51606D"/>
                </a:solidFill>
                <a:latin typeface="Aptos"/>
              </a:rPr>
              <a:t>48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8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508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Pause &amp; predict — Case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Decide before the next slide reveals the worked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3794760" cy="2971800"/>
          </a:xfrm>
          <a:prstGeom prst="roundRect">
            <a:avLst/>
          </a:prstGeom>
          <a:solidFill>
            <a:srgbClr val="F0F9F3"/>
          </a:solidFill>
          <a:ln>
            <a:solidFill>
              <a:srgbClr val="D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72768"/>
            <a:ext cx="64008" cy="2971800"/>
          </a:xfrm>
          <a:prstGeom prst="rect">
            <a:avLst/>
          </a:prstGeom>
          <a:solidFill>
            <a:srgbClr val="18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5232D"/>
                </a:solidFill>
                <a:latin typeface="Aptos"/>
              </a:rPr>
              <a:t>One tiny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20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unsorted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369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only one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572768"/>
            <a:ext cx="54864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192024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A7"/>
                </a:solidFill>
                <a:latin typeface="Aptos"/>
              </a:rPr>
              <a:t>YOUR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350008"/>
            <a:ext cx="4709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5232D"/>
                </a:solidFill>
                <a:latin typeface="Aptos Display"/>
              </a:rPr>
              <a:t>Would you scan immediately, or preprocess/sort first?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785615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1606D"/>
                </a:solidFill>
                <a:latin typeface="Aptos"/>
              </a:rPr>
              <a:t>Give one reason — not just the Big-O label.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828032"/>
            <a:ext cx="7315200" cy="530352"/>
          </a:xfrm>
          <a:prstGeom prst="roundRect">
            <a:avLst/>
          </a:prstGeom>
          <a:solidFill>
            <a:srgbClr val="F5F9F9"/>
          </a:solidFill>
          <a:ln>
            <a:solidFill>
              <a:srgbClr val="D3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4937760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8F84"/>
                </a:solidFill>
                <a:latin typeface="Aptos"/>
              </a:rPr>
              <a:t>30-second class discussion → commit to an answer before we reveal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1168" y="201168"/>
            <a:ext cx="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1606D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8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508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Pause &amp; predict — Case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Decide before the next slide reveals the worked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3794760" cy="2971800"/>
          </a:xfrm>
          <a:prstGeom prst="roundRect">
            <a:avLst/>
          </a:prstGeom>
          <a:solidFill>
            <a:srgbClr val="F1F6FC"/>
          </a:solidFill>
          <a:ln>
            <a:solidFill>
              <a:srgbClr val="D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72768"/>
            <a:ext cx="64008" cy="2971800"/>
          </a:xfrm>
          <a:prstGeom prst="rect">
            <a:avLst/>
          </a:prstGeom>
          <a:solidFill>
            <a:srgbClr val="3D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5232D"/>
                </a:solidFill>
                <a:latin typeface="Aptos"/>
              </a:rPr>
              <a:t>Many repeated searches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1,000,000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50,000 lookups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369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data changes rarely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572768"/>
            <a:ext cx="54864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192024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D7EC9"/>
                </a:solidFill>
                <a:latin typeface="Aptos"/>
              </a:rPr>
              <a:t>YOUR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350008"/>
            <a:ext cx="4709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5232D"/>
                </a:solidFill>
                <a:latin typeface="Aptos Display"/>
              </a:rPr>
              <a:t>Would a one-time preprocessing/indexing cost make sense now?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785615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1606D"/>
                </a:solidFill>
                <a:latin typeface="Aptos"/>
              </a:rPr>
              <a:t>Give one reason — not just the Big-O label.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828032"/>
            <a:ext cx="7315200" cy="530352"/>
          </a:xfrm>
          <a:prstGeom prst="roundRect">
            <a:avLst/>
          </a:prstGeom>
          <a:solidFill>
            <a:srgbClr val="F5F9F9"/>
          </a:solidFill>
          <a:ln>
            <a:solidFill>
              <a:srgbClr val="D3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4937760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8F84"/>
                </a:solidFill>
                <a:latin typeface="Aptos"/>
              </a:rPr>
              <a:t>30-second class discussion → commit to an answer before we reveal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1168" y="201168"/>
            <a:ext cx="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1606D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8B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508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8F84"/>
                </a:solidFill>
                <a:latin typeface="Aptos"/>
              </a:rPr>
              <a:t>LECTURE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02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5232D"/>
                </a:solidFill>
                <a:latin typeface="Aptos Display"/>
              </a:rPr>
              <a:t>Pause &amp; predict — Case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1606D"/>
                </a:solidFill>
                <a:latin typeface="Aptos"/>
              </a:rPr>
              <a:t>Decide before the next slide reveals the worked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3794760" cy="2971800"/>
          </a:xfrm>
          <a:prstGeom prst="roundRect">
            <a:avLst/>
          </a:prstGeom>
          <a:solidFill>
            <a:srgbClr val="FFF8E8"/>
          </a:solidFill>
          <a:ln>
            <a:solidFill>
              <a:srgbClr val="D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72768"/>
            <a:ext cx="64008" cy="2971800"/>
          </a:xfrm>
          <a:prstGeom prst="rect">
            <a:avLst/>
          </a:prstGeom>
          <a:solidFill>
            <a:srgbClr val="E29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5232D"/>
                </a:solidFill>
                <a:latin typeface="Aptos"/>
              </a:rPr>
              <a:t>Memory is the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limited 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moderate data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3697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1606D"/>
                </a:solidFill>
                <a:latin typeface="Aptos"/>
              </a:rPr>
              <a:t>• only occasional searches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572768"/>
            <a:ext cx="54864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9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192024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9A27"/>
                </a:solidFill>
                <a:latin typeface="Aptos"/>
              </a:rPr>
              <a:t>YOUR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350008"/>
            <a:ext cx="4709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5232D"/>
                </a:solidFill>
                <a:latin typeface="Aptos Display"/>
              </a:rPr>
              <a:t>Does the approach with the fastest lookup still automatically win?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785615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1606D"/>
                </a:solidFill>
                <a:latin typeface="Aptos"/>
              </a:rPr>
              <a:t>Give one reason — not just the Big-O label.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828032"/>
            <a:ext cx="7315200" cy="530352"/>
          </a:xfrm>
          <a:prstGeom prst="roundRect">
            <a:avLst/>
          </a:prstGeom>
          <a:solidFill>
            <a:srgbClr val="F5F9F9"/>
          </a:solidFill>
          <a:ln>
            <a:solidFill>
              <a:srgbClr val="D3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4937760"/>
            <a:ext cx="6903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8F84"/>
                </a:solidFill>
                <a:latin typeface="Aptos"/>
              </a:rPr>
              <a:t>30-second class discussion → commit to an answer before we reveal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1168" y="201168"/>
            <a:ext cx="8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1606D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COMSATS University Islamabad, Attock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8 - Complexity Classes &amp; Performance Tradeoffs</dc:title>
  <dc:subject>CSC301 Design and Analysis of Algorithms</dc:subject>
  <dc:creator>COMSATS University Islamabad</dc:creator>
  <cp:lastModifiedBy>COMSATS University Islamabad</cp:lastModifiedBy>
  <cp:revision>1</cp:revision>
  <dcterms:created xsi:type="dcterms:W3CDTF">2026-10-05T15:47:12Z</dcterms:created>
  <dcterms:modified xsi:type="dcterms:W3CDTF">2026-10-05T15:47:12Z</dcterms:modified>
</cp:coreProperties>
</file>