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3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CSC301 • Design and Analysis of Algorithms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160520" y="653796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3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COMSATS University Islamabad, Attock Campus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CSC301 • Design and Analysis of Algorithms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160520" y="653796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COMSATS University Islamabad, Attock Campus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05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5394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of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Algorithms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30815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induction • recursion • base case • inductive step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prove that a recursive call is correct for every valid input?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187452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188720"/>
            <a:ext cx="54864" cy="9601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1325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48272" y="166420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smallest valid input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0" y="1188720"/>
            <a:ext cx="187452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1188720"/>
            <a:ext cx="54864" cy="9601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34272" y="1325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034272" y="166420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call is correct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26680" y="2651760"/>
            <a:ext cx="187452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2651760"/>
            <a:ext cx="54864" cy="9601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27889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91272" y="312724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that assumption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476488" y="1664208"/>
            <a:ext cx="329184" cy="0"/>
          </a:xfrm>
          <a:prstGeom prst="line">
            <a:avLst/>
          </a:prstGeom>
          <a:noFill/>
          <a:ln w="15240">
            <a:solidFill>
              <a:srgbClr val="2BC5B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10928" y="2157984"/>
            <a:ext cx="-749808" cy="457200"/>
          </a:xfrm>
          <a:prstGeom prst="line">
            <a:avLst/>
          </a:prstGeom>
          <a:noFill/>
          <a:ln w="15240">
            <a:solidFill>
              <a:srgbClr val="F4B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08392" y="3108960"/>
            <a:ext cx="-804672" cy="-950976"/>
          </a:xfrm>
          <a:prstGeom prst="line">
            <a:avLst/>
          </a:prstGeom>
          <a:noFill/>
          <a:ln w="15240">
            <a:solidFill>
              <a:srgbClr val="42B97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52360" y="3986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67728" y="4443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8B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structure that mirrors recursion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89888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CDF OUTCOMES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you be able to do by the end?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5 follows the CDF topic “Correctness of Recursive Algorithms.”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3063240" cy="132588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47088"/>
            <a:ext cx="54864" cy="13258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228600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induction as a proof technique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160520" y="1847088"/>
            <a:ext cx="3063240" cy="132588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847088"/>
            <a:ext cx="54864" cy="13258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25112" y="228600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to recursive algorithm structures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26680" y="1847088"/>
            <a:ext cx="3063240" cy="132588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847088"/>
            <a:ext cx="54864" cy="132588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1272" y="228600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cases and inductive assumptions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4360" y="3767328"/>
            <a:ext cx="3063240" cy="132588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67328"/>
            <a:ext cx="54864" cy="132588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877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8952" y="420624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across recursive calls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160520" y="3767328"/>
            <a:ext cx="3063240" cy="132588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767328"/>
            <a:ext cx="54864" cy="13258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3877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25112" y="420624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correctness from iterative invariant proofs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26680" y="3767328"/>
            <a:ext cx="3063240" cy="132588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3767328"/>
            <a:ext cx="54864" cy="132588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3877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91272" y="4206240"/>
            <a:ext cx="2788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 and iteration under the same correctness requirements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CDF example: prove recursive factorial correctness using mathematical induction.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Lecture 5 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the same correctness goal — but the proof structure changes with the algorithm structure.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182880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2128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algorithm?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80360" y="2057400"/>
            <a:ext cx="182880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2128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99232" y="25420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design one?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166360" y="2057400"/>
            <a:ext cx="182880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2128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5232" y="25420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state correctness?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452360" y="2057400"/>
            <a:ext cx="182880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2128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71232" y="25420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prove loops?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738360" y="2057400"/>
            <a:ext cx="1828800" cy="1097280"/>
          </a:xfrm>
          <a:prstGeom prst="rect">
            <a:avLst/>
          </a:prstGeom>
          <a:solidFill>
            <a:srgbClr val="173E52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1512" y="22128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857232" y="25420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prove recursion?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173E52"/>
          </a:solidFill>
          <a:ln w="8890">
            <a:solidFill>
              <a:srgbClr val="173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 used a loop invariant. Lecture 5 uses induction because recursion reduces the problem to smaller copies of itself.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44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FROM L4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invariant proof vs. recursive induction proof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destination: total correctness. Different machinery because the control structure is different.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074920" cy="26060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26060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116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ALGORITHM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350008"/>
            <a:ext cx="48006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State a loop invariant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Initialization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Maintenance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Termination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follows repeated LOOP iterations.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074920" cy="26060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874520"/>
            <a:ext cx="54864" cy="26060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0116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ALGORITHM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11112" y="2350008"/>
            <a:ext cx="48006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State proposition P(n)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Prove the base case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Assume smaller case is correct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Prove current case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Prove recursion terminates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follows repeated RECURSIVE calls.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should mirror the structure of the algorithm.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430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 solves a problem using a smaller version of itself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recursive algorithm must eventually reach a case it can solve directly.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2057400"/>
            <a:ext cx="2592324" cy="12344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2057400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9456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49631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input of size n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232404" y="267004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2057400"/>
            <a:ext cx="2592324" cy="12344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205740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19456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1588" y="249631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smaller instance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025896" y="267004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2057400"/>
            <a:ext cx="2592324" cy="123444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057400"/>
            <a:ext cx="54864" cy="123444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9456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CALL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249631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smaller result is correct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19388" y="267004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3124" y="2057400"/>
            <a:ext cx="2592324" cy="12344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3124" y="205740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19456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8572" y="249631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build the answer for n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33172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P(n) depends on P(n − 1)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asks: if the smaller call returns the right answer, does the current call also return the right answer?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9601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useful recursive algorithm needs three ingredients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one of these and either correctness or termination can fail.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37560" cy="242316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4864" cy="242316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385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BASE 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267712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smallest / simplest valid input that is solved directly — no further recursive call.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37560" cy="242316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54864" cy="242316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385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RECURSIVE CASE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99432" y="2267712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the answer for the current input using the answer to a smaller valid input.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337560" cy="242316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28800"/>
            <a:ext cx="54864" cy="242316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385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PROGRESS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02752" y="2267712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call must move toward the base case so the recursion cannot continue forever.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supports correctness. Progress supports termination. The recursive case connects the two.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96012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induction — the proof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prove a statement P(n) for every valid integer 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920240"/>
            <a:ext cx="3523488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2024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57400"/>
            <a:ext cx="3267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359152"/>
            <a:ext cx="3267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P(0) or P(1) directly.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4163568" y="253288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7304" y="1920240"/>
            <a:ext cx="3523488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7304" y="192024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2752" y="2057400"/>
            <a:ext cx="3267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HYPOTHESIS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92752" y="2359152"/>
            <a:ext cx="3267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P(k) is true for a smaller k.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888224" y="253288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61960" y="1920240"/>
            <a:ext cx="3523488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1960" y="192024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7408" y="2057400"/>
            <a:ext cx="3267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17408" y="2359152"/>
            <a:ext cx="3267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that assumption, prove P(k + 1).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1417320" y="41605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+ Step  ⇒  P(n) holds for every valid 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does not “assume the answer.” It assumes only a smaller case so we can prove the next one.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0584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86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induction as a line of dominoes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facts are enough to establish the whole chain.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502920" cy="1874520"/>
          </a:xfrm>
          <a:prstGeom prst="rect">
            <a:avLst/>
          </a:prstGeom>
          <a:solidFill>
            <a:srgbClr val="DDF7F3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36192" y="3063240"/>
            <a:ext cx="1207008" cy="0"/>
          </a:xfrm>
          <a:prstGeom prst="line">
            <a:avLst/>
          </a:prstGeom>
          <a:noFill/>
          <a:ln w="12700">
            <a:solidFill>
              <a:srgbClr val="2BC5B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148840"/>
            <a:ext cx="502920" cy="1874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3063240"/>
            <a:ext cx="1207008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2148840"/>
            <a:ext cx="502920" cy="1874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2352" y="3063240"/>
            <a:ext cx="1207008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2148840"/>
            <a:ext cx="502920" cy="1874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85432" y="3063240"/>
            <a:ext cx="1207008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2148840"/>
            <a:ext cx="502920" cy="1874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68512" y="3063240"/>
            <a:ext cx="1207008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2148840"/>
            <a:ext cx="502920" cy="1874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" y="4526280"/>
            <a:ext cx="4206240" cy="9601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526280"/>
            <a:ext cx="54864" cy="9601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4636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307592" y="4965192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domino falls.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537960" y="4526280"/>
            <a:ext cx="4206240" cy="9601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526280"/>
            <a:ext cx="54864" cy="9601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4636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02552" y="4965192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falls, it knocks down the next.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recursion: the base case is solved directly; the recursive rule tells us how a correct smaller answer leads to a correct larger answer.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TEMPLATE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proof template for recursive algorithms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structure again and again.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55648"/>
            <a:ext cx="10652760" cy="64008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55648"/>
            <a:ext cx="54864" cy="6400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865376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SPECIFY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41832" y="2194560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precondition and postcondition / proposition P(n).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652760" cy="64008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54864" cy="64008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67004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BASE CASE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41832" y="2999232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algorithm returns the correct result for the smallest valid input.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777240" y="3364992"/>
            <a:ext cx="10652760" cy="64008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64992"/>
            <a:ext cx="54864" cy="6400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47472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INDUCTION HYPOTHESIS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41832" y="3803904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recursive call is correct for a smaller input.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777240" y="4169664"/>
            <a:ext cx="10652760" cy="64008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169664"/>
            <a:ext cx="54864" cy="64008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279392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INDUCTIVE STEP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41832" y="4608576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algorithm body + hypothesis to prove the current input is correct.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4974336"/>
            <a:ext cx="10652760" cy="64008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974336"/>
            <a:ext cx="54864" cy="6400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5084064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TERMINATION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41832" y="5413248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each recursive call moves toward a base case.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correctness comes from the induction argument. Termination completes total correctness.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Preconditions and postconditions still come first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is meaningful only after we say what the recursive algorithm promises.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4892040" cy="201168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47088"/>
            <a:ext cx="54864" cy="20116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568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 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286000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inputs are valid?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for factorial: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an integer and n ≥ 0.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1847088"/>
            <a:ext cx="4892040" cy="201168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47088"/>
            <a:ext cx="54864" cy="20116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9568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POSTCONDITION Q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56832" y="2286000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 when the call returns?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FACT(n) returns n!.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4343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P }   FACT(n)   { Q }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recursive proof shows that every valid call transforms the precondition into the required postcondition.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9601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symbols we will use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English meaning first; the notation is only compact shorthand.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10241280" cy="50292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56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32888" y="1856232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81928" y="1856232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/ English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10241280" cy="576072"/>
          </a:xfrm>
          <a:prstGeom prst="rect">
            <a:avLst/>
          </a:prstGeom>
          <a:solidFill>
            <a:srgbClr val="F6F8FA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35915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P(n)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532888" y="23591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correctness statement for input 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281928" y="235915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P(n): FACT(n) returns n!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7240" y="2862072"/>
            <a:ext cx="10241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935224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n!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32888" y="2935224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factorial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281928" y="293522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(n−1) × … × 1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3438144"/>
            <a:ext cx="10241280" cy="576072"/>
          </a:xfrm>
          <a:prstGeom prst="rect">
            <a:avLst/>
          </a:prstGeom>
          <a:solidFill>
            <a:srgbClr val="F6F8FA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∀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532888" y="3511296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/ for all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281928" y="3511296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∀ n ≥ 0 → for every valid 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4014216"/>
            <a:ext cx="10241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08736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532888" y="408736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281928" y="4087368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P(k) ⇒ P(k+1)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590288"/>
            <a:ext cx="10241280" cy="576072"/>
          </a:xfrm>
          <a:prstGeom prst="rect">
            <a:avLst/>
          </a:prstGeom>
          <a:solidFill>
            <a:srgbClr val="F6F8FA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66344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532888" y="4663440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hypothesis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281928" y="466344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smaller recursive call is correct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5166360"/>
            <a:ext cx="10241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E5EA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2395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∈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2532888" y="523951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 element of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281928" y="523951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∈ ℕ → n is a natural number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phrase: the induction hypothesis is about a SMALLER input — not the same input we are trying to prove.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17904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99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1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factorial — the required CDF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that the recursive function returns n! for every integer n ≥ 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4389120" cy="33375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 × FACT(n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2514600" cy="12344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82880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938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50992" y="2267712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an integer and n ≥ 0.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2926080" cy="12344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85632" y="2267712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value equals n!.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0" y="3474720"/>
            <a:ext cx="5760720" cy="132588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630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FACT(n) = n!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40873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English: for every valid n, the function returns the product n × (n−1) × … × 1; by convention 0! = 1.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why is mathematical induction a natural proof for this algorithm?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1323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FACT(4) before proving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 shows the recursive structure — but a trace is not a proof for every 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7132320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84248"/>
            <a:ext cx="6803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FACT(4)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572768" y="2487168"/>
            <a:ext cx="6473952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551176"/>
            <a:ext cx="6144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FACT(3)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139696" y="3054096"/>
            <a:ext cx="5815584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118104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FACT(2)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706624" y="3621024"/>
            <a:ext cx="5157216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3685032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2 × FACT(1)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73552" y="4187952"/>
            <a:ext cx="4498848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4251960"/>
            <a:ext cx="4169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2 × 1 × FACT(0)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840480" y="4754880"/>
            <a:ext cx="3840480" cy="438912"/>
          </a:xfrm>
          <a:prstGeom prst="rect">
            <a:avLst/>
          </a:prstGeom>
          <a:solidFill>
            <a:srgbClr val="194B43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481888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42B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2 × 1 × 1 = 24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869680" y="1965960"/>
            <a:ext cx="2057400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96596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GO DOWN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34272" y="2441448"/>
            <a:ext cx="1783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3 → 2 → 1 → 0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869680" y="3703320"/>
            <a:ext cx="2057400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370332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4272" y="3840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COME UP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34272" y="4178808"/>
            <a:ext cx="1783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1 → 2 → 6 → 24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must explain why this pattern works for every valid n — not only n = 4.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515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proof — Stage 1: Base 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smallest valid input n = 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4864" cy="21488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116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DOES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35000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 = 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1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74520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0116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SAYS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235000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0! = 1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54864" cy="21488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20116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48472" y="235000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FACT(0) = 1 = 0!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P(0) is true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complete: the function returns the required value for the smallest valid input.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8308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HYPOTHESIS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proof — Stage 2: Assume the smaller call is correct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assume FACT(n) is correct. We assume FACT(n−1) is correct.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20574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Assume:  FACT(k) = k!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2679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k is a smaller valid 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4754880" cy="14630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37560"/>
            <a:ext cx="54864" cy="14630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447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78992" y="377647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recursive call is FACT(n−1), we may use: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FACT(n−1) = (n−1)!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46520" y="3337560"/>
            <a:ext cx="4754880" cy="14630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3337560"/>
            <a:ext cx="54864" cy="14630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3447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STILL MUST PROVE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11112" y="377647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that smaller correct result, show the CURRENT call returns n!.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induction hypothesis is the bridge that lets the proof “trust” one recursive call.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5331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proof — Stage 3: Use the hypothesis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exactly what the recursive branch returns.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993392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93392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30552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FACT(n) returns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FACT(n−1)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232404" y="2606040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1993392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1993392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130552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1588" y="2432304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FACT(n−1) = (n−1)!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025896" y="2606040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993392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993392"/>
            <a:ext cx="54864" cy="123444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30552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2432304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(n−1)!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19388" y="2606040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3124" y="1993392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3124" y="1993392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130552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RULE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8572" y="2432304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(n−1)! = n!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05740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 FACT(n) = n!  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smaller recursive call is correct, the current call is correct too.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70432" cy="274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proof — does the recursion actually stop?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arithmetic is not enough; total correctness also needs termination.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108960" cy="21488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54864" cy="21488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984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33272" y="2313432"/>
            <a:ext cx="2834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recursive call replaces n by n−1.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874520"/>
            <a:ext cx="3108960" cy="21488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874520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984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IT GO?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90872" y="2313432"/>
            <a:ext cx="2834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 ≥ 0, repeated subtraction eventually reaches 0.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108960" cy="21488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54864" cy="21488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984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AT 0?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48472" y="2313432"/>
            <a:ext cx="2834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case returns directly — no further recursive call.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→ n−1 → n−2 → … → 1 → 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termination measure is n itself: a non-negative integer that strictly decreases on every recursive call.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CORRECTNESS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— put the whole proof together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correctness + termination gives total correctness.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4864" cy="21488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30428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FACT(0) returns 1 = 0!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230428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FACT(n−1) correct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FACT(n) correct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246120" cy="21488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28800"/>
            <a:ext cx="54864" cy="21488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2304288"/>
            <a:ext cx="2971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decreases to 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143000" y="4343400"/>
            <a:ext cx="9921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∀ n ≥ 0,  FACT(n) returns n! and terminates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the recursive factorial algorithm is totally correct for its stated input domain.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88720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base case is missing?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recursive rule may look mathematically reasonable and still never stop.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251960" cy="246888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476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221992"/>
            <a:ext cx="3886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BAD-FACT(n)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× BAD-FACT(n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5577840" cy="105156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828800"/>
            <a:ext cx="54864" cy="105156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9385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42432" y="2267712"/>
            <a:ext cx="5303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BAD-FACT(3) → BAD-FACT(2) → BAD-FACT(1) → BAD-FACT(0) → BAD-FACT(−1) → …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577840" y="3246120"/>
            <a:ext cx="5577840" cy="105156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246120"/>
            <a:ext cx="54864" cy="105156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3558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42432" y="3685032"/>
            <a:ext cx="5303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direct-return case. The calls continue forever (or until the runtime fails).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recursive definition needs a base case that the algorithm can actually reach.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88720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 base case is not enough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recursive call must make progress toward it.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251960" cy="27889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476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221992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BAD-COUNT(n)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 + BAD-COUNT(n + 1)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5577840" cy="109728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828800"/>
            <a:ext cx="54864" cy="10972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9385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EXISTS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42432" y="22677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 is present.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577840" y="3200400"/>
            <a:ext cx="5577840" cy="109728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200400"/>
            <a:ext cx="54864" cy="109728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310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PROGRESS IS WRONG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42432" y="36393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positive n, the call uses n + 1, moving away from 0.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6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4 → 5 → 6 → 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requires a well-founded measure that moves strictly toward a base case.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FAILURE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recursive algorithm may terminate and still be wrong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and result correctness are separate obligations.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251960" cy="28803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476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TERMINATES — BUT WRONG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221992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WRONG-FACT(n)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+ WRONG-FACT(n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5577840" cy="109728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828800"/>
            <a:ext cx="54864" cy="109728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9385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 =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42432" y="22677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WRONG-FACT(3) = 3 + 2 + 1 + 1 = 7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577840" y="3200400"/>
            <a:ext cx="5577840" cy="109728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200400"/>
            <a:ext cx="54864" cy="10972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310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42432" y="36393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3! = 6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577840" y="4572000"/>
            <a:ext cx="5577840" cy="73152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4572000"/>
            <a:ext cx="54864" cy="7315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46817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42432" y="5010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✓     Postcondition ✗     Total correctness 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stops” does not imply “it is correct.” Both obligations are required.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17904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99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2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SUM(n)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example: prove that SUM returns 1 + 2 + … + 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4389120" cy="31089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+ SUM(n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2514600" cy="12344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82880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938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50992" y="2267712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an integer and n ≥ 0.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2926080" cy="12344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85632" y="2267712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value = n(n+1)/2.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0" y="3474720"/>
            <a:ext cx="5760720" cy="12344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657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SUM(n) = n(n + 1) /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41148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English: the recursive result equals the sum of all integers from 1 through n.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pattern should now feel familiar: base case → hypothesis → step → termination.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1323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SUM(4)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Again: useful for understanding, but not a general proof.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7132320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38528"/>
            <a:ext cx="6803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SUM(4)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572768" y="2441448"/>
            <a:ext cx="6473952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505456"/>
            <a:ext cx="6144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SUM(3)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139696" y="3008376"/>
            <a:ext cx="5815584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072384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+ 3 + SUM(2)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706624" y="3575304"/>
            <a:ext cx="5157216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3639312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+ 3 + 2 + SUM(1)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73552" y="4142232"/>
            <a:ext cx="4498848" cy="438912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4206240"/>
            <a:ext cx="4169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+ 3 + 2 + 1 + SUM(0)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840480" y="4709160"/>
            <a:ext cx="3840480" cy="438912"/>
          </a:xfrm>
          <a:prstGeom prst="rect">
            <a:avLst/>
          </a:prstGeom>
          <a:solidFill>
            <a:srgbClr val="194B43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477316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42B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+ 3 + 2 + 1 + 0 = 10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909560" y="4160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SUM(4) = 10 = 4(5)/2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answers “what happened here?” Induction answers “why does it always work?”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PROOF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SUM(n) — base case and induction hypothesis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what is proved from what is temporarily assumed.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892040" cy="228600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4864" cy="228600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385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 n = 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267712"/>
            <a:ext cx="46177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SUM(0) returns 0.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gives: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0(0 + 1)/2 = 0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P(0)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4892040" cy="228600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28800"/>
            <a:ext cx="54864" cy="228600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9385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HYPOTHESIS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56832" y="2267712"/>
            <a:ext cx="46177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for a smaller k: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SUM(k) = k(k + 1)/2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use this to prove SUM(k+1).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hypothesis gives us the exact value returned by the recursive call.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5331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SUM(n) — the algebra step by step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recursive definition and the induction hypothesis.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96596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65960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0312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40487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SUM(k+1)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(k+1) + SUM(k)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232404" y="257860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196596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196596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10312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1588" y="240487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(k+1) + k(k+1)/2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025896" y="257860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96596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965960"/>
            <a:ext cx="54864" cy="123444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0312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240487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(k+1)(k+2)/2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19388" y="257860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3124" y="196596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3124" y="196596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10312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FORMULA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8572" y="240487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formula for n = k+1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1508760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SUM(k + 1) = (k + 1)(k + 2) / 2  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recursive formula plus a correct smaller result produces the correct current result.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70432" cy="274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SUM(n) — total correctness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termination argument is almost identical to factorial.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246120" cy="201168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4864" cy="201168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842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CORRECTNESS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313432"/>
            <a:ext cx="2971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+ induction step prove the returned value is correct if the call returns.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3246120" cy="201168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74520"/>
            <a:ext cx="54864" cy="20116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842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2313432"/>
            <a:ext cx="2971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call uses n−1 and valid n is a non-negative integer, so the chain reaches 0.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246120" cy="201168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54864" cy="20116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9842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CORRECTNESS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48472" y="2313432"/>
            <a:ext cx="2971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result + guaranteed return for every valid n.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325880" y="4389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SUM(n) is totally correct for all integers n ≥ 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how the same termination measure n can support several structurally similar recursive algorithms.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17904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99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3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POWER(a,n)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that POWER returns aⁿ for n ≥ 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4389120" cy="31089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POWER(a, 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× POWER(a, 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2514600" cy="12344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82880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938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50992" y="2267712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an integer and n ≥ 0.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2926080" cy="12344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85632" y="2267712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value = aⁿ.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0" y="3474720"/>
            <a:ext cx="5760720" cy="123444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657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POWER(a,n) = aⁿ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0" y="41148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English: multiply a by itself exactly n times; a⁰ = 1.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 controls the recursion depth; a can remain unchanged.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7043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PROOF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POWER(a,n) — see the induction pattern again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problem, same proof skeleton.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063240" cy="23317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" cy="23317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65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" y="2304288"/>
            <a:ext cx="27889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POWER(a,0) = 1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a⁰ = 1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3063240" cy="23317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828800"/>
            <a:ext cx="54864" cy="23317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965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79392" y="2304288"/>
            <a:ext cx="27889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Assume: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POWER(a,k) = aᵏ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543800" y="1828800"/>
            <a:ext cx="3931920" cy="23317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1828800"/>
            <a:ext cx="54864" cy="23317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08392" y="2304288"/>
            <a:ext cx="3657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POWER(a,k+1)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 × POWER(a,k)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 × aᵏ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aᵏ⁺¹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Termination: n decreases by 1 until 0, so the recursion reaches the base case.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841248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Factorial, SUM, and POWER share the same proof shape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expressions change; the reasoning structure does not.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424160" cy="54864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8036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2356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36676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measure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04241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96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34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24963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FACT(0)=1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24963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FACT(n−1)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66760" y="24963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10424160" cy="841248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34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SUM(0)=0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+ SUM(n−1)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059936"/>
            <a:ext cx="104241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788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34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POWER(a,n)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41788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POWER(a,0)=1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41788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× POWER(a,n−1)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41788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insight: identify the smallest case, trust one smaller call, show how the current result is built, then prove progress.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896112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invariants vs. induction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structured ways of showing that correctness propagates.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744200" cy="548640"/>
          </a:xfrm>
          <a:prstGeom prst="rect">
            <a:avLst/>
          </a:prstGeom>
          <a:solidFill>
            <a:srgbClr val="173E52"/>
          </a:solidFill>
          <a:ln w="8890">
            <a:solidFill>
              <a:srgbClr val="173E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proof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proof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10744200" cy="694944"/>
          </a:xfrm>
          <a:prstGeom prst="rect">
            <a:avLst/>
          </a:prstGeom>
          <a:solidFill>
            <a:srgbClr val="163B50"/>
          </a:solidFill>
          <a:ln w="8890">
            <a:solidFill>
              <a:srgbClr val="163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3118104"/>
            <a:ext cx="10744200" cy="694944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095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08960" y="3209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true before iteration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0" y="3209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recursive case is correct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3813048"/>
            <a:ext cx="10744200" cy="694944"/>
          </a:xfrm>
          <a:prstGeom prst="rect">
            <a:avLst/>
          </a:prstGeom>
          <a:solidFill>
            <a:srgbClr val="163B50"/>
          </a:solidFill>
          <a:ln w="8890">
            <a:solidFill>
              <a:srgbClr val="163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044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/ extend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0" y="3904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3904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4507992"/>
            <a:ext cx="10744200" cy="694944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99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4599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+ stopping condition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599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reached + calls return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" y="5202936"/>
            <a:ext cx="10744200" cy="694944"/>
          </a:xfrm>
          <a:prstGeom prst="rect">
            <a:avLst/>
          </a:prstGeom>
          <a:solidFill>
            <a:srgbClr val="163B50"/>
          </a:solidFill>
          <a:ln w="8890">
            <a:solidFill>
              <a:srgbClr val="163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94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08960" y="5294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progress measure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5294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progress measure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proof technique, same requirement: every valid input must produce the required output and terminate.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SELECTION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vs. iterative factorial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style can change — the correctness specification does not.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4937760" cy="26517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476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777240" y="2221992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FACT-REC(n)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× FACT-REC(n - 1)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1828800"/>
            <a:ext cx="4937760" cy="26517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19476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6812280" y="2221992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FACT-ITER(n)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← 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1 to 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← result × i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3246120" cy="749808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54864" cy="749808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864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87552" y="5193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an integer and n ≥ 0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4480560" y="4754880"/>
            <a:ext cx="3246120" cy="749808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4754880"/>
            <a:ext cx="54864" cy="749808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4864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45152" y="5193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value = n!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8138160" y="4754880"/>
            <a:ext cx="3246120" cy="749808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4754880"/>
            <a:ext cx="54864" cy="749808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4864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PROOF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02752" y="5193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vs. loop invariant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choose an implementation because it “looks clever.” First ensure it satisfies the same correctness contract.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55648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636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REASONING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evaluate a recursive correctness proof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every proof through these checks.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valid inputs and the required result stated precisely?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55117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3063240" y="255117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smallest valid case correct?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331927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3063240" y="331927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assumption about a strictly smaller valid input?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40873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063240" y="408736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current call become correct if the recursive call is correct?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485546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4855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063240" y="485546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 recursive path reach a base case?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is incomplete if any recursive branch lacks correctness reasoning or a termination path.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44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PRACTICE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identify the proof pieces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each, state the base case, induction hypothesis, inductive step idea, and termination measure.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744200" cy="10058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" cy="10058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9280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COUNTDOWN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221992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COUNT(n): if n = 0 return; otherwise print n and call COUNT(n−1). What guarantees termination?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744200" cy="10058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63240"/>
            <a:ext cx="54864" cy="1005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7296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SUM OF SQUARES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3502152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SQSUM(n): if n = 0 return 0; otherwise return n² + SQSUM(n−1). What postcondition would you prove?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744200" cy="100584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" cy="100584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45312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ARRAY PRODUCT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" y="4782312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PROD(A,n): if n = 0 return 1; otherwise return A[n−1] × PROD(A,n−1). What does the recursive call already know?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plain English. Write symbols only after the meaning is clear.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answers for the class practice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wording is fine if the meaning is precise.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744200" cy="105156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" cy="105156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9280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COUNTDOWN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221992"/>
            <a:ext cx="10469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n=0. Progress/termination measure: n. Each recursive call decreases n by 1 until 0.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744200" cy="105156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54864" cy="105156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21868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SUM OF SQUARES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3547872"/>
            <a:ext cx="10469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Postcondition: SQSUM(n) = 1² + 2² + … + n². IH: assume SQSUM(k) correctly sums squares through k.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744200" cy="105156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54864" cy="105156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54456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ARRAY PRODUCT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" y="4873752"/>
            <a:ext cx="10469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IH: PROD(A,n−1) equals the product of A[0] through A[n−2]. Multiply by A[n−1] to obtain the product of the first n elements.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induction hypothesis should describe exactly what the recursive call returns — no more and no less.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86384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667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ideas to carry forward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correctness turns “the recursion seems right” into a structured induction proof.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valid inputs and the required output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smallest valid case directly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990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hypothesis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2990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 smaller recursive call is correct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263640" y="2990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990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step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0" y="2990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that smaller result to prove the current result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40080" y="4288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every call moves toward a base case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263640" y="4288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6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0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AFC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and recursion must satisfy the same correctness requirements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Analyzing Non-Recursive Algorithms — RAM model, basic operations, and best/worst/average cases.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Correctness of Recursive Algorithms</dc:title>
  <dc:subject>CSC301 Design and Analysis of Algorithms</dc:subject>
  <dc:creator>COMSATS University Islamabad, Attock Campus</dc:creator>
  <cp:lastModifiedBy>COMSATS University Islamabad, Attock Campus</cp:lastModifiedBy>
  <cp:revision>1</cp:revision>
  <dcterms:created xsi:type="dcterms:W3CDTF">2026-09-20T11:22:53Z</dcterms:created>
  <dcterms:modified xsi:type="dcterms:W3CDTF">2026-09-20T11:22:53Z</dcterms:modified>
</cp:coreProperties>
</file>