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3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CSC301 • Design and Analysis of Algorithms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4160520" y="653796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3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COMSATS University Islamabad, Attock Campus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C2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CSC301 • Design and Analysis of Algorithms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4160520" y="653796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E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COMSATS University Islamabad, Attock Campus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25880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06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30352" y="1280160"/>
            <a:ext cx="56692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Analyzing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Non-Recursive Algorithms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A8BD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model • basic operations • exact counts • best / worst / average case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548640" y="373075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that an algorithm is correct — how much work does it actually do?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20840" y="1188720"/>
            <a:ext cx="1965960" cy="96012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1188720"/>
            <a:ext cx="54864" cy="9601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85432" y="1325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SIZE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85432" y="1664208"/>
            <a:ext cx="1691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n measure?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9006840" y="1188720"/>
            <a:ext cx="1965960" cy="96012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06840" y="1188720"/>
            <a:ext cx="54864" cy="9601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1325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OP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71432" y="1664208"/>
            <a:ext cx="1691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repeats most?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720840" y="2606040"/>
            <a:ext cx="1965960" cy="96012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2606040"/>
            <a:ext cx="54864" cy="96012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85432" y="27432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85432" y="3081528"/>
            <a:ext cx="1691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times?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006840" y="2606040"/>
            <a:ext cx="1965960" cy="96012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2606040"/>
            <a:ext cx="54864" cy="96012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71432" y="27432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71432" y="3081528"/>
            <a:ext cx="1691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• worst • average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7406640" y="41605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FIRST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8BD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Big-O comes in the next lecture.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89888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CDF OUTCOMES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you be able to do by the end?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6 follows the CDF topic “Analyzing Non-Recursive Algorithms.”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063240" cy="1298448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28800"/>
            <a:ext cx="54864" cy="1298448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9385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2267712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simplified RAM model used for analysis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160520" y="1828800"/>
            <a:ext cx="3063240" cy="1298448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828800"/>
            <a:ext cx="54864" cy="1298448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5112" y="19385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25112" y="2267712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operations performed by non-recursive algorithms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726680" y="1828800"/>
            <a:ext cx="3063240" cy="1298448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1828800"/>
            <a:ext cx="54864" cy="1298448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91272" y="19385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91272" y="2267712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a basic operation to estimate running time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94360" y="3703320"/>
            <a:ext cx="3063240" cy="1298448"/>
          </a:xfrm>
          <a:prstGeom prst="rect">
            <a:avLst/>
          </a:prstGeom>
          <a:solidFill>
            <a:srgbClr val="F0E9FF"/>
          </a:solidFill>
          <a:ln w="8890">
            <a:solidFill>
              <a:srgbClr val="F0E9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703320"/>
            <a:ext cx="54864" cy="1298448"/>
          </a:xfrm>
          <a:prstGeom prst="rect">
            <a:avLst/>
          </a:prstGeom>
          <a:solidFill>
            <a:srgbClr val="8A5BE6"/>
          </a:solidFill>
          <a:ln w="8890">
            <a:solidFill>
              <a:srgbClr val="8A5B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38130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58952" y="4142232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best-case, worst-case, and average-case behavior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160520" y="3703320"/>
            <a:ext cx="3063240" cy="1298448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3703320"/>
            <a:ext cx="54864" cy="1298448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38130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25112" y="4142232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input characteristics to performance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726680" y="3703320"/>
            <a:ext cx="3063240" cy="1298448"/>
          </a:xfrm>
          <a:prstGeom prst="rect">
            <a:avLst/>
          </a:prstGeom>
          <a:solidFill>
            <a:srgbClr val="FDEAEA"/>
          </a:solidFill>
          <a:ln w="8890">
            <a:solidFill>
              <a:srgbClr val="FDEA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6680" y="3703320"/>
            <a:ext cx="54864" cy="1298448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38130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891272" y="4142232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analysis to representative algorithms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CDF example: analyze iterative maximum-finding under different input arrangements.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2588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MAP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Lecture 6 fits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course now shifts from proving correctness to measuring efficiency.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2084832"/>
            <a:ext cx="1783080" cy="1097280"/>
          </a:xfrm>
          <a:prstGeom prst="rect">
            <a:avLst/>
          </a:prstGeom>
          <a:solidFill>
            <a:srgbClr val="102F41"/>
          </a:solidFill>
          <a:ln w="8890">
            <a:solidFill>
              <a:srgbClr val="3150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231136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correctness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880360" y="2084832"/>
            <a:ext cx="1783080" cy="1097280"/>
          </a:xfrm>
          <a:prstGeom prst="rect">
            <a:avLst/>
          </a:prstGeom>
          <a:solidFill>
            <a:srgbClr val="102F41"/>
          </a:solidFill>
          <a:ln w="8890">
            <a:solidFill>
              <a:srgbClr val="3150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231136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90088" y="256032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loops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138928" y="2084832"/>
            <a:ext cx="1783080" cy="1097280"/>
          </a:xfrm>
          <a:prstGeom prst="rect">
            <a:avLst/>
          </a:prstGeom>
          <a:solidFill>
            <a:srgbClr val="102F41"/>
          </a:solidFill>
          <a:ln w="8890">
            <a:solidFill>
              <a:srgbClr val="3150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231136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48656" y="256032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recursion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397496" y="2084832"/>
            <a:ext cx="1783080" cy="1097280"/>
          </a:xfrm>
          <a:prstGeom prst="rect">
            <a:avLst/>
          </a:prstGeom>
          <a:solidFill>
            <a:srgbClr val="173E52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0648" y="2231136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507224" y="256032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work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9656064" y="2084832"/>
            <a:ext cx="1783080" cy="1097280"/>
          </a:xfrm>
          <a:prstGeom prst="rect">
            <a:avLst/>
          </a:prstGeom>
          <a:solidFill>
            <a:srgbClr val="102F41"/>
          </a:solidFill>
          <a:ln w="8890">
            <a:solidFill>
              <a:srgbClr val="3150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29216" y="2231136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L7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765792" y="256032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growth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173E52"/>
          </a:solidFill>
          <a:ln w="8890">
            <a:solidFill>
              <a:srgbClr val="173E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exact / concrete operation counts. Next lecture: Big-O, Big-Ω and Θ growth-rate notation.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960120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first. Efficient second.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comparison is meaningful only among algorithms that solve the required problem correctly.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3063240" cy="19202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20240"/>
            <a:ext cx="54864" cy="192024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0574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CORRECTNESS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41832" y="2395728"/>
            <a:ext cx="2788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algorithm return the required result for every valid input?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526280" y="1920240"/>
            <a:ext cx="3063240" cy="19202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920240"/>
            <a:ext cx="54864" cy="19202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0574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ANALYSIS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90872" y="2395728"/>
            <a:ext cx="2788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primitive operations does it perform as the input changes?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275320" y="1920240"/>
            <a:ext cx="3063240" cy="19202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920240"/>
            <a:ext cx="54864" cy="192024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9912" y="20574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SELECTION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439912" y="2395728"/>
            <a:ext cx="2788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correct choices, which solution uses resources more effectively?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 wrong answer is still wrong.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8872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069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ANALYZE?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just run the program and time it?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Elapsed time is useful experimentally, but it mixes algorithm quality with machine and implementation details.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337560" cy="2148840"/>
          </a:xfrm>
          <a:prstGeom prst="rect">
            <a:avLst/>
          </a:prstGeom>
          <a:solidFill>
            <a:srgbClr val="FDEAEA"/>
          </a:solidFill>
          <a:ln w="8890">
            <a:solidFill>
              <a:srgbClr val="FDEA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54864" cy="214884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9842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TIME DEPENDS 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313432"/>
            <a:ext cx="30632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speed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/ language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and memory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running processes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434840" y="1874520"/>
            <a:ext cx="3337560" cy="214884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874520"/>
            <a:ext cx="54864" cy="214884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9842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COUNT FOCUSES 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99432" y="2313432"/>
            <a:ext cx="30632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algorithmic structure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size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work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arrangement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229600" y="1874520"/>
            <a:ext cx="3337560" cy="214884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874520"/>
            <a:ext cx="54864" cy="21488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19842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 TODAY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94192" y="2313432"/>
            <a:ext cx="30632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machine-independent mathematical description of work — before asymptotic notation.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abstracts away many hardware details so we can compare algorithms more fairly.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0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MODEL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simplified RAM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idealized machine model used to make operation counting manageable.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2648" y="1920240"/>
            <a:ext cx="2592324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920240"/>
            <a:ext cx="54864" cy="123444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57400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8096" y="2359152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execute one after another.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3232404" y="2532888"/>
            <a:ext cx="146304" cy="0"/>
          </a:xfrm>
          <a:prstGeom prst="line">
            <a:avLst/>
          </a:prstGeom>
          <a:noFill/>
          <a:ln w="12700">
            <a:solidFill>
              <a:srgbClr val="A8BDC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06140" y="1920240"/>
            <a:ext cx="2592324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6140" y="1920240"/>
            <a:ext cx="54864" cy="12344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1588" y="2057400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UNIT-COST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1588" y="2359152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primitive operations are treated as constant-cost.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6025896" y="2532888"/>
            <a:ext cx="146304" cy="0"/>
          </a:xfrm>
          <a:prstGeom prst="line">
            <a:avLst/>
          </a:prstGeom>
          <a:noFill/>
          <a:ln w="12700">
            <a:solidFill>
              <a:srgbClr val="A8BDC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99632" y="1920240"/>
            <a:ext cx="2592324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1920240"/>
            <a:ext cx="54864" cy="123444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057400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ACCESS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55080" y="2359152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/ writing a memory location is treated as constant-cost.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8819388" y="2532888"/>
            <a:ext cx="146304" cy="0"/>
          </a:xfrm>
          <a:prstGeom prst="line">
            <a:avLst/>
          </a:prstGeom>
          <a:noFill/>
          <a:ln w="12700">
            <a:solidFill>
              <a:srgbClr val="A8BDC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93124" y="1920240"/>
            <a:ext cx="2592324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93124" y="1920240"/>
            <a:ext cx="54864" cy="123444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8572" y="2057400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148572" y="2359152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 CPU, cache, compiler and OS details.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RAM model is a teaching abstraction — not a literal description of modern hardware.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MODEL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counts as a primitive operation?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introductory analysis, we usually treat simple statements as constant-cost building blocks.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847088"/>
            <a:ext cx="3337560" cy="114300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47088"/>
            <a:ext cx="54864" cy="114300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9568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850392" y="228600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← 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847088"/>
            <a:ext cx="3337560" cy="114300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847088"/>
            <a:ext cx="54864" cy="114300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9568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4645152" y="228600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+ y, x − y, x × 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75320" y="1847088"/>
            <a:ext cx="3337560" cy="1143000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847088"/>
            <a:ext cx="54864" cy="114300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9912" y="19568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8439912" y="228600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&lt; y, x = 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3447288"/>
            <a:ext cx="3337560" cy="1143000"/>
          </a:xfrm>
          <a:prstGeom prst="rect">
            <a:avLst/>
          </a:prstGeom>
          <a:solidFill>
            <a:srgbClr val="F0E9FF"/>
          </a:solidFill>
          <a:ln w="8890">
            <a:solidFill>
              <a:srgbClr val="F0E9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447288"/>
            <a:ext cx="54864" cy="1143000"/>
          </a:xfrm>
          <a:prstGeom prst="rect">
            <a:avLst/>
          </a:prstGeom>
          <a:solidFill>
            <a:srgbClr val="8A5BE6"/>
          </a:solidFill>
          <a:ln w="8890">
            <a:solidFill>
              <a:srgbClr val="8A5B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5570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ACCESS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850392" y="388620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A[i]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3447288"/>
            <a:ext cx="3337560" cy="1143000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3447288"/>
            <a:ext cx="54864" cy="114300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35570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645152" y="388620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← i + 1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75320" y="3447288"/>
            <a:ext cx="3337560" cy="1143000"/>
          </a:xfrm>
          <a:prstGeom prst="rect">
            <a:avLst/>
          </a:prstGeom>
          <a:solidFill>
            <a:srgbClr val="FDEAEA"/>
          </a:solidFill>
          <a:ln w="8890">
            <a:solidFill>
              <a:srgbClr val="FDEA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447288"/>
            <a:ext cx="54864" cy="114300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9912" y="35570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8439912" y="388620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need to count every low-level CPU instruction to reason about algorithmic work.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77724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identify the input size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symbol n must mean something concrete for the problem being analyzed.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47088"/>
            <a:ext cx="3063240" cy="192024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47088"/>
            <a:ext cx="54864" cy="192024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9568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ALGORITHM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41832" y="2286000"/>
            <a:ext cx="27889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number of array elements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53712" y="1847088"/>
            <a:ext cx="3063240" cy="192024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847088"/>
            <a:ext cx="54864" cy="19202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9568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ALGORITHM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18304" y="2286000"/>
            <a:ext cx="27889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may be rows / columns or two dimensions m and 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321040" y="1847088"/>
            <a:ext cx="3063240" cy="1920240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847088"/>
            <a:ext cx="54864" cy="192024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19568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ALGORITHM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485632" y="2286000"/>
            <a:ext cx="27889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number of characters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4389120"/>
            <a:ext cx="909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size is part of the analysis — not an afterthought.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define n before writing T(n).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77724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choose a basic operation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basic operation is usually the operation whose repetition dominates the algorithm’s work.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4709160" cy="306324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901952"/>
            <a:ext cx="4379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868680" y="2176272"/>
            <a:ext cx="4343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SUM(A)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← 0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← 0 to n-1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← total + A[i]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89320" y="1874520"/>
            <a:ext cx="5303520" cy="123444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9320" y="1874520"/>
            <a:ext cx="54864" cy="12344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3912" y="19842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BASIC OPERATION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53912" y="2313432"/>
            <a:ext cx="5029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← total + A[i]  — the addition is executed once per element.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989320" y="3429000"/>
            <a:ext cx="5303520" cy="123444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3429000"/>
            <a:ext cx="54864" cy="123444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35387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153912" y="3867912"/>
            <a:ext cx="5029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 array of n elements, the addition executes exactly n times.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6675120" y="4892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C(n) = 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an operation that reflects the repeated work you want to compare.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5156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Basic-operation count vs. full step count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valid models — but you must say which model you are using.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4983480" cy="251460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54864" cy="251460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8424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BASIC-OPERATION MODEL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96112" y="2313432"/>
            <a:ext cx="470916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one representative operation, such as the key comparison or addition.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 simple, highlights the main repetition.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MAX comparisons = n − 1.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446520" y="1874520"/>
            <a:ext cx="4983480" cy="251460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874520"/>
            <a:ext cx="54864" cy="251460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98424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FULLER STEP MODEL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11112" y="2313432"/>
            <a:ext cx="470916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assignments, comparisons, increments, updates, etc.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 shows why input arrangement can change actual work.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MAX updates vary with order.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cost models can produce different exact formulas — consistency matters.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96012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Warm-up: analyze iterative summation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an algorithm whose basic operation count is independent of the data values.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4663440" cy="292608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901952"/>
            <a:ext cx="4334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868680" y="2176272"/>
            <a:ext cx="42976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SUM(A)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← 0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← 0 to n-1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← total + A[i]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06440" y="1847088"/>
            <a:ext cx="3575304" cy="484632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70448" y="1874520"/>
            <a:ext cx="34472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9381744" y="1847088"/>
            <a:ext cx="1682496" cy="484632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45752" y="1874520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5806440" y="2331720"/>
            <a:ext cx="3575304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2359152"/>
            <a:ext cx="34472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← 0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9381744" y="2331720"/>
            <a:ext cx="1682496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45752" y="2359152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5806440" y="2816352"/>
            <a:ext cx="3575304" cy="484632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2843784"/>
            <a:ext cx="34472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 total + A[i]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9381744" y="2816352"/>
            <a:ext cx="1682496" cy="484632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45752" y="2843784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5806440" y="3300984"/>
            <a:ext cx="3575304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3328416"/>
            <a:ext cx="34472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body executions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9381744" y="3300984"/>
            <a:ext cx="1682496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45752" y="3328416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5806440" y="3785616"/>
            <a:ext cx="3575304" cy="484632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0448" y="3813048"/>
            <a:ext cx="34472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9381744" y="3785616"/>
            <a:ext cx="1682496" cy="484632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45752" y="3813048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6080760" y="466344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additions: C(n) = n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values in A do not change how many additions SUM performs.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0020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CHARACTERISTICS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Sometimes the input values matter — sometimes they do not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assume every algorithm has different best and worst cases.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56232"/>
            <a:ext cx="3337560" cy="214884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56232"/>
            <a:ext cx="54864" cy="214884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65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SUM(A)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96112" y="2295144"/>
            <a:ext cx="30632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element is added exactly once.</a:t>
            </a:r>
            <a:endParaRPr lang="en-US" sz="880" dirty="0"/>
          </a:p>
          <a:p>
            <a:pPr algn="l" indent="0" marL="0">
              <a:buNone/>
            </a:pP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number of basic additions for every array of size n.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425696" y="1856232"/>
            <a:ext cx="3337560" cy="214884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25696" y="1856232"/>
            <a:ext cx="54864" cy="21488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965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MAX(A)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90288" y="2295144"/>
            <a:ext cx="30632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candidate is compared, but the number of updates depends on order.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119872" y="1856232"/>
            <a:ext cx="3337560" cy="2148840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1856232"/>
            <a:ext cx="54864" cy="214884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1965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SEARCH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84464" y="2295144"/>
            <a:ext cx="30632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position can drastically change the number of comparisons.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analysis makes sense only when the input characteristics can change the amount of work.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822960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04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Best, worst, and average case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refer to inputs of the SAME size 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3246120" cy="201168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54864" cy="201168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57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CASE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96112" y="2395728"/>
            <a:ext cx="29718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least work among all valid inputs of size n.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480560" y="1920240"/>
            <a:ext cx="3246120" cy="201168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920240"/>
            <a:ext cx="54864" cy="201168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057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96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CASE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45152" y="2395728"/>
            <a:ext cx="29718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work among all valid inputs of size n.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246120" cy="201168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920240"/>
            <a:ext cx="54864" cy="201168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057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CASE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94192" y="2395728"/>
            <a:ext cx="29718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work under a stated probability model for inputs of size n.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case is meaningless unless the input distribution / assumption is stated.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0" cy="27432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CASE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case ≠ “small input”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case means the easiest arrangement among inputs having the same size 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4800600" cy="1874520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74520"/>
            <a:ext cx="54864" cy="187452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98424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SEARCH EXAMPLE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41832" y="2313432"/>
            <a:ext cx="45262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[7, 2, 9, 5, 4]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target v = 7</a:t>
            </a:r>
            <a:endParaRPr lang="en-US" sz="940" dirty="0"/>
          </a:p>
          <a:p>
            <a:pPr algn="l" indent="0" marL="0">
              <a:buNone/>
            </a:pP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is at the first position.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492240" y="1874520"/>
            <a:ext cx="4800600" cy="187452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874520"/>
            <a:ext cx="54864" cy="18745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198424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COMPARISONS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56832" y="2313432"/>
            <a:ext cx="45262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A[0] with v once.</a:t>
            </a:r>
            <a:endParaRPr lang="en-US" sz="940" dirty="0"/>
          </a:p>
          <a:p>
            <a:pPr algn="l" indent="0" marL="0">
              <a:buNone/>
            </a:pP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return immediately.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3063240" y="4343400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Cbest(n) = 1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can be very large and the best case can still require only one key comparison.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43000" cy="27432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CASE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case asks for the maximum work at size 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linear search, this occurs when the target is last — or absent.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4800600" cy="1874520"/>
          </a:xfrm>
          <a:prstGeom prst="rect">
            <a:avLst/>
          </a:prstGeom>
          <a:solidFill>
            <a:srgbClr val="FDEAEA"/>
          </a:solidFill>
          <a:ln w="8890">
            <a:solidFill>
              <a:srgbClr val="FDEA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74520"/>
            <a:ext cx="54864" cy="187452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98424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LAST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41832" y="2313432"/>
            <a:ext cx="45262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[7, 2, 9, 5, 4]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v = 4</a:t>
            </a:r>
            <a:endParaRPr lang="en-US" sz="920" dirty="0"/>
          </a:p>
          <a:p>
            <a:pPr algn="l" indent="0" marL="0">
              <a:buNone/>
            </a:pP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earlier positions must be rejected first.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492240" y="1874520"/>
            <a:ext cx="4800600" cy="187452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874520"/>
            <a:ext cx="54864" cy="18745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198424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ABSENT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56832" y="2313432"/>
            <a:ext cx="45262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v = 8</a:t>
            </a:r>
            <a:endParaRPr lang="en-US" sz="920" dirty="0"/>
          </a:p>
          <a:p>
            <a:pPr algn="l" indent="0" marL="0">
              <a:buNone/>
            </a:pP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position is checked before NOT-FOUND can be returned.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3063240" y="4343400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96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Cworst(n) = n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Worst-case analysis provides a guaranteed upper workload for every input of size n.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34440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CASE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case needs an assumption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successful linear search with target equally likely to be in any of the n positions.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comparisons: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80360" y="186537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 2, 3, …, 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267004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+ 2 + … + n) / 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60320" y="331012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[n(n + 1)/2] / 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60320" y="395020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(n + 1) / 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321040" y="1965960"/>
            <a:ext cx="3063240" cy="237744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965960"/>
            <a:ext cx="54864" cy="23774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20756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MATTERS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85632" y="2404872"/>
            <a:ext cx="27889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target positions are not equally likely, the average changes.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Average-case analysis is always tied to a probability model.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successful linear-search comparisons: Cavg(n) = (n + 1)/2 under uniform target position.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2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Search — full case comparison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example where target position directly changes the work.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4617720" cy="297180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01952"/>
            <a:ext cx="4288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914400" y="2176272"/>
            <a:ext cx="4251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LINEAR-SEARCH(A, v)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← 0 to n-1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A[i] = v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i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NOT-FOUND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15000" y="1828800"/>
            <a:ext cx="1106424" cy="651510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79008" y="1856232"/>
            <a:ext cx="978408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6821424" y="1828800"/>
            <a:ext cx="2489454" cy="651510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85432" y="1856232"/>
            <a:ext cx="2361438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9310878" y="1828800"/>
            <a:ext cx="1936242" cy="651510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4886" y="1856232"/>
            <a:ext cx="1808226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comparisons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715000" y="2480310"/>
            <a:ext cx="1106424" cy="65151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2507742"/>
            <a:ext cx="978408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6821424" y="2480310"/>
            <a:ext cx="2489454" cy="65151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5432" y="2507742"/>
            <a:ext cx="2361438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at A[0]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9310878" y="2480310"/>
            <a:ext cx="1936242" cy="65151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4886" y="2507742"/>
            <a:ext cx="1808226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5715000" y="3131820"/>
            <a:ext cx="1106424" cy="651510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79008" y="3159252"/>
            <a:ext cx="978408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6821424" y="3131820"/>
            <a:ext cx="2489454" cy="651510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85432" y="3159252"/>
            <a:ext cx="2361438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last or absent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9310878" y="3131820"/>
            <a:ext cx="1936242" cy="651510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74886" y="3159252"/>
            <a:ext cx="1808226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5715000" y="3783330"/>
            <a:ext cx="1106424" cy="65151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79008" y="3810762"/>
            <a:ext cx="978408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Average*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6821424" y="3783330"/>
            <a:ext cx="2489454" cy="65151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85432" y="3810762"/>
            <a:ext cx="2361438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successful; uniform position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9310878" y="3783330"/>
            <a:ext cx="1936242" cy="65151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74886" y="3810762"/>
            <a:ext cx="1808226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+ 1)/2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6446520" y="47091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*Average shown under an explicit assumption.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“running time depends on input size” is incomplete — sometimes input arrangement matters too.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43000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CDF EXAMPLE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MAX(A) — analyze the required example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already proved it correct. Now we count its work.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4754880" cy="315468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56232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960120" y="2130552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MAX(A)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largest ← A[0]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← 1 to n-1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A[i] &gt; largest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largest ← A[i]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largest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1847088"/>
            <a:ext cx="5074920" cy="109728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1847088"/>
            <a:ext cx="54864" cy="109728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5352" y="198424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SIZE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45352" y="2322576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number of elements in A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080760" y="3246120"/>
            <a:ext cx="5074920" cy="109728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3246120"/>
            <a:ext cx="54864" cy="109728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338328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COMPARISON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45352" y="3721608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A[i] &gt; largest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080760" y="4645152"/>
            <a:ext cx="5074920" cy="109728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4645152"/>
            <a:ext cx="54864" cy="109728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4782312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45352" y="512064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array order change the number of key comparisons?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— COMPARISONS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MAX(A): key comparisons are fixed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initializing with A[0], every remaining element is compared exactly once.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2648" y="1920240"/>
            <a:ext cx="2592324" cy="123444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920240"/>
            <a:ext cx="54864" cy="123444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57400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A[0]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8096" y="2359152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initialization — no key comparison yet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3232404" y="2532888"/>
            <a:ext cx="146304" cy="0"/>
          </a:xfrm>
          <a:prstGeom prst="line">
            <a:avLst/>
          </a:prstGeom>
          <a:noFill/>
          <a:ln w="12700">
            <a:solidFill>
              <a:srgbClr val="64869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06140" y="1920240"/>
            <a:ext cx="2592324" cy="123444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6140" y="1920240"/>
            <a:ext cx="54864" cy="12344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1588" y="2057400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A[1]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1588" y="2359152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comparison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6025896" y="2532888"/>
            <a:ext cx="146304" cy="0"/>
          </a:xfrm>
          <a:prstGeom prst="line">
            <a:avLst/>
          </a:prstGeom>
          <a:noFill/>
          <a:ln w="12700">
            <a:solidFill>
              <a:srgbClr val="64869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99632" y="1920240"/>
            <a:ext cx="2592324" cy="1234440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1920240"/>
            <a:ext cx="54864" cy="123444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057400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A[2]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55080" y="2359152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comparison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8819388" y="2532888"/>
            <a:ext cx="146304" cy="0"/>
          </a:xfrm>
          <a:prstGeom prst="line">
            <a:avLst/>
          </a:prstGeom>
          <a:noFill/>
          <a:ln w="12700">
            <a:solidFill>
              <a:srgbClr val="64869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93124" y="1920240"/>
            <a:ext cx="2592324" cy="1234440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93124" y="1920240"/>
            <a:ext cx="54864" cy="123444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8572" y="2057400"/>
            <a:ext cx="2336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A[n−1]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148572" y="2359152"/>
            <a:ext cx="23362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comparison each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2331720" y="4096512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Ccomparison(n) = n − 1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key comparison, best = worst = average = n − 1.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0020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— ARRANGEMENT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input arrangement changes the number of updates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CDF specifically asks us to analyze MAX under different input arrangements.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847088"/>
            <a:ext cx="3383280" cy="2148840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47088"/>
            <a:ext cx="54864" cy="214884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568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DESCENDING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31089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[9, 7, 5, 3, 1]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starts at 9.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later value is larger.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to largest = 0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407408" y="1847088"/>
            <a:ext cx="3383280" cy="2148840"/>
          </a:xfrm>
          <a:prstGeom prst="rect">
            <a:avLst/>
          </a:prstGeom>
          <a:solidFill>
            <a:srgbClr val="FDEAEA"/>
          </a:solidFill>
          <a:ln w="8890">
            <a:solidFill>
              <a:srgbClr val="FDEA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847088"/>
            <a:ext cx="54864" cy="214884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9568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0" y="2286000"/>
            <a:ext cx="31089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[1, 3, 5, 7, 9]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value is larger than the current largest.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= n − 1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8156448" y="1847088"/>
            <a:ext cx="3383280" cy="214884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6448" y="1847088"/>
            <a:ext cx="54864" cy="21488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9568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21040" y="2286000"/>
            <a:ext cx="31089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[4, 9, 2, 11, 6]</a:t>
            </a:r>
            <a:endParaRPr lang="en-US" sz="820" dirty="0"/>
          </a:p>
          <a:p>
            <a:pPr algn="l" indent="0" marL="0">
              <a:buNone/>
            </a:pP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occur only when a new record maximum appears.</a:t>
            </a:r>
            <a:endParaRPr lang="en-US" sz="820" dirty="0"/>
          </a:p>
          <a:p>
            <a:pPr algn="l" indent="0" marL="0">
              <a:buNone/>
            </a:pP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= between 0 and n − 1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Comparisons stay fixed; assignment/update work can vary with arrangement.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4300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— TRACE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MAX on three arrangements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n. Same number of comparisons. Different number of updates.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4187952" cy="571500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47672"/>
            <a:ext cx="4059936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5056632" y="1920240"/>
            <a:ext cx="1884578" cy="571500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947672"/>
            <a:ext cx="175656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Comparisons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6941210" y="1920240"/>
            <a:ext cx="2512771" cy="571500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05218" y="1947672"/>
            <a:ext cx="2384755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to largest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9453982" y="1920240"/>
            <a:ext cx="1884578" cy="571500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17990" y="1947672"/>
            <a:ext cx="175656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868680" y="2491740"/>
            <a:ext cx="4187952" cy="5715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519172"/>
            <a:ext cx="4059936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[9,7,5,3,1]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5056632" y="2491740"/>
            <a:ext cx="1884578" cy="5715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519172"/>
            <a:ext cx="175656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6941210" y="2491740"/>
            <a:ext cx="2512771" cy="5715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05218" y="2519172"/>
            <a:ext cx="2384755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9453982" y="2491740"/>
            <a:ext cx="1884578" cy="5715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17990" y="2519172"/>
            <a:ext cx="175656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868680" y="3063240"/>
            <a:ext cx="4187952" cy="571500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3090672"/>
            <a:ext cx="4059936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[1,3,5,7,9]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5056632" y="3063240"/>
            <a:ext cx="1884578" cy="571500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3090672"/>
            <a:ext cx="175656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6941210" y="3063240"/>
            <a:ext cx="2512771" cy="571500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05218" y="3090672"/>
            <a:ext cx="2384755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9453982" y="3063240"/>
            <a:ext cx="1884578" cy="571500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17990" y="3090672"/>
            <a:ext cx="175656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868680" y="3634740"/>
            <a:ext cx="4187952" cy="5715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662172"/>
            <a:ext cx="4059936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[4,9,2,11,6]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5056632" y="3634740"/>
            <a:ext cx="1884578" cy="5715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662172"/>
            <a:ext cx="175656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6941210" y="3634740"/>
            <a:ext cx="2512771" cy="5715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05218" y="3662172"/>
            <a:ext cx="2384755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9453982" y="3634740"/>
            <a:ext cx="1884578" cy="5715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17990" y="3662172"/>
            <a:ext cx="175656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1280160" y="4663440"/>
            <a:ext cx="9646920" cy="86868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80160" y="4663440"/>
            <a:ext cx="54864" cy="86868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44752" y="4773168"/>
            <a:ext cx="9372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444752" y="5102352"/>
            <a:ext cx="9372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basic operation is the comparison, all three inputs cost the same. If we also count assignments to largest, their exact work differs.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state what you are counting before claiming a best or worst case.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2588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— STEP MODEL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fuller exact-count model for MAX(A)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separate the fixed work from the arrangement-dependent work.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6554419" cy="502920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810512"/>
            <a:ext cx="64264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514539" y="1783080"/>
            <a:ext cx="3686861" cy="502920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78547" y="1810512"/>
            <a:ext cx="355884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960120" y="2286000"/>
            <a:ext cx="6554419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313432"/>
            <a:ext cx="64264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← A[0]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7514539" y="2286000"/>
            <a:ext cx="3686861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8547" y="2313432"/>
            <a:ext cx="355884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960120" y="2788920"/>
            <a:ext cx="6554419" cy="502920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2816352"/>
            <a:ext cx="64264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comparison A[i] &gt; largest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7514539" y="2788920"/>
            <a:ext cx="3686861" cy="502920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78547" y="2816352"/>
            <a:ext cx="355884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− 1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960120" y="3291840"/>
            <a:ext cx="6554419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3319272"/>
            <a:ext cx="64264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index increment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7514539" y="3291840"/>
            <a:ext cx="3686861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8547" y="3319272"/>
            <a:ext cx="355884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− 1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960120" y="3794760"/>
            <a:ext cx="6554419" cy="502920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3822192"/>
            <a:ext cx="64264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← A[i]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7514539" y="3794760"/>
            <a:ext cx="3686861" cy="502920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8547" y="3822192"/>
            <a:ext cx="355884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u, where 0 ≤ u ≤ n − 1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960120" y="4297680"/>
            <a:ext cx="6554419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4325112"/>
            <a:ext cx="64264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7514539" y="4297680"/>
            <a:ext cx="3686861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78547" y="4325112"/>
            <a:ext cx="355884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2011680" y="5074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T(n, u) = fixed work + u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926080" y="553212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= number of times a new record maximum appears.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characteristics can influence some operations even when the main comparison count is unchanged.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00200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ANALYSIS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become sums when the amount of work changes by iteration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Non-recursive does not mean “no mathematics.”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4160520" cy="214884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993392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LOOP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1051560" y="2267712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← 1 to n-1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← 0 to i-1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 BASIC-OP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77840" y="20574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C(n) = 1 + 2 + 3 + … + (n − 1)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77840" y="2907792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n(n − 1) / 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97880" y="385876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8BD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English: iteration i executes the inner basic operation i times.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derive exact counts. Lecture 7 will describe how these formulas grow.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161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SIGMA PREVIEW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compact way to write repeated counts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Sigma notation is just shorthand for addition — understand the expanded sum first.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Σᵢ₌₁ⁿ⁻¹ i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84048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196596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+ 2 + 3 + … + (n − 1)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97280" y="3246120"/>
            <a:ext cx="4434840" cy="155448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246120"/>
            <a:ext cx="54864" cy="155448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33558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61872" y="3685032"/>
            <a:ext cx="4160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“sum”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= running index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= starting value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− 1 = ending value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492240" y="3246120"/>
            <a:ext cx="4434840" cy="155448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3246120"/>
            <a:ext cx="54864" cy="155448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33558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FORM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656832" y="3685032"/>
            <a:ext cx="4160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+ 2 + … + (n − 1)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n(n − 1)/2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sigma only as a counting tool here — asymptotic notation still waits for Lecture 7.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3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all unordered pairs in an array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exact-count pattern appears in many brute-force algorithms later in the course.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4434840" cy="242316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901952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960120" y="2176272"/>
            <a:ext cx="4069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← 0 to n-2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← i+1 to n-1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process pair (A[i], A[j])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15000" y="1810512"/>
            <a:ext cx="1484986" cy="472440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79008" y="1837944"/>
            <a:ext cx="135697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7199986" y="1810512"/>
            <a:ext cx="3818534" cy="472440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3994" y="1837944"/>
            <a:ext cx="369051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processed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5715000" y="2282952"/>
            <a:ext cx="1484986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79008" y="2310384"/>
            <a:ext cx="135697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7199986" y="2282952"/>
            <a:ext cx="3818534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3994" y="2310384"/>
            <a:ext cx="369051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− 1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5715000" y="2755392"/>
            <a:ext cx="1484986" cy="472440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79008" y="2782824"/>
            <a:ext cx="135697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7199986" y="2755392"/>
            <a:ext cx="3818534" cy="472440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3994" y="2782824"/>
            <a:ext cx="369051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− 2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5715000" y="3227832"/>
            <a:ext cx="1484986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79008" y="3255264"/>
            <a:ext cx="135697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7199986" y="3227832"/>
            <a:ext cx="3818534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3994" y="3255264"/>
            <a:ext cx="369051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− 3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5715000" y="3700272"/>
            <a:ext cx="1484986" cy="472440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3727704"/>
            <a:ext cx="135697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7199986" y="3700272"/>
            <a:ext cx="3818534" cy="472440"/>
          </a:xfrm>
          <a:prstGeom prst="rect">
            <a:avLst/>
          </a:prstGeom>
          <a:solidFill>
            <a:srgbClr val="F8FAFB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3994" y="3727704"/>
            <a:ext cx="369051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5715000" y="4172712"/>
            <a:ext cx="1484986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79008" y="4200144"/>
            <a:ext cx="135697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− 2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7199986" y="4172712"/>
            <a:ext cx="3818534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3994" y="4200144"/>
            <a:ext cx="369051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1417320" y="498348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C(n) = (n − 1) + … + 1 = n(n − 1)/2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counts reveal structure that will later become complexity classes.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0020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CHARACTERISTICS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input characteristics can affect performance?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relevant characteristic depends on the algorithm.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364992" cy="1124712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10512"/>
            <a:ext cx="54864" cy="1124712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LOCATION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822960" y="2249424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Search: first, middle, last, absent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4480560" y="1810512"/>
            <a:ext cx="3364992" cy="1124712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810512"/>
            <a:ext cx="54864" cy="1124712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92024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ORDERING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4645152" y="2249424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updates: ascending vs descending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8302752" y="1810512"/>
            <a:ext cx="3364992" cy="1124712"/>
          </a:xfrm>
          <a:prstGeom prst="rect">
            <a:avLst/>
          </a:prstGeom>
          <a:solidFill>
            <a:srgbClr val="F0E9FF"/>
          </a:solidFill>
          <a:ln w="8890">
            <a:solidFill>
              <a:srgbClr val="F0E9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1810512"/>
            <a:ext cx="54864" cy="1124712"/>
          </a:xfrm>
          <a:prstGeom prst="rect">
            <a:avLst/>
          </a:prstGeom>
          <a:solidFill>
            <a:srgbClr val="8A5BE6"/>
          </a:solidFill>
          <a:ln w="8890">
            <a:solidFill>
              <a:srgbClr val="8A5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192024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8467344" y="2249424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algorithms may stop early or perform repeated work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3383280"/>
            <a:ext cx="3364992" cy="1124712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383280"/>
            <a:ext cx="54864" cy="1124712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49300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DISTRIBUTION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822960" y="3822192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outcomes may change how often some statements execute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480560" y="3383280"/>
            <a:ext cx="3364992" cy="1124712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3383280"/>
            <a:ext cx="54864" cy="1124712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349300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/ SHAPE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4645152" y="3822192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Later: trees and graphs can have very different shapes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8302752" y="3383280"/>
            <a:ext cx="3364992" cy="1124712"/>
          </a:xfrm>
          <a:prstGeom prst="rect">
            <a:avLst/>
          </a:prstGeom>
          <a:solidFill>
            <a:srgbClr val="FDEAEA"/>
          </a:solidFill>
          <a:ln w="8890">
            <a:solidFill>
              <a:srgbClr val="FDEA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02752" y="3383280"/>
            <a:ext cx="54864" cy="1124712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67344" y="349300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SIZE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8467344" y="3822192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every analysis starts by defining n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talk about “the input” vaguely — identify which property actually changes the work.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0020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SELECTION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correct solutions using operation counts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Big-O, exact counting can already expose meaningful differences.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4754880" cy="233172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54864" cy="23317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9385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SUM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41832" y="2267712"/>
            <a:ext cx="448056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← 0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 ← 1 to n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 ← S + i</a:t>
            </a:r>
            <a:endParaRPr lang="en-US" sz="920" dirty="0"/>
          </a:p>
          <a:p>
            <a:pPr algn="l" indent="0" marL="0">
              <a:buNone/>
            </a:pP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additions = n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537960" y="1828800"/>
            <a:ext cx="4754880" cy="233172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828800"/>
            <a:ext cx="54864" cy="23317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19385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FORMULA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702552" y="2267712"/>
            <a:ext cx="448056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← n(n + 1) / 2</a:t>
            </a:r>
            <a:endParaRPr lang="en-US" sz="920" dirty="0"/>
          </a:p>
          <a:p>
            <a:pPr algn="l" indent="0" marL="0">
              <a:buNone/>
            </a:pP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small number of arithmetic operations under the simplified RAM model.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1965960" y="4645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required result → different operation counts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 remains mandatory: an “optimization” is useful only if it preserves the required result.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841248" cy="27432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22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CAUTION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operation counts depend on the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pretend one formula is a universal physical runtime.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3246120" cy="233172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54864" cy="23317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9385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CHOICE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41832" y="2267712"/>
            <a:ext cx="297180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an array access one operation?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multiplication and addition cost the same?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assignments counted?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246120" cy="233172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828800"/>
            <a:ext cx="54864" cy="23317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9385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45152" y="2267712"/>
            <a:ext cx="297180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and language can change actual machine instructions without changing the algorithm.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8183880" y="1828800"/>
            <a:ext cx="3246120" cy="2331720"/>
          </a:xfrm>
          <a:prstGeom prst="rect">
            <a:avLst/>
          </a:prstGeom>
          <a:solidFill>
            <a:srgbClr val="E7F7ED"/>
          </a:solidFill>
          <a:ln w="8890">
            <a:solidFill>
              <a:srgbClr val="E7F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828800"/>
            <a:ext cx="54864" cy="233172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19385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ANALYSIS STILL HELPS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48472" y="2267712"/>
            <a:ext cx="297180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consistent abstract model lets us reason about how work changes with input size and arrangement.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is a model of computational work, not a stopwatch reading.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777240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systematic recipe for non-recursive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same sequence every time.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2648" y="1874520"/>
            <a:ext cx="2033626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874520"/>
            <a:ext cx="54864" cy="123444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11680"/>
            <a:ext cx="17775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SIZE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8096" y="2313432"/>
            <a:ext cx="17775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n clearly.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2673706" y="2487168"/>
            <a:ext cx="146304" cy="0"/>
          </a:xfrm>
          <a:prstGeom prst="line">
            <a:avLst/>
          </a:prstGeom>
          <a:noFill/>
          <a:ln w="12700">
            <a:solidFill>
              <a:srgbClr val="A8BDC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47442" y="1874520"/>
            <a:ext cx="2033626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47442" y="1874520"/>
            <a:ext cx="54864" cy="123444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2890" y="2011680"/>
            <a:ext cx="17775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BASIC OP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02890" y="2313432"/>
            <a:ext cx="17775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repeated operation.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4908499" y="2487168"/>
            <a:ext cx="146304" cy="0"/>
          </a:xfrm>
          <a:prstGeom prst="line">
            <a:avLst/>
          </a:prstGeom>
          <a:noFill/>
          <a:ln w="12700">
            <a:solidFill>
              <a:srgbClr val="A8BDC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82235" y="1874520"/>
            <a:ext cx="2033626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82235" y="1874520"/>
            <a:ext cx="54864" cy="123444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7683" y="2011680"/>
            <a:ext cx="17775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COUNT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37683" y="2313432"/>
            <a:ext cx="17775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how often it executes.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7143293" y="2487168"/>
            <a:ext cx="146304" cy="0"/>
          </a:xfrm>
          <a:prstGeom prst="line">
            <a:avLst/>
          </a:prstGeom>
          <a:noFill/>
          <a:ln w="12700">
            <a:solidFill>
              <a:srgbClr val="A8BDC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17029" y="1874520"/>
            <a:ext cx="2033626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7029" y="1874520"/>
            <a:ext cx="54864" cy="1234440"/>
          </a:xfrm>
          <a:prstGeom prst="rect">
            <a:avLst/>
          </a:prstGeom>
          <a:solidFill>
            <a:srgbClr val="8A5BE6"/>
          </a:solidFill>
          <a:ln w="8890">
            <a:solidFill>
              <a:srgbClr val="8A5B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2477" y="2011680"/>
            <a:ext cx="17775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CASES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72477" y="2313432"/>
            <a:ext cx="17775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whether input arrangement changes the count.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9378086" y="2487168"/>
            <a:ext cx="146304" cy="0"/>
          </a:xfrm>
          <a:prstGeom prst="line">
            <a:avLst/>
          </a:prstGeom>
          <a:noFill/>
          <a:ln w="12700">
            <a:solidFill>
              <a:srgbClr val="A8BDC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551822" y="1874520"/>
            <a:ext cx="2033626" cy="123444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51822" y="1874520"/>
            <a:ext cx="54864" cy="123444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07270" y="2011680"/>
            <a:ext cx="17775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FORMULA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707270" y="2313432"/>
            <a:ext cx="17775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C(n) or T(n).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interpret the result in plain English.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4300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CHECK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recipe to FIND-MIN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structure as MAX — a good quick check of understanding.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4617720" cy="3017520"/>
          </a:xfrm>
          <a:prstGeom prst="rect">
            <a:avLst/>
          </a:prstGeom>
          <a:solidFill>
            <a:srgbClr val="F2F5F7"/>
          </a:solidFill>
          <a:ln w="889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56232"/>
            <a:ext cx="4288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960120" y="2130552"/>
            <a:ext cx="4251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MIN(A)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smallest ← A[0]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← 1 to n-1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A[i] &lt; smallest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smallest ← A[i]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6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smallest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97880" y="1828800"/>
            <a:ext cx="5166360" cy="96012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1828800"/>
            <a:ext cx="54864" cy="9601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62472" y="193852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SIZE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62472" y="2267712"/>
            <a:ext cx="4892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number of array elements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897880" y="3017520"/>
            <a:ext cx="5166360" cy="96012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3017520"/>
            <a:ext cx="54864" cy="9601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312724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OP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062472" y="3456432"/>
            <a:ext cx="4892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A[i] &lt; smallest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897880" y="4206240"/>
            <a:ext cx="5166360" cy="960120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4206240"/>
            <a:ext cx="54864" cy="96012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62472" y="43159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62472" y="4645152"/>
            <a:ext cx="4892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n − 1 key comparisons for every arrangement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of updates varies with order, just as in MAX.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34440" cy="274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PRACTICE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 — analyze three non-recursive snippets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n, choose a basic operation, and count it.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01568" cy="324612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32461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9280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COUNT EVEN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221992"/>
            <a:ext cx="312724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← 0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 ← 0 to n-1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if A[i] mod 2 = 0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count ← count + 1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parity tests?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401568" cy="324612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783080"/>
            <a:ext cx="54864" cy="32461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89280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FIND TARGET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53712" y="2221992"/>
            <a:ext cx="312724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 ← 0 to n-1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if A[i] = v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return i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NOT-FOUND</a:t>
            </a:r>
            <a:endParaRPr lang="en-US" sz="820" dirty="0"/>
          </a:p>
          <a:p>
            <a:pPr algn="l" indent="0" marL="0">
              <a:buNone/>
            </a:pP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best / worst / average successful counts.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401568" cy="3246120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783080"/>
            <a:ext cx="54864" cy="324612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89280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PAIRS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02752" y="2221992"/>
            <a:ext cx="312724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 ← 0 to n-2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for j ← i+1 to n-1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process pair</a:t>
            </a:r>
            <a:endParaRPr lang="en-US" sz="840" dirty="0"/>
          </a:p>
          <a:p>
            <a:pPr algn="l" indent="0" marL="0">
              <a:buNone/>
            </a:pP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pairs are processed?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write Big-O yet — give exact / concrete counts.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25880" cy="27432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answers to the class practice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reasoning is fine if the cost model is stated clearly.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01568" cy="2423160"/>
          </a:xfrm>
          <a:prstGeom prst="rect">
            <a:avLst/>
          </a:prstGeom>
          <a:solidFill>
            <a:srgbClr val="DDF7F3"/>
          </a:solidFill>
          <a:ln w="8890">
            <a:solidFill>
              <a:srgbClr val="DDF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28800"/>
            <a:ext cx="54864" cy="242316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9385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COUNT EVEN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267712"/>
            <a:ext cx="312724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parity tests.</a:t>
            </a:r>
            <a:endParaRPr lang="en-US" sz="880" dirty="0"/>
          </a:p>
          <a:p>
            <a:pPr algn="l" indent="0" marL="0">
              <a:buNone/>
            </a:pP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C(n) = n</a:t>
            </a:r>
            <a:endParaRPr lang="en-US" sz="880" dirty="0"/>
          </a:p>
          <a:p>
            <a:pPr algn="l" indent="0" marL="0">
              <a:buNone/>
            </a:pP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number of count increments depends on how many even values occur.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401568" cy="2423160"/>
          </a:xfrm>
          <a:prstGeom prst="rect">
            <a:avLst/>
          </a:prstGeom>
          <a:solidFill>
            <a:srgbClr val="FFF2C7"/>
          </a:solidFill>
          <a:ln w="8890">
            <a:solidFill>
              <a:srgbClr val="FFF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828800"/>
            <a:ext cx="54864" cy="242316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9385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FIND TARGET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53712" y="2267712"/>
            <a:ext cx="312724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= 1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= n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successful = (n + 1)/2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uniform target position.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401568" cy="2423160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828800"/>
            <a:ext cx="54864" cy="242316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9385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PAIRS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02752" y="2267712"/>
            <a:ext cx="312724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− 1) + (n − 2) + … + 1</a:t>
            </a:r>
            <a:endParaRPr lang="en-US" sz="880" dirty="0"/>
          </a:p>
          <a:p>
            <a:pPr algn="l" indent="0" marL="0">
              <a:buNone/>
            </a:pP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n(n − 1)/2 pair operations.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fixed counts from data-dependent counts whenever useful.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17320" cy="27432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analysis mistakes to avoid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errors happen before the algebra.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475488" cy="475488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8366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72768" y="1792224"/>
            <a:ext cx="955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defining what n means.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868680" y="2551176"/>
            <a:ext cx="475488" cy="475488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72768" y="2560320"/>
            <a:ext cx="955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different operations in different algorithms without saying so.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868680" y="3319272"/>
            <a:ext cx="475488" cy="475488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1985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72768" y="3328416"/>
            <a:ext cx="955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an input “best” because n is small.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868680" y="4087368"/>
            <a:ext cx="475488" cy="475488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187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572768" y="4096512"/>
            <a:ext cx="955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an average case without stating a probability assumption.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868680" y="4855464"/>
            <a:ext cx="475488" cy="475488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95604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72768" y="4864608"/>
            <a:ext cx="955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13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Jumping to Big-O before deriving or understanding the actual count.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0C2636"/>
          </a:solidFill>
          <a:ln w="8890">
            <a:solidFill>
              <a:srgbClr val="0C26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analysis begins with a precise model, not with memorized complexity labels.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3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822960" cy="274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04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C2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ideas to carry forward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2064" y="12710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6 gives us exact-count thinking; Lecture 7 turns it into growth-rate language.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3364992" cy="141732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83080"/>
            <a:ext cx="54864" cy="1417320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92024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C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RAM MODEL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" y="2258568"/>
            <a:ext cx="30906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idealized unit-cost analysis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507992" y="1783080"/>
            <a:ext cx="3364992" cy="141732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7992" y="1783080"/>
            <a:ext cx="54864" cy="1417320"/>
          </a:xfrm>
          <a:prstGeom prst="rect">
            <a:avLst/>
          </a:prstGeom>
          <a:solidFill>
            <a:srgbClr val="F4B000"/>
          </a:solidFill>
          <a:ln w="8890">
            <a:solidFill>
              <a:srgbClr val="F4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92024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4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INPUT SIZE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72584" y="2258568"/>
            <a:ext cx="30906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n precisely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330184" y="1783080"/>
            <a:ext cx="3364992" cy="141732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1783080"/>
            <a:ext cx="54864" cy="1417320"/>
          </a:xfrm>
          <a:prstGeom prst="rect">
            <a:avLst/>
          </a:prstGeom>
          <a:solidFill>
            <a:srgbClr val="477BE8"/>
          </a:solidFill>
          <a:ln w="8890">
            <a:solidFill>
              <a:srgbClr val="477B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94776" y="192024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7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BASIC OPERATION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494776" y="2258568"/>
            <a:ext cx="30906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what repeated work to count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85800" y="3611880"/>
            <a:ext cx="3364992" cy="141732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611880"/>
            <a:ext cx="54864" cy="1417320"/>
          </a:xfrm>
          <a:prstGeom prst="rect">
            <a:avLst/>
          </a:prstGeom>
          <a:solidFill>
            <a:srgbClr val="42B974"/>
          </a:solidFill>
          <a:ln w="8890">
            <a:solidFill>
              <a:srgbClr val="42B9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74904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2B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CASE ANALYSIS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50392" y="4087368"/>
            <a:ext cx="30906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/ worst / average depend on input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507992" y="3611880"/>
            <a:ext cx="3364992" cy="141732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07992" y="3611880"/>
            <a:ext cx="54864" cy="1417320"/>
          </a:xfrm>
          <a:prstGeom prst="rect">
            <a:avLst/>
          </a:prstGeom>
          <a:solidFill>
            <a:srgbClr val="8A5BE6"/>
          </a:solidFill>
          <a:ln w="8890">
            <a:solidFill>
              <a:srgbClr val="8A5B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72584" y="374904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5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EXACT COUNTS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72584" y="4087368"/>
            <a:ext cx="30906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formulas such as n − 1 or n(n − 1)/2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8330184" y="3611880"/>
            <a:ext cx="3364992" cy="1417320"/>
          </a:xfrm>
          <a:prstGeom prst="rect">
            <a:avLst/>
          </a:prstGeom>
          <a:solidFill>
            <a:srgbClr val="123E52"/>
          </a:solidFill>
          <a:ln w="8890">
            <a:solidFill>
              <a:srgbClr val="123E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0184" y="3611880"/>
            <a:ext cx="54864" cy="1417320"/>
          </a:xfrm>
          <a:prstGeom prst="rect">
            <a:avLst/>
          </a:prstGeom>
          <a:solidFill>
            <a:srgbClr val="E96B69"/>
          </a:solidFill>
          <a:ln w="8890">
            <a:solidFill>
              <a:srgbClr val="E96B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94776" y="374904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96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SELECTION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494776" y="4087368"/>
            <a:ext cx="30906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correct solutions under one consistent model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1097280" y="5989320"/>
            <a:ext cx="10012680" cy="310896"/>
          </a:xfrm>
          <a:prstGeom prst="rect">
            <a:avLst/>
          </a:prstGeom>
          <a:solidFill>
            <a:srgbClr val="2BC5B4"/>
          </a:solidFill>
          <a:ln w="8890">
            <a:solidFill>
              <a:srgbClr val="2BC5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8448" y="60441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Asymptotic Analysis and Growth Rates — Big-O, Big-Ω, Θ and dominant growth.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8A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06 — Analyzing Non-Recursive Algorithms</dc:title>
  <dc:subject>CSC301 Design and Analysis of Algorithms</dc:subject>
  <dc:creator>COMSATS University Islamabad, Attock Campus</dc:creator>
  <cp:lastModifiedBy>COMSATS University Islamabad, Attock Campus</cp:lastModifiedBy>
  <cp:revision>1</cp:revision>
  <dcterms:created xsi:type="dcterms:W3CDTF">2026-09-20T11:41:06Z</dcterms:created>
  <dcterms:modified xsi:type="dcterms:W3CDTF">2026-09-20T11:41:06Z</dcterms:modified>
</cp:coreProperties>
</file>