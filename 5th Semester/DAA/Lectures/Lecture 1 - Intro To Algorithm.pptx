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CSC301 • Design and Analysis of Algorithms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0" y="6510528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38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COMSATS University Islamabad, Attock Campus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6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CSC301 • Design and Analysis of Algorithms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B8C6D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92440" y="4572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0" b="1" dirty="0">
                <a:solidFill>
                  <a:srgbClr val="14344E"/>
                </a:solidFill>
              </a:rPr>
              <a:t>01</a:t>
            </a:r>
            <a:endParaRPr lang="en-US" sz="132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722376"/>
            <a:ext cx="1719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LECTURE 01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1261872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Introduction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to Algorithms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94944" y="3364992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EA"/>
                </a:solidFill>
              </a:rPr>
              <a:t>What algorithms are, why they matter, how we represent them, and what makes them valid.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4944" y="4443984"/>
            <a:ext cx="3657600" cy="0"/>
          </a:xfrm>
          <a:prstGeom prst="line">
            <a:avLst/>
          </a:prstGeom>
          <a:noFill/>
          <a:ln w="38100">
            <a:solidFill>
              <a:srgbClr val="16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47091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CSC301 • Design and Analysis of Algorithms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51389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1"/>
                </a:solidFill>
              </a:rPr>
              <a:t>Department of Computer Science  |  Fall 2026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B8C6D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B8A6"/>
                </a:solidFill>
              </a:rPr>
              <a:t>LEARNING OUTCOMES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</a:rPr>
              <a:t>What should you be able to do by the end?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88A"/>
                </a:solidFill>
              </a:rPr>
              <a:t>Lecture 1 follows the CDF outcomes for “Introduction to Algorithms.”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5074920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892808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9C7A"/>
                </a:solidFill>
              </a:rPr>
              <a:t>DEFINE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56816" y="1801368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</a:rPr>
              <a:t>an algorithm as a finite computational procedure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0488" y="1627632"/>
            <a:ext cx="5074920" cy="832104"/>
          </a:xfrm>
          <a:prstGeom prst="roundRect">
            <a:avLst>
              <a:gd name="adj" fmla="val 13187"/>
            </a:avLst>
          </a:prstGeom>
          <a:solidFill>
            <a:srgbClr val="FBFCF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82880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892808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A05"/>
                </a:solidFill>
              </a:rPr>
              <a:t>EXPLAIN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88936" y="1801368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</a:rPr>
              <a:t>why algorithm study matters for efficient problem solving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" y="2706624"/>
            <a:ext cx="5074920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90779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2971800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9C7A"/>
                </a:solidFill>
              </a:rPr>
              <a:t>CLASSIFY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56816" y="2880360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</a:rPr>
              <a:t>common types of computational problems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90488" y="2706624"/>
            <a:ext cx="5074920" cy="832104"/>
          </a:xfrm>
          <a:prstGeom prst="roundRect">
            <a:avLst>
              <a:gd name="adj" fmla="val 13187"/>
            </a:avLst>
          </a:prstGeom>
          <a:solidFill>
            <a:srgbClr val="FBFCF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290779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2971800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A05"/>
                </a:solidFill>
              </a:rPr>
              <a:t>COMPARE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488936" y="2880360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</a:rPr>
              <a:t>natural language, pseudocode, flowcharts and programs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368" y="3785616"/>
            <a:ext cx="5074920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986784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050792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9C7A"/>
                </a:solidFill>
              </a:rPr>
              <a:t>IDENTIFY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56816" y="3959352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</a:rPr>
              <a:t>input, output, precision, finiteness and definiteness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90488" y="3785616"/>
            <a:ext cx="5074920" cy="832104"/>
          </a:xfrm>
          <a:prstGeom prst="roundRect">
            <a:avLst>
              <a:gd name="adj" fmla="val 13187"/>
            </a:avLst>
          </a:prstGeom>
          <a:solidFill>
            <a:srgbClr val="FBFCFE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3986784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9944" y="4050792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A05"/>
                </a:solidFill>
              </a:rPr>
              <a:t>EVALUATE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88936" y="3959352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</a:rPr>
              <a:t>correctness and generality using examples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8368" y="4864608"/>
            <a:ext cx="5074920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5065776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" y="5129784"/>
            <a:ext cx="850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9C7A"/>
                </a:solidFill>
              </a:rPr>
              <a:t>REPRESENT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956816" y="5038344"/>
            <a:ext cx="3547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</a:rPr>
              <a:t>and evaluate an algorithm for summing 1 through n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You already know how to program…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3A712"/>
                </a:solidFill>
              </a:rPr>
              <a:t>So why study algorithms?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13232" y="2231136"/>
            <a:ext cx="10716768" cy="1417320"/>
          </a:xfrm>
          <a:prstGeom prst="roundRect">
            <a:avLst>
              <a:gd name="adj" fmla="val 7742"/>
            </a:avLst>
          </a:prstGeom>
          <a:solidFill>
            <a:srgbClr val="102B45"/>
          </a:solidFill>
          <a:ln w="12700">
            <a:solidFill>
              <a:srgbClr val="2A4C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2578608"/>
            <a:ext cx="6583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You have 1,000,000 student records.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Find registration number  FA23-BCS-115.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75320" y="2615184"/>
            <a:ext cx="2542032" cy="329184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30184" y="2679192"/>
            <a:ext cx="2432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FIRST QUESTION?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900416" y="314553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dirty="0">
                <a:solidFill>
                  <a:srgbClr val="D7E4EF"/>
                </a:solidFill>
              </a:rPr>
              <a:t>Not: “Which language?”</a:t>
            </a:r>
            <a:endParaRPr lang="en-US" sz="1360" dirty="0"/>
          </a:p>
          <a:p>
            <a:pPr algn="ctr" indent="0" marL="0">
              <a:buNone/>
            </a:pPr>
            <a:r>
              <a:rPr lang="en-US" sz="1360" dirty="0">
                <a:solidFill>
                  <a:srgbClr val="D7E4EF"/>
                </a:solidFill>
              </a:rPr>
              <a:t>But: “What procedure should the computer follow?”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502920" y="5010912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173650"/>
          </a:solidFill>
          <a:ln w="12700">
            <a:solidFill>
              <a:srgbClr val="1736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5074920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PROBLEM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10512" y="5175504"/>
            <a:ext cx="822960" cy="0"/>
          </a:xfrm>
          <a:prstGeom prst="line">
            <a:avLst/>
          </a:prstGeom>
          <a:noFill/>
          <a:ln w="29210">
            <a:solidFill>
              <a:srgbClr val="6DD6C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88920" y="5010912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43784" y="5074920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ALGORITHM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96512" y="5175504"/>
            <a:ext cx="822960" cy="0"/>
          </a:xfrm>
          <a:prstGeom prst="line">
            <a:avLst/>
          </a:prstGeom>
          <a:noFill/>
          <a:ln w="29210">
            <a:solidFill>
              <a:srgbClr val="6DD6C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74920" y="5010912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173650"/>
          </a:solidFill>
          <a:ln w="12700">
            <a:solidFill>
              <a:srgbClr val="1736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9784" y="5074920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PROGRAM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82512" y="5175504"/>
            <a:ext cx="822960" cy="0"/>
          </a:xfrm>
          <a:prstGeom prst="line">
            <a:avLst/>
          </a:prstGeom>
          <a:noFill/>
          <a:ln w="29210">
            <a:solidFill>
              <a:srgbClr val="6DD6C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60920" y="5010912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173650"/>
          </a:solidFill>
          <a:ln w="12700">
            <a:solidFill>
              <a:srgbClr val="1736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15784" y="5074920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EXECUTION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668512" y="5175504"/>
            <a:ext cx="822960" cy="0"/>
          </a:xfrm>
          <a:prstGeom prst="line">
            <a:avLst/>
          </a:prstGeom>
          <a:noFill/>
          <a:ln w="29210">
            <a:solidFill>
              <a:srgbClr val="6DD6C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46920" y="5010912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173650"/>
          </a:solidFill>
          <a:ln w="12700">
            <a:solidFill>
              <a:srgbClr val="1736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01784" y="5074920"/>
            <a:ext cx="1133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ANSWER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B8C6D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B8A6"/>
                </a:solidFill>
              </a:rPr>
              <a:t>CORE DISTINCTION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</a:rPr>
              <a:t>Computational problem vs. problem instance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88A"/>
                </a:solidFill>
              </a:rPr>
              <a:t>An algorithm solves the general problem—not just one example.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3035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664208"/>
            <a:ext cx="73152" cy="3429000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8470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B3A"/>
                </a:solidFill>
              </a:rPr>
              <a:t>COMPUTATIONAL PROBLEM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6968" y="2231136"/>
            <a:ext cx="4892040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6788A"/>
                </a:solidFill>
              </a:rPr>
              <a:t>Given two integers a and b, return the larger value.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6788A"/>
                </a:solidFill>
              </a:rPr>
              <a:t>This specifies what must be achieved for every valid input.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36208" y="1664208"/>
            <a:ext cx="53035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664208"/>
            <a:ext cx="73152" cy="3429000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8470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B3A"/>
                </a:solidFill>
              </a:rPr>
              <a:t>PROBLEM INSTANCES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64808" y="2231136"/>
            <a:ext cx="4892040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6788A"/>
                </a:solidFill>
              </a:rPr>
              <a:t>(a, b) = (5, 8)    →  8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6788A"/>
                </a:solidFill>
              </a:rPr>
              <a:t>(a, b) = (17, 4)   →  17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6788A"/>
                </a:solidFill>
              </a:rPr>
              <a:t>(a, b) = (−2, −9)  →  −2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6788A"/>
                </a:solidFill>
              </a:rPr>
              <a:t>(a, b) = (6, 6)    →  6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5596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</a:rPr>
              <a:t>PROBLEM = what must be solved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66560" y="5596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B8A6"/>
                </a:solidFill>
              </a:rPr>
              <a:t>ALGORITHM = how to solve it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321808" y="5769864"/>
            <a:ext cx="1243584" cy="0"/>
          </a:xfrm>
          <a:prstGeom prst="line">
            <a:avLst/>
          </a:prstGeom>
          <a:noFill/>
          <a:ln w="30480">
            <a:solidFill>
              <a:srgbClr val="F3A712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B8A6"/>
                </a:solidFill>
              </a:rPr>
              <a:t>DEFINITION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</a:rPr>
              <a:t>What is an algorithm?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94944" y="1353312"/>
            <a:ext cx="108356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3"/>
                </a:solidFill>
              </a:rPr>
              <a:t>An algorithm is a finite sequence of precise, unambiguous steps that transforms valid input into the required output.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283464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EAF7F5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15468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9C7A"/>
                </a:solidFill>
              </a:rPr>
              <a:t>FINITE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59359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must terminate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56432" y="283464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FFF5DF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1024" y="315468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A05"/>
                </a:solidFill>
              </a:rPr>
              <a:t>PRECISE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21024" y="359359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operations are specified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54496" y="283464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EAF7F5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315468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9C7A"/>
                </a:solidFill>
              </a:rPr>
              <a:t>UNAMBIGUOUS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9088" y="359359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each step has one meaning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52560" y="283464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FFF5DF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17152" y="315468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A05"/>
                </a:solidFill>
              </a:rPr>
              <a:t>INPUT → OUTPUT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17152" y="359359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transforms data into a result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965960" y="4736592"/>
            <a:ext cx="83210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501091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MAX(A):  largest ← A[0]  →  compare remaining elements  →  update largest when needed  →  return largest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B8A6"/>
                </a:solidFill>
              </a:rPr>
              <a:t>LANGUAGE INDEPENDENCE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</a:rPr>
              <a:t>Algorithm ≠ Program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88A"/>
                </a:solidFill>
              </a:rPr>
              <a:t>The algorithm is the solution idea; a program is one implementation of that idea.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64208"/>
            <a:ext cx="73152" cy="3520440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470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B3A"/>
                </a:solidFill>
              </a:rPr>
              <a:t>ALGORITHM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231136"/>
            <a:ext cx="4663440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6788A"/>
                </a:solidFill>
              </a:rPr>
              <a:t>• Conceptual procedure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6788A"/>
                </a:solidFill>
              </a:rPr>
              <a:t>• Language independent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6788A"/>
                </a:solidFill>
              </a:rPr>
              <a:t>• Focuses on logic and steps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6788A"/>
                </a:solidFill>
              </a:rPr>
              <a:t>• Can be expressed in pseudocode, prose or diagrams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28232" y="1664208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1664208"/>
            <a:ext cx="73152" cy="3520440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18470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B3A"/>
                </a:solidFill>
              </a:rPr>
              <a:t>PROGRAM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56832" y="2231136"/>
            <a:ext cx="4663440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6788A"/>
                </a:solidFill>
              </a:rPr>
              <a:t>• Concrete implementation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6788A"/>
                </a:solidFill>
              </a:rPr>
              <a:t>• Written in a programming language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6788A"/>
                </a:solidFill>
              </a:rPr>
              <a:t>• Must obey syntax and environment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6788A"/>
                </a:solidFill>
              </a:rPr>
              <a:t>• Executed by a computer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3"/>
                </a:solidFill>
              </a:rPr>
              <a:t>Binary Search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080760" y="2788920"/>
            <a:ext cx="0" cy="914400"/>
          </a:xfrm>
          <a:prstGeom prst="line">
            <a:avLst/>
          </a:prstGeom>
          <a:noFill/>
          <a:ln w="30480">
            <a:solidFill>
              <a:srgbClr val="16B8A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30368" y="3803904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85232" y="3867912"/>
            <a:ext cx="1581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9C7A"/>
                </a:solidFill>
              </a:rPr>
              <a:t>C++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30368" y="4279392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4343400"/>
            <a:ext cx="15819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A05"/>
                </a:solidFill>
              </a:rPr>
              <a:t>Python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977640" y="55778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B8A6"/>
                </a:solidFill>
              </a:rPr>
              <a:t>Same algorithm. Different implementations.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B8A6"/>
                </a:solidFill>
              </a:rPr>
              <a:t>EFFICIENCY MATTERS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</a:rPr>
              <a:t>Why study algorithms?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76656" y="125272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B3A"/>
                </a:solidFill>
              </a:rPr>
              <a:t>Both methods below are correct. But do they use the same amount of work?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6384" y="1874520"/>
            <a:ext cx="4892040" cy="3035808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874520"/>
            <a:ext cx="73152" cy="3035808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2057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B3A"/>
                </a:solidFill>
              </a:rPr>
              <a:t>METHOD A — REPEATED ADDITION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14984" y="2441448"/>
            <a:ext cx="4480560" cy="2322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66788A"/>
                </a:solidFill>
              </a:rPr>
              <a:t>total ← 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6788A"/>
                </a:solidFill>
              </a:rPr>
              <a:t>for i ← 1 to 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6788A"/>
                </a:solidFill>
              </a:rPr>
              <a:t>    total ← total + 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6788A"/>
                </a:solidFill>
              </a:rPr>
              <a:t>return total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92240" y="1874520"/>
            <a:ext cx="4892040" cy="3035808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74520"/>
            <a:ext cx="73152" cy="3035808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057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B3A"/>
                </a:solidFill>
              </a:rPr>
              <a:t>METHOD B — DIRECT FORMULA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20840" y="2441448"/>
            <a:ext cx="4480560" cy="2322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66788A"/>
                </a:solidFill>
              </a:rPr>
              <a:t>return  n(n + 1) / 2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508760" y="5230368"/>
            <a:ext cx="3429000" cy="329184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63624" y="5294376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9C7A"/>
                </a:solidFill>
              </a:rPr>
              <a:t>WORK GROWS WITH 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05472" y="5230368"/>
            <a:ext cx="3429000" cy="329184"/>
          </a:xfrm>
          <a:prstGeom prst="roundRect">
            <a:avLst>
              <a:gd name="adj" fmla="val 50000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0336" y="5294376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A05"/>
                </a:solidFill>
              </a:rPr>
              <a:t>FEW ARITHMETIC STEPS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587959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F33"/>
                </a:solidFill>
              </a:rPr>
              <a:t>Correctness is necessary—but algorithm choice can dramatically change resource use.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Algorithms are technology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13258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4EF"/>
                </a:solidFill>
              </a:rPr>
              <a:t>Better hardware gives us more resources. Better algorithms determine how effectively we use them.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13232" y="2331720"/>
            <a:ext cx="2926080" cy="2359152"/>
          </a:xfrm>
          <a:prstGeom prst="roundRect">
            <a:avLst>
              <a:gd name="adj" fmla="val 4651"/>
            </a:avLst>
          </a:prstGeom>
          <a:solidFill>
            <a:srgbClr val="102B45"/>
          </a:solidFill>
          <a:ln w="12700">
            <a:solidFill>
              <a:srgbClr val="2549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45152" y="2331720"/>
            <a:ext cx="2926080" cy="2359152"/>
          </a:xfrm>
          <a:prstGeom prst="roundRect">
            <a:avLst>
              <a:gd name="adj" fmla="val 4651"/>
            </a:avLst>
          </a:prstGeom>
          <a:solidFill>
            <a:srgbClr val="163951"/>
          </a:solidFill>
          <a:ln w="12700">
            <a:solidFill>
              <a:srgbClr val="2E5E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7072" y="2331720"/>
            <a:ext cx="2926080" cy="2359152"/>
          </a:xfrm>
          <a:prstGeom prst="roundRect">
            <a:avLst>
              <a:gd name="adj" fmla="val 4651"/>
            </a:avLst>
          </a:prstGeom>
          <a:solidFill>
            <a:srgbClr val="102B45"/>
          </a:solidFill>
          <a:ln w="12700">
            <a:solidFill>
              <a:srgbClr val="254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28529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COMPUTATIONAL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RESOURCES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10912" y="2971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3A712"/>
                </a:solidFill>
              </a:rPr>
              <a:t>ALGORITHM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906256" y="285292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USEFUL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SOLUTION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703320" y="3493008"/>
            <a:ext cx="795528" cy="0"/>
          </a:xfrm>
          <a:prstGeom prst="line">
            <a:avLst/>
          </a:prstGeom>
          <a:noFill/>
          <a:ln w="38100">
            <a:solidFill>
              <a:srgbClr val="6DD6C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635240" y="3493008"/>
            <a:ext cx="795528" cy="0"/>
          </a:xfrm>
          <a:prstGeom prst="line">
            <a:avLst/>
          </a:prstGeom>
          <a:noFill/>
          <a:ln w="38100">
            <a:solidFill>
              <a:srgbClr val="6DD6C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04672" y="516636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B8A6"/>
                </a:solidFill>
              </a:rPr>
              <a:t>Maps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" y="5468112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4D1DD"/>
                </a:solidFill>
              </a:rPr>
              <a:t>roads + traffic → route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84448" y="516636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B8A6"/>
                </a:solidFill>
              </a:rPr>
              <a:t>Search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84448" y="5468112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4D1DD"/>
                </a:solidFill>
              </a:rPr>
              <a:t>documents + query → ranking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64224" y="516636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B8A6"/>
                </a:solidFill>
              </a:rPr>
              <a:t>Scheduling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64224" y="5468112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4D1DD"/>
                </a:solidFill>
              </a:rPr>
              <a:t>courses + rooms → timetable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0" y="516636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B8A6"/>
                </a:solidFill>
              </a:rPr>
              <a:t>Routing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5468112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4D1DD"/>
                </a:solidFill>
              </a:rPr>
              <a:t>network + traffic → paths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B8C6D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B8A6"/>
                </a:solidFill>
              </a:rPr>
              <a:t>COMMON PROBLEM CLASSES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</a:rPr>
              <a:t>What kinds of problems do algorithms solve?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85216" y="1554480"/>
            <a:ext cx="2615184" cy="1709928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19072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83080"/>
            <a:ext cx="2176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9C7A"/>
                </a:solidFill>
              </a:rPr>
              <a:t>SORTING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6384" y="2267712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B3A"/>
                </a:solidFill>
              </a:rPr>
              <a:t>Arrange records by GPA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6384" y="277977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88A"/>
                </a:solidFill>
              </a:rPr>
              <a:t>A→Z / low→high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615184" cy="1709928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1719072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4176" y="1783080"/>
            <a:ext cx="2176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9C7A"/>
                </a:solidFill>
              </a:rPr>
              <a:t>SEARCHING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75888" y="2267712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B3A"/>
                </a:solidFill>
              </a:rPr>
              <a:t>Find a registration number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75888" y="277977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88A"/>
                </a:solidFill>
              </a:rPr>
              <a:t>locate / retrieve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64224" y="1554480"/>
            <a:ext cx="2615184" cy="1709928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28816" y="1719072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783080"/>
            <a:ext cx="2176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9C7A"/>
                </a:solidFill>
              </a:rPr>
              <a:t>STRING PROCESSING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65392" y="2267712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B3A"/>
                </a:solidFill>
              </a:rPr>
              <a:t>Find text in a document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65392" y="277977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88A"/>
                </a:solidFill>
              </a:rPr>
              <a:t>patterns / matching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53728" y="1554480"/>
            <a:ext cx="2615184" cy="1709928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0" y="1719072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3184" y="1783080"/>
            <a:ext cx="2176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9C7A"/>
                </a:solidFill>
              </a:rPr>
              <a:t>GRAPH PROBLEMS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454896" y="2267712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B3A"/>
                </a:solidFill>
              </a:rPr>
              <a:t>Find a route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454896" y="277977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88A"/>
                </a:solidFill>
              </a:rPr>
              <a:t>networks / connections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5216" y="3685032"/>
            <a:ext cx="2615184" cy="1709928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3849624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913632"/>
            <a:ext cx="2176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A05"/>
                </a:solidFill>
              </a:rPr>
              <a:t>COMBINATORIAL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6384" y="4398264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B3A"/>
                </a:solidFill>
              </a:rPr>
              <a:t>Build a feasible schedule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86384" y="49103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88A"/>
                </a:solidFill>
              </a:rPr>
              <a:t>choices / arrangements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0" y="3685032"/>
            <a:ext cx="2615184" cy="1709928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39312" y="3849624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94176" y="3913632"/>
            <a:ext cx="2176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A05"/>
                </a:solidFill>
              </a:rPr>
              <a:t>GEOMETRIC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75888" y="4398264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B3A"/>
                </a:solidFill>
              </a:rPr>
              <a:t>Find closest points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675888" y="49103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88A"/>
                </a:solidFill>
              </a:rPr>
              <a:t>spatial relationships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64224" y="3685032"/>
            <a:ext cx="2615184" cy="1709928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28816" y="3849624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3913632"/>
            <a:ext cx="2176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A05"/>
                </a:solidFill>
              </a:rPr>
              <a:t>NUMERICAL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65392" y="4398264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B3A"/>
                </a:solidFill>
              </a:rPr>
              <a:t>Compute GCD or roots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565392" y="49103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88A"/>
                </a:solidFill>
              </a:rPr>
              <a:t>numbers / equations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253728" y="3685032"/>
            <a:ext cx="2615184" cy="1709928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18320" y="3849624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73184" y="3913632"/>
            <a:ext cx="2176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A05"/>
                </a:solidFill>
              </a:rPr>
              <a:t>OPTIMIZATION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454896" y="4398264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B3A"/>
                </a:solidFill>
              </a:rPr>
              <a:t>Choose the best feasible solution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454896" y="49103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88A"/>
                </a:solidFill>
              </a:rPr>
              <a:t>cost / value / trade-offs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43000" y="592531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3"/>
                </a:solidFill>
              </a:rPr>
              <a:t>The problem type often suggests useful data structures and algorithmic techniques.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B8A6"/>
                </a:solidFill>
              </a:rPr>
              <a:t>DESIGN CHOICES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</a:rPr>
              <a:t>One problem can have many algorithms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88A"/>
                </a:solidFill>
              </a:rPr>
              <a:t>The same sorting problem can be solved in several fundamentally different ways.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224528" y="1554480"/>
            <a:ext cx="3749040" cy="1005840"/>
          </a:xfrm>
          <a:prstGeom prst="roundRect">
            <a:avLst>
              <a:gd name="adj" fmla="val 1090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98848" y="18470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SORT  [ 9, 2, 7, 4, 1 ]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1664208"/>
            <a:ext cx="2423160" cy="786384"/>
          </a:xfrm>
          <a:prstGeom prst="roundRect">
            <a:avLst>
              <a:gd name="adj" fmla="val 13953"/>
            </a:avLst>
          </a:prstGeom>
          <a:solidFill>
            <a:srgbClr val="EAF7F5"/>
          </a:solidFill>
          <a:ln w="12700">
            <a:solidFill>
              <a:srgbClr val="D5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911096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C9C7A"/>
                </a:solidFill>
              </a:rPr>
              <a:t>Bubble Sort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474720" y="2057400"/>
            <a:ext cx="640080" cy="0"/>
          </a:xfrm>
          <a:prstGeom prst="line">
            <a:avLst/>
          </a:prstGeom>
          <a:noFill/>
          <a:ln w="21590">
            <a:solidFill>
              <a:srgbClr val="16B8A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05840" y="3081528"/>
            <a:ext cx="2423160" cy="786384"/>
          </a:xfrm>
          <a:prstGeom prst="roundRect">
            <a:avLst>
              <a:gd name="adj" fmla="val 13953"/>
            </a:avLst>
          </a:prstGeom>
          <a:solidFill>
            <a:srgbClr val="EAF7F5"/>
          </a:solidFill>
          <a:ln w="12700">
            <a:solidFill>
              <a:srgbClr val="D5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328416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C9C7A"/>
                </a:solidFill>
              </a:rPr>
              <a:t>Selection Sort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474720" y="3474720"/>
            <a:ext cx="640080" cy="-1417320"/>
          </a:xfrm>
          <a:prstGeom prst="line">
            <a:avLst/>
          </a:prstGeom>
          <a:noFill/>
          <a:ln w="21590">
            <a:solidFill>
              <a:srgbClr val="16B8A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05840" y="4498848"/>
            <a:ext cx="2423160" cy="786384"/>
          </a:xfrm>
          <a:prstGeom prst="roundRect">
            <a:avLst>
              <a:gd name="adj" fmla="val 13953"/>
            </a:avLst>
          </a:prstGeom>
          <a:solidFill>
            <a:srgbClr val="EAF7F5"/>
          </a:solidFill>
          <a:ln w="12700">
            <a:solidFill>
              <a:srgbClr val="D5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4745736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C9C7A"/>
                </a:solidFill>
              </a:rPr>
              <a:t>Insertion Sort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474720" y="4892040"/>
            <a:ext cx="640080" cy="-2834640"/>
          </a:xfrm>
          <a:prstGeom prst="line">
            <a:avLst/>
          </a:prstGeom>
          <a:noFill/>
          <a:ln w="21590">
            <a:solidFill>
              <a:srgbClr val="16B8A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13648" y="1664208"/>
            <a:ext cx="2423160" cy="786384"/>
          </a:xfrm>
          <a:prstGeom prst="roundRect">
            <a:avLst>
              <a:gd name="adj" fmla="val 13953"/>
            </a:avLst>
          </a:prstGeom>
          <a:solidFill>
            <a:srgbClr val="FFF5DF"/>
          </a:solidFill>
          <a:ln w="12700">
            <a:solidFill>
              <a:srgbClr val="D5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23376" y="1911096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A6A05"/>
                </a:solidFill>
              </a:rPr>
              <a:t>Merge Sort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503920" y="2057400"/>
            <a:ext cx="-438912" cy="0"/>
          </a:xfrm>
          <a:prstGeom prst="line">
            <a:avLst/>
          </a:prstGeom>
          <a:noFill/>
          <a:ln w="21590">
            <a:solidFill>
              <a:srgbClr val="16B8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13648" y="3081528"/>
            <a:ext cx="2423160" cy="786384"/>
          </a:xfrm>
          <a:prstGeom prst="roundRect">
            <a:avLst>
              <a:gd name="adj" fmla="val 13953"/>
            </a:avLst>
          </a:prstGeom>
          <a:solidFill>
            <a:srgbClr val="FFF5DF"/>
          </a:solidFill>
          <a:ln w="12700">
            <a:solidFill>
              <a:srgbClr val="D5E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23376" y="3328416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A6A05"/>
                </a:solidFill>
              </a:rPr>
              <a:t>Quick Sort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503920" y="3474720"/>
            <a:ext cx="-438912" cy="-1417320"/>
          </a:xfrm>
          <a:prstGeom prst="line">
            <a:avLst/>
          </a:prstGeom>
          <a:noFill/>
          <a:ln w="21590">
            <a:solidFill>
              <a:srgbClr val="16B8A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613648" y="4498848"/>
            <a:ext cx="2423160" cy="786384"/>
          </a:xfrm>
          <a:prstGeom prst="roundRect">
            <a:avLst>
              <a:gd name="adj" fmla="val 13953"/>
            </a:avLst>
          </a:prstGeom>
          <a:solidFill>
            <a:srgbClr val="FFF5DF"/>
          </a:solidFill>
          <a:ln w="12700">
            <a:solidFill>
              <a:srgbClr val="D5E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23376" y="4745736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A6A05"/>
                </a:solidFill>
              </a:rPr>
              <a:t>Heap Sort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503920" y="4892040"/>
            <a:ext cx="-438912" cy="-2834640"/>
          </a:xfrm>
          <a:prstGeom prst="line">
            <a:avLst/>
          </a:prstGeom>
          <a:noFill/>
          <a:ln w="21590">
            <a:solidFill>
              <a:srgbClr val="16B8A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794760" y="340156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All aim for the same required output.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Their efficiency, memory use and practical behavior can differ.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206240" y="4892040"/>
            <a:ext cx="3794760" cy="329184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61104" y="4956048"/>
            <a:ext cx="3685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“WHICH ONE SHOULD WE CHOOSE?”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83280" y="55321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6788A"/>
                </a:solidFill>
              </a:rPr>
              <a:t>That question is central to Design &amp; Analysis of Algorithms.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B8A6"/>
                </a:solidFill>
              </a:rPr>
              <a:t>REPRESENTATION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</a:rPr>
              <a:t>Four ways to represent an algorithm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2615184" cy="3456432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4752" y="1975104"/>
            <a:ext cx="1005840" cy="1005840"/>
          </a:xfrm>
          <a:prstGeom prst="ellipse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1640" y="226771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32369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B3A"/>
                </a:solidFill>
              </a:rPr>
              <a:t>NATURAL LANGUAGE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87705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9C7A"/>
                </a:solidFill>
              </a:rPr>
              <a:t>Easy for humans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4471416"/>
            <a:ext cx="1792224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61772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88A"/>
                </a:solidFill>
              </a:rPr>
              <a:t>Can become ambiguous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11296" y="1664208"/>
            <a:ext cx="2615184" cy="3456432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5968" y="1975104"/>
            <a:ext cx="1005840" cy="100584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856" y="226771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75888" y="32369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B3A"/>
                </a:solidFill>
              </a:rPr>
              <a:t>PSEUDOCODE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39896" y="387705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9C7A"/>
                </a:solidFill>
              </a:rPr>
              <a:t>Structured + language independent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22776" y="4471416"/>
            <a:ext cx="1792224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9896" y="461772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88A"/>
                </a:solidFill>
              </a:rPr>
              <a:t>Best fit for this course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82512" y="1664208"/>
            <a:ext cx="2615184" cy="3456432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87184" y="1975104"/>
            <a:ext cx="1005840" cy="10058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34072" y="226771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47104" y="32369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B3A"/>
                </a:solidFill>
              </a:rPr>
              <a:t>FLOWCHART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11112" y="387705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9C7A"/>
                </a:solidFill>
              </a:rPr>
              <a:t>Visual control flow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93992" y="4471416"/>
            <a:ext cx="1792224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461772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88A"/>
                </a:solidFill>
              </a:rPr>
              <a:t>Cumbersome for large algorithms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53728" y="1664208"/>
            <a:ext cx="2615184" cy="3456432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0" y="1975104"/>
            <a:ext cx="1005840" cy="1005840"/>
          </a:xfrm>
          <a:prstGeom prst="ellipse">
            <a:avLst/>
          </a:prstGeom>
          <a:solidFill>
            <a:srgbClr val="8C5CC4"/>
          </a:solidFill>
          <a:ln w="12700">
            <a:solidFill>
              <a:srgbClr val="8C5C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05288" y="2267712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418320" y="32369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B3A"/>
                </a:solidFill>
              </a:rPr>
              <a:t>PROGRAM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82328" y="3877056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9C7A"/>
                </a:solidFill>
              </a:rPr>
              <a:t>Executable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665208" y="4471416"/>
            <a:ext cx="1792224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82328" y="4617720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88A"/>
                </a:solidFill>
              </a:rPr>
              <a:t>Tied to language syntax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05840" y="57150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In CSC301, pseudocode lets us discuss the algorithm without being distracted by programming-language details.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B8A6"/>
                </a:solidFill>
              </a:rPr>
              <a:t>EXAMPLE: MAXIMUM OF TWO VALUES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</a:rPr>
              <a:t>Same idea, four representations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54480"/>
            <a:ext cx="1609344" cy="329184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18488"/>
            <a:ext cx="14996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9C7A"/>
                </a:solidFill>
              </a:rPr>
              <a:t>NATURAL LANGUAGE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6384" y="2148840"/>
            <a:ext cx="22128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72B3A"/>
                </a:solidFill>
              </a:rPr>
              <a:t>Read a and b.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2B3A"/>
                </a:solidFill>
              </a:rPr>
              <a:t>If a is at least b, return a. Otherwise return b.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1353312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5544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6744" y="1618488"/>
            <a:ext cx="1307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A05"/>
                </a:solidFill>
              </a:rPr>
              <a:t>PSEUDOCODE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67328" y="1993392"/>
            <a:ext cx="1993392" cy="1060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MAX(a,b)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a ≥ b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b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91072" y="1353312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1554480"/>
            <a:ext cx="1252728" cy="329184"/>
          </a:xfrm>
          <a:prstGeom prst="roundRect">
            <a:avLst>
              <a:gd name="adj" fmla="val 50000"/>
            </a:avLst>
          </a:prstGeom>
          <a:solidFill>
            <a:srgbClr val="E9F0FB"/>
          </a:solidFill>
          <a:ln w="12700">
            <a:solidFill>
              <a:srgbClr val="E9F0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1618488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472C4"/>
                </a:solidFill>
              </a:rPr>
              <a:t>FLOWCHART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32320" y="1975104"/>
            <a:ext cx="987552" cy="329184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5472" y="2048256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Read a,b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78040" y="2487168"/>
            <a:ext cx="932688" cy="603504"/>
          </a:xfrm>
          <a:prstGeom prst="diamond">
            <a:avLst/>
          </a:prstGeom>
          <a:solidFill>
            <a:srgbClr val="FFF5DF"/>
          </a:solidFill>
          <a:ln w="12700">
            <a:solidFill>
              <a:srgbClr val="D8C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4344" y="2688336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</a:rPr>
              <a:t>a ≥ b?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626096" y="2304288"/>
            <a:ext cx="0" cy="164592"/>
          </a:xfrm>
          <a:prstGeom prst="line">
            <a:avLst/>
          </a:prstGeom>
          <a:noFill/>
          <a:ln w="16510">
            <a:solidFill>
              <a:srgbClr val="16B8A6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537960" y="2743200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88A"/>
                </a:solidFill>
              </a:rPr>
              <a:t>yes → 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788A"/>
                </a:solidFill>
              </a:rPr>
              <a:t>no → 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153144" y="1353312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36024" y="1554480"/>
            <a:ext cx="969264" cy="329184"/>
          </a:xfrm>
          <a:prstGeom prst="roundRect">
            <a:avLst>
              <a:gd name="adj" fmla="val 50000"/>
            </a:avLst>
          </a:prstGeom>
          <a:solidFill>
            <a:srgbClr val="EFE8F8"/>
          </a:solidFill>
          <a:ln w="12700">
            <a:solidFill>
              <a:srgbClr val="EFE8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0888" y="1618488"/>
            <a:ext cx="859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3FA0"/>
                </a:solidFill>
              </a:rPr>
              <a:t>PROGRAM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345168" y="2103120"/>
            <a:ext cx="2048256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 max2(int a,int b) {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(a &gt;= b) return a;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b;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749808" y="3886200"/>
            <a:ext cx="10680192" cy="1600200"/>
          </a:xfrm>
          <a:prstGeom prst="roundRect">
            <a:avLst>
              <a:gd name="adj" fmla="val 6857"/>
            </a:avLst>
          </a:prstGeom>
          <a:solidFill>
            <a:srgbClr val="F0F5F8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23367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9C7A"/>
                </a:solidFill>
              </a:rPr>
              <a:t>Human-friendly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0" y="4233672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←  increasingly structured and executable  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979408" y="423367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3FA0"/>
                </a:solidFill>
              </a:rPr>
              <a:t>Machine-executable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4800600"/>
            <a:ext cx="9738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72B3A"/>
                </a:solidFill>
              </a:rPr>
              <a:t>For algorithm design and analysis, pseudocode gives us the best balance: precise enough to reason about, but independent of a programming language.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B8A6"/>
                </a:solidFill>
              </a:rPr>
              <a:t>REQUIRED PROPERTIES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</a:rPr>
              <a:t>What makes a procedure an algorithm?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27048"/>
            <a:ext cx="340156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0992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C9C7A"/>
                </a:solidFill>
              </a:rPr>
              <a:t>INPUT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59536" y="216712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72B3A"/>
                </a:solidFill>
              </a:rPr>
              <a:t>Zero or more supplied values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859536" y="2633472"/>
            <a:ext cx="2962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8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MAX(a,b) receives a and b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462272" y="1527048"/>
            <a:ext cx="340156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70992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A6A05"/>
                </a:solidFill>
              </a:rPr>
              <a:t>OUTPUT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81728" y="216712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72B3A"/>
                </a:solidFill>
              </a:rPr>
              <a:t>At least one required result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4681728" y="2633472"/>
            <a:ext cx="2962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8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returns the maximum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284464" y="1527048"/>
            <a:ext cx="340156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67344" y="170992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C9C7A"/>
                </a:solidFill>
              </a:rPr>
              <a:t>PRECISION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503920" y="216712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72B3A"/>
                </a:solidFill>
              </a:rPr>
              <a:t>Operations are accurately specified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8503920" y="2633472"/>
            <a:ext cx="2962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8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total ← total + i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2560320" y="3858768"/>
            <a:ext cx="340156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404164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A6A05"/>
                </a:solidFill>
              </a:rPr>
              <a:t>DEFINITENESS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779776" y="449884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72B3A"/>
                </a:solidFill>
              </a:rPr>
              <a:t>Each step has one interpretation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2779776" y="4965192"/>
            <a:ext cx="2962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8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“sort in nondecreasing order”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382512" y="3858768"/>
            <a:ext cx="340156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404164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C9C7A"/>
                </a:solidFill>
              </a:rPr>
              <a:t>FINITENESS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601968" y="449884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72B3A"/>
                </a:solidFill>
              </a:rPr>
              <a:t>Must terminate after finite steps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6601968" y="4965192"/>
            <a:ext cx="2962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8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loop eventually stops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1316736" y="587959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D95D5D"/>
                </a:solidFill>
              </a:rPr>
              <a:t>Bad instruction: “Arrange the values nicely.”  →  What does “nicely” mean?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B8A6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</a:rPr>
              <a:t>Correctness: does it solve the stated problem?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8920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700784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764792"/>
            <a:ext cx="1216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A05"/>
                </a:solidFill>
              </a:rPr>
              <a:t>PSEUDOCODE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15568" y="2258568"/>
            <a:ext cx="406908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MAX(a,b)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a &gt; 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b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80760" y="1463040"/>
            <a:ext cx="52578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77393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B8A6"/>
                </a:solidFill>
              </a:rPr>
              <a:t>TEST CASES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65392" y="2331720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MAX(10, 4)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13648" y="2331720"/>
            <a:ext cx="1042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10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857232" y="2304288"/>
            <a:ext cx="658368" cy="329184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12096" y="236829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9C7A"/>
                </a:solidFill>
              </a:rPr>
              <a:t>✓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65392" y="2999232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MAX(3, 12)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13648" y="2999232"/>
            <a:ext cx="1042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12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857232" y="2971800"/>
            <a:ext cx="658368" cy="329184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12096" y="303580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9C7A"/>
                </a:solidFill>
              </a:rPr>
              <a:t>✓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65392" y="3666744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MAX(7, 7)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13648" y="3666744"/>
            <a:ext cx="1042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7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857232" y="3639312"/>
            <a:ext cx="658368" cy="329184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12096" y="370332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9C7A"/>
                </a:solidFill>
              </a:rPr>
              <a:t>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55080" y="43708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B1F33"/>
                </a:solidFill>
              </a:rPr>
              <a:t>Testing examples builds confidence—but it is not, by itself, a proof for every valid input.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1325880" y="5321808"/>
            <a:ext cx="9555480" cy="713232"/>
          </a:xfrm>
          <a:prstGeom prst="roundRect">
            <a:avLst>
              <a:gd name="adj" fmla="val 1538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0200" y="5541264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Formal correctness proofs come next in the course. Today: recognize the idea of correctness.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B8A6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</a:rPr>
              <a:t>Generality: one instance is not the whole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88A"/>
                </a:solidFill>
              </a:rPr>
              <a:t>Consider the problem: “Given positive integer n, compute 1 + 2 + … + n.”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68096" y="1828800"/>
            <a:ext cx="4773168" cy="3163824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828800"/>
            <a:ext cx="73152" cy="3163824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20116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B3A"/>
                </a:solidFill>
              </a:rPr>
              <a:t>METHOD 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6696" y="2395728"/>
            <a:ext cx="4361688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788A"/>
                </a:solidFill>
              </a:rPr>
              <a:t>print 5050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6788A"/>
                </a:solidFill>
              </a:rPr>
              <a:t>Correct for n = 100.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6788A"/>
                </a:solidFill>
              </a:rPr>
              <a:t>Not a general algorithm for arbitrary 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56832" y="1828800"/>
            <a:ext cx="4773168" cy="3163824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56832" y="1828800"/>
            <a:ext cx="73152" cy="3163824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85432" y="20116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B3A"/>
                </a:solidFill>
              </a:rPr>
              <a:t>METHOD 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85432" y="2395728"/>
            <a:ext cx="4361688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66788A"/>
                </a:solidFill>
              </a:rPr>
              <a:t>SUM(n)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66788A"/>
                </a:solidFill>
              </a:rPr>
              <a:t>total ← 0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66788A"/>
                </a:solidFill>
              </a:rPr>
              <a:t>for i ← 1 to n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66788A"/>
                </a:solidFill>
              </a:rPr>
              <a:t>    total ← total + i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66788A"/>
                </a:solidFill>
              </a:rPr>
              <a:t>return total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499616" y="5376672"/>
            <a:ext cx="3310128" cy="329184"/>
          </a:xfrm>
          <a:prstGeom prst="roundRect">
            <a:avLst>
              <a:gd name="adj" fmla="val 50000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5440680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5D5D"/>
                </a:solidFill>
              </a:rPr>
              <a:t>SOLVES ONE INSTANCE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88352" y="5376672"/>
            <a:ext cx="3310128" cy="329184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43216" y="5440680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9C7A"/>
                </a:solidFill>
              </a:rPr>
              <a:t>SOLVES THE GENERAL PROBLEM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87552" y="5943600"/>
            <a:ext cx="10195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B1F33"/>
                </a:solidFill>
              </a:rPr>
              <a:t>A good algorithm is designed for the complete valid input domain described by the problem specification.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0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16B8A6"/>
                </a:solidFill>
              </a:rPr>
              <a:t>Main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1042416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Sum the integers 1 through 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A712"/>
                </a:solidFill>
              </a:rPr>
              <a:t>Problem specification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3154680" cy="1828800"/>
          </a:xfrm>
          <a:prstGeom prst="roundRect">
            <a:avLst>
              <a:gd name="adj" fmla="val 6000"/>
            </a:avLst>
          </a:prstGeom>
          <a:solidFill>
            <a:srgbClr val="102B45"/>
          </a:solidFill>
          <a:ln w="12700">
            <a:solidFill>
              <a:srgbClr val="2A4C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6280" y="2514600"/>
            <a:ext cx="3154680" cy="1828800"/>
          </a:xfrm>
          <a:prstGeom prst="roundRect">
            <a:avLst>
              <a:gd name="adj" fmla="val 6000"/>
            </a:avLst>
          </a:prstGeom>
          <a:solidFill>
            <a:srgbClr val="102B45"/>
          </a:solidFill>
          <a:ln w="12700">
            <a:solidFill>
              <a:srgbClr val="2A4C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2514600"/>
            <a:ext cx="3154680" cy="1828800"/>
          </a:xfrm>
          <a:prstGeom prst="roundRect">
            <a:avLst>
              <a:gd name="adj" fmla="val 6000"/>
            </a:avLst>
          </a:prstGeom>
          <a:solidFill>
            <a:srgbClr val="102B45"/>
          </a:solidFill>
          <a:ln w="12700">
            <a:solidFill>
              <a:srgbClr val="2A4C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8163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B8A6"/>
                </a:solidFill>
              </a:rPr>
              <a:t>INPUT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37413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positive integer 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28163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B8A6"/>
                </a:solidFill>
              </a:rPr>
              <a:t>OUTPUT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337413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 = 1 + 2 + … + 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49640" y="28163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B8A6"/>
                </a:solidFill>
              </a:rPr>
              <a:t>EXAMPLE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49640" y="337413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 = 5  →  S = 15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0432" y="52852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7E4EF"/>
                </a:solidFill>
              </a:rPr>
              <a:t>Now represent the solution as an algorithm—and evaluate its properties.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B8C6D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B8A6"/>
                </a:solidFill>
              </a:rPr>
              <a:t>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</a:rPr>
              <a:t>Algorithm 1: iterative summation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3977640" cy="41148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664208"/>
            <a:ext cx="1389888" cy="329184"/>
          </a:xfrm>
          <a:prstGeom prst="roundRect">
            <a:avLst>
              <a:gd name="adj" fmla="val 50000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72821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A05"/>
                </a:solidFill>
              </a:rPr>
              <a:t>PSEUDOCODE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33272" y="2267712"/>
            <a:ext cx="324612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SUM(n)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total ← 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i ← 1 to 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total ← total + 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return total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7492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Trace for n = 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02352" y="2029968"/>
            <a:ext cx="731520" cy="512064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38928" y="217627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33872" y="2029968"/>
            <a:ext cx="1691640" cy="512064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0448" y="217627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total before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25512" y="2029968"/>
            <a:ext cx="1691640" cy="512064"/>
          </a:xfrm>
          <a:prstGeom prst="rect">
            <a:avLst/>
          </a:prstGeom>
          <a:solidFill>
            <a:srgbClr val="0B1F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62088" y="217627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total after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02352" y="2542032"/>
            <a:ext cx="731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8072" y="270662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33872" y="2542032"/>
            <a:ext cx="1691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270662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25512" y="2542032"/>
            <a:ext cx="1691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1232" y="270662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B3A"/>
                </a:solidFill>
              </a:rPr>
              <a:t>1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102352" y="3054096"/>
            <a:ext cx="731520" cy="512064"/>
          </a:xfrm>
          <a:prstGeom prst="rect">
            <a:avLst/>
          </a:prstGeom>
          <a:solidFill>
            <a:srgbClr val="F1F5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48072" y="32186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2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833872" y="3054096"/>
            <a:ext cx="1691640" cy="512064"/>
          </a:xfrm>
          <a:prstGeom prst="rect">
            <a:avLst/>
          </a:prstGeom>
          <a:solidFill>
            <a:srgbClr val="F1F5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9592" y="3218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1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525512" y="3054096"/>
            <a:ext cx="1691640" cy="512064"/>
          </a:xfrm>
          <a:prstGeom prst="rect">
            <a:avLst/>
          </a:prstGeom>
          <a:solidFill>
            <a:srgbClr val="F1F5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71232" y="3218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B3A"/>
                </a:solidFill>
              </a:rPr>
              <a:t>3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102352" y="3566160"/>
            <a:ext cx="731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8072" y="37307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3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833872" y="3566160"/>
            <a:ext cx="1691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9592" y="37307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3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25512" y="3566160"/>
            <a:ext cx="1691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71232" y="37307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B3A"/>
                </a:solidFill>
              </a:rPr>
              <a:t>6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102352" y="4078224"/>
            <a:ext cx="731520" cy="512064"/>
          </a:xfrm>
          <a:prstGeom prst="rect">
            <a:avLst/>
          </a:prstGeom>
          <a:solidFill>
            <a:srgbClr val="F1F5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48072" y="4242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4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833872" y="4078224"/>
            <a:ext cx="1691640" cy="512064"/>
          </a:xfrm>
          <a:prstGeom prst="rect">
            <a:avLst/>
          </a:prstGeom>
          <a:solidFill>
            <a:srgbClr val="F1F5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79592" y="42428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6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525512" y="4078224"/>
            <a:ext cx="1691640" cy="512064"/>
          </a:xfrm>
          <a:prstGeom prst="rect">
            <a:avLst/>
          </a:prstGeom>
          <a:solidFill>
            <a:srgbClr val="F1F5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1232" y="424281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B3A"/>
                </a:solidFill>
              </a:rPr>
              <a:t>10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102352" y="4590288"/>
            <a:ext cx="731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8072" y="475488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5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833872" y="4590288"/>
            <a:ext cx="1691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79592" y="475488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10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525512" y="4590288"/>
            <a:ext cx="1691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71232" y="475488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B3A"/>
                </a:solidFill>
              </a:rPr>
              <a:t>15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9400032" y="2029968"/>
            <a:ext cx="1965960" cy="3072384"/>
          </a:xfrm>
          <a:prstGeom prst="roundRect">
            <a:avLst>
              <a:gd name="adj" fmla="val 5581"/>
            </a:avLst>
          </a:prstGeom>
          <a:solidFill>
            <a:srgbClr val="EAF7F5"/>
          </a:solidFill>
          <a:ln w="12700">
            <a:solidFill>
              <a:srgbClr val="CFE9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92640" y="253288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9C7A"/>
                </a:solidFill>
              </a:rPr>
              <a:t>OUTPUT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637776" y="3063240"/>
            <a:ext cx="1499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1F33"/>
                </a:solidFill>
              </a:rPr>
              <a:t>15</a:t>
            </a:r>
            <a:endParaRPr lang="en-US" sz="4000" dirty="0"/>
          </a:p>
        </p:txBody>
      </p:sp>
      <p:sp>
        <p:nvSpPr>
          <p:cNvPr id="48" name="Text 46"/>
          <p:cNvSpPr/>
          <p:nvPr/>
        </p:nvSpPr>
        <p:spPr>
          <a:xfrm>
            <a:off x="9637776" y="4114800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2B3A"/>
                </a:solidFill>
              </a:rPr>
              <a:t>The algorithm terminates after n iterations.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24128" y="5879592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3"/>
                </a:solidFill>
              </a:rPr>
              <a:t>The trace helps us understand behavior for one instance; correctness asks whether it works for every valid 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B8A6"/>
                </a:solidFill>
              </a:rPr>
              <a:t>ALTERNATIVE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</a:rPr>
              <a:t>Algorithm 2: use a mathematical identity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847088" y="14173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33"/>
                </a:solidFill>
              </a:rPr>
              <a:t>1 + 2 + 3 + ··· + n  =  n(n + 1) /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60120" y="2514600"/>
            <a:ext cx="438912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14600"/>
            <a:ext cx="73152" cy="2240280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6974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B3A"/>
                </a:solidFill>
              </a:rPr>
              <a:t>ITERATIVE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3081528"/>
            <a:ext cx="3977640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66788A"/>
                </a:solidFill>
              </a:rPr>
              <a:t>SUM(n)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66788A"/>
                </a:solidFill>
              </a:rPr>
              <a:t>total ← 0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66788A"/>
                </a:solidFill>
              </a:rPr>
              <a:t>repeat n additions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66788A"/>
                </a:solidFill>
              </a:rPr>
              <a:t>return total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839712" y="2514600"/>
            <a:ext cx="438912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39712" y="2514600"/>
            <a:ext cx="73152" cy="2240280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68312" y="26974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B3A"/>
                </a:solidFill>
              </a:rPr>
              <a:t>DIRECT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68312" y="3081528"/>
            <a:ext cx="3977640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6788A"/>
                </a:solidFill>
              </a:rPr>
              <a:t>SUM(n)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6788A"/>
                </a:solidFill>
              </a:rPr>
              <a:t>return n(n + 1) / 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636776" y="5148072"/>
            <a:ext cx="3035808" cy="329184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5212080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9C7A"/>
                </a:solidFill>
              </a:rPr>
              <a:t>MORE WORK AS n GROWS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16368" y="5148072"/>
            <a:ext cx="3035808" cy="329184"/>
          </a:xfrm>
          <a:prstGeom prst="roundRect">
            <a:avLst>
              <a:gd name="adj" fmla="val 50000"/>
            </a:avLst>
          </a:prstGeom>
          <a:solidFill>
            <a:srgbClr val="FFF5DF"/>
          </a:solidFill>
          <a:ln w="12700">
            <a:solidFill>
              <a:srgbClr val="FFF5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1232" y="5212080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A05"/>
                </a:solidFill>
              </a:rPr>
              <a:t>FIXED SMALL SET OF STEPS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24128" y="5833872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B1F33"/>
                </a:solidFill>
              </a:rPr>
              <a:t>Both are correct for the stated domain. The difference motivates algorithm analysis later in the course.</a:t>
            </a:r>
            <a:endParaRPr lang="en-US" sz="1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B8A6"/>
                </a:solidFill>
              </a:rPr>
              <a:t>CHECKPOINT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</a:rPr>
              <a:t>Evaluate the SUM algorithm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76656" y="1481328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64208"/>
            <a:ext cx="2221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B8A6"/>
                </a:solidFill>
              </a:rPr>
              <a:t>Input</a:t>
            </a:r>
            <a:endParaRPr lang="en-US" sz="1230" dirty="0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11296" y="1481328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664208"/>
            <a:ext cx="2221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B8A6"/>
                </a:solidFill>
              </a:rPr>
              <a:t>Output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3657600" y="202996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sum 1…n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45936" y="1481328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64208"/>
            <a:ext cx="2221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B8A6"/>
                </a:solidFill>
              </a:rPr>
              <a:t>Precision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6492240" y="202996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specified operations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80576" y="1481328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1664208"/>
            <a:ext cx="2221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B8A6"/>
                </a:solidFill>
              </a:rPr>
              <a:t>Finiteness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9326880" y="202996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terminates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6656" y="2779776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F2F7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962656"/>
            <a:ext cx="2221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B8A6"/>
                </a:solidFill>
              </a:rPr>
              <a:t>Definiteness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822960" y="332841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unambiguous steps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11296" y="2779776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F2F7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962656"/>
            <a:ext cx="2221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B8A6"/>
                </a:solidFill>
              </a:rPr>
              <a:t>Correctness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3657600" y="332841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required result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45936" y="2779776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F2F7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962656"/>
            <a:ext cx="2221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6B8A6"/>
                </a:solidFill>
              </a:rPr>
              <a:t>Generality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6492240" y="332841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3A"/>
                </a:solidFill>
              </a:rPr>
              <a:t>all valid 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" y="4389120"/>
            <a:ext cx="10533888" cy="1280160"/>
          </a:xfrm>
          <a:prstGeom prst="roundRect">
            <a:avLst>
              <a:gd name="adj" fmla="val 857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617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A712"/>
                </a:solidFill>
              </a:rPr>
              <a:t>QUICK EXERCISE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9834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Is “keep adding random numbers until the answer looks good” an algorithm? Identify every property it violates.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97280" y="5806440"/>
            <a:ext cx="9464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FD0DE"/>
                </a:solidFill>
              </a:rPr>
              <a:t>Discuss for 2 minutes. Be ready to justify your answer.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6B8A6"/>
                </a:solidFill>
              </a:rPr>
              <a:t>PRACTICE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</a:rPr>
              <a:t>Recommended textbook exercises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789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788A"/>
                </a:solidFill>
              </a:rPr>
              <a:t>Use the question numbers below so everyone works from the same edition.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5358384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72768"/>
            <a:ext cx="73152" cy="4160520"/>
          </a:xfrm>
          <a:prstGeom prst="rect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755648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B3A"/>
                </a:solidFill>
              </a:rPr>
              <a:t>LEVITIN — 3rd edition • Exercises 1.1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6968" y="2139696"/>
            <a:ext cx="4946904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6788A"/>
                </a:solidFill>
              </a:rPr>
              <a:t>Q3(a,b)  — Express everyday procedures with the precision required of an algorithm.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6788A"/>
                </a:solidFill>
              </a:rPr>
              <a:t>Good for: precision, definiteness, natural-language representation.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6788A"/>
                </a:solidFill>
              </a:rPr>
              <a:t>Optional extension: Q1 — investigate the origin of the word “algorithm.”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81344" y="1572768"/>
            <a:ext cx="5358384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1344" y="1572768"/>
            <a:ext cx="73152" cy="4160520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755648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B3A"/>
                </a:solidFill>
              </a:rPr>
              <a:t>CLRS — 3rd edition • §1.1 Exercises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9944" y="2139696"/>
            <a:ext cx="4946904" cy="3447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66788A"/>
                </a:solidFill>
              </a:rPr>
              <a:t>1.1-1  — Give a real-world example requiring sorting or convex hull.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66788A"/>
                </a:solidFill>
              </a:rPr>
              <a:t>1.1-2  — Identify measures of efficiency other than speed.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66788A"/>
                </a:solidFill>
              </a:rPr>
              <a:t>1.1-5  — Give one problem needing the best solution and one where an approximate best solution is acceptable.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987552" y="596188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0B1F33"/>
                </a:solidFill>
              </a:rPr>
              <a:t>For submission / discussion: Levitin 1.1-Q3(a,b) + CLRS 1.1-1 and 1.1-2</a:t>
            </a:r>
            <a:endParaRPr lang="en-US" sz="15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3809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65836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22376"/>
            <a:ext cx="1792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3"/>
                </a:solidFill>
              </a:rPr>
              <a:t>LECTURE 01 RECAP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76656" y="126187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Five ideas to carry forward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221992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417320" y="2176272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 problem states WHAT must be solved.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86384" y="2798064"/>
            <a:ext cx="420624" cy="420624"/>
          </a:xfrm>
          <a:prstGeom prst="ellipse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91693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</a:rPr>
              <a:t>02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17320" y="2871216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An algorithm states HOW to solve it.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6384" y="3493008"/>
            <a:ext cx="420624" cy="420624"/>
          </a:xfrm>
          <a:prstGeom prst="ellipse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61188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</a:rPr>
              <a:t>03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417320" y="356616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 program is an implementation of an algorithm.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86384" y="4187952"/>
            <a:ext cx="420624" cy="420624"/>
          </a:xfrm>
          <a:prstGeom prst="ellipse">
            <a:avLst/>
          </a:prstGeom>
          <a:solidFill>
            <a:srgbClr val="16B8A6"/>
          </a:solidFill>
          <a:ln w="12700">
            <a:solidFill>
              <a:srgbClr val="16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306824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</a:rPr>
              <a:t>04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417320" y="4261104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Valid algorithms are precise, definite and finite.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86384" y="4882896"/>
            <a:ext cx="420624" cy="420624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001768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3"/>
                </a:solidFill>
              </a:rPr>
              <a:t>05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17320" y="4956048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Different correct algorithms may use resources very differently.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869680" y="2084832"/>
            <a:ext cx="2423160" cy="3493008"/>
          </a:xfrm>
          <a:prstGeom prst="roundRect">
            <a:avLst>
              <a:gd name="adj" fmla="val 4528"/>
            </a:avLst>
          </a:prstGeom>
          <a:solidFill>
            <a:srgbClr val="102B45"/>
          </a:solidFill>
          <a:ln w="12700">
            <a:solidFill>
              <a:srgbClr val="2A4C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25786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A712"/>
                </a:solidFill>
              </a:rPr>
              <a:t>NEXT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25712" y="3163824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Fundamentals of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Algorithmic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Solving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07424" y="4773168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C4D1DD"/>
                </a:solidFill>
              </a:rPr>
              <a:t>STAIR • specification • constraints • solution choices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92240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B8C6D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— Introduction to Algorithms</dc:title>
  <dc:subject>CSC301 Design and Analysis of Algorithms - Lecture 1</dc:subject>
  <dc:creator>COMSATS University Islamabad, Attock Campus</dc:creator>
  <cp:lastModifiedBy>COMSATS University Islamabad, Attock Campus</cp:lastModifiedBy>
  <cp:revision>1</cp:revision>
  <dcterms:created xsi:type="dcterms:W3CDTF">2026-09-04T08:46:03Z</dcterms:created>
  <dcterms:modified xsi:type="dcterms:W3CDTF">2026-09-04T08:46:03Z</dcterms:modified>
</cp:coreProperties>
</file>