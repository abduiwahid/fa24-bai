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4"/>
  </p:notesMasterIdLst>
  <p:sldIdLst>
    <p:sldId id="297" r:id="rId3"/>
    <p:sldId id="29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20" autoAdjust="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A3FFB-4CBA-479F-BE89-7D000F75C2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E1B9C-8B2A-4655-8629-B764075BE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1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Faiza Khan</a:t>
            </a:r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9B4F06-26DE-4995-A938-42E777BC5BD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1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33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X-offset:</a:t>
            </a:r>
            <a:r>
              <a:rPr lang="en-US" baseline="0" dirty="0" smtClean="0"/>
              <a:t> Horizontal distance</a:t>
            </a:r>
          </a:p>
          <a:p>
            <a:r>
              <a:rPr lang="en-US" baseline="0" dirty="0" smtClean="0"/>
              <a:t>Y-offset: Vertical distance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4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upword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52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deep or realistic a 3D effect looks</a:t>
            </a:r>
            <a:r>
              <a:rPr lang="en-US" dirty="0" smtClean="0"/>
              <a:t> by setting the distance between the viewer's eye and the Z=0 plane.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value you provide is a length (usually in pixels). Think of it as </a:t>
            </a:r>
            <a:r>
              <a:rPr 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close you are standing to the object</a:t>
            </a:r>
            <a:r>
              <a:rPr 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02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Move </a:t>
            </a:r>
            <a:r>
              <a:rPr lang="en-US" dirty="0" err="1" smtClean="0"/>
              <a:t>upwrod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46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Web open font format, True type font format, Open</a:t>
            </a:r>
            <a:r>
              <a:rPr lang="en-US" baseline="0" dirty="0" smtClean="0"/>
              <a:t> type font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73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E1B9C-8B2A-4655-8629-B764075BEB0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6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5AE5-D670-48F4-BC8D-28C8D1D34AEA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D495-BEEB-4AD5-8E19-A8B02BAB1B6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5731-6F8F-484D-ADAC-FAFAB0B28DB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DDEC-3A6D-4D02-9BC4-E87FAA73474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D848-546E-41B3-8369-454BA4C5B949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70E-0B80-421C-A565-F59739A3908D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E8FF-98B6-4532-8840-CD449388B37F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3C43-5BD5-4267-8181-91FAEEF08A99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BC570-6DEB-405E-A0B7-4A42579FFEEE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0DBD-8EC1-429C-92B3-4C215F119BC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C624A-6591-4060-B64F-6F5911C0D92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889" y="2514601"/>
            <a:ext cx="880060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889" y="4777381"/>
            <a:ext cx="880060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5AE5-D670-48F4-BC8D-28C8D1D34AEA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9" name="Freeform 8"/>
          <p:cNvSpPr/>
          <p:nvPr/>
        </p:nvSpPr>
        <p:spPr bwMode="auto">
          <a:xfrm>
            <a:off x="-42292" y="4321159"/>
            <a:ext cx="1860631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445" y="4529542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19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2" y="624110"/>
            <a:ext cx="87855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888" y="2133600"/>
            <a:ext cx="8789313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D495-BEEB-4AD5-8E19-A8B02BAB1B6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70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074562"/>
            <a:ext cx="8789313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3581400"/>
            <a:ext cx="8789313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5731-6F8F-484D-ADAC-FAFAB0B28DB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32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889" y="2136707"/>
            <a:ext cx="4263375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6410" y="2136707"/>
            <a:ext cx="426279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DDEC-3A6D-4D02-9BC4-E87FAA73474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787784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25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0469" y="2226626"/>
            <a:ext cx="38327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887" y="2802889"/>
            <a:ext cx="4263376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1540" y="2223398"/>
            <a:ext cx="383098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11620" y="2799661"/>
            <a:ext cx="4260907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D848-546E-41B3-8369-454BA4C5B949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787784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75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0" y="624110"/>
            <a:ext cx="87856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270E-0B80-421C-A565-F59739A3908D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89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E8FF-98B6-4532-8840-CD449388B37F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40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7" y="446088"/>
            <a:ext cx="3506112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4659" y="446090"/>
            <a:ext cx="505454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1598613"/>
            <a:ext cx="3506112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3C43-5BD5-4267-8181-91FAEEF08A99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10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4800600"/>
            <a:ext cx="8789313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888" y="634965"/>
            <a:ext cx="8789313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367338"/>
            <a:ext cx="8789313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BC570-6DEB-405E-A0B7-4A42579FFEEE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42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09600"/>
            <a:ext cx="8789313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00422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21296" y="3505200"/>
            <a:ext cx="7538517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9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11089" y="64800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A5301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2711" y="290530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A5301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0242455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438402"/>
            <a:ext cx="8789313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71081"/>
      </p:ext>
    </p:extLst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7" y="4343400"/>
            <a:ext cx="891772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5181600"/>
            <a:ext cx="891772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2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11089" y="64800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A5301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2711" y="290530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A5301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8695948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27407"/>
            <a:ext cx="8789312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8" y="4343400"/>
            <a:ext cx="878931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98728"/>
      </p:ext>
    </p:extLst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0DBD-8EC1-429C-92B3-4C215F119BC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71380" y="627407"/>
            <a:ext cx="220817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888" y="627407"/>
            <a:ext cx="6288464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C624A-6591-4060-B64F-6F5911C0D92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44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1524000"/>
            <a:ext cx="109728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240880"/>
            <a:ext cx="109728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5689600" y="4572000"/>
            <a:ext cx="58928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5496290"/>
            <a:ext cx="5320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1090"/>
            <a:ext cx="532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1800" dirty="0"/>
              <a:t>http://academy.telerik.com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121650"/>
            <a:ext cx="53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defRPr>
            </a:lvl1pPr>
          </a:lstStyle>
          <a:p>
            <a:pPr lvl="0" eaLnBrk="1" hangingPunct="1">
              <a:spcBef>
                <a:spcPct val="0"/>
              </a:spcBef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Telerik Software Academy</a:t>
            </a:r>
          </a:p>
        </p:txBody>
      </p:sp>
    </p:spTree>
    <p:extLst>
      <p:ext uri="{BB962C8B-B14F-4D97-AF65-F5344CB8AC3E}">
        <p14:creationId xmlns:p14="http://schemas.microsoft.com/office/powerpoint/2010/main" val="3800524357"/>
      </p:ext>
    </p:extLst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217" y="71439"/>
            <a:ext cx="8737600" cy="9096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1800" y="1268414"/>
            <a:ext cx="5562600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68414"/>
            <a:ext cx="5562600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3263632"/>
      </p:ext>
    </p:extLst>
  </p:cSld>
  <p:clrMapOvr>
    <a:masterClrMapping/>
  </p:clrMapOvr>
  <p:transition/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438400" y="152400"/>
            <a:ext cx="94488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9605381" y="6400800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Course web site URL</a:t>
            </a:r>
          </a:p>
        </p:txBody>
      </p:sp>
    </p:spTree>
    <p:extLst>
      <p:ext uri="{BB962C8B-B14F-4D97-AF65-F5344CB8AC3E}">
        <p14:creationId xmlns:p14="http://schemas.microsoft.com/office/powerpoint/2010/main" val="743188112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26416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7228" y="285"/>
            <a:ext cx="2603029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24384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3600" y="624110"/>
            <a:ext cx="87856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2133600"/>
            <a:ext cx="8789313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3200" y="6135090"/>
            <a:ext cx="102184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19CE8-BB38-4723-98C4-A1A19DACDE1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887" y="6135810"/>
            <a:ext cx="76219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Science, COMSATS University Islamabad, Attock Campus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81637" y="787784"/>
            <a:ext cx="779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853339"/>
            <a:ext cx="9144000" cy="2057400"/>
          </a:xfrm>
        </p:spPr>
        <p:txBody>
          <a:bodyPr anchor="ctr"/>
          <a:lstStyle/>
          <a:p>
            <a:pPr algn="ctr" eaLnBrk="1" hangingPunct="1"/>
            <a:r>
              <a:rPr lang="en-US" sz="6600" dirty="0"/>
              <a:t>Web Technologies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263326"/>
            <a:ext cx="6400800" cy="1981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Irshad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Ullah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dirty="0"/>
              <a:t>Department of Computer Science</a:t>
            </a:r>
          </a:p>
          <a:p>
            <a:pPr>
              <a:lnSpc>
                <a:spcPct val="80000"/>
              </a:lnSpc>
            </a:pPr>
            <a:r>
              <a:rPr lang="en-US" dirty="0"/>
              <a:t>COMSATS University Islamabad, </a:t>
            </a:r>
            <a:r>
              <a:rPr lang="en-US" dirty="0" err="1"/>
              <a:t>Attock</a:t>
            </a:r>
            <a:r>
              <a:rPr lang="en-US" dirty="0"/>
              <a:t> Campus</a:t>
            </a:r>
            <a:endParaRPr lang="en-US" cap="none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4000" dirty="0"/>
          </a:p>
          <a:p>
            <a:pPr eaLnBrk="1" hangingPunct="1">
              <a:lnSpc>
                <a:spcPct val="80000"/>
              </a:lnSpc>
            </a:pPr>
            <a:endParaRPr lang="en-US" sz="4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89887" y="6492875"/>
            <a:ext cx="7621984" cy="365125"/>
          </a:xfrm>
        </p:spPr>
        <p:txBody>
          <a:bodyPr/>
          <a:lstStyle/>
          <a:p>
            <a:pPr algn="ctr"/>
            <a:r>
              <a:rPr lang="en-US" dirty="0">
                <a:solidFill>
                  <a:prstClr val="black">
                    <a:tint val="75000"/>
                  </a:prstClr>
                </a:solidFill>
                <a:latin typeface="Century Gothic" panose="020B0502020202020204"/>
              </a:rPr>
              <a:t>Department of Computer Science, COMSATS University Islamabad, Attock Campus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0CB042F-078C-4FA2-B8ED-7FF98073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31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64360" y="685800"/>
            <a:ext cx="31486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864360" y="1371600"/>
            <a:ext cx="9669207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>
                <a:solidFill>
                  <a:srgbClr val="1E293B"/>
                </a:solidFill>
              </a:defRPr>
            </a:pPr>
            <a:r>
              <a:rPr lang="en-US" dirty="0"/>
              <a:t>Rounded corners, gradients, shadows and opacity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>
                <a:solidFill>
                  <a:srgbClr val="1E293B"/>
                </a:solidFill>
              </a:defRPr>
            </a:pPr>
            <a:r>
              <a:rPr lang="en-US" dirty="0"/>
              <a:t>2D/3D transforms, transitions and keyframe animations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>
                <a:solidFill>
                  <a:srgbClr val="1E293B"/>
                </a:solidFill>
              </a:defRPr>
            </a:pPr>
            <a:r>
              <a:rPr lang="en-US" dirty="0"/>
              <a:t>Web fonts, icon fonts and CSS custom properties (variables)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>
                <a:solidFill>
                  <a:srgbClr val="1E293B"/>
                </a:solidFill>
              </a:defRPr>
            </a:pPr>
            <a:r>
              <a:rPr lang="en-US" dirty="0"/>
              <a:t>Media and feature queries</a:t>
            </a:r>
          </a:p>
          <a:p>
            <a:pPr marL="457200" indent="-457200">
              <a:spcAft>
                <a:spcPts val="1400"/>
              </a:spcAft>
              <a:buFont typeface="+mj-lt"/>
              <a:buAutoNum type="arabicPeriod"/>
              <a:defRPr sz="2000">
                <a:solidFill>
                  <a:srgbClr val="1E293B"/>
                </a:solidFill>
              </a:defRPr>
            </a:pPr>
            <a:r>
              <a:rPr lang="en-US" dirty="0"/>
              <a:t>Vendor prefixes and cross-browser compatibility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76FD87F-FE1D-8B40-6DFA-BDA6D1BA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Department of Computer Science, COMSATS University Islamabad, Attock Campus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9A6455B-2E59-53E9-2EE6-36915120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What is CSS3?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CSS3 is the evolution of CSS that introduced many features for creating modern and interactive web pages.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CSS3 allows developers to create rounded elements, gradients, shadows, transformations, transitions, animations, custom fonts, responsive layouts and reusable variables.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.card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</a:t>
            </a:r>
            <a:r>
              <a:rPr dirty="0"/>
              <a:t>{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  </a:t>
            </a:r>
            <a:r>
              <a:rPr dirty="0"/>
              <a:t>border-radius: 12px;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  </a:t>
            </a:r>
            <a:r>
              <a:rPr dirty="0"/>
              <a:t>box-shadow: 0 5px 15px #999;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</a:t>
            </a:r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FC9FEC2-DA58-4193-2E28-1D83C22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Rounded Corners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 border-radius property creates rounded corners.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Syntax: border-radius: 20px;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.card { width: 300px; padding: 20px; border: 2px solid black; border-radius: 15px;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Useful for cards, buttons, images, containers and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22687" y="4440985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88480" y="5035345"/>
            <a:ext cx="4572000" cy="746023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rPr dirty="0"/>
              <a:t>Rounded card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37145146-0377-FF72-E0E2-9D202544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Different Border Radius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border-radius: 20px; → all corners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border-radius: 10px 20px 30px 40px; → top-left, top-right, bottom-right, bottom-left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Individual properties: border-top-left-radius, border-top-right-radius, border-bottom-right-radius, border-bottom-left-radius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DFB2384-FDCB-59F4-1A39-4D72859A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Creating a Circle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A square can be turned into a circle using equal width and height with border-radius: 50%.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.avatar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{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</a:t>
            </a:r>
            <a:r>
              <a:rPr dirty="0"/>
              <a:t>width: 100px;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</a:t>
            </a:r>
            <a:r>
              <a:rPr dirty="0"/>
              <a:t>height: 100px;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</a:t>
            </a:r>
            <a:r>
              <a:rPr dirty="0"/>
              <a:t>border-radius: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</a:t>
            </a:r>
            <a:r>
              <a:rPr dirty="0"/>
              <a:t>50%;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For a perfect circle, width and height should normally be equal.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316402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Oval 6"/>
          <p:cNvSpPr/>
          <p:nvPr/>
        </p:nvSpPr>
        <p:spPr>
          <a:xfrm>
            <a:off x="8848541" y="3529781"/>
            <a:ext cx="1508760" cy="1508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IMG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632599E-25F4-97B3-B986-C61C0467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 Gradients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 gradient creates a smooth transition between two or more colors.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CSS provides linear, radial and conic gradients.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Linear example: background: linear-gradient(red, blue);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Gradients are commonly used for backgrounds, buttons, cards and visual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4482576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1B212DC-07B8-77D2-6DA3-44D14414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39" y="4795684"/>
            <a:ext cx="6553768" cy="1104996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EF8301FF-B3D0-9DAB-E38A-0F346F47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Linear Gradient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 linear gradient changes color along a line.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background: linear-gradient(to right, red, blue);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Directions include to left, to right, to top and to bottom.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Angles can also be used: linear-gradient(45deg, red, blue).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Multiple colors are supported.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7315" y="33147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3703320"/>
            <a:ext cx="91440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3703320"/>
            <a:ext cx="914400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23960" y="3703320"/>
            <a:ext cx="914400" cy="12801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38360" y="3703320"/>
            <a:ext cx="91440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652760" y="3703320"/>
            <a:ext cx="914400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95160" y="5303520"/>
            <a:ext cx="457200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red  →  yellow  →  green  →  blue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xmlns="" id="{7A23FB89-131A-AE92-FC9F-773C6DA2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Radial Gradient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A radial gradient spreads outward from a central point.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background: </a:t>
            </a:r>
            <a:r>
              <a:rPr lang="en-US" dirty="0"/>
              <a:t>radial-gradient(circle, white, yellow, orange, red);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Linear gradient → color changes along a line.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Radial gradient → color spreads outward from a center.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8430" y="262570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58BAD6A9-52F7-FE25-43F6-87F3EEAE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511" y="3122461"/>
            <a:ext cx="3215919" cy="3238781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xmlns="" id="{1584583C-A2F3-12DE-6A15-EB5963E6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 Box Shadow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792912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box-shadow adds a shadow around an element.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Syntax: box-shadow: x-offset y-offset blur spread color;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box-shadow: 0 10px 20px gray;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Common uses: cards, buttons, navigation bars, modals and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66860" y="34975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9FB13E3-F1F6-CCA6-3609-46692EF2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414" y="3939432"/>
            <a:ext cx="2606266" cy="2476715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5A39090A-831F-11B1-282C-31029CAE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Text Shadow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text-shadow adds a shadow to text.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h1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</a:t>
            </a:r>
            <a:r>
              <a:rPr dirty="0"/>
              <a:t>{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text-shadow: 2px </a:t>
            </a:r>
            <a:r>
              <a:rPr dirty="0" err="1"/>
              <a:t>2px</a:t>
            </a:r>
            <a:r>
              <a:rPr dirty="0"/>
              <a:t> 5px gray;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</a:t>
            </a:r>
            <a:r>
              <a:rPr dirty="0"/>
              <a:t>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box-shadow → shadow around an element.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text-shadow → shadow around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9733" y="296240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C2F7B0A-383A-22ED-3AE8-31D4F1EF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458" y="3397978"/>
            <a:ext cx="3017782" cy="115834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9AFBE218-9493-39C5-2999-95E482FC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opacity controls how transparent an element is.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0 → completely transparent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1 → completely visible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img { opacity: 0.5;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An opacity of 0.5 makes the element 50% opaque.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8480" y="399033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0832C95-6FD0-4382-7380-B5B2944E03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21" t="53153" r="18243" b="25225"/>
          <a:stretch/>
        </p:blipFill>
        <p:spPr>
          <a:xfrm>
            <a:off x="3169568" y="4364449"/>
            <a:ext cx="8813497" cy="178250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33088B6-B9AE-231F-583B-E59E24B40FE6}"/>
              </a:ext>
            </a:extLst>
          </p:cNvPr>
          <p:cNvSpPr/>
          <p:nvPr/>
        </p:nvSpPr>
        <p:spPr>
          <a:xfrm>
            <a:off x="4132253" y="6178175"/>
            <a:ext cx="7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hangingPunct="0"/>
            <a:r>
              <a:rPr lang="en-US" altLang="en-US" sz="1400" dirty="0">
                <a:latin typeface="Verdana" panose="020B0604030504040204" pitchFamily="34" charset="0"/>
              </a:rPr>
              <a:t>opacity 0.2</a:t>
            </a:r>
            <a:r>
              <a:rPr lang="en-US" altLang="en-US" sz="1050" dirty="0"/>
              <a:t>                                                              </a:t>
            </a:r>
            <a:r>
              <a:rPr lang="en-US" altLang="en-US" sz="1400" dirty="0">
                <a:latin typeface="Verdana" panose="020B0604030504040204" pitchFamily="34" charset="0"/>
              </a:rPr>
              <a:t>opacity 0.5</a:t>
            </a:r>
            <a:r>
              <a:rPr lang="en-US" altLang="en-US" sz="1050" dirty="0"/>
              <a:t>                                                     </a:t>
            </a:r>
            <a:r>
              <a:rPr lang="en-US" altLang="en-US" sz="1400" dirty="0">
                <a:latin typeface="Verdana" panose="020B0604030504040204" pitchFamily="34" charset="0"/>
              </a:rPr>
              <a:t>opacity 1(default)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xmlns="" id="{894C7162-F570-418C-40AD-128E05EB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 Transform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The transform property changes the appearance or position of an element without changing the normal document flow.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Common transformations: translate(), rotate(), scale(), skew().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.box { transform: rotate(20deg);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4365" y="349417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9E9C8F-7FC0-B8E1-0DD4-954E2D59A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255" y="3870749"/>
            <a:ext cx="2301439" cy="2438611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02431D12-07E3-861F-F055-DDF5192A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Translate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translate() moves an element.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transform: translate(50px, 20px);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err="1"/>
              <a:t>translateX</a:t>
            </a:r>
            <a:r>
              <a:rPr dirty="0"/>
              <a:t>(50px) → horizontal movement.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err="1"/>
              <a:t>translateY</a:t>
            </a:r>
            <a:r>
              <a:rPr dirty="0"/>
              <a:t>(20px) → vertical movement.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</a:t>
            </a:r>
            <a:r>
              <a:rPr dirty="0" err="1"/>
              <a:t>box:hover</a:t>
            </a:r>
            <a:r>
              <a:rPr dirty="0"/>
              <a:t> { transform: </a:t>
            </a:r>
            <a:r>
              <a:rPr dirty="0" err="1"/>
              <a:t>translateY</a:t>
            </a:r>
            <a:r>
              <a:rPr dirty="0"/>
              <a:t>(-5px);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480" y="4085795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445466B-3FE5-2966-ADA8-B1D5102F8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900" y="4520117"/>
            <a:ext cx="2324301" cy="10059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CD616C37-AB13-02E7-5611-CB97A7699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145" y="4520117"/>
            <a:ext cx="1958510" cy="800169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392C0D52-9E47-E225-619C-83B5CB83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scale() changes the size of an element.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1 → original size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1.2 → 120% of original size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0.5 → 50% of original size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</a:t>
            </a:r>
            <a:r>
              <a:rPr dirty="0" err="1"/>
              <a:t>img:hover</a:t>
            </a:r>
            <a:r>
              <a:rPr dirty="0"/>
              <a:t> { transform: scale(1.1);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66816" y="3898256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7A0D5AC-DABD-F5D8-E031-AEAD08AB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745" y="4437752"/>
            <a:ext cx="1996613" cy="8535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25FE6F9-D89B-84E9-D2B4-7884306F1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306" y="4437752"/>
            <a:ext cx="2263336" cy="929721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A2B668C1-F012-120C-ED68-F502D3C8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Skew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skew() slants an element.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transform: skew(20deg);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err="1"/>
              <a:t>skewX</a:t>
            </a:r>
            <a:r>
              <a:rPr dirty="0"/>
              <a:t>(20deg) → slant along X axis.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err="1"/>
              <a:t>skewY</a:t>
            </a:r>
            <a:r>
              <a:rPr dirty="0"/>
              <a:t>(20deg) → slant along Y axis.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7487" y="4470428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0E4C0F1-E0E3-C07D-C432-3D14A8B7A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745" y="4904768"/>
            <a:ext cx="2149026" cy="624894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E86D3BF9-4728-0DE7-E0CE-DD507A91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2D vs 3D Transform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2D transformations mainly use the X and Y axes.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Examples: translate(), rotate(), scale(), skew().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3D transformations add the Z axis.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Examples: translateZ(), rotateX(), rotateY(), rotateZ().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33604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E293B"/>
                </a:solidFill>
              </a:defRPr>
            </a:pPr>
            <a:r>
              <a:t>2D:  X ↔  Y ↕</a:t>
            </a:r>
            <a:br/>
            <a:r>
              <a:t>3D:  X ↔  Y ↕  Z ⊙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2A92207-7CD8-A12D-55C9-CE07E029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3D Transform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12215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</a:t>
            </a:r>
            <a:r>
              <a:rPr dirty="0" err="1"/>
              <a:t>card:hover</a:t>
            </a:r>
            <a:r>
              <a:rPr dirty="0"/>
              <a:t> { transform: </a:t>
            </a:r>
            <a:r>
              <a:rPr dirty="0" err="1"/>
              <a:t>rotateY</a:t>
            </a:r>
            <a:r>
              <a:rPr dirty="0"/>
              <a:t>(180deg);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This rotates the card around the Y-axis.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3D effects often work together with perspective.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.container { perspective: 500px;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6C995F6-6509-AD27-CC2B-CAACD761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A transition creates a smooth change between two CSS states.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Without transition → the change happens immediately.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With transition → the change happens gradually.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</a:t>
            </a:r>
            <a:r>
              <a:rPr lang="en-US" dirty="0"/>
              <a:t>	</a:t>
            </a:r>
            <a:r>
              <a:rPr dirty="0"/>
              <a:t>button </a:t>
            </a:r>
            <a:r>
              <a:rPr lang="en-US" dirty="0"/>
              <a:t>{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background: black;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transition: 0.3s;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		</a:t>
            </a:r>
            <a:r>
              <a:rPr dirty="0"/>
              <a:t>}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</a:t>
            </a:r>
            <a:r>
              <a:rPr dirty="0"/>
              <a:t>button:</a:t>
            </a:r>
            <a:r>
              <a:rPr lang="en-US" dirty="0"/>
              <a:t> </a:t>
            </a:r>
            <a:r>
              <a:rPr dirty="0"/>
              <a:t>hover {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</a:t>
            </a:r>
            <a:r>
              <a:rPr dirty="0"/>
              <a:t>background: blue;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							</a:t>
            </a:r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EE88B8A-48B9-C5F0-ACE1-EE6230EC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Transition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transition-property → property being animated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transition-duration → length of the transition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transition-timing-function → speed pattern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transition-delay → waiting time before </a:t>
            </a:r>
            <a:r>
              <a:rPr lang="en-US" dirty="0"/>
              <a:t>the </a:t>
            </a:r>
            <a:r>
              <a:rPr dirty="0"/>
              <a:t>transition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Shorthand: transition: background 0.3s ease;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Common timing functions: ease, linear, ease-in, ease-out, ease-in-out.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0FE95D0-1B28-38BF-6449-86CD635C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Transform +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A common modern UI effect combines transform and transition.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.button { transition: all 0.2s ease;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.</a:t>
            </a:r>
            <a:r>
              <a:rPr dirty="0" err="1"/>
              <a:t>button:hover</a:t>
            </a:r>
            <a:r>
              <a:rPr dirty="0"/>
              <a:t> { transform: </a:t>
            </a:r>
            <a:r>
              <a:rPr dirty="0" err="1"/>
              <a:t>translateY</a:t>
            </a:r>
            <a:r>
              <a:rPr dirty="0"/>
              <a:t>(-2px);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Transition controls how smoothly the transform occurs.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345F0-858B-CF81-3E29-0E6E16BE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 Keyframe Animation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CSS animations allow an element to change through multiple stages.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They use @keyframes.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79DDE26-3819-C5E2-DC69-C05AA73C2E9A}"/>
              </a:ext>
            </a:extLst>
          </p:cNvPr>
          <p:cNvSpPr txBox="1"/>
          <p:nvPr/>
        </p:nvSpPr>
        <p:spPr>
          <a:xfrm>
            <a:off x="6291974" y="2319638"/>
            <a:ext cx="62041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@keyframes </a:t>
            </a:r>
            <a:r>
              <a:rPr lang="en-US" sz="1600" dirty="0" err="1"/>
              <a:t>mymove</a:t>
            </a:r>
            <a:r>
              <a:rPr lang="en-US" sz="1600" dirty="0"/>
              <a:t> {</a:t>
            </a:r>
          </a:p>
          <a:p>
            <a:r>
              <a:rPr lang="en-US" sz="1600" dirty="0"/>
              <a:t>  from {top: 0px;}</a:t>
            </a:r>
          </a:p>
          <a:p>
            <a:r>
              <a:rPr lang="en-US" sz="1600" dirty="0"/>
              <a:t>  to {top: 200px;}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div {</a:t>
            </a:r>
          </a:p>
          <a:p>
            <a:r>
              <a:rPr lang="en-US" sz="1600" dirty="0"/>
              <a:t>  width: 100px;</a:t>
            </a:r>
          </a:p>
          <a:p>
            <a:r>
              <a:rPr lang="en-US" sz="1600" dirty="0"/>
              <a:t>  height: 100px;</a:t>
            </a:r>
          </a:p>
          <a:p>
            <a:r>
              <a:rPr lang="en-US" sz="1600" dirty="0"/>
              <a:t>  background: red;</a:t>
            </a:r>
          </a:p>
          <a:p>
            <a:r>
              <a:rPr lang="en-US" sz="1600" dirty="0"/>
              <a:t>  position: relative;</a:t>
            </a:r>
          </a:p>
          <a:p>
            <a:r>
              <a:rPr lang="en-US" sz="1600" dirty="0"/>
              <a:t>  animation: </a:t>
            </a:r>
            <a:r>
              <a:rPr lang="en-US" sz="1600" dirty="0" err="1"/>
              <a:t>mymove</a:t>
            </a:r>
            <a:r>
              <a:rPr lang="en-US" sz="1600" dirty="0"/>
              <a:t> 2s infinite;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2F9630-4185-5A4C-CDDC-0BE8375DBE6D}"/>
              </a:ext>
            </a:extLst>
          </p:cNvPr>
          <p:cNvSpPr txBox="1"/>
          <p:nvPr/>
        </p:nvSpPr>
        <p:spPr>
          <a:xfrm>
            <a:off x="914400" y="2957057"/>
            <a:ext cx="3253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&lt;h1&gt;The @keyframes Rule&lt;/h1&gt;</a:t>
            </a:r>
          </a:p>
          <a:p>
            <a:endParaRPr lang="en-US" dirty="0"/>
          </a:p>
          <a:p>
            <a:r>
              <a:rPr lang="en-US" dirty="0"/>
              <a:t>&lt;div&gt;</a:t>
            </a:r>
            <a:r>
              <a:rPr lang="en-US" dirty="0" err="1"/>
              <a:t>i</a:t>
            </a:r>
            <a:r>
              <a:rPr lang="en-US" dirty="0"/>
              <a:t> am moving&lt;/div&gt;</a:t>
            </a:r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EB6344F7-8C04-F9F9-F2CE-55F1B27D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Animation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animation lets an element gradually change from one style to another.</a:t>
            </a:r>
          </a:p>
          <a:p>
            <a:r>
              <a:rPr lang="en-US" dirty="0"/>
              <a:t>To use CSS animation, you must specify some </a:t>
            </a:r>
            <a:r>
              <a:rPr lang="en-US" dirty="0" err="1"/>
              <a:t>keyframes</a:t>
            </a:r>
            <a:r>
              <a:rPr lang="en-US" dirty="0"/>
              <a:t> for the animation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Important </a:t>
            </a:r>
            <a:r>
              <a:rPr dirty="0"/>
              <a:t>properties include animation-name, animation-duration, animation-delay, animation-iteration-count, animation-direction and animation-timing-function.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.box {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animation-name</a:t>
            </a:r>
            <a:r>
              <a:rPr dirty="0"/>
              <a:t>: move;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animation-duration</a:t>
            </a:r>
            <a:r>
              <a:rPr dirty="0"/>
              <a:t>: 2s;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animation-iteration-count</a:t>
            </a:r>
            <a:r>
              <a:rPr dirty="0"/>
              <a:t>: infinite;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}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4628677-B0D8-8826-137F-FCBBC43E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Multiple Keyframes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Animations can use percentages instead of only from and to.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0% → start, 50% → move, 100% → return.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This allows multi-step motion and more complex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03023" y="3291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E293B"/>
                </a:solidFill>
              </a:defRPr>
            </a:pPr>
            <a:r>
              <a:t>0%       50%       100%</a:t>
            </a:r>
            <a:br/>
            <a:r>
              <a:t>□   →   ■   →   □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205D40C-03E2-A77A-545E-274E90430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Transition vs Animation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Transition usually requires a state change such as :hover.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Animation can run automatically using @keyframes.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Transform changes the visual state; transition makes a change smooth; animation defines multiple stages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2856" y="34290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E293B"/>
                </a:solidFill>
              </a:defRPr>
            </a:pPr>
            <a:r>
              <a:t>Transition: hover</a:t>
            </a:r>
            <a:br/>
            <a:r>
              <a:t>Animation: automatic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B5CAFDC-841F-C2E9-AFEA-977A726C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Web Fonts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Web fonts allow websites to use fonts that may not be installed on the user's computer.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@font-face defines a web font.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@font-face {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font-family</a:t>
            </a:r>
            <a:r>
              <a:rPr dirty="0"/>
              <a:t>: </a:t>
            </a:r>
            <a:r>
              <a:rPr dirty="0" err="1"/>
              <a:t>MyFont</a:t>
            </a:r>
            <a:r>
              <a:rPr dirty="0"/>
              <a:t>;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err="1" smtClean="0"/>
              <a:t>src</a:t>
            </a:r>
            <a:r>
              <a:rPr dirty="0"/>
              <a:t>: </a:t>
            </a:r>
            <a:r>
              <a:rPr dirty="0" err="1"/>
              <a:t>url</a:t>
            </a:r>
            <a:r>
              <a:rPr dirty="0"/>
              <a:t>('myfont.woff2'); 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 smtClean="0"/>
              <a:t>}</a:t>
            </a:r>
            <a:endParaRPr lang="en-US" dirty="0" smtClean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 smtClean="0"/>
              <a:t>P{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 smtClean="0"/>
              <a:t>font-family: </a:t>
            </a:r>
            <a:r>
              <a:rPr lang="en-US" dirty="0" err="1" smtClean="0"/>
              <a:t>MyFont</a:t>
            </a:r>
            <a:r>
              <a:rPr lang="en-US" dirty="0" smtClean="0"/>
              <a:t>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lang="en-US" dirty="0"/>
              <a:t>}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Then use it with: body { font-family: </a:t>
            </a:r>
            <a:r>
              <a:rPr dirty="0" err="1"/>
              <a:t>MyFont</a:t>
            </a:r>
            <a:r>
              <a:rPr dirty="0"/>
              <a:t>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318070F-8071-7503-AA76-41B1C431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Font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Common web font formats include WOFF, WOFF2, TTF and OTF.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WOFF2 is commonly preferred for modern websites because of efficient compression and broad modern browser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610092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.woff2   .woff   .ttf   .otf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3A4E51C-D13F-6EF3-ECEB-D1F76BB0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Icon Fonts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91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Icon fonts represent icons using font characters.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Examples include Font Awesome and Material Icons.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Icons can be resized and recolored using CSS.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Example concept: &lt;</a:t>
            </a:r>
            <a:r>
              <a:rPr dirty="0" err="1" smtClean="0"/>
              <a:t>i</a:t>
            </a:r>
            <a:r>
              <a:rPr dirty="0" smtClean="0"/>
              <a:t> class='icon-home'&gt;&lt;/</a:t>
            </a:r>
            <a:r>
              <a:rPr dirty="0" err="1" smtClean="0"/>
              <a:t>i</a:t>
            </a:r>
            <a:r>
              <a:rPr dirty="0" smtClean="0"/>
              <a:t>&gt;</a:t>
            </a:r>
            <a:endParaRPr lang="en-US" dirty="0" smtClean="0"/>
          </a:p>
          <a:p>
            <a:r>
              <a:rPr lang="en-US" dirty="0"/>
              <a:t>&lt;head&gt;</a:t>
            </a:r>
            <a:br>
              <a:rPr lang="en-US" dirty="0"/>
            </a:br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="https://kit.fontawesome.com/a076d05399.js"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  <a:br>
              <a:rPr lang="en-US" dirty="0"/>
            </a:br>
            <a:r>
              <a:rPr lang="en-US" dirty="0"/>
              <a:t>&lt;/head&gt;</a:t>
            </a:r>
            <a:br>
              <a:rPr lang="en-US" dirty="0"/>
            </a:br>
            <a:r>
              <a:rPr lang="en-US" dirty="0"/>
              <a:t>&lt;body&gt;</a:t>
            </a:r>
            <a:br>
              <a:rPr lang="en-US" dirty="0"/>
            </a:br>
            <a:r>
              <a:rPr lang="en-US" dirty="0" smtClean="0"/>
              <a:t>&lt;</a:t>
            </a:r>
            <a:r>
              <a:rPr lang="en-US" dirty="0" err="1"/>
              <a:t>i</a:t>
            </a:r>
            <a:r>
              <a:rPr lang="en-US" dirty="0"/>
              <a:t> class="</a:t>
            </a:r>
            <a:r>
              <a:rPr lang="en-US" dirty="0" err="1"/>
              <a:t>fas</a:t>
            </a:r>
            <a:r>
              <a:rPr lang="en-US" dirty="0"/>
              <a:t> </a:t>
            </a:r>
            <a:r>
              <a:rPr lang="en-US" dirty="0" err="1"/>
              <a:t>fa</a:t>
            </a:r>
            <a:r>
              <a:rPr lang="en-US" dirty="0"/>
              <a:t>-cloud"&gt;&lt;/</a:t>
            </a:r>
            <a:r>
              <a:rPr lang="en-US" dirty="0" err="1"/>
              <a:t>i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 class="</a:t>
            </a:r>
            <a:r>
              <a:rPr lang="en-US" dirty="0" err="1"/>
              <a:t>fas</a:t>
            </a:r>
            <a:r>
              <a:rPr lang="en-US" dirty="0"/>
              <a:t> </a:t>
            </a:r>
            <a:r>
              <a:rPr lang="en-US" dirty="0" err="1"/>
              <a:t>fa</a:t>
            </a:r>
            <a:r>
              <a:rPr lang="en-US" dirty="0"/>
              <a:t>-heart"&gt;&lt;/</a:t>
            </a:r>
            <a:r>
              <a:rPr lang="en-US" dirty="0" err="1"/>
              <a:t>i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 class="</a:t>
            </a:r>
            <a:r>
              <a:rPr lang="en-US" dirty="0" err="1"/>
              <a:t>fas</a:t>
            </a:r>
            <a:r>
              <a:rPr lang="en-US" dirty="0"/>
              <a:t> </a:t>
            </a:r>
            <a:r>
              <a:rPr lang="en-US" dirty="0" err="1"/>
              <a:t>fa</a:t>
            </a:r>
            <a:r>
              <a:rPr lang="en-US" dirty="0"/>
              <a:t>-car"&gt;&lt;/</a:t>
            </a:r>
            <a:r>
              <a:rPr lang="en-US" dirty="0" err="1"/>
              <a:t>i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 class="</a:t>
            </a:r>
            <a:r>
              <a:rPr lang="en-US" dirty="0" err="1"/>
              <a:t>fas</a:t>
            </a:r>
            <a:r>
              <a:rPr lang="en-US" dirty="0"/>
              <a:t> </a:t>
            </a:r>
            <a:r>
              <a:rPr lang="en-US" dirty="0" err="1"/>
              <a:t>fa</a:t>
            </a:r>
            <a:r>
              <a:rPr lang="en-US" dirty="0"/>
              <a:t>-file"&gt;&lt;/</a:t>
            </a:r>
            <a:r>
              <a:rPr lang="en-US" dirty="0" err="1"/>
              <a:t>i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 class="</a:t>
            </a:r>
            <a:r>
              <a:rPr lang="en-US" dirty="0" err="1"/>
              <a:t>fas</a:t>
            </a:r>
            <a:r>
              <a:rPr lang="en-US" dirty="0"/>
              <a:t> </a:t>
            </a:r>
            <a:r>
              <a:rPr lang="en-US" dirty="0" err="1"/>
              <a:t>fa</a:t>
            </a:r>
            <a:r>
              <a:rPr lang="en-US" dirty="0"/>
              <a:t>-bars"&gt;&lt;/</a:t>
            </a:r>
            <a:r>
              <a:rPr lang="en-US" dirty="0" err="1"/>
              <a:t>i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&lt;/body&gt;</a:t>
            </a:r>
            <a:br>
              <a:rPr lang="en-US" dirty="0"/>
            </a:br>
            <a:r>
              <a:rPr lang="en-US" dirty="0"/>
              <a:t>&lt;/html&gt;</a:t>
            </a:r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80" y="4167446"/>
            <a:ext cx="171907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521389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000" b="1">
                <a:solidFill>
                  <a:srgbClr val="1E293B"/>
                </a:solidFill>
              </a:defRPr>
            </a:pPr>
            <a:endParaRPr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40825C4-DB80-F16B-F96F-996B5903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4614414"/>
            <a:ext cx="1472184" cy="3690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125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dirty="0"/>
              <a:t>CSS Custom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1" y="859687"/>
            <a:ext cx="11254003" cy="576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1E293B"/>
                </a:solidFill>
              </a:defRPr>
            </a:pPr>
            <a:r>
              <a:rPr lang="en-US" sz="2000" dirty="0"/>
              <a:t>A</a:t>
            </a:r>
            <a:r>
              <a:rPr lang="en-US" sz="2000" dirty="0" smtClean="0"/>
              <a:t>lso </a:t>
            </a:r>
            <a:r>
              <a:rPr lang="en-US" sz="2000" dirty="0"/>
              <a:t>known as </a:t>
            </a:r>
            <a:r>
              <a:rPr lang="en-US" sz="2000" b="1" dirty="0"/>
              <a:t>CSS </a:t>
            </a:r>
            <a:r>
              <a:rPr lang="en-US" sz="2000" b="1" dirty="0" smtClean="0"/>
              <a:t>variables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1E293B"/>
                </a:solidFill>
              </a:defRPr>
            </a:pPr>
            <a:r>
              <a:rPr lang="en-US" sz="2000" dirty="0"/>
              <a:t>A</a:t>
            </a:r>
            <a:r>
              <a:rPr lang="en-US" sz="2000" dirty="0" smtClean="0"/>
              <a:t>llow </a:t>
            </a:r>
            <a:r>
              <a:rPr lang="en-US" sz="2000" dirty="0"/>
              <a:t>you to store specific values in one place and reuse </a:t>
            </a:r>
            <a:r>
              <a:rPr lang="en-US" sz="2000" dirty="0" smtClean="0"/>
              <a:t>them.</a:t>
            </a:r>
            <a:endParaRPr lang="en-US" dirty="0" smtClean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1E293B"/>
                </a:solidFill>
              </a:defRPr>
            </a:pPr>
            <a:r>
              <a:rPr lang="en-US" sz="2000" dirty="0" smtClean="0">
                <a:solidFill>
                  <a:srgbClr val="1E293B"/>
                </a:solidFill>
              </a:rPr>
              <a:t>When </a:t>
            </a:r>
            <a:r>
              <a:rPr lang="en-US" sz="2000" dirty="0">
                <a:solidFill>
                  <a:srgbClr val="1E293B"/>
                </a:solidFill>
              </a:rPr>
              <a:t>you define CSS </a:t>
            </a:r>
            <a:r>
              <a:rPr lang="en-US" sz="2000" dirty="0" smtClean="0">
                <a:solidFill>
                  <a:srgbClr val="1E293B"/>
                </a:solidFill>
              </a:rPr>
              <a:t>variables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1E293B"/>
                </a:solidFill>
              </a:rPr>
              <a:t>To define a custom property, name it starting with two dashes (--). </a:t>
            </a:r>
            <a:endParaRPr lang="en-US" sz="2000" dirty="0" smtClean="0">
              <a:solidFill>
                <a:srgbClr val="1E293B"/>
              </a:solidFill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1E293B"/>
                </a:solidFill>
              </a:defRPr>
            </a:pPr>
            <a:r>
              <a:rPr lang="en-US" sz="2000" dirty="0" smtClean="0">
                <a:solidFill>
                  <a:srgbClr val="1E293B"/>
                </a:solidFill>
              </a:rPr>
              <a:t>To </a:t>
            </a:r>
            <a:r>
              <a:rPr lang="en-US" sz="2000" dirty="0">
                <a:solidFill>
                  <a:srgbClr val="1E293B"/>
                </a:solidFill>
              </a:rPr>
              <a:t>use it, wrap the variable name inside the </a:t>
            </a:r>
            <a:r>
              <a:rPr lang="en-US" sz="2000" dirty="0" err="1">
                <a:solidFill>
                  <a:srgbClr val="1E293B"/>
                </a:solidFill>
              </a:rPr>
              <a:t>var</a:t>
            </a:r>
            <a:r>
              <a:rPr lang="en-US" sz="2000" dirty="0">
                <a:solidFill>
                  <a:srgbClr val="1E293B"/>
                </a:solidFill>
              </a:rPr>
              <a:t>() function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lang="en-US" sz="2000" dirty="0" smtClean="0">
                <a:solidFill>
                  <a:srgbClr val="1E293B"/>
                </a:solidFill>
              </a:rPr>
              <a:t> </a:t>
            </a:r>
            <a:r>
              <a:rPr lang="en-US" sz="2000" dirty="0">
                <a:solidFill>
                  <a:srgbClr val="1E293B"/>
                </a:solidFill>
              </a:rPr>
              <a:t>inside: root, they are generally available </a:t>
            </a:r>
            <a:r>
              <a:rPr lang="en-US" sz="2000" b="1" dirty="0">
                <a:solidFill>
                  <a:srgbClr val="1E293B"/>
                </a:solidFill>
              </a:rPr>
              <a:t>throughout the entire webpage</a:t>
            </a:r>
            <a:r>
              <a:rPr lang="en-US" sz="2000" dirty="0">
                <a:solidFill>
                  <a:srgbClr val="1E293B"/>
                </a:solidFill>
              </a:rPr>
              <a:t>.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:root { --primary-color: </a:t>
            </a:r>
            <a:r>
              <a:rPr lang="en-US" dirty="0"/>
              <a:t> </a:t>
            </a:r>
            <a:r>
              <a:rPr dirty="0"/>
              <a:t>#2563eb;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Use with: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button {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 background: var(--primary-color); 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5672" y="3873803"/>
            <a:ext cx="14264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3475" y="4355762"/>
            <a:ext cx="2495919" cy="707727"/>
          </a:xfrm>
          <a:prstGeom prst="roundRect">
            <a:avLst/>
          </a:prstGeom>
          <a:solidFill>
            <a:srgbClr val="3333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E293B"/>
                </a:solidFill>
              </a:defRPr>
            </a:pPr>
            <a:r>
              <a:rPr lang="en-US" dirty="0"/>
              <a:t>Button</a:t>
            </a:r>
            <a:endParaRPr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33110C48-7298-E238-4FA1-65A62992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Use CSS Variables?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Without variables, the same color or value may be repeated throughout the stylesheet.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With variables, define the value once and reuse it.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If the value changes, update the variable rather than every individual rule.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This improves consistency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E293B"/>
                </a:solidFill>
              </a:defRPr>
            </a:pPr>
            <a:r>
              <a:t>Change once  →  updates everywhere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77F3DE6-CE31-C263-CB42-51670524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Media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Media queries apply different CSS depending on characteristics of the viewport or device.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They are commonly used for responsive web design.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@media (max-width: 600px) { .profile-card { width: 100%;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33832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Desktop  →  Mobile</a:t>
            </a:r>
            <a:br/>
            <a:r>
              <a:t>wide card  →  full-width card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616D17-D18D-A606-1A2C-81376B64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Responsive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 responsive website adapts its layout to different screen sizes.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Desktop may display multiple cards in a row.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Mobile may stack cards vertically.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Media queries help create these layout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DESKTOP</a:t>
            </a:r>
            <a:br/>
            <a:r>
              <a:t>[Card] [Card] [Card]</a:t>
            </a:r>
            <a:br/>
            <a:r>
              <a:t/>
            </a:r>
            <a:br/>
            <a:r>
              <a:t>MOBILE</a:t>
            </a:r>
            <a:br/>
            <a:r>
              <a:t>[Card]</a:t>
            </a:r>
            <a:br/>
            <a:r>
              <a:t>[Card]</a:t>
            </a:r>
            <a:br/>
            <a:r>
              <a:t>[Card]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B7F4D9F-B036-CAF0-6347-05807B94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Media Query Syntax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lang="en-US" dirty="0"/>
              <a:t>CSS media queries allow you to apply styles based on the characteristics of a device or the environment displaying the web page</a:t>
            </a:r>
            <a:r>
              <a:rPr lang="en-US" dirty="0" smtClean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lang="en-US" dirty="0"/>
              <a:t>The CSS @media rule is used to add media queries to your style sheet</a:t>
            </a:r>
            <a:r>
              <a:rPr lang="en-US" dirty="0" smtClean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 smtClean="0"/>
              <a:t>General </a:t>
            </a:r>
            <a:r>
              <a:rPr dirty="0"/>
              <a:t>syntax: @media media-type and (condition) { /* CSS rules */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@media screen and (max-width: 768px) { body { font-size: 14px; }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Common conditions: max-width, min-width, max-height, min-height and orientation.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3148" y="4035656"/>
            <a:ext cx="153314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4346724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≤ 768px  →  mobile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F40C3E7-44B6-21CC-454D-738BF837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Feature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Feature queries use @supports.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They check whether the browser supports a particular CSS feature.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@supports (display: grid) { .container { display: grid; }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They can be used to provide fallbacks for newer CSS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Supports Grid?  YES → Grid</a:t>
            </a:r>
            <a:br/>
            <a:r>
              <a:t>NO → Fallback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7EAC497-2477-0080-411E-9510B636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Use @supports?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 fallback can be provided when a browser does not support a modern feature.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t>Example: .container { display: block;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Then: @supports (display: grid) { .container { display: grid; } }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The browser uses Grid when supported and the fallback otherwise.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Modern browser → Grid</a:t>
            </a:r>
            <a:br/>
            <a:r>
              <a:t>Older browser → Block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E1ECDD8-EF1D-ADC8-0D97-339532E3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Vendor Prefixes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Vendor prefixes were used </a:t>
            </a:r>
            <a:r>
              <a:rPr lang="en-US" dirty="0" smtClean="0"/>
              <a:t>to add new</a:t>
            </a:r>
            <a:r>
              <a:rPr dirty="0" smtClean="0"/>
              <a:t> </a:t>
            </a:r>
            <a:r>
              <a:rPr dirty="0"/>
              <a:t>experimental or browser-specific CSS features.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Examples: -</a:t>
            </a:r>
            <a:r>
              <a:rPr dirty="0" err="1"/>
              <a:t>webkit</a:t>
            </a:r>
            <a:r>
              <a:rPr dirty="0"/>
              <a:t>-, -</a:t>
            </a:r>
            <a:r>
              <a:rPr dirty="0" err="1"/>
              <a:t>moz</a:t>
            </a:r>
            <a:r>
              <a:rPr dirty="0"/>
              <a:t>-, -</a:t>
            </a:r>
            <a:r>
              <a:rPr dirty="0" err="1"/>
              <a:t>ms</a:t>
            </a:r>
            <a:r>
              <a:rPr dirty="0"/>
              <a:t>-, -o-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Consolas"/>
              </a:defRPr>
            </a:pPr>
            <a:r>
              <a:rPr dirty="0"/>
              <a:t>Example: -</a:t>
            </a:r>
            <a:r>
              <a:rPr dirty="0" err="1"/>
              <a:t>webkit</a:t>
            </a:r>
            <a:r>
              <a:rPr dirty="0"/>
              <a:t>-transform: rotate(20deg); transform: rotate(20deg);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rPr dirty="0"/>
              <a:t>Prefixes are less necessary for many modern CSS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3608" y="3349376"/>
            <a:ext cx="1508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E293B"/>
                </a:solidFill>
              </a:defRPr>
            </a:pPr>
            <a:r>
              <a:t>-webkit-   -moz-</a:t>
            </a:r>
            <a:br/>
            <a:r>
              <a:t>-ms-       -o-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70EB187-6941-5888-2E5D-FB4924F0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Are Vendor Prefixes Still Necessary?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Not usually for most modern CSS features.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Modern browsers support many CSS properties without prefixes.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Prefixes may still appear in legacy code or be relevant for certain experimental features.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Do not automatically add prefixes to every CSS property.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7344" y="3349376"/>
            <a:ext cx="156362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E293B"/>
                </a:solidFill>
              </a:defRPr>
            </a:pPr>
            <a:r>
              <a:t>Modern CSS</a:t>
            </a:r>
            <a:br/>
            <a:r>
              <a:t>transform: rotate(20deg);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85D9BD5-B6E3-4ED7-8EC6-D1610AC6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Cross-Browser Compatibility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 website should work correctly across browsers such as Chrome, Firefox, Edge and Safari.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Browsers can differ in CSS feature support, rendering and default styles.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Developers should test important interfaces across target browsers.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3369564"/>
            <a:ext cx="15361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E293B"/>
                </a:solidFill>
              </a:defRPr>
            </a:pPr>
            <a:r>
              <a:t>Chrome   Firefox   Edge   Safari</a:t>
            </a:r>
            <a:br/>
            <a:r>
              <a:t>✓          ✓        ✓       ✓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D903E67-61DC-2432-A735-EE77DBAA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to Improve Compatibility?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Use standard CSS.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Check browser compatibility.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Provide fallbacks where appropriate.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Use feature queries when useful.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Test websites in multiple browsers.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Use responsive design and avoid unnecessary experimental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Standard CSS + Fallback + Test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DC2B9A5-37C5-ADA0-528A-DDF51A7C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CSS3 Features: Quick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Visual effects: border-radius, gradients, box-shadow, text-shadow, opacity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Transformations: translate, rotate, scale, skew, 3D transforms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Motion: transition, @keyframes, animation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Modern CSS: web fonts, icon fonts, CSS variables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Responsiveness and compatibility: @media, @supports, vendor prefixes, cross-browser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t>Effects | Motion | Fonts | Responsive | Compatibility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A2AD7E8-FB06-2876-A9BD-8D35C169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Concepts to Remember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51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Transform = what changes.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Transition = how smoothly it changes.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Animation = how it changes through multiple stages.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Media query = when different CSS should apply based on viewport/device conditions.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Feature query = whether the browser supports a CSS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Visual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9476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Transform = change</a:t>
            </a:r>
            <a:br/>
            <a:r>
              <a:t>Transition = smooth change</a:t>
            </a:r>
            <a:br/>
            <a:r>
              <a:t>Animation = multiple stages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C288F93-1871-BF5E-61FE-FE46691B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COMSATS University Islamabad, Attock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2559</Words>
  <Application>Microsoft Office PowerPoint</Application>
  <PresentationFormat>Widescreen</PresentationFormat>
  <Paragraphs>404</Paragraphs>
  <Slides>41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Aptos</vt:lpstr>
      <vt:lpstr>Arial</vt:lpstr>
      <vt:lpstr>Calibri</vt:lpstr>
      <vt:lpstr>Century Gothic</vt:lpstr>
      <vt:lpstr>Consolas</vt:lpstr>
      <vt:lpstr>Corbel</vt:lpstr>
      <vt:lpstr>Times New Roman</vt:lpstr>
      <vt:lpstr>Verdana</vt:lpstr>
      <vt:lpstr>Wingdings 3</vt:lpstr>
      <vt:lpstr>Office Theme</vt:lpstr>
      <vt:lpstr>Wisp</vt:lpstr>
      <vt:lpstr>Web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</dc:title>
  <dc:subject/>
  <dc:creator/>
  <cp:keywords/>
  <dc:description>generated using python-pptx</dc:description>
  <cp:lastModifiedBy>Microsoft account</cp:lastModifiedBy>
  <cp:revision>18</cp:revision>
  <dcterms:created xsi:type="dcterms:W3CDTF">2013-01-27T09:14:16Z</dcterms:created>
  <dcterms:modified xsi:type="dcterms:W3CDTF">2026-10-01T06:32:33Z</dcterms:modified>
  <cp:category/>
</cp:coreProperties>
</file>