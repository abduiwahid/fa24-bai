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5" r:id="rId6"/>
    <p:sldId id="260" r:id="rId7"/>
    <p:sldId id="261" r:id="rId8"/>
    <p:sldId id="286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49832-56C7-4776-8223-4A95C6A86FE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3FD19-481B-4114-BDC0-4974D9029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89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3FD19-481B-4114-BDC0-4974D90294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0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777240"/>
            <a:ext cx="1645920" cy="566928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25712" y="941832"/>
            <a:ext cx="1645920" cy="5669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56064" y="1106424"/>
            <a:ext cx="1645920" cy="566928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86416" y="1271016"/>
            <a:ext cx="1645920" cy="56692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98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ptos Display"/>
              </a:rPr>
              <a:t>CSS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D7E2F0"/>
                </a:solidFill>
                <a:latin typeface="Aptos"/>
              </a:rPr>
              <a:t>Next step after CSS basics
Display • Positioning • Flexbox • Grid • Responsive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Learning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By the end of this lecture, students should be able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Explain why CSS layout is needed.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Use display to change how elements are placed.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Use position: static, relative, absolute, fixed, and sticky.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Control overflow when content is too large.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Understand float and clear.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Build layouts with Flexbox.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Build two-dimensional layouts with CSS Grid.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Use media queries for responsive pages.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1. What is CSS layout?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Layout controls where elements appear and how much space they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HTML creates the page content.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CSS layout decides how that content is arranged.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Layout can be one column, several columns, rows, cards, or a complete page.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Modern CSS mainly uses Flexbox and Grid for layout.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Other properties such as display and position are also important.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5394960" cy="411480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Simple layout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47088"/>
            <a:ext cx="49377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flex;
  gap: 20px;
}
.item {
  padding: 20px;
  border: 1px solid black;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Start with the question: 'Where should this element go?'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2. The display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The display property controls how an element is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display: block → starts on a new line and normally takes the available width.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display: inline → stays in the same line and uses only needed width.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display: inline-block → stays in a line but can have width and height.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display: none → hides the element and removes its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029200" cy="457200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Display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09928"/>
            <a:ext cx="4572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.box {
  display: block;
}
span {
  display: inline;
}
.card {
  display: inline-block;
  width: 200px;
}
.hidden {
  display: none;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6399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/>
              <a:t>Normal document flow</a:t>
            </a:r>
            <a:endParaRPr sz="2800" b="1" dirty="0">
              <a:solidFill>
                <a:srgbClr val="182D48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F6770"/>
                </a:solidFill>
                <a:latin typeface="Aptos"/>
              </a:rPr>
              <a:t>Positioning lets us control an element's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rPr lang="en-US" b="1" dirty="0" smtClean="0"/>
              <a:t>Normal document flow</a:t>
            </a:r>
            <a:r>
              <a:rPr lang="en-US" dirty="0" smtClean="0"/>
              <a:t> 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0242A"/>
                </a:solidFill>
                <a:latin typeface="Aptos"/>
              </a:defRPr>
            </a:pPr>
            <a:r>
              <a:rPr lang="en-US" dirty="0" smtClean="0"/>
              <a:t>is </a:t>
            </a:r>
            <a:r>
              <a:rPr lang="en-US" dirty="0"/>
              <a:t>the default layout system that browsers use to arrange elements on a web page. </a:t>
            </a:r>
            <a:endParaRPr lang="en-US" dirty="0" smtClean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0242A"/>
                </a:solidFill>
                <a:latin typeface="Aptos"/>
              </a:defRPr>
            </a:pPr>
            <a:r>
              <a:rPr lang="en-US" dirty="0" smtClean="0"/>
              <a:t>Unless </a:t>
            </a:r>
            <a:r>
              <a:rPr lang="en-US" dirty="0"/>
              <a:t>you explicitly tell an element to behave differently (using properties like float, position: absolute, </a:t>
            </a:r>
            <a:r>
              <a:rPr lang="en-US" dirty="0" err="1"/>
              <a:t>Flexbox</a:t>
            </a:r>
            <a:r>
              <a:rPr lang="en-US" dirty="0"/>
              <a:t>, or Grid</a:t>
            </a:r>
            <a:r>
              <a:rPr lang="en-US" dirty="0" smtClean="0"/>
              <a:t>).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0242A"/>
                </a:solidFill>
                <a:latin typeface="Aptos"/>
              </a:defRPr>
            </a:pPr>
            <a:r>
              <a:rPr lang="en-US" dirty="0" smtClean="0"/>
              <a:t>The </a:t>
            </a:r>
            <a:r>
              <a:rPr lang="en-US" dirty="0"/>
              <a:t>browser displays HTML elements in the exact order they appear in your source code.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2909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2D48"/>
                </a:solidFill>
                <a:latin typeface="Aptos Display"/>
              </a:rPr>
              <a:t>3. Block vs. inline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Understanding this difference helps students understand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114800" cy="685800"/>
          </a:xfrm>
          <a:prstGeom prst="roundRect">
            <a:avLst/>
          </a:prstGeom>
          <a:solidFill>
            <a:srgbClr val="E8F0FE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82D48"/>
                </a:solidFill>
                <a:latin typeface="Aptos"/>
              </a:rPr>
              <a:t>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4114800" cy="685800"/>
          </a:xfrm>
          <a:prstGeom prst="roundRect">
            <a:avLst/>
          </a:prstGeom>
          <a:solidFill>
            <a:srgbClr val="E8F0FE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82D48"/>
                </a:solidFill>
                <a:latin typeface="Aptos"/>
              </a:rPr>
              <a:t>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560320"/>
            <a:ext cx="1828800" cy="685800"/>
          </a:xfrm>
          <a:prstGeom prst="roundRect">
            <a:avLst/>
          </a:prstGeom>
          <a:solidFill>
            <a:srgbClr val="DCF5E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7249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82D48"/>
                </a:solidFill>
                <a:latin typeface="Aptos"/>
              </a:rPr>
              <a:t>Inline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560320"/>
            <a:ext cx="1828800" cy="685800"/>
          </a:xfrm>
          <a:prstGeom prst="roundRect">
            <a:avLst/>
          </a:prstGeom>
          <a:solidFill>
            <a:srgbClr val="DCF5E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27249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82D48"/>
                </a:solidFill>
                <a:latin typeface="Aptos"/>
              </a:rPr>
              <a:t>Inline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Block elements normally begin on a new line.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Inline elements normally stay in the same line.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Examples: div and p are block-level; span and a are commonly inline.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CSS can change the display behavior.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4. Positioning in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Positioning lets us control an element's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static → normal document flow.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relative → moves from its normal position.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absolute → positioned relative to a positioned ancestor.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fixed → stays in the same place in the browser window.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sticky → acts like normal content until a scroll position is reached.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5257800" cy="448056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Position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09928"/>
            <a:ext cx="4800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EBF0F5"/>
                </a:solidFill>
                <a:latin typeface="Consolas"/>
              </a:rPr>
              <a:t>.box {
  position: relative;
  top: 20px;
  left: 30px;
}
.button {
  position: fixed;
  right: 20px;
  bottom: 20px;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3024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 smtClean="0"/>
              <a:t>Static Position</a:t>
            </a:r>
            <a:endParaRPr sz="2800" b="1" dirty="0">
              <a:solidFill>
                <a:srgbClr val="182D48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F6770"/>
                </a:solidFill>
                <a:latin typeface="Aptos"/>
              </a:rPr>
              <a:t>Positioning lets us control an element's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HTML element has a default CSS position property set to static</a:t>
            </a:r>
            <a:r>
              <a:rPr lang="en-US" dirty="0" smtClean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Static </a:t>
            </a:r>
            <a:r>
              <a:rPr lang="en-US" dirty="0"/>
              <a:t>simply means </a:t>
            </a:r>
            <a:r>
              <a:rPr lang="en-US" b="1" dirty="0"/>
              <a:t>"let this element stay exactly where it naturally falls in the normal document flow."</a:t>
            </a:r>
            <a:r>
              <a:rPr lang="en-US" dirty="0"/>
              <a:t> </a:t>
            </a:r>
          </a:p>
          <a:p>
            <a:r>
              <a:rPr lang="en-US" dirty="0" smtClean="0"/>
              <a:t>	 </a:t>
            </a:r>
            <a:r>
              <a:rPr lang="en-US" b="1" dirty="0" smtClean="0"/>
              <a:t>Key </a:t>
            </a:r>
            <a:r>
              <a:rPr lang="en-US" b="1" dirty="0"/>
              <a:t>characteristics of static elements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No Offsets:</a:t>
            </a:r>
            <a:r>
              <a:rPr lang="en-US" dirty="0"/>
              <a:t> Edge offset properties—like top, bottom, left, and right—</a:t>
            </a:r>
            <a:r>
              <a:rPr lang="en-US" b="1" dirty="0"/>
              <a:t>have no effect</a:t>
            </a:r>
            <a:r>
              <a:rPr lang="en-US" dirty="0"/>
              <a:t>. You cannot nudge a static element using these coordinates.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Depth Layering:</a:t>
            </a:r>
            <a:r>
              <a:rPr lang="en-US" dirty="0"/>
              <a:t> The z-index property </a:t>
            </a:r>
            <a:r>
              <a:rPr lang="en-US" b="1" dirty="0"/>
              <a:t>does not work</a:t>
            </a:r>
            <a:r>
              <a:rPr lang="en-US" dirty="0"/>
              <a:t> on static elements. They cannot be layered on top of or behind other elements using a custom stack depth.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257800" cy="448056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Position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09928"/>
            <a:ext cx="4800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smtClean="0">
                <a:solidFill>
                  <a:srgbClr val="EBF0F5"/>
                </a:solidFill>
                <a:latin typeface="Consolas"/>
              </a:rPr>
              <a:t>.box {
  position: relative;
  top: 20px;
  left: 30px;
}
.button {
  position: fixed;
  right: 20px;
  bottom: 20px;</a:t>
            </a:r>
            <a:r>
              <a:rPr sz="1400" dirty="0">
                <a:solidFill>
                  <a:srgbClr val="EBF0F5"/>
                </a:solidFill>
                <a:latin typeface="Consolas"/>
              </a:rPr>
              <a:t>
}</a:t>
            </a:r>
          </a:p>
        </p:txBody>
      </p:sp>
    </p:spTree>
    <p:extLst>
      <p:ext uri="{BB962C8B-B14F-4D97-AF65-F5344CB8AC3E}">
        <p14:creationId xmlns:p14="http://schemas.microsoft.com/office/powerpoint/2010/main" val="2052153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5. Relative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Relative positioning keeps the element's original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rPr dirty="0"/>
              <a:t>• The element stays in normal flow.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rPr dirty="0"/>
              <a:t>• top, right, bottom, and left can move it from its normal position.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rPr dirty="0"/>
              <a:t>• Other elements still behave as if it were in the original 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212080" cy="25603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45919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84248"/>
            <a:ext cx="475488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.box {
  position: relative;
  left: 30px;
  top: 10px;
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7. Fixed and sticky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These are useful for navigation bars and floating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fixed stays attached to the browser window while scrolling.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sticky behaves normally, then sticks when its scroll limit is reached.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Use them carefully so they do not cover important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17320"/>
            <a:ext cx="5212080" cy="329184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92808"/>
            <a:ext cx="4572021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&lt;</a:t>
            </a:r>
            <a:r>
              <a:rPr lang="en-US" sz="1400" dirty="0">
                <a:solidFill>
                  <a:schemeClr val="bg1"/>
                </a:solidFill>
              </a:rPr>
              <a:t>style&gt;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.box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background: </a:t>
            </a:r>
            <a:r>
              <a:rPr lang="en-US" sz="1400" dirty="0" err="1">
                <a:solidFill>
                  <a:schemeClr val="bg1"/>
                </a:solidFill>
              </a:rPr>
              <a:t>lightblue</a:t>
            </a:r>
            <a:r>
              <a:rPr lang="en-US" sz="1400" dirty="0">
                <a:solidFill>
                  <a:schemeClr val="bg1"/>
                </a:solidFill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padding: 10px;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margin: 5px;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/* Static is the default. Top and left will be ignored. */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position: static;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top: 50px;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  left: 50px;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</a:t>
            </a:r>
            <a:r>
              <a:rPr lang="en-US" sz="1400" dirty="0" smtClean="0">
                <a:solidFill>
                  <a:schemeClr val="bg1"/>
                </a:solidFill>
              </a:rPr>
              <a:t>&lt;/style&gt;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6. Absolute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Absolute elements are removed from normal document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An absolute element is positioned using top/right/bottom/left.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It is positioned relative to the nearest positioned ancestor.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If no positioned ancestor exists, the page is used as the reference.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Common use: placing a badge, icon, or label inside a card.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166360" cy="34747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63039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Card + badge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01368"/>
            <a:ext cx="470916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.card {
  position: relative;
}
.badge {
  position: absolute;
  top: 10px;
  right: 10px;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8. z-index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z-index controls which positioned element appears in front.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sz="1900" dirty="0"/>
              <a:t>The z-index property controls the </a:t>
            </a:r>
            <a:r>
              <a:rPr lang="en-US" sz="1900" b="1" dirty="0"/>
              <a:t>three-dimensional depth (stacking order)</a:t>
            </a:r>
            <a:r>
              <a:rPr lang="en-US" sz="1900" dirty="0"/>
              <a:t> of elements along the virtual Z-axis (pointing toward or away from your face). </a:t>
            </a:r>
            <a:endParaRPr lang="en-US" sz="1900" dirty="0" smtClean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sz="1900" dirty="0" smtClean="0"/>
              <a:t>It </a:t>
            </a:r>
            <a:r>
              <a:rPr lang="en-US" sz="1900" dirty="0"/>
              <a:t>determines which elements overlap on top of others</a:t>
            </a:r>
            <a:r>
              <a:rPr lang="en-US" sz="1900" dirty="0" smtClean="0"/>
              <a:t>.</a:t>
            </a:r>
          </a:p>
          <a:p>
            <a:pPr marL="342900" lvl="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z-index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property </a:t>
            </a: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only works on positioned elements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element has the default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position: static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z-index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will be completely ignored.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it, you must set the position to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relative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absolute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fixed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or </a:t>
            </a:r>
            <a:r>
              <a:rPr lang="en-US" sz="16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sticky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900" dirty="0"/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212080" cy="320040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Simple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38528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.front {
  position: absolute;
  z-index: 2;
}
.back {
  position: absolute;
  z-index: 1;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9.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Overflow controls what happens when content is larger than its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visible → content can extend outside the box.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hidden → extra content is clipped.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scroll → scrollbars are shown.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auto → scrollbars appear when needed.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overflow-x and overflow-y can control each direction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5212080" cy="265176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645919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84248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.box {
  width: 250px;
  height: 100px;
  overflow: auto;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Give the box more text than it can hold so students can see the scrollbar.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10. Float and 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Float was widely used for layouts before Flexbox and Grid.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float can move an element to the left or right.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Text can wrap around a floated image.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clear prevents an element from moving beside a floated element.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Float is still useful for some simple content-wrapping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17320"/>
            <a:ext cx="5212080" cy="329184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Float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92808"/>
            <a:ext cx="47548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.photo {
  float: left;
  margin-right: 15px;
}
.footer {
  clear: both;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Tell students: for modern page layouts, learn Flexbox and Grid rather than using float as the main layout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11. Flexbox — the main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Flexbox is designed for arranging items in a row or column.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21208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smtClean="0"/>
              <a:t>•</a:t>
            </a:r>
            <a:r>
              <a:rPr lang="en-US" dirty="0" err="1"/>
              <a:t>Flexbox</a:t>
            </a:r>
            <a:r>
              <a:rPr lang="en-US" dirty="0"/>
              <a:t> is a layout model for arranging items (horizontally or vertically) within a container, in a flexible and responsive way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smtClean="0"/>
              <a:t>Set </a:t>
            </a:r>
            <a:r>
              <a:rPr dirty="0"/>
              <a:t>the parent to display: flex.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The parent becomes a flex container.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Its direct children become flex items.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Flexbox</a:t>
            </a:r>
            <a:r>
              <a:rPr dirty="0"/>
              <a:t> makes alignment and spacing much easier.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It is especially useful for navigation bars, rows, columns, and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5212080" cy="237744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645919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Start Flexbox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8424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flex;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12. Flex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flex-direction decides whether items are arranged as a row or column.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row → items go from left to right.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column → items go from top to bottom.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row-reverse and column-reverse reverse the direction.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5394960" cy="34747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47088"/>
            <a:ext cx="493776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flex;
  flex-direction: row;
}
.column {
  display: flex;
  flex-direction: column;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Change row to column during class and ask students what changed.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13. justify-content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justify-content controls alignment along the main axis.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flex-start → items start at the beginning.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flex-end → items move to the end.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center → items are centered.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space-between → equal space between items.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space-around / space-evenly → distribute space around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166360" cy="274320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709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Common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92808"/>
            <a:ext cx="4709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flex;
  justify-content:
    space-between;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14. align-items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align-items controls alignment on the cross axis.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center is often used to vertically center items in a row.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flex-start and flex-end move items toward opposite edges.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stretch can make items fill the available cross-axis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17320"/>
            <a:ext cx="5257800" cy="30175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Center items vertically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92808"/>
            <a:ext cx="480060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flex;
  height: 200px;
  align-items: center;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A common pattern is justify-content: center plus align-items: center.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15. Flex gap, wrap, and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These properties help create clean card layouts.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gap adds space between flex items.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flex-wrap allows items to move onto a new line.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flex can control how an item grows or shrinks.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These features reduce the need for complicated margin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80160"/>
            <a:ext cx="5212080" cy="39319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417319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Responsive card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4754880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flex;
  gap: 20px;
  flex-wrap: wrap;
}
.card {
  flex: 1 1 200px;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16. Complete Flexbox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A simple navigation bar using Flexbox.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6309360" cy="498348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585216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&lt;nav class="nav"&gt;
  &lt;a href="#"&gt;Home&lt;/a&gt;
  &lt;a href="#"&gt;About&lt;/a&gt;
  &lt;a href="#"&gt;Contact&lt;/a&gt;
&lt;/nav&gt;
&lt;style&gt;
.nav {
  display: flex;
  justify-content: space-between;
  align-items: center;
  gap: 20px;
  padding: 15px;
  background: navy;
}
.nav a {
  color: white;
  text-decoration: none;
}
&lt;/style&gt;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74519"/>
            <a:ext cx="3611880" cy="1005840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1945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945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21945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This is a good live-coding example: remove justify-content and let students observe the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17. CSS Grid — the main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Grid is designed for two-dimensional layouts: rows and columns.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Set the parent to display: grid.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grid-template-columns defines columns.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grid-template-rows defines rows.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gap creates space between grid items.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Grid is excellent for page layouts and card galleries.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17320"/>
            <a:ext cx="5349240" cy="329184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Three-column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92808"/>
            <a:ext cx="48920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.container {
  display: grid;
  grid-template-columns:
    1fr 1fr 1fr;
  gap: 20px;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18. Grid columns with repeat()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repeat() makes repeated columns easier to 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1fr means one fraction of the available space.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repeat(3, 1fr) creates three equal columns.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minmax() can help create flexible responsive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280160"/>
            <a:ext cx="5440680" cy="43891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417319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W3Schools-style Grid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55648"/>
            <a:ext cx="498348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.grid {
  display: grid;
  grid-template-columns:
    repeat(3, 1fr);
  gap: 20px;
}
.responsive-grid {
  display: grid;
  grid-template-columns:
    repeat(auto-fit,
    minmax(200px, 1fr));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19. Placing Grid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Grid items can span more than one column or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grid-column controls the column position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dirty="0" smtClean="0"/>
              <a:t>(</a:t>
            </a:r>
            <a:r>
              <a:rPr lang="en-US" sz="1900" dirty="0"/>
              <a:t>grid-column: start-line / end-line</a:t>
            </a:r>
            <a:r>
              <a:rPr lang="en-US" sz="1900" dirty="0" smtClean="0"/>
              <a:t>;)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sz="1900" dirty="0" smtClean="0"/>
              <a:t>	places </a:t>
            </a:r>
            <a:r>
              <a:rPr lang="en-US" sz="1900" dirty="0"/>
              <a:t>the item starting at column line 1 </a:t>
            </a:r>
            <a:r>
              <a:rPr lang="en-US" sz="1900" dirty="0" smtClean="0"/>
              <a:t>	and </a:t>
            </a:r>
            <a:r>
              <a:rPr lang="en-US" sz="1900" dirty="0"/>
              <a:t>ending at column line 3</a:t>
            </a:r>
            <a:endParaRPr dirty="0"/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grid-row controls the row position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dirty="0" smtClean="0"/>
              <a:t>(</a:t>
            </a:r>
            <a:r>
              <a:rPr lang="en-US" sz="1900" dirty="0"/>
              <a:t>grid-row: start-line / end-line</a:t>
            </a:r>
            <a:r>
              <a:rPr lang="en-US" sz="1900" dirty="0" smtClean="0"/>
              <a:t>;)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900">
                <a:solidFill>
                  <a:srgbClr val="20242A"/>
                </a:solidFill>
                <a:latin typeface="Aptos"/>
              </a:defRPr>
            </a:pPr>
            <a:r>
              <a:rPr lang="en-US" dirty="0"/>
              <a:t>	</a:t>
            </a:r>
            <a:r>
              <a:rPr lang="en-US" dirty="0" smtClean="0"/>
              <a:t>places </a:t>
            </a:r>
            <a:r>
              <a:rPr lang="en-US" dirty="0"/>
              <a:t>the item starting at row line 2 and </a:t>
            </a:r>
            <a:r>
              <a:rPr lang="en-US" dirty="0" smtClean="0"/>
              <a:t>	ending </a:t>
            </a:r>
            <a:r>
              <a:rPr lang="en-US" dirty="0"/>
              <a:t>at row line 5 </a:t>
            </a:r>
            <a:endParaRPr dirty="0"/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rPr dirty="0"/>
              <a:t>• span can make an item cover several columns or rows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989320" y="1280160"/>
            <a:ext cx="5257800" cy="420624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417319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Grid placement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55648"/>
            <a:ext cx="4800600" cy="3566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.item1 {
  grid-column: 1 / 3;
}
.item2 {
  grid-row: 2 / 4;
}
/* or */
.item3 {
  grid-column:
    span 2;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20. Flexbox or Grid?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Both are important; choose according to the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49834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009688"/>
                </a:solidFill>
                <a:latin typeface="Aptos Display"/>
              </a:rPr>
              <a:t>Flexbox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4160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0242A"/>
                </a:solidFill>
                <a:latin typeface="Aptos"/>
              </a:rPr>
              <a:t>Best for one main direction:
row OR column.
Examples:
navbars, button groups,
card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49834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A4C93"/>
                </a:solidFill>
                <a:latin typeface="Aptos Display"/>
              </a:rPr>
              <a:t>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160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0242A"/>
                </a:solidFill>
                <a:latin typeface="Aptos"/>
              </a:rPr>
              <a:t>Best for two dimensions:
rows AND columns.
Examples:
page layouts, galleries,
card grids.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21. Responsive Web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A responsive page adapts to different screen sizes.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Desktop, tablet, and mobile screens have different widths.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Flexible units and layouts help the page adapt.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Flexbox and Grid can make layouts responsive.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Media queries allow CSS rules to change at a certain screen width.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234440"/>
            <a:ext cx="5349240" cy="457200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Media query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09928"/>
            <a:ext cx="48920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/* Normal */
.container {
  display: grid;
  grid-template-columns:
    repeat(3, 1fr);
}
/* Smaller screens */
@media (max-width: 600px) {
  .container {
    grid-template-columns: 1fr;
  }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22. Responsive navigation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A layout can change when the screen becomes smaller.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486400" cy="384048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92808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.nav {
  display: flex;
  justify-content:
    space-between;
  gap: 20px;
}
@media (max-width: 600px) {
  .nav {
    flex-direction: column;
  }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On a wide screen, links can appear in a row.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On a small screen, the links can become a column.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The browser applies the media-query rule only when the condition is true.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23. A simple responsive card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Combining Grid with a media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577840" cy="43891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Complete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51206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.cards {
  display: grid;
  grid-template-columns:
    repeat(3, 1fr);
  gap: 20px;
}
@media (max-width: 700px) {
  .cards {
    grid-template-columns: 1fr;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508760"/>
            <a:ext cx="1234440" cy="86868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76479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2D48"/>
                </a:solidFill>
                <a:latin typeface="Aptos"/>
              </a:rPr>
              <a:t>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08760"/>
            <a:ext cx="1234440" cy="86868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176479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2D48"/>
                </a:solidFill>
                <a:latin typeface="Aptos"/>
              </a:rPr>
              <a:t>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508760"/>
            <a:ext cx="1234440" cy="86868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76479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2D48"/>
                </a:solidFill>
                <a:latin typeface="Aptos"/>
              </a:rPr>
              <a:t>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743200"/>
            <a:ext cx="1234440" cy="86868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99923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2D48"/>
                </a:solidFill>
                <a:latin typeface="Aptos"/>
              </a:rPr>
              <a:t>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743200"/>
            <a:ext cx="1234440" cy="86868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299923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2D48"/>
                </a:solidFill>
                <a:latin typeface="Aptos"/>
              </a:rPr>
              <a:t>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743200"/>
            <a:ext cx="1234440" cy="86868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2999232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2D48"/>
                </a:solidFill>
                <a:latin typeface="Aptos"/>
              </a:rPr>
              <a:t>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On a mobile screen, the three columns become one column.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24. Layout mistakes beginners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Most layout problems come from a small number of mistakes.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Using absolute positioning for the whole page instead of normal layout tools.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Forgetting that position: absolute is removed from normal flow.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Using fixed widths that do not fit small screens.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Not using gap, flex-wrap, or Grid when a layout needs them.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Trying to fix every problem with margin.</a:t>
            </a:r>
          </a:p>
          <a:p>
            <a:pPr>
              <a:spcAft>
                <a:spcPts val="900"/>
              </a:spcAft>
              <a:defRPr sz="1800">
                <a:solidFill>
                  <a:srgbClr val="20242A"/>
                </a:solidFill>
                <a:latin typeface="Aptos"/>
              </a:defRPr>
            </a:pPr>
            <a:r>
              <a:t>• Writing a media query but placing it outside the CSS file or style block.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79592"/>
            <a:ext cx="10789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5952744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42A"/>
                </a:solidFill>
                <a:latin typeface="Aptos"/>
              </a:rPr>
              <a:t>Teacher tip: When a layout breaks, inspect the parent first: display, width, direction, gap, and positioning.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25. Classroom practice: build a page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Students can complete this in 10–15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Create a header at the top.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Create a main area with three cards.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Use Flexbox for the navigation.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Use Grid for the cards.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Add gap between items.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Make the cards become one column below 700px.</a:t>
            </a:r>
          </a:p>
          <a:p>
            <a:pPr>
              <a:spcAft>
                <a:spcPts val="900"/>
              </a:spcAft>
              <a:defRPr sz="1900">
                <a:solidFill>
                  <a:srgbClr val="20242A"/>
                </a:solidFill>
                <a:latin typeface="Aptos"/>
              </a:defRPr>
            </a:pPr>
            <a:r>
              <a:t>• Add a footer below the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234440"/>
            <a:ext cx="5303520" cy="4617720"/>
          </a:xfrm>
          <a:prstGeom prst="roundRect">
            <a:avLst/>
          </a:prstGeom>
          <a:solidFill>
            <a:srgbClr val="1C2026"/>
          </a:solidFill>
          <a:ln>
            <a:solidFill>
              <a:srgbClr val="32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ABED2"/>
                </a:solidFill>
                <a:latin typeface="Aptos"/>
              </a:rPr>
              <a:t>Starter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09928"/>
            <a:ext cx="484632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0F5"/>
                </a:solidFill>
                <a:latin typeface="Consolas"/>
              </a:rPr>
              <a:t>.nav {
  display: flex;
  gap: 20px;
}
.cards {
  display: grid;
  grid-template-columns:
    repeat(3, 1fr);
  gap: 20px;
}
@media (max-width: 700px) {
  .cards {
    grid-template-columns: 1fr;
  }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D48"/>
                </a:solidFill>
                <a:latin typeface="Aptos Display"/>
              </a:rPr>
              <a:t>26. Quick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0"/>
                </a:solidFill>
                <a:latin typeface="Aptos"/>
              </a:rPr>
              <a:t>Ask students these questions before ending the lecture.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What does display: flex do?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What is the difference between relative and absolute positioning?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When would you use fixed positioning?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What does overflow: auto do?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What is the main difference between Flexbox and Grid?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What does gap do?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Why do we use media queries?</a:t>
            </a:r>
          </a:p>
          <a:p>
            <a:pPr>
              <a:spcAft>
                <a:spcPts val="900"/>
              </a:spcAft>
              <a:defRPr sz="2000">
                <a:solidFill>
                  <a:srgbClr val="20242A"/>
                </a:solidFill>
                <a:latin typeface="Aptos"/>
              </a:defRPr>
            </a:pPr>
            <a:r>
              <a:t>• What happens to our card layout on a small screen?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0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2076</Words>
  <Application>Microsoft Office PowerPoint</Application>
  <PresentationFormat>Widescreen</PresentationFormat>
  <Paragraphs>296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 Unicode MS</vt:lpstr>
      <vt:lpstr>Aptos</vt:lpstr>
      <vt:lpstr>Aptos Display</vt:lpstr>
      <vt:lpstr>Arial</vt:lpstr>
      <vt:lpstr>Calibri</vt:lpstr>
      <vt:lpstr>Consolas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16</cp:revision>
  <dcterms:created xsi:type="dcterms:W3CDTF">2013-01-27T09:14:16Z</dcterms:created>
  <dcterms:modified xsi:type="dcterms:W3CDTF">2026-10-06T05:32:32Z</dcterms:modified>
  <cp:category/>
</cp:coreProperties>
</file>