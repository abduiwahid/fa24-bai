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92" r:id="rId8"/>
    <p:sldId id="293" r:id="rId9"/>
    <p:sldId id="262" r:id="rId10"/>
    <p:sldId id="294" r:id="rId11"/>
    <p:sldId id="263" r:id="rId12"/>
    <p:sldId id="295" r:id="rId13"/>
    <p:sldId id="296" r:id="rId14"/>
    <p:sldId id="297" r:id="rId15"/>
    <p:sldId id="265" r:id="rId16"/>
    <p:sldId id="298" r:id="rId17"/>
    <p:sldId id="266" r:id="rId18"/>
    <p:sldId id="267" r:id="rId19"/>
    <p:sldId id="299" r:id="rId20"/>
    <p:sldId id="300" r:id="rId21"/>
    <p:sldId id="301" r:id="rId22"/>
    <p:sldId id="302" r:id="rId23"/>
    <p:sldId id="304" r:id="rId24"/>
    <p:sldId id="303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2FE7D-1A6A-4F28-A656-8328C54AC9A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5B429-572E-4B26-A97E-2B95EE68C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5B429-572E-4B26-A97E-2B95EE68CD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5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5B429-572E-4B26-A97E-2B95EE68CD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8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5B429-572E-4B26-A97E-2B95EE68CD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5B429-572E-4B26-A97E-2B95EE68CD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08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5B429-572E-4B26-A97E-2B95EE68CD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85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14400"/>
            <a:ext cx="164592" cy="484632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23444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3: Cascading Style Sheets (CSS)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What students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Why CSS is used with HTML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CSS rules, selectors, properties, and values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Type, universal, class, and ID selectors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span and div elements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How CSS rules cascade and which rule wins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Style attribute, style element, and external CSS files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Colors, fonts, text, borders, padding, and margins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Element box and common CSS length units</a:t>
            </a:r>
          </a:p>
          <a:p>
            <a:pPr>
              <a:spcAft>
                <a:spcPts val="800"/>
              </a:spcAft>
              <a:defRPr sz="1800" b="0">
                <a:solidFill>
                  <a:srgbClr val="232323"/>
                </a:solidFill>
              </a:defRPr>
            </a:pPr>
            <a:r>
              <a:t>How the chapter combines these ideas in a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3.1–3.2 CSS: Content vs. Appearance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HTML describes the content of a web page.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CSS describes how that content looks.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CSS can control color, text, fonts, spacing, borders, and more.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Keeping CSS separate from HTML makes changes easier.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3064A0"/>
                </a:solidFill>
              </a:defRPr>
            </a:pPr>
            <a:r>
              <a:t>Simple idea: HTML = what is on the page; CSS = how it looks.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3.3 CSS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 CSS rule tells the browser how selected HTML elements should look.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 selector tells the browser which elements to match.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 property tells what part of the appearance to change.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 value tells the browser what setting to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89920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10460736" cy="6949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Consolas"/>
              </a:defRPr>
            </a:pPr>
            <a:r>
              <a:t>hr {width: 50%;}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3064A0"/>
                </a:solidFill>
              </a:defRPr>
            </a:pPr>
            <a:r>
              <a:t>Here: hr is the selector, width is the property, and 50% is the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Type Selector and Universal 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Type selector: uses an HTML element name, such as hr or p.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Universal selector: uses * and matches every element.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Use a comma-separated list when the same rule should apply to several element 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89920" cy="201168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584448"/>
            <a:ext cx="10460736" cy="17922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Consolas"/>
              </a:defRPr>
            </a:pPr>
            <a:r>
              <a:t>hr {width: 50%;}</a:t>
            </a:r>
            <a:br/>
            <a:r>
              <a:t/>
            </a:r>
            <a:br/>
            <a:r>
              <a:t>* {text-align: center;}</a:t>
            </a:r>
            <a:br/>
            <a:r>
              <a:t/>
            </a:r>
            <a:br/>
            <a:r>
              <a:t>h2, p {font-style: italic; color: blue;}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3.4 Example: Tree Poem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book's Tree Poem example uses three rules.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All text is centered with the universal selector.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horizontal line is made 50% of its container width.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heading and paragraph are italic and blue.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89920" cy="219456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493008"/>
            <a:ext cx="10460736" cy="19751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&lt;style&gt;</a:t>
            </a:r>
            <a:br/>
            <a:r>
              <a:t>  * {text-align: center;}</a:t>
            </a:r>
            <a:br/>
            <a:r>
              <a:t>  hr {width: 50%;}</a:t>
            </a:r>
            <a:br/>
            <a:r>
              <a:t>  h2, p {font-style: italic; color: blue;}</a:t>
            </a:r>
            <a:br/>
            <a:r>
              <a:t>&lt;/style&gt;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3064A0"/>
                </a:solidFill>
              </a:defRPr>
            </a:pPr>
            <a:r>
              <a:t>Teaching point: one CSS rule can format more than one element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3.4 Example: Tree Poem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5817477"/>
            <a:ext cx="55412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064A0"/>
                </a:solidFill>
              </a:defRPr>
            </a:pPr>
            <a:r>
              <a:rPr dirty="0"/>
              <a:t>Teaching point: one CSS rule can format more than one element type.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786384"/>
            <a:ext cx="10144861" cy="49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7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3.4 Example: Tree Poem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235" y="2087764"/>
            <a:ext cx="5875529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0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3.5 CSS Syntax and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Put the style element in the head section.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Short rule: selector {property: value;}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Put a semicolon after each property-value pair.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Use a comma and a space between multiple selectors.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For longer rules, put each property on its own line.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Following a common style makes code easier to read and maintain.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789920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270248"/>
            <a:ext cx="10460736" cy="11064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p {</a:t>
            </a:r>
            <a:br/>
            <a:r>
              <a:t>  color: blue;</a:t>
            </a:r>
            <a:br/>
            <a:r>
              <a:t>  text-align: center;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3.5 CSS Syntax and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28" y="1246452"/>
            <a:ext cx="6187976" cy="20728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420" y="2987694"/>
            <a:ext cx="4359018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0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3.6 Class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A class selector starts with a dot: .class-name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It matches elements whose class attribute has that value.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A class value does not have to be unique.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Choose a class name that describes the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89920" cy="128016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224528"/>
            <a:ext cx="10460736" cy="10607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.red {background-color: tomato;}</a:t>
            </a:r>
            <a:br/>
            <a:r>
              <a:t/>
            </a:r>
            <a:br/>
            <a:r>
              <a:t>&lt;q class="red"&gt;A quote...&lt;/q&gt;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248" y="4311184"/>
            <a:ext cx="3635055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3.6 Class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89920" cy="128016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92" y="4537691"/>
            <a:ext cx="5349704" cy="4343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1143000"/>
            <a:ext cx="1078992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dirty="0" smtClean="0"/>
              <a:t>With a Class selector we can have more than one class separated by commas sharing one CSS Rule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454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3.6 Class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498" y="768096"/>
            <a:ext cx="7895004" cy="540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26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3.6 Class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257" y="1706731"/>
            <a:ext cx="836748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Class Selector with Element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q.blue matches only q elements whose class is blue.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h1.blue matches only h1 elements whose class is blue.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This is more specific than simply using .blue.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It can make CSS easier to maintain when different element types need different styles.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10789920" cy="128016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178808"/>
            <a:ext cx="10460736" cy="10607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q.blue {background-color: skyblue;}</a:t>
            </a:r>
            <a:br/>
            <a:r>
              <a:t>h1.blue {color: blue;}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172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sz="2800" b="1" dirty="0"/>
              <a:t>Class Selectors with * prefixes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sz="2000" dirty="0"/>
              <a:t>you can preface a class selector with an </a:t>
            </a:r>
            <a:r>
              <a:rPr lang="en-US" sz="2000" dirty="0" smtClean="0"/>
              <a:t>*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sz="2000" dirty="0" smtClean="0"/>
              <a:t> is </a:t>
            </a:r>
            <a:r>
              <a:rPr lang="en-US" sz="2000" dirty="0"/>
              <a:t>the universal </a:t>
            </a:r>
            <a:r>
              <a:rPr lang="en-US" sz="2000" dirty="0" smtClean="0"/>
              <a:t>selector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sz="2000" dirty="0" smtClean="0"/>
              <a:t>it </a:t>
            </a:r>
            <a:r>
              <a:rPr lang="en-US" sz="2000" dirty="0"/>
              <a:t>matches all </a:t>
            </a:r>
            <a:r>
              <a:rPr lang="en-US" sz="2000" dirty="0" smtClean="0"/>
              <a:t>elements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sz="2000" dirty="0"/>
              <a:t>what would the following CSS rule do?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10789920" cy="128016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flipH="1">
            <a:off x="896176" y="4178808"/>
            <a:ext cx="4837111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rPr lang="en-US" dirty="0"/>
              <a:t>*.big-warning {font-size: x-large; color: red;}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375" y="2035606"/>
            <a:ext cx="4160881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67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3.7 ID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An ID selector starts with #.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It matches an element through its id attribute.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An id value must be unique within a web page.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ID selectors are useful when exactly one element should be targeted.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89920" cy="155448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041648"/>
            <a:ext cx="10460736" cy="13350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rPr dirty="0"/>
              <a:t>#lizards-lounge {color: green;}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&lt;h3 id="lizards-lounge"&gt;Lizards Lounge&lt;/h3&gt;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5" y="2843784"/>
            <a:ext cx="5241204" cy="977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Class vs.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Class: can be used by many elements.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ID: should identify one unique element on the page.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Class selector uses 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ID selector uses #.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407408"/>
            <a:ext cx="10460736" cy="78638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Consolas"/>
              </a:defRPr>
            </a:pPr>
            <a:r>
              <a:t>.warning {color: red;}</a:t>
            </a:r>
            <a:br/>
            <a:r>
              <a:t>#main-heading {color: green;}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6997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 smtClean="0"/>
              <a:t>CSS </a:t>
            </a:r>
            <a:r>
              <a:rPr lang="en-US" dirty="0" err="1" smtClean="0"/>
              <a:t>Combinators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combinator is something that defines the relationship between two or more selectors</a:t>
            </a:r>
            <a:r>
              <a:rPr lang="en-US" dirty="0" smtClean="0"/>
              <a:t>.</a:t>
            </a:r>
          </a:p>
          <a:p>
            <a:r>
              <a:rPr lang="en-US" dirty="0"/>
              <a:t>A CSS selector can contain more than one selector. </a:t>
            </a:r>
            <a:endParaRPr lang="en-US" dirty="0" smtClean="0"/>
          </a:p>
          <a:p>
            <a:r>
              <a:rPr lang="en-US" dirty="0" smtClean="0"/>
              <a:t>Between </a:t>
            </a:r>
            <a:r>
              <a:rPr lang="en-US" dirty="0"/>
              <a:t>the selectors, we can include a combinator, to create a more specific selection</a:t>
            </a:r>
            <a:r>
              <a:rPr lang="en-US" dirty="0" smtClean="0"/>
              <a:t>.</a:t>
            </a:r>
          </a:p>
          <a:p>
            <a:r>
              <a:rPr lang="en-US" dirty="0"/>
              <a:t>There are four different </a:t>
            </a:r>
            <a:r>
              <a:rPr lang="en-US" dirty="0" err="1"/>
              <a:t>combinators</a:t>
            </a:r>
            <a:r>
              <a:rPr lang="en-US" dirty="0"/>
              <a:t> in CSS: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Descendant combinator (space)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Child combinator (&gt;)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sibling combinator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Subsequent-sibling combinator (~)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407408"/>
            <a:ext cx="10460736" cy="78638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Consolas"/>
              </a:defRPr>
            </a:pPr>
            <a:r>
              <a:t>.warning {color: red;}</a:t>
            </a:r>
            <a:br/>
            <a:r>
              <a:t>#main-heading {color: green;}</a:t>
            </a:r>
          </a:p>
        </p:txBody>
      </p:sp>
    </p:spTree>
    <p:extLst>
      <p:ext uri="{BB962C8B-B14F-4D97-AF65-F5344CB8AC3E}">
        <p14:creationId xmlns:p14="http://schemas.microsoft.com/office/powerpoint/2010/main" val="483605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6730"/>
            <a:ext cx="10789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/>
              <a:t>Descendant </a:t>
            </a:r>
            <a:r>
              <a:rPr lang="en-US" dirty="0" err="1"/>
              <a:t>Combinators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descendant combinator matches all elements that are descendants (children, grandchildren, etc.) of a specified element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61899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selects all &lt;p&gt; elements inside &lt;div&gt; </a:t>
            </a:r>
            <a:r>
              <a:rPr lang="en-US" dirty="0" smtClean="0">
                <a:solidFill>
                  <a:schemeClr val="tx1"/>
                </a:solidFill>
              </a:rPr>
              <a:t>elements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595" y="1933320"/>
            <a:ext cx="2187130" cy="6629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9035" y="29622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Child Combinator (&gt;)</a:t>
            </a:r>
          </a:p>
          <a:p>
            <a:r>
              <a:rPr lang="en-US" dirty="0"/>
              <a:t>The child combinator selects all elements that are direct children of a specified element.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26997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 smtClean="0"/>
              <a:t>CSS </a:t>
            </a:r>
            <a:r>
              <a:rPr lang="en-US" dirty="0" err="1" smtClean="0"/>
              <a:t>Combinators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59035" y="4046553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selects all &lt;p&gt; elements that are direct children of &lt;div&gt;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42" y="4176691"/>
            <a:ext cx="2255715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35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673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/>
              <a:t>The next sibling combinator is used to select an element that is directly after a specific element.</a:t>
            </a:r>
          </a:p>
          <a:p>
            <a:r>
              <a:rPr lang="en-US" dirty="0"/>
              <a:t>Sibling elements must have the same parent element.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61899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                                         selects </a:t>
            </a:r>
            <a:r>
              <a:rPr lang="en-US" dirty="0">
                <a:solidFill>
                  <a:schemeClr val="tx1"/>
                </a:solidFill>
              </a:rPr>
              <a:t>the first &lt;p&gt; element that immediately follows a &lt;div&gt;, and share the same parent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26997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 smtClean="0"/>
              <a:t>CSS </a:t>
            </a:r>
            <a:r>
              <a:rPr lang="en-US" dirty="0" err="1" smtClean="0"/>
              <a:t>Combinators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42" y="1888620"/>
            <a:ext cx="2248095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57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0570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pseudo-class is used to define a special state of an element.</a:t>
            </a:r>
          </a:p>
          <a:p>
            <a:r>
              <a:rPr lang="en-US" dirty="0"/>
              <a:t>For example, it can be used to:</a:t>
            </a:r>
          </a:p>
          <a:p>
            <a:r>
              <a:rPr lang="en-US" dirty="0"/>
              <a:t>Style an element when a user mouse over it</a:t>
            </a:r>
          </a:p>
          <a:p>
            <a:r>
              <a:rPr lang="en-US" dirty="0"/>
              <a:t>Style visited and unvisited links differently</a:t>
            </a:r>
          </a:p>
          <a:p>
            <a:r>
              <a:rPr lang="en-US" dirty="0"/>
              <a:t>Style an element when it gets </a:t>
            </a:r>
            <a:r>
              <a:rPr lang="en-US" dirty="0" smtClean="0"/>
              <a:t>focus</a:t>
            </a:r>
          </a:p>
          <a:p>
            <a:r>
              <a:rPr lang="en-US" dirty="0"/>
              <a:t>Pseudo-classes are always denoted by a single colon (:) followed by the pseudo-class name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30213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/>
              <a:t>CSS-Pseudo classes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3092206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20" y="3219166"/>
            <a:ext cx="3081120" cy="7635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0766" y="4346890"/>
            <a:ext cx="3575123" cy="12464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75" dirty="0" smtClean="0"/>
              <a:t>.</a:t>
            </a:r>
            <a:r>
              <a:rPr lang="en-US" sz="1875" dirty="0" err="1" smtClean="0"/>
              <a:t>submit-btn:hover</a:t>
            </a:r>
            <a:r>
              <a:rPr lang="en-US" sz="1875" dirty="0" smtClean="0"/>
              <a:t> </a:t>
            </a:r>
            <a:r>
              <a:rPr lang="en-US" sz="1875" dirty="0"/>
              <a:t>{</a:t>
            </a:r>
          </a:p>
          <a:p>
            <a:r>
              <a:rPr lang="en-US" sz="1875" dirty="0"/>
              <a:t>	</a:t>
            </a:r>
            <a:r>
              <a:rPr lang="en-US" sz="1875" dirty="0" smtClean="0"/>
              <a:t>background-color: aquamarine;</a:t>
            </a:r>
            <a:endParaRPr lang="en-US" sz="1875" dirty="0"/>
          </a:p>
          <a:p>
            <a:r>
              <a:rPr lang="en-US" sz="1875" dirty="0"/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658" y="4916191"/>
            <a:ext cx="1196444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07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0570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pseudo-class is used to define a special state of an element.</a:t>
            </a:r>
          </a:p>
          <a:p>
            <a:r>
              <a:rPr lang="en-US" dirty="0"/>
              <a:t>For example, it can be used to:</a:t>
            </a:r>
          </a:p>
          <a:p>
            <a:r>
              <a:rPr lang="en-US" dirty="0"/>
              <a:t>Style an element when a user mouse over it</a:t>
            </a:r>
          </a:p>
          <a:p>
            <a:r>
              <a:rPr lang="en-US" dirty="0"/>
              <a:t>Style visited and unvisited links differently</a:t>
            </a:r>
          </a:p>
          <a:p>
            <a:r>
              <a:rPr lang="en-US" dirty="0"/>
              <a:t>Style an element when it gets </a:t>
            </a:r>
            <a:r>
              <a:rPr lang="en-US" dirty="0" smtClean="0"/>
              <a:t>focus</a:t>
            </a:r>
          </a:p>
          <a:p>
            <a:r>
              <a:rPr lang="en-US" dirty="0"/>
              <a:t>Pseudo-classes are always denoted by a single colon (:) followed by the pseudo-class name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30213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/>
              <a:t>CSS-Pseudo classes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3092206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20" y="3219166"/>
            <a:ext cx="3081120" cy="7635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0766" y="4346890"/>
            <a:ext cx="3575123" cy="12464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75" dirty="0" smtClean="0"/>
              <a:t>.</a:t>
            </a:r>
            <a:r>
              <a:rPr lang="en-US" sz="1875" dirty="0" err="1" smtClean="0"/>
              <a:t>submit-btn:hover</a:t>
            </a:r>
            <a:r>
              <a:rPr lang="en-US" sz="1875" dirty="0" smtClean="0"/>
              <a:t> </a:t>
            </a:r>
            <a:r>
              <a:rPr lang="en-US" sz="1875" dirty="0"/>
              <a:t>{</a:t>
            </a:r>
          </a:p>
          <a:p>
            <a:r>
              <a:rPr lang="en-US" sz="1875" dirty="0"/>
              <a:t>	</a:t>
            </a:r>
            <a:r>
              <a:rPr lang="en-US" sz="1875" dirty="0" smtClean="0"/>
              <a:t>background-color: aquamarine;</a:t>
            </a:r>
            <a:endParaRPr lang="en-US" sz="1875" dirty="0"/>
          </a:p>
          <a:p>
            <a:r>
              <a:rPr lang="en-US" sz="1875" dirty="0"/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658" y="4916191"/>
            <a:ext cx="1196444" cy="3886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382" y="4946674"/>
            <a:ext cx="1104996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33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0570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CSS pseudo-element is used to style specified parts of an element.</a:t>
            </a:r>
          </a:p>
          <a:p>
            <a:r>
              <a:rPr lang="en-US" dirty="0"/>
              <a:t>For example, it can be used to:</a:t>
            </a:r>
          </a:p>
          <a:p>
            <a:r>
              <a:rPr lang="en-US" dirty="0"/>
              <a:t>Style the first letter, or line, of an element</a:t>
            </a:r>
          </a:p>
          <a:p>
            <a:r>
              <a:rPr lang="en-US" dirty="0"/>
              <a:t>Insert content before, or after, the content of an </a:t>
            </a:r>
            <a:r>
              <a:rPr lang="en-US" dirty="0" smtClean="0"/>
              <a:t>element</a:t>
            </a:r>
          </a:p>
          <a:p>
            <a:endParaRPr lang="en-US" dirty="0" smtClean="0"/>
          </a:p>
          <a:p>
            <a:r>
              <a:rPr lang="en-US" dirty="0"/>
              <a:t>Pseudo-elements are denoted by a double colon (::) followed by the pseudo-element name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27567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/>
              <a:t>Pseudo-Elements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4758446"/>
            <a:ext cx="10789920" cy="10058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56" y="4850235"/>
            <a:ext cx="3113444" cy="8088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24038" y="3092206"/>
            <a:ext cx="3575123" cy="15350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75" dirty="0"/>
              <a:t>p::first-letter {</a:t>
            </a:r>
          </a:p>
          <a:p>
            <a:r>
              <a:rPr lang="en-US" sz="1875" dirty="0"/>
              <a:t>	font-size:20pt;</a:t>
            </a:r>
          </a:p>
          <a:p>
            <a:r>
              <a:rPr lang="en-US" sz="1875" dirty="0"/>
              <a:t> 	color: #ff0000;</a:t>
            </a:r>
          </a:p>
          <a:p>
            <a:r>
              <a:rPr lang="en-US" sz="1875" dirty="0"/>
              <a:t> 	font-variant: small-caps;</a:t>
            </a:r>
          </a:p>
          <a:p>
            <a:r>
              <a:rPr lang="en-US" sz="1875" dirty="0"/>
              <a:t>}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50431" t="41839" r="2370" b="41150"/>
          <a:stretch/>
        </p:blipFill>
        <p:spPr>
          <a:xfrm>
            <a:off x="4886960" y="4817184"/>
            <a:ext cx="5811520" cy="84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42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3.8 span and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Use span when the styled text is inside surrounding text.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Use div when the content should act like a block.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span and div are generic elements; by themselves they do not add special meaning.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They are useful as containers for CSS.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89920" cy="155448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950208"/>
            <a:ext cx="10460736" cy="13350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Consolas"/>
              </a:defRPr>
            </a:pPr>
            <a:r>
              <a:t>&lt;div class="orange"&gt;Text and more text...&lt;/div&gt;</a:t>
            </a:r>
            <a:br/>
            <a:r>
              <a:t/>
            </a:r>
            <a:br/>
            <a:r>
              <a:t>Price: &lt;span class="white orange-background"&gt;$10&lt;/span&gt;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3.9 Cascading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CSS can have rules in different places.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When rules conflict, the browser uses the rule with higher priority.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More specific rules can override more general rules.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chapter presents these places from highest to lowest priority: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323"/>
                </a:solidFill>
              </a:defRPr>
            </a:pPr>
            <a:r>
              <a:t>1. style attribute</a:t>
            </a:r>
          </a:p>
          <a:p>
            <a:pPr>
              <a:spcAft>
                <a:spcPts val="800"/>
              </a:spcAft>
              <a:defRPr sz="1600" b="0">
                <a:solidFill>
                  <a:srgbClr val="232323"/>
                </a:solidFill>
              </a:defRPr>
            </a:pPr>
            <a:r>
              <a:t>2. style element</a:t>
            </a:r>
          </a:p>
          <a:p>
            <a:pPr>
              <a:spcAft>
                <a:spcPts val="800"/>
              </a:spcAft>
              <a:defRPr sz="1600" b="0">
                <a:solidFill>
                  <a:srgbClr val="232323"/>
                </a:solidFill>
              </a:defRPr>
            </a:pPr>
            <a:r>
              <a:t>3. external CSS file</a:t>
            </a:r>
          </a:p>
          <a:p>
            <a:pPr>
              <a:spcAft>
                <a:spcPts val="800"/>
              </a:spcAft>
              <a:defRPr sz="1600" b="0">
                <a:solidFill>
                  <a:srgbClr val="232323"/>
                </a:solidFill>
              </a:defRPr>
            </a:pPr>
            <a:r>
              <a:t>4. user browser settings</a:t>
            </a:r>
          </a:p>
          <a:p>
            <a:pPr>
              <a:spcAft>
                <a:spcPts val="800"/>
              </a:spcAft>
              <a:defRPr sz="1600" b="0">
                <a:solidFill>
                  <a:srgbClr val="232323"/>
                </a:solidFill>
              </a:defRPr>
            </a:pPr>
            <a:r>
              <a:t>5. browser default settings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3.10 style Attribute and style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style attribute puts CSS directly on one HTML element.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It has the highest priority in the chapter's list.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book advises avoiding it when possible because it mixes presentation with content.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style element holds rules for the page and is normally placed in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89920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10460736" cy="6949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&lt;h2 style="text-decoration:underline;"&gt;Welcome!&lt;/h2&gt;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3064A0"/>
                </a:solidFill>
              </a:defRPr>
            </a:pPr>
            <a:r>
              <a:t>Use a style element or external CSS when the same formatting is needed in many places.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3.11 External CSS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Put CSS rules in a separate file ending in .css.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Connect the HTML page to that file with link.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This keeps large HTML files easier to understand.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One external CSS file can provide common styles for several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89920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10460736" cy="6949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Consolas"/>
              </a:defRPr>
            </a:pPr>
            <a:r>
              <a:t>&lt;link rel="stylesheet" href="pumpkinPatch.css"&gt;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External CSS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Web Programming with HTML5, CSS, and JavaScript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Pumpkin Patch example moves the same rules out of the HTML file.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HTML head contains the link element.</a:t>
            </a:r>
          </a:p>
          <a:p>
            <a:pPr>
              <a:spcAft>
                <a:spcPts val="800"/>
              </a:spcAft>
              <a:defRPr sz="2000" b="0">
                <a:solidFill>
                  <a:srgbClr val="232323"/>
                </a:solidFill>
              </a:defRPr>
            </a:pPr>
            <a:r>
              <a:t>The CSS file contains only CSS rules and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89920" cy="1920240"/>
          </a:xfrm>
          <a:prstGeom prst="roundRect">
            <a:avLst/>
          </a:prstGeom>
          <a:solidFill>
            <a:srgbClr val="F5F7F9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584448"/>
            <a:ext cx="10460736" cy="170078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/* John Dean */</a:t>
            </a:r>
            <a:br/>
            <a:r>
              <a:t>.orange {color: darkorange;}</a:t>
            </a:r>
            <a:br/>
            <a:r>
              <a:t>.white {color: white;}</a:t>
            </a:r>
            <a:br/>
            <a:r>
              <a:t>.black {color: black;}</a:t>
            </a:r>
            <a:br/>
            <a:r>
              <a:t>.orange-background {background-color: orange;}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1724</Words>
  <Application>Microsoft Office PowerPoint</Application>
  <PresentationFormat>Widescreen</PresentationFormat>
  <Paragraphs>207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Melcolm x</dc:creator>
  <cp:keywords/>
  <dc:description>generated using python-pptx</dc:description>
  <cp:lastModifiedBy>Microsoft account</cp:lastModifiedBy>
  <cp:revision>27</cp:revision>
  <dcterms:created xsi:type="dcterms:W3CDTF">2013-01-27T09:14:16Z</dcterms:created>
  <dcterms:modified xsi:type="dcterms:W3CDTF">2026-09-30T11:10:12Z</dcterms:modified>
  <cp:category/>
</cp:coreProperties>
</file>